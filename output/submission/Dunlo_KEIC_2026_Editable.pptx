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2192000" cy="6858000"/>
  <p:notesSz cx="6858000" cy="9144000"/>
  <p:embeddedFontLst>
    <p:embeddedFont>
      <p:font typeface="DM Sans" charset="1" panose="00000000000000000000"/>
      <p:regular r:id="rId24"/>
    </p:embeddedFont>
    <p:embeddedFont>
      <p:font typeface="DM Sans Bold" charset="1" panose="000000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notesMasters/notesMaster1.xml" Type="http://schemas.openxmlformats.org/officeDocument/2006/relationships/notesMaster"/><Relationship Id="rId22" Target="theme/theme2.xml" Type="http://schemas.openxmlformats.org/officeDocument/2006/relationships/theme"/><Relationship Id="rId23" Target="notesSlides/notesSlide1.xml" Type="http://schemas.openxmlformats.org/officeDocument/2006/relationships/notesSlide"/><Relationship Id="rId24" Target="fonts/font24.fntdata" Type="http://schemas.openxmlformats.org/officeDocument/2006/relationships/font"/><Relationship Id="rId25" Target="fonts/font25.fntdata" Type="http://schemas.openxmlformats.org/officeDocument/2006/relationships/font"/><Relationship Id="rId26" Target="notesSlides/notesSlide2.xml" Type="http://schemas.openxmlformats.org/officeDocument/2006/relationships/notesSlide"/><Relationship Id="rId27" Target="notesSlides/notesSlide3.xml" Type="http://schemas.openxmlformats.org/officeDocument/2006/relationships/notesSlide"/><Relationship Id="rId28" Target="notesSlides/notesSlide4.xml" Type="http://schemas.openxmlformats.org/officeDocument/2006/relationships/notesSlide"/><Relationship Id="rId29" Target="notesSlides/notesSlide5.xml" Type="http://schemas.openxmlformats.org/officeDocument/2006/relationships/notesSlide"/><Relationship Id="rId3" Target="viewProps.xml" Type="http://schemas.openxmlformats.org/officeDocument/2006/relationships/viewProps"/><Relationship Id="rId30" Target="notesSlides/notesSlide6.xml" Type="http://schemas.openxmlformats.org/officeDocument/2006/relationships/notesSlide"/><Relationship Id="rId31" Target="notesSlides/notesSlide7.xml" Type="http://schemas.openxmlformats.org/officeDocument/2006/relationships/notesSlide"/><Relationship Id="rId32" Target="notesSlides/notesSlide8.xml" Type="http://schemas.openxmlformats.org/officeDocument/2006/relationships/notesSlide"/><Relationship Id="rId33" Target="notesSlides/notesSlide9.xml" Type="http://schemas.openxmlformats.org/officeDocument/2006/relationships/notesSlide"/><Relationship Id="rId34" Target="notesSlides/notesSlide10.xml" Type="http://schemas.openxmlformats.org/officeDocument/2006/relationships/notesSlide"/><Relationship Id="rId35" Target="notesSlides/notesSlide11.xml" Type="http://schemas.openxmlformats.org/officeDocument/2006/relationships/notesSlide"/><Relationship Id="rId36" Target="notesSlides/notesSlide12.xml" Type="http://schemas.openxmlformats.org/officeDocument/2006/relationships/notesSlide"/><Relationship Id="rId37" Target="notesSlides/notesSlide13.xml" Type="http://schemas.openxmlformats.org/officeDocument/2006/relationships/notesSlide"/><Relationship Id="rId38" Target="notesSlides/notesSlide14.xml" Type="http://schemas.openxmlformats.org/officeDocument/2006/relationships/notesSlide"/><Relationship Id="rId39" Target="notesSlides/notesSlide15.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OECD’s PISA 2025 Philippines country note, published 8 September 2026, reports that 21% of participating Filipino 15-year-old students attained at least Level 2 in mathematics. The slide uses the complement: 100% − 21% = 79% below Level 2, the baseline proficiency threshold. The statistic describes school students represented by PISA, not all Filipinos. Source: https://www.oecd.org/en/publications/pisa-2025-results-volume-i-country-notes_2d4ff9ea-en/philippines_3699b9d5-en.html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Dunlo connects short-form interactive discovery to Khan Academy practice. The feed offers a familiar starting point for young learners used to mobile content, while each idea has a clear continuation into practice and review.</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four connected steps are choosing one short idea, making a prediction and seeing an explanation, practising the matching skill on Khan Academy, and answering a fresh question in Dunlo. Learning design source: https://ies.ed.gov/ncee/wwc/practiceguide/1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Dunlo offers a scrollable feed of original interactive models and focused, source-labelled Khan Academy video segments. Each item connects to a prediction, explanation, matching Khan exercise and later questions. Working feed: https://dunlo.vercel.app/explore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four positive areas are x squared, 3x, 4x and 12. Combining the middle terms gives 7x. The picture uses x = 5. The next assessment uses another example.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feed uses original Khan Academy video with a focused range, visible source and a link to the full lesson. The factoring example is 2:22–3:56. Source: https://www.khanacademy.org/math/algebra/x2f8bb11595b61c86:quadratics-multiplying-factoring/x2f8bb11595b61c86:factor-quadratics-intro/v/factoring-simple-quadratic-expression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short check helps choose support. The learner works through the explanation and then tries another question. They can choose to learn first.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Invite the reader to the main Dunlo site at https://dunlo.vercel.app/. The QR pixels, QR image hyperlink, Try Dunlo button and readable URL all use the main site. From there they can open Explore or continue studying.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Khan Academy has a visible role: explanation, relevant exercise and continuation. Resource opens, learner reports and fresh independent answers are distinct.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Saved ideas and the reviewer provide a reason to return. A later question uses a different situation. Retrieval research: https://pubmed.ncbi.nlm.nih.gov/23576743/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launch starts with direct public access and shared item links. Public demonstrations and topic pages introduce the experience. No school access is assumed.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November 2026: review content and launch publicly. December 2026 through February 2027: gather voluntary feedback, review where learners stop and refine the flow. March 2027: evaluate use and plan continuation. Future content sequences will include an interactive or clip, matching Khan activity, support and fresh questions. Expansion priorities are more subjects, reviewed Filipino content and original offline mini-packs.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implementation planning total is PHP 100,000. Content review, access/usability and evaluation total PHP 60,000. Funding has not been secured. Source: https://github.com/KhanAcademy-Backtrack/KhanAcademy-Backtrack-Demo/blob/main/docs/BUSINESS_AND_SUSTAINABILITY.md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Dunlo connects short-form discovery to Khan Academy practice, independent application and later review. Explore the working product at https://dunlo.vercel.app/. Team: Matthew Labrador, Paul Recio and Harry Gomez. Coach: Justin Mesias. University of the Philippines Manila.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Learning research references are linked directly from each visible entry. IES (2007) is also linked on slide 3. Khan Academy’s original lesson is credited on slide 6. These sources inform the learning design; no product-specific trial outcomes are claimed.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https://www.oecd.org/en/publications/pisa-2025-results-volume-i-country-notes_2d4ff9ea-en/philippines_3699b9d5-en.html" TargetMode="External" Type="http://schemas.openxmlformats.org/officeDocument/2006/relationships/hyperlink"/><Relationship Id="rId8" Target="../media/image5.png" Type="http://schemas.openxmlformats.org/officeDocument/2006/relationships/image"/><Relationship Id="rId9"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2" Target="../notesSlides/notesSlide2.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11" Target="../media/image7.png" Type="http://schemas.openxmlformats.org/officeDocument/2006/relationships/image"/><Relationship Id="rId12" Target="../media/image8.svg" Type="http://schemas.openxmlformats.org/officeDocument/2006/relationships/image"/><Relationship Id="rId2" Target="../notesSlides/notesSlide3.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https://ies.ed.gov/ncee/wwc/practiceguide/1" TargetMode="External" Type="http://schemas.openxmlformats.org/officeDocument/2006/relationships/hyperlink"/><Relationship Id="rId8" Target="https://ies.ed.gov/ncee/wwc/practiceguide/1" TargetMode="External" Type="http://schemas.openxmlformats.org/officeDocument/2006/relationships/hyperlink"/><Relationship Id="rId9"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https://dunlo.vercel.app/explore" TargetMode="External" Type="http://schemas.openxmlformats.org/officeDocument/2006/relationships/hyperlink"/><Relationship Id="rId11" Target="../media/image7.png" Type="http://schemas.openxmlformats.org/officeDocument/2006/relationships/image"/><Relationship Id="rId12" Target="../media/image8.svg" Type="http://schemas.openxmlformats.org/officeDocument/2006/relationships/image"/><Relationship Id="rId2" Target="../notesSlides/notesSlide4.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7.png" Type="http://schemas.openxmlformats.org/officeDocument/2006/relationships/image"/><Relationship Id="rId12" Target="../media/image8.svg" Type="http://schemas.openxmlformats.org/officeDocument/2006/relationships/image"/><Relationship Id="rId2" Target="../notesSlides/notesSlide5.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https://doi.org/10.1080/00461520.2014.965823" TargetMode="External" Type="http://schemas.openxmlformats.org/officeDocument/2006/relationships/hyperlink"/><Relationship Id="rId8" Target="../media/image5.png" Type="http://schemas.openxmlformats.org/officeDocument/2006/relationships/image"/><Relationship Id="rId9"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7.png" Type="http://schemas.openxmlformats.org/officeDocument/2006/relationships/image"/><Relationship Id="rId12" Target="../media/image8.svg" Type="http://schemas.openxmlformats.org/officeDocument/2006/relationships/image"/><Relationship Id="rId2" Target="../notesSlides/notesSlide6.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https://www.khanacademy.org/math/algebra/x2f8bb11595b61c86:quadratics-multiplying-factoring/x2f8bb11595b61c86:factor-quadratics-intro/v/factoring-simple-quadratic-expression" TargetMode="External" Type="http://schemas.openxmlformats.org/officeDocument/2006/relationships/hyperlink"/><Relationship Id="rId8" Target="../media/image5.png" Type="http://schemas.openxmlformats.org/officeDocument/2006/relationships/image"/><Relationship Id="rId9"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2" Target="../notesSlides/notesSlide7.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https://dunlo.vercel.app/demo" TargetMode="External" Type="http://schemas.openxmlformats.org/officeDocument/2006/relationships/hyperlink"/><Relationship Id="rId8" Target="../media/image5.png" Type="http://schemas.openxmlformats.org/officeDocument/2006/relationships/image"/><Relationship Id="rId9"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https://dunlo.vercel.app" TargetMode="External" Type="http://schemas.openxmlformats.org/officeDocument/2006/relationships/hyperlink"/><Relationship Id="rId11" Target="https://dunlo.vercel.app" TargetMode="External" Type="http://schemas.openxmlformats.org/officeDocument/2006/relationships/hyperlink"/><Relationship Id="rId12" Target="../media/image5.png" Type="http://schemas.openxmlformats.org/officeDocument/2006/relationships/image"/><Relationship Id="rId13" Target="../media/image6.svg" Type="http://schemas.openxmlformats.org/officeDocument/2006/relationships/image"/><Relationship Id="rId14" Target="../media/image7.png" Type="http://schemas.openxmlformats.org/officeDocument/2006/relationships/image"/><Relationship Id="rId15" Target="../media/image8.svg" Type="http://schemas.openxmlformats.org/officeDocument/2006/relationships/image"/><Relationship Id="rId2" Target="../notesSlides/notesSlide8.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12.jpeg" Type="http://schemas.openxmlformats.org/officeDocument/2006/relationships/image"/><Relationship Id="rId8" Target="../media/image13.png" Type="http://schemas.openxmlformats.org/officeDocument/2006/relationships/image"/><Relationship Id="rId9" Target="https://dunlo.vercel.app" TargetMode="External" Type="http://schemas.openxmlformats.org/officeDocument/2006/relationships/hyperlink"/></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7.png" Type="http://schemas.openxmlformats.org/officeDocument/2006/relationships/image"/><Relationship Id="rId12" Target="../media/image8.svg" Type="http://schemas.openxmlformats.org/officeDocument/2006/relationships/image"/><Relationship Id="rId2" Target="../notesSlides/notesSlide9.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https://support.khanacademy.org/hc/en-us/articles/202262954-Can-I-use-Khan-Academy-s-videos-name-materials-links-in-my-project" TargetMode="External" Type="http://schemas.openxmlformats.org/officeDocument/2006/relationships/hyperlink"/><Relationship Id="rId8" Target="../media/image5.png" Type="http://schemas.openxmlformats.org/officeDocument/2006/relationships/image"/><Relationship Id="rId9"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2" Target="../notesSlides/notesSlide10.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https://doi.org/10.1038/s44159-022-00089-1" TargetMode="External" Type="http://schemas.openxmlformats.org/officeDocument/2006/relationships/hyperlink"/><Relationship Id="rId8" Target="../media/image5.png" Type="http://schemas.openxmlformats.org/officeDocument/2006/relationships/image"/><Relationship Id="rId9"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2" Target="../notesSlides/notesSlide1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2" Target="../notesSlides/notesSlide12.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2" Target="../notesSlides/notesSlide13.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https://github.com/KhanAcademy-Backtrack/KhanAcademy-Backtrack-Demo/blob/main/docs/BUSINESS_AND_SUSTAINABILITY.md" TargetMode="External" Type="http://schemas.openxmlformats.org/officeDocument/2006/relationships/hyperlink"/><Relationship Id="rId8" Target="../media/image5.png" Type="http://schemas.openxmlformats.org/officeDocument/2006/relationships/image"/><Relationship Id="rId9" Target="../media/image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2" Target="../notesSlides/notesSlide14.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https://dunlo.vercel.app" TargetMode="External" Type="http://schemas.openxmlformats.org/officeDocument/2006/relationships/hyperlink"/><Relationship Id="rId8" Target="../media/image5.png" Type="http://schemas.openxmlformats.org/officeDocument/2006/relationships/image"/><Relationship Id="rId9"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https://doi.org/10.1038/s44159-022-00089-1" TargetMode="External" Type="http://schemas.openxmlformats.org/officeDocument/2006/relationships/hyperlink"/><Relationship Id="rId11" Target="https://doi.org/10.1038/s44159-022-00089-1" TargetMode="External" Type="http://schemas.openxmlformats.org/officeDocument/2006/relationships/hyperlink"/><Relationship Id="rId12" Target="https://doi.org/10.1038/s44159-022-00089-1" TargetMode="External" Type="http://schemas.openxmlformats.org/officeDocument/2006/relationships/hyperlink"/><Relationship Id="rId13" Target="https://doi.org/10.1006/ijhc.2002.1017" TargetMode="External" Type="http://schemas.openxmlformats.org/officeDocument/2006/relationships/hyperlink"/><Relationship Id="rId14" Target="https://doi.org/10.1006/ijhc.2002.1017" TargetMode="External" Type="http://schemas.openxmlformats.org/officeDocument/2006/relationships/hyperlink"/><Relationship Id="rId15" Target="https://doi.org/10.1006/ijhc.2002.1017" TargetMode="External" Type="http://schemas.openxmlformats.org/officeDocument/2006/relationships/hyperlink"/><Relationship Id="rId16" Target="https://doi.org/10.1006/ijhc.2002.1017" TargetMode="External" Type="http://schemas.openxmlformats.org/officeDocument/2006/relationships/hyperlink"/><Relationship Id="rId17" Target="https://eric.ed.gov/?id=EJ678596" TargetMode="External" Type="http://schemas.openxmlformats.org/officeDocument/2006/relationships/hyperlink"/><Relationship Id="rId18" Target="https://eric.ed.gov/?id=EJ678596" TargetMode="External" Type="http://schemas.openxmlformats.org/officeDocument/2006/relationships/hyperlink"/><Relationship Id="rId19" Target="https://eric.ed.gov/?id=EJ678596" TargetMode="External" Type="http://schemas.openxmlformats.org/officeDocument/2006/relationships/hyperlink"/><Relationship Id="rId2" Target="../notesSlides/notesSlide15.xml" Type="http://schemas.openxmlformats.org/officeDocument/2006/relationships/notesSlide"/><Relationship Id="rId20" Target="https://eric.ed.gov/?id=EJ678596" TargetMode="External" Type="http://schemas.openxmlformats.org/officeDocument/2006/relationships/hyperlink"/><Relationship Id="rId21" Target="https://doi.org/10.1080/00461520.2014.965823" TargetMode="External" Type="http://schemas.openxmlformats.org/officeDocument/2006/relationships/hyperlink"/><Relationship Id="rId22" Target="https://doi.org/10.1080/00461520.2014.965823" TargetMode="External" Type="http://schemas.openxmlformats.org/officeDocument/2006/relationships/hyperlink"/><Relationship Id="rId23" Target="https://doi.org/10.1080/00461520.2014.965823" TargetMode="External" Type="http://schemas.openxmlformats.org/officeDocument/2006/relationships/hyperlink"/><Relationship Id="rId24" Target="https://doi.org/10.1080/00461520.2014.965823" TargetMode="External" Type="http://schemas.openxmlformats.org/officeDocument/2006/relationships/hyperlink"/><Relationship Id="rId25" Target="https://pubmed.ncbi.nlm.nih.gov/33683913/" TargetMode="External" Type="http://schemas.openxmlformats.org/officeDocument/2006/relationships/hyperlink"/><Relationship Id="rId26" Target="https://pubmed.ncbi.nlm.nih.gov/33683913/" TargetMode="External" Type="http://schemas.openxmlformats.org/officeDocument/2006/relationships/hyperlink"/><Relationship Id="rId27" Target="https://pubmed.ncbi.nlm.nih.gov/33683913/" TargetMode="External" Type="http://schemas.openxmlformats.org/officeDocument/2006/relationships/hyperlink"/><Relationship Id="rId28" Target="https://pubmed.ncbi.nlm.nih.gov/33683913/" TargetMode="External" Type="http://schemas.openxmlformats.org/officeDocument/2006/relationships/hyperlink"/><Relationship Id="rId29" Target="https://pubmed.ncbi.nlm.nih.gov/23576743/" TargetMode="External" Type="http://schemas.openxmlformats.org/officeDocument/2006/relationships/hyperlink"/><Relationship Id="rId3" Target="../media/image1.jpeg" Type="http://schemas.openxmlformats.org/officeDocument/2006/relationships/image"/><Relationship Id="rId30" Target="https://pubmed.ncbi.nlm.nih.gov/23576743/" TargetMode="External" Type="http://schemas.openxmlformats.org/officeDocument/2006/relationships/hyperlink"/><Relationship Id="rId31" Target="../media/image5.png" Type="http://schemas.openxmlformats.org/officeDocument/2006/relationships/image"/><Relationship Id="rId32" Target="../media/image6.svg" Type="http://schemas.openxmlformats.org/officeDocument/2006/relationships/image"/><Relationship Id="rId33" Target="../media/image7.png" Type="http://schemas.openxmlformats.org/officeDocument/2006/relationships/image"/><Relationship Id="rId34" Target="../media/image8.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https://www.psychologicalscience.org/journals/pspi/1529100612453266/" TargetMode="External" Type="http://schemas.openxmlformats.org/officeDocument/2006/relationships/hyperlink"/><Relationship Id="rId8" Target="https://www.psychologicalscience.org/journals/pspi/1529100612453266/" TargetMode="External" Type="http://schemas.openxmlformats.org/officeDocument/2006/relationships/hyperlink"/><Relationship Id="rId9" Target="https://www.psychologicalscience.org/journals/pspi/1529100612453266/"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2192000" cy="6858000"/>
          </a:xfrm>
          <a:prstGeom prst="rect">
            <a:avLst/>
          </a:prstGeom>
          <a:solidFill>
            <a:srgbClr val="FFFFFF"/>
          </a:solidFill>
        </p:spPr>
      </p:sp>
      <p:grpSp>
        <p:nvGrpSpPr>
          <p:cNvPr name="Group 3" id="3"/>
          <p:cNvGrpSpPr/>
          <p:nvPr/>
        </p:nvGrpSpPr>
        <p:grpSpPr>
          <a:xfrm rot="0">
            <a:off x="0" y="0"/>
            <a:ext cx="12192000" cy="6858000"/>
            <a:chOff x="0" y="0"/>
            <a:chExt cx="16256000" cy="9144000"/>
          </a:xfrm>
        </p:grpSpPr>
        <p:sp>
          <p:nvSpPr>
            <p:cNvPr name="Freeform 4" id="4"/>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3"/>
              <a:stretch>
                <a:fillRect l="0" t="0" r="0" b="0"/>
              </a:stretch>
            </a:blipFill>
          </p:spPr>
        </p:sp>
      </p:grpSp>
      <p:grpSp>
        <p:nvGrpSpPr>
          <p:cNvPr name="Group 5" id="5"/>
          <p:cNvGrpSpPr/>
          <p:nvPr/>
        </p:nvGrpSpPr>
        <p:grpSpPr>
          <a:xfrm rot="0">
            <a:off x="0" y="0"/>
            <a:ext cx="12192000" cy="6858000"/>
            <a:chOff x="0" y="0"/>
            <a:chExt cx="16256000" cy="9144000"/>
          </a:xfrm>
        </p:grpSpPr>
        <p:sp>
          <p:nvSpPr>
            <p:cNvPr name="Freeform 6" id="6"/>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887200" y="0"/>
              <a:ext cx="3556000" cy="803656"/>
            </a:xfrm>
            <a:custGeom>
              <a:avLst/>
              <a:gdLst/>
              <a:ahLst/>
              <a:cxnLst/>
              <a:rect r="r" b="b" t="t" l="l"/>
              <a:pathLst>
                <a:path h="803656" w="3556000">
                  <a:moveTo>
                    <a:pt x="0" y="0"/>
                  </a:moveTo>
                  <a:lnTo>
                    <a:pt x="3556000" y="0"/>
                  </a:lnTo>
                  <a:lnTo>
                    <a:pt x="3556000" y="803656"/>
                  </a:lnTo>
                  <a:lnTo>
                    <a:pt x="0" y="803656"/>
                  </a:lnTo>
                  <a:lnTo>
                    <a:pt x="0" y="0"/>
                  </a:lnTo>
                  <a:close/>
                </a:path>
              </a:pathLst>
            </a:custGeom>
            <a:blipFill>
              <a:blip r:embed="rId6"/>
              <a:stretch>
                <a:fillRect l="0" t="0" r="0" b="0"/>
              </a:stretch>
            </a:blipFill>
          </p:spPr>
        </p:sp>
      </p:grpSp>
      <p:sp>
        <p:nvSpPr>
          <p:cNvPr name="TextBox 8" id="8"/>
          <p:cNvSpPr txBox="true"/>
          <p:nvPr/>
        </p:nvSpPr>
        <p:spPr>
          <a:xfrm rot="0">
            <a:off x="762000" y="5743575"/>
            <a:ext cx="10668000" cy="196596"/>
          </a:xfrm>
          <a:prstGeom prst="rect">
            <a:avLst/>
          </a:prstGeom>
        </p:spPr>
        <p:txBody>
          <a:bodyPr anchor="t" rtlCol="false" tIns="0" lIns="0" bIns="0" rIns="0">
            <a:spAutoFit/>
          </a:bodyPr>
          <a:lstStyle/>
          <a:p>
            <a:pPr algn="l" marL="0" indent="0" lvl="0">
              <a:lnSpc>
                <a:spcPts val="1647"/>
              </a:lnSpc>
              <a:spcBef>
                <a:spcPct val="0"/>
              </a:spcBef>
            </a:pPr>
            <a:r>
              <a:rPr lang="en-US" sz="1350" strike="noStrike" u="none">
                <a:solidFill>
                  <a:srgbClr val="0A2A66"/>
                </a:solidFill>
                <a:latin typeface="DM Sans"/>
                <a:ea typeface="DM Sans"/>
                <a:cs typeface="DM Sans"/>
                <a:sym typeface="DM Sans"/>
                <a:hlinkClick r:id="rId7" tooltip="https://www.oecd.org/en/publications/pisa-2025-results-volume-i-country-notes_2d4ff9ea-en/philippines_3699b9d5-en.html"/>
              </a:rPr>
              <a:t>Source: OECD · PISA 2025, Philippines (2026) · Below Level 2 in mathematics</a:t>
            </a:r>
          </a:p>
        </p:txBody>
      </p:sp>
      <p:sp>
        <p:nvSpPr>
          <p:cNvPr name="TextBox 9" id="9"/>
          <p:cNvSpPr txBox="true"/>
          <p:nvPr/>
        </p:nvSpPr>
        <p:spPr>
          <a:xfrm rot="0">
            <a:off x="762000" y="1600200"/>
            <a:ext cx="10668000" cy="1592961"/>
          </a:xfrm>
          <a:prstGeom prst="rect">
            <a:avLst/>
          </a:prstGeom>
        </p:spPr>
        <p:txBody>
          <a:bodyPr anchor="t" rtlCol="false" tIns="0" lIns="0" bIns="0" rIns="0">
            <a:spAutoFit/>
          </a:bodyPr>
          <a:lstStyle/>
          <a:p>
            <a:pPr algn="l" marL="0" indent="0" lvl="0">
              <a:lnSpc>
                <a:spcPts val="12627"/>
              </a:lnSpc>
              <a:spcBef>
                <a:spcPct val="0"/>
              </a:spcBef>
            </a:pPr>
            <a:r>
              <a:rPr lang="en-US" b="true" sz="10350" strike="noStrike" u="none">
                <a:solidFill>
                  <a:srgbClr val="0A2A66"/>
                </a:solidFill>
                <a:latin typeface="DM Sans Bold"/>
                <a:ea typeface="DM Sans Bold"/>
                <a:cs typeface="DM Sans Bold"/>
                <a:sym typeface="DM Sans Bold"/>
              </a:rPr>
              <a:t>79%</a:t>
            </a:r>
          </a:p>
        </p:txBody>
      </p:sp>
      <p:sp>
        <p:nvSpPr>
          <p:cNvPr name="TextBox 10" id="10"/>
          <p:cNvSpPr txBox="true"/>
          <p:nvPr/>
        </p:nvSpPr>
        <p:spPr>
          <a:xfrm rot="0">
            <a:off x="762000" y="3400425"/>
            <a:ext cx="10668000" cy="973074"/>
          </a:xfrm>
          <a:prstGeom prst="rect">
            <a:avLst/>
          </a:prstGeom>
        </p:spPr>
        <p:txBody>
          <a:bodyPr anchor="t" rtlCol="false" tIns="0" lIns="0" bIns="0" rIns="0">
            <a:spAutoFit/>
          </a:bodyPr>
          <a:lstStyle/>
          <a:p>
            <a:pPr algn="l" marL="0" indent="0" lvl="0">
              <a:lnSpc>
                <a:spcPts val="3843"/>
              </a:lnSpc>
              <a:spcBef>
                <a:spcPct val="0"/>
              </a:spcBef>
            </a:pPr>
            <a:r>
              <a:rPr lang="en-US" sz="3150" strike="noStrike" u="none">
                <a:solidFill>
                  <a:srgbClr val="0A2A66"/>
                </a:solidFill>
                <a:latin typeface="DM Sans"/>
                <a:ea typeface="DM Sans"/>
                <a:cs typeface="DM Sans"/>
                <a:sym typeface="DM Sans"/>
              </a:rPr>
              <a:t>of Filipino 15-year-old students scored</a:t>
            </a:r>
          </a:p>
          <a:p>
            <a:pPr algn="l" marL="0" indent="0" lvl="0">
              <a:lnSpc>
                <a:spcPts val="3843"/>
              </a:lnSpc>
              <a:spcBef>
                <a:spcPct val="0"/>
              </a:spcBef>
            </a:pPr>
            <a:r>
              <a:rPr lang="en-US" sz="3150" strike="noStrike" u="none">
                <a:solidFill>
                  <a:srgbClr val="0A2A66"/>
                </a:solidFill>
                <a:latin typeface="DM Sans"/>
                <a:ea typeface="DM Sans"/>
                <a:cs typeface="DM Sans"/>
                <a:sym typeface="DM Sans"/>
              </a:rPr>
              <a:t>below basic proficiency in mathematics.</a:t>
            </a:r>
          </a:p>
        </p:txBody>
      </p:sp>
      <p:sp>
        <p:nvSpPr>
          <p:cNvPr name="Freeform 11" id="11" descr="Dunlo"/>
          <p:cNvSpPr/>
          <p:nvPr/>
        </p:nvSpPr>
        <p:spPr>
          <a:xfrm flipH="false" flipV="false" rot="0">
            <a:off x="609600" y="38100"/>
            <a:ext cx="1571625" cy="521160"/>
          </a:xfrm>
          <a:custGeom>
            <a:avLst/>
            <a:gdLst/>
            <a:ahLst/>
            <a:cxnLst/>
            <a:rect r="r" b="b" t="t" l="l"/>
            <a:pathLst>
              <a:path h="521160" w="1571625">
                <a:moveTo>
                  <a:pt x="0" y="0"/>
                </a:moveTo>
                <a:lnTo>
                  <a:pt x="1571625" y="0"/>
                </a:lnTo>
                <a:lnTo>
                  <a:pt x="1571625" y="521160"/>
                </a:lnTo>
                <a:lnTo>
                  <a:pt x="0" y="5211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9429750" y="323850"/>
            <a:ext cx="2152650" cy="133350"/>
          </a:xfrm>
          <a:custGeom>
            <a:avLst/>
            <a:gdLst/>
            <a:ahLst/>
            <a:cxnLst/>
            <a:rect r="r" b="b" t="t" l="l"/>
            <a:pathLst>
              <a:path h="133350" w="2152650">
                <a:moveTo>
                  <a:pt x="0" y="0"/>
                </a:moveTo>
                <a:lnTo>
                  <a:pt x="2152650" y="0"/>
                </a:lnTo>
                <a:lnTo>
                  <a:pt x="2152650" y="133350"/>
                </a:lnTo>
                <a:lnTo>
                  <a:pt x="0" y="133350"/>
                </a:lnTo>
                <a:lnTo>
                  <a:pt x="0" y="0"/>
                </a:lnTo>
                <a:close/>
              </a:path>
            </a:pathLst>
          </a:custGeom>
          <a:blipFill>
            <a:blip r:embed="rId10">
              <a:extLst>
                <a:ext uri="{96DAC541-7B7A-43D3-8B79-37D633B846F1}">
                  <asvg:svgBlip xmlns:asvg="http://schemas.microsoft.com/office/drawing/2016/SVG/main" r:embed="rId11"/>
                </a:ext>
              </a:extLst>
            </a:blip>
            <a:stretch>
              <a:fillRect l="0" t="-1363" r="0" b="-1363"/>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2192000" cy="6858000"/>
          </a:xfrm>
          <a:prstGeom prst="rect">
            <a:avLst/>
          </a:prstGeom>
          <a:solidFill>
            <a:srgbClr val="FFFFFF"/>
          </a:solidFill>
        </p:spPr>
      </p:sp>
      <p:grpSp>
        <p:nvGrpSpPr>
          <p:cNvPr name="Group 3" id="3"/>
          <p:cNvGrpSpPr/>
          <p:nvPr/>
        </p:nvGrpSpPr>
        <p:grpSpPr>
          <a:xfrm rot="0">
            <a:off x="0" y="0"/>
            <a:ext cx="12192000" cy="6858000"/>
            <a:chOff x="0" y="0"/>
            <a:chExt cx="16256000" cy="9144000"/>
          </a:xfrm>
        </p:grpSpPr>
        <p:sp>
          <p:nvSpPr>
            <p:cNvPr name="Freeform 4" id="4"/>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3"/>
              <a:stretch>
                <a:fillRect l="0" t="0" r="0" b="0"/>
              </a:stretch>
            </a:blipFill>
          </p:spPr>
        </p:sp>
      </p:grpSp>
      <p:grpSp>
        <p:nvGrpSpPr>
          <p:cNvPr name="Group 5" id="5"/>
          <p:cNvGrpSpPr/>
          <p:nvPr/>
        </p:nvGrpSpPr>
        <p:grpSpPr>
          <a:xfrm rot="0">
            <a:off x="0" y="0"/>
            <a:ext cx="12192000" cy="6858000"/>
            <a:chOff x="0" y="0"/>
            <a:chExt cx="16256000" cy="9144000"/>
          </a:xfrm>
        </p:grpSpPr>
        <p:sp>
          <p:nvSpPr>
            <p:cNvPr name="Freeform 6" id="6"/>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887200" y="0"/>
              <a:ext cx="3556000" cy="803656"/>
            </a:xfrm>
            <a:custGeom>
              <a:avLst/>
              <a:gdLst/>
              <a:ahLst/>
              <a:cxnLst/>
              <a:rect r="r" b="b" t="t" l="l"/>
              <a:pathLst>
                <a:path h="803656" w="3556000">
                  <a:moveTo>
                    <a:pt x="0" y="0"/>
                  </a:moveTo>
                  <a:lnTo>
                    <a:pt x="3556000" y="0"/>
                  </a:lnTo>
                  <a:lnTo>
                    <a:pt x="3556000" y="803656"/>
                  </a:lnTo>
                  <a:lnTo>
                    <a:pt x="0" y="803656"/>
                  </a:lnTo>
                  <a:lnTo>
                    <a:pt x="0" y="0"/>
                  </a:lnTo>
                  <a:close/>
                </a:path>
              </a:pathLst>
            </a:custGeom>
            <a:blipFill>
              <a:blip r:embed="rId6"/>
              <a:stretch>
                <a:fillRect l="0" t="0" r="0" b="0"/>
              </a:stretch>
            </a:blipFill>
          </p:spPr>
        </p:sp>
      </p:grpSp>
      <p:sp>
        <p:nvSpPr>
          <p:cNvPr name="TextBox 8" id="8"/>
          <p:cNvSpPr txBox="true"/>
          <p:nvPr/>
        </p:nvSpPr>
        <p:spPr>
          <a:xfrm rot="0">
            <a:off x="11239500" y="6353175"/>
            <a:ext cx="428625" cy="168592"/>
          </a:xfrm>
          <a:prstGeom prst="rect">
            <a:avLst/>
          </a:prstGeom>
        </p:spPr>
        <p:txBody>
          <a:bodyPr anchor="t" rtlCol="false" tIns="0" lIns="0" bIns="0" rIns="0">
            <a:spAutoFit/>
          </a:bodyPr>
          <a:lstStyle/>
          <a:p>
            <a:pPr algn="l" marL="0" indent="0" lvl="0">
              <a:lnSpc>
                <a:spcPts val="1372"/>
              </a:lnSpc>
              <a:spcBef>
                <a:spcPct val="0"/>
              </a:spcBef>
            </a:pPr>
            <a:r>
              <a:rPr lang="en-US" sz="1125" strike="noStrike" u="none">
                <a:solidFill>
                  <a:srgbClr val="0A2A66"/>
                </a:solidFill>
                <a:latin typeface="DM Sans"/>
                <a:ea typeface="DM Sans"/>
                <a:cs typeface="DM Sans"/>
                <a:sym typeface="DM Sans"/>
              </a:rPr>
              <a:t>02</a:t>
            </a:r>
          </a:p>
        </p:txBody>
      </p:sp>
      <p:sp>
        <p:nvSpPr>
          <p:cNvPr name="TextBox 9" id="9"/>
          <p:cNvSpPr txBox="true"/>
          <p:nvPr/>
        </p:nvSpPr>
        <p:spPr>
          <a:xfrm rot="0">
            <a:off x="609600" y="866775"/>
            <a:ext cx="10972800" cy="487299"/>
          </a:xfrm>
          <a:prstGeom prst="rect">
            <a:avLst/>
          </a:prstGeom>
        </p:spPr>
        <p:txBody>
          <a:bodyPr anchor="t" rtlCol="false" tIns="0" lIns="0" bIns="0" rIns="0">
            <a:spAutoFit/>
          </a:bodyPr>
          <a:lstStyle/>
          <a:p>
            <a:pPr algn="l" marL="0" indent="0" lvl="0">
              <a:lnSpc>
                <a:spcPts val="3843"/>
              </a:lnSpc>
              <a:spcBef>
                <a:spcPct val="0"/>
              </a:spcBef>
            </a:pPr>
            <a:r>
              <a:rPr lang="en-US" b="true" sz="3150" strike="noStrike" u="none">
                <a:solidFill>
                  <a:srgbClr val="0A2A66"/>
                </a:solidFill>
                <a:latin typeface="DM Sans Bold"/>
                <a:ea typeface="DM Sans Bold"/>
                <a:cs typeface="DM Sans Bold"/>
                <a:sym typeface="DM Sans Bold"/>
              </a:rPr>
              <a:t>Dunlo turns discovery into practice</a:t>
            </a:r>
          </a:p>
        </p:txBody>
      </p:sp>
      <p:sp>
        <p:nvSpPr>
          <p:cNvPr name="TextBox 10" id="10"/>
          <p:cNvSpPr txBox="true"/>
          <p:nvPr/>
        </p:nvSpPr>
        <p:spPr>
          <a:xfrm rot="0">
            <a:off x="609600" y="1895475"/>
            <a:ext cx="10972800" cy="328041"/>
          </a:xfrm>
          <a:prstGeom prst="rect">
            <a:avLst/>
          </a:prstGeom>
        </p:spPr>
        <p:txBody>
          <a:bodyPr anchor="t" rtlCol="false" tIns="0" lIns="0" bIns="0" rIns="0">
            <a:spAutoFit/>
          </a:bodyPr>
          <a:lstStyle/>
          <a:p>
            <a:pPr algn="ctr" marL="0" indent="0" lvl="0">
              <a:lnSpc>
                <a:spcPts val="2562"/>
              </a:lnSpc>
              <a:spcBef>
                <a:spcPct val="0"/>
              </a:spcBef>
            </a:pPr>
            <a:r>
              <a:rPr lang="en-US" sz="2100" strike="noStrike" u="none">
                <a:solidFill>
                  <a:srgbClr val="0A2A66"/>
                </a:solidFill>
                <a:latin typeface="DM Sans"/>
                <a:ea typeface="DM Sans"/>
                <a:cs typeface="DM Sans"/>
                <a:sym typeface="DM Sans"/>
              </a:rPr>
              <a:t>A short-form learning feed with a clear path into Khan Academy.</a:t>
            </a:r>
          </a:p>
        </p:txBody>
      </p:sp>
      <p:sp>
        <p:nvSpPr>
          <p:cNvPr name="AutoShape 11" id="11"/>
          <p:cNvSpPr/>
          <p:nvPr/>
        </p:nvSpPr>
        <p:spPr>
          <a:xfrm rot="0">
            <a:off x="609600" y="2714625"/>
            <a:ext cx="4648200" cy="2190750"/>
          </a:xfrm>
          <a:prstGeom prst="rect">
            <a:avLst/>
          </a:prstGeom>
          <a:solidFill>
            <a:srgbClr val="F0EFFF"/>
          </a:solidFill>
        </p:spPr>
      </p:sp>
      <p:sp>
        <p:nvSpPr>
          <p:cNvPr name="TextBox 12" id="12"/>
          <p:cNvSpPr txBox="true"/>
          <p:nvPr/>
        </p:nvSpPr>
        <p:spPr>
          <a:xfrm rot="0">
            <a:off x="838200" y="2867025"/>
            <a:ext cx="4191000" cy="393573"/>
          </a:xfrm>
          <a:prstGeom prst="rect">
            <a:avLst/>
          </a:prstGeom>
        </p:spPr>
        <p:txBody>
          <a:bodyPr anchor="t" rtlCol="false" tIns="0" lIns="0" bIns="0" rIns="0">
            <a:spAutoFit/>
          </a:bodyPr>
          <a:lstStyle/>
          <a:p>
            <a:pPr algn="ctr" marL="0" indent="0" lvl="0">
              <a:lnSpc>
                <a:spcPts val="3111"/>
              </a:lnSpc>
              <a:spcBef>
                <a:spcPct val="0"/>
              </a:spcBef>
            </a:pPr>
            <a:r>
              <a:rPr lang="en-US" sz="2550" strike="noStrike" u="none">
                <a:solidFill>
                  <a:srgbClr val="0A2A66"/>
                </a:solidFill>
                <a:latin typeface="DM Sans"/>
                <a:ea typeface="DM Sans"/>
                <a:cs typeface="DM Sans"/>
                <a:sym typeface="DM Sans"/>
              </a:rPr>
              <a:t>Easy to start</a:t>
            </a:r>
          </a:p>
        </p:txBody>
      </p:sp>
      <p:sp>
        <p:nvSpPr>
          <p:cNvPr name="TextBox 13" id="13"/>
          <p:cNvSpPr txBox="true"/>
          <p:nvPr/>
        </p:nvSpPr>
        <p:spPr>
          <a:xfrm rot="0">
            <a:off x="838200" y="3486150"/>
            <a:ext cx="4191000" cy="547878"/>
          </a:xfrm>
          <a:prstGeom prst="rect">
            <a:avLst/>
          </a:prstGeom>
        </p:spPr>
        <p:txBody>
          <a:bodyPr anchor="t" rtlCol="false" tIns="0" lIns="0" bIns="0" rIns="0">
            <a:spAutoFit/>
          </a:bodyPr>
          <a:lstStyle/>
          <a:p>
            <a:pPr algn="ctr" marL="0" indent="0" lvl="0">
              <a:lnSpc>
                <a:spcPts val="2196"/>
              </a:lnSpc>
              <a:spcBef>
                <a:spcPct val="0"/>
              </a:spcBef>
            </a:pPr>
            <a:r>
              <a:rPr lang="en-US" sz="1800" strike="noStrike" u="none">
                <a:solidFill>
                  <a:srgbClr val="0A2A66"/>
                </a:solidFill>
                <a:latin typeface="DM Sans"/>
                <a:ea typeface="DM Sans"/>
                <a:cs typeface="DM Sans"/>
                <a:sym typeface="DM Sans"/>
              </a:rPr>
              <a:t>Young learners can start with one idea</a:t>
            </a:r>
          </a:p>
          <a:p>
            <a:pPr algn="ctr" marL="0" indent="0" lvl="0">
              <a:lnSpc>
                <a:spcPts val="2196"/>
              </a:lnSpc>
              <a:spcBef>
                <a:spcPct val="0"/>
              </a:spcBef>
            </a:pPr>
            <a:r>
              <a:rPr lang="en-US" sz="1800" strike="noStrike" u="none">
                <a:solidFill>
                  <a:srgbClr val="0A2A66"/>
                </a:solidFill>
                <a:latin typeface="DM Sans"/>
                <a:ea typeface="DM Sans"/>
                <a:cs typeface="DM Sans"/>
                <a:sym typeface="DM Sans"/>
              </a:rPr>
              <a:t>in a familiar, scrollable feed.</a:t>
            </a:r>
          </a:p>
        </p:txBody>
      </p:sp>
      <p:sp>
        <p:nvSpPr>
          <p:cNvPr name="TextBox 14" id="14"/>
          <p:cNvSpPr txBox="true"/>
          <p:nvPr/>
        </p:nvSpPr>
        <p:spPr>
          <a:xfrm rot="0">
            <a:off x="838200" y="4248150"/>
            <a:ext cx="4191000" cy="547878"/>
          </a:xfrm>
          <a:prstGeom prst="rect">
            <a:avLst/>
          </a:prstGeom>
        </p:spPr>
        <p:txBody>
          <a:bodyPr anchor="t" rtlCol="false" tIns="0" lIns="0" bIns="0" rIns="0">
            <a:spAutoFit/>
          </a:bodyPr>
          <a:lstStyle/>
          <a:p>
            <a:pPr algn="ctr" marL="0" indent="0" lvl="0">
              <a:lnSpc>
                <a:spcPts val="2196"/>
              </a:lnSpc>
              <a:spcBef>
                <a:spcPct val="0"/>
              </a:spcBef>
            </a:pPr>
            <a:r>
              <a:rPr lang="en-US" sz="1800" strike="noStrike" u="none">
                <a:solidFill>
                  <a:srgbClr val="0A2A66"/>
                </a:solidFill>
                <a:latin typeface="DM Sans"/>
                <a:ea typeface="DM Sans"/>
                <a:cs typeface="DM Sans"/>
                <a:sym typeface="DM Sans"/>
              </a:rPr>
              <a:t>Try an interactive model or Khan clip.</a:t>
            </a:r>
          </a:p>
          <a:p>
            <a:pPr algn="ctr" marL="0" indent="0" lvl="0">
              <a:lnSpc>
                <a:spcPts val="2196"/>
              </a:lnSpc>
              <a:spcBef>
                <a:spcPct val="0"/>
              </a:spcBef>
            </a:pPr>
            <a:r>
              <a:rPr lang="en-US" sz="1800" strike="noStrike" u="none">
                <a:solidFill>
                  <a:srgbClr val="0A2A66"/>
                </a:solidFill>
                <a:latin typeface="DM Sans"/>
                <a:ea typeface="DM Sans"/>
                <a:cs typeface="DM Sans"/>
                <a:sym typeface="DM Sans"/>
              </a:rPr>
              <a:t>Make a prediction and see why.</a:t>
            </a:r>
          </a:p>
        </p:txBody>
      </p:sp>
      <p:sp>
        <p:nvSpPr>
          <p:cNvPr name="AutoShape 15" id="15"/>
          <p:cNvSpPr/>
          <p:nvPr/>
        </p:nvSpPr>
        <p:spPr>
          <a:xfrm rot="0">
            <a:off x="5562600" y="3800475"/>
            <a:ext cx="876300" cy="38100"/>
          </a:xfrm>
          <a:prstGeom prst="rect">
            <a:avLst/>
          </a:prstGeom>
          <a:solidFill>
            <a:srgbClr val="C96331"/>
          </a:solidFill>
        </p:spPr>
      </p:sp>
      <p:grpSp>
        <p:nvGrpSpPr>
          <p:cNvPr name="Group 16" id="16"/>
          <p:cNvGrpSpPr/>
          <p:nvPr/>
        </p:nvGrpSpPr>
        <p:grpSpPr>
          <a:xfrm rot="1840140">
            <a:off x="6381083" y="3764852"/>
            <a:ext cx="171450" cy="28575"/>
            <a:chOff x="0" y="0"/>
            <a:chExt cx="228600" cy="38100"/>
          </a:xfrm>
        </p:grpSpPr>
        <p:sp>
          <p:nvSpPr>
            <p:cNvPr name="Freeform 17" id="17"/>
            <p:cNvSpPr/>
            <p:nvPr/>
          </p:nvSpPr>
          <p:spPr>
            <a:xfrm flipH="false" flipV="false" rot="0">
              <a:off x="0" y="0"/>
              <a:ext cx="228600" cy="38100"/>
            </a:xfrm>
            <a:custGeom>
              <a:avLst/>
              <a:gdLst/>
              <a:ahLst/>
              <a:cxnLst/>
              <a:rect r="r" b="b" t="t" l="l"/>
              <a:pathLst>
                <a:path h="38100" w="228600">
                  <a:moveTo>
                    <a:pt x="19050" y="0"/>
                  </a:moveTo>
                  <a:lnTo>
                    <a:pt x="209550" y="0"/>
                  </a:lnTo>
                  <a:cubicBezTo>
                    <a:pt x="220091" y="0"/>
                    <a:pt x="228600" y="8509"/>
                    <a:pt x="228600" y="19050"/>
                  </a:cubicBezTo>
                  <a:cubicBezTo>
                    <a:pt x="228600" y="29591"/>
                    <a:pt x="220091" y="38100"/>
                    <a:pt x="209550" y="38100"/>
                  </a:cubicBezTo>
                  <a:lnTo>
                    <a:pt x="19050" y="38100"/>
                  </a:lnTo>
                  <a:cubicBezTo>
                    <a:pt x="8509" y="38100"/>
                    <a:pt x="0" y="29591"/>
                    <a:pt x="0" y="19050"/>
                  </a:cubicBezTo>
                  <a:cubicBezTo>
                    <a:pt x="0" y="8509"/>
                    <a:pt x="8509" y="0"/>
                    <a:pt x="19050" y="0"/>
                  </a:cubicBezTo>
                  <a:close/>
                </a:path>
              </a:pathLst>
            </a:custGeom>
            <a:solidFill>
              <a:srgbClr val="C96331"/>
            </a:solidFill>
          </p:spPr>
        </p:sp>
      </p:grpSp>
      <p:grpSp>
        <p:nvGrpSpPr>
          <p:cNvPr name="Group 18" id="18"/>
          <p:cNvGrpSpPr/>
          <p:nvPr/>
        </p:nvGrpSpPr>
        <p:grpSpPr>
          <a:xfrm rot="8959860">
            <a:off x="6372987" y="3850576"/>
            <a:ext cx="171450" cy="28575"/>
            <a:chOff x="0" y="0"/>
            <a:chExt cx="228600" cy="38100"/>
          </a:xfrm>
        </p:grpSpPr>
        <p:sp>
          <p:nvSpPr>
            <p:cNvPr name="Freeform 19" id="19"/>
            <p:cNvSpPr/>
            <p:nvPr/>
          </p:nvSpPr>
          <p:spPr>
            <a:xfrm flipH="false" flipV="false" rot="0">
              <a:off x="0" y="0"/>
              <a:ext cx="228600" cy="38100"/>
            </a:xfrm>
            <a:custGeom>
              <a:avLst/>
              <a:gdLst/>
              <a:ahLst/>
              <a:cxnLst/>
              <a:rect r="r" b="b" t="t" l="l"/>
              <a:pathLst>
                <a:path h="38100" w="228600">
                  <a:moveTo>
                    <a:pt x="19050" y="0"/>
                  </a:moveTo>
                  <a:lnTo>
                    <a:pt x="209550" y="0"/>
                  </a:lnTo>
                  <a:cubicBezTo>
                    <a:pt x="220091" y="0"/>
                    <a:pt x="228600" y="8509"/>
                    <a:pt x="228600" y="19050"/>
                  </a:cubicBezTo>
                  <a:cubicBezTo>
                    <a:pt x="228600" y="29591"/>
                    <a:pt x="220091" y="38100"/>
                    <a:pt x="209550" y="38100"/>
                  </a:cubicBezTo>
                  <a:lnTo>
                    <a:pt x="19050" y="38100"/>
                  </a:lnTo>
                  <a:cubicBezTo>
                    <a:pt x="8509" y="38100"/>
                    <a:pt x="0" y="29591"/>
                    <a:pt x="0" y="19050"/>
                  </a:cubicBezTo>
                  <a:cubicBezTo>
                    <a:pt x="0" y="8509"/>
                    <a:pt x="8509" y="0"/>
                    <a:pt x="19050" y="0"/>
                  </a:cubicBezTo>
                  <a:close/>
                </a:path>
              </a:pathLst>
            </a:custGeom>
            <a:solidFill>
              <a:srgbClr val="C96331"/>
            </a:solidFill>
          </p:spPr>
        </p:sp>
      </p:grpSp>
      <p:sp>
        <p:nvSpPr>
          <p:cNvPr name="TextBox 20" id="20"/>
          <p:cNvSpPr txBox="true"/>
          <p:nvPr/>
        </p:nvSpPr>
        <p:spPr>
          <a:xfrm rot="0">
            <a:off x="609600" y="5676900"/>
            <a:ext cx="10972800" cy="262318"/>
          </a:xfrm>
          <a:prstGeom prst="rect">
            <a:avLst/>
          </a:prstGeom>
        </p:spPr>
        <p:txBody>
          <a:bodyPr anchor="t" rtlCol="false" tIns="0" lIns="0" bIns="0" rIns="0">
            <a:spAutoFit/>
          </a:bodyPr>
          <a:lstStyle/>
          <a:p>
            <a:pPr algn="ctr" marL="0" indent="0" lvl="0">
              <a:lnSpc>
                <a:spcPts val="2104"/>
              </a:lnSpc>
              <a:spcBef>
                <a:spcPct val="0"/>
              </a:spcBef>
            </a:pPr>
            <a:r>
              <a:rPr lang="en-US" sz="1725" strike="noStrike" u="none">
                <a:solidFill>
                  <a:srgbClr val="0A2A66"/>
                </a:solidFill>
                <a:latin typeface="DM Sans"/>
                <a:ea typeface="DM Sans"/>
                <a:cs typeface="DM Sans"/>
                <a:sym typeface="DM Sans"/>
              </a:rPr>
              <a:t>The familiar feed opens the door. Connected practice gives that curiosity somewhere to go.</a:t>
            </a:r>
          </a:p>
        </p:txBody>
      </p:sp>
      <p:sp>
        <p:nvSpPr>
          <p:cNvPr name="AutoShape 21" id="21"/>
          <p:cNvSpPr/>
          <p:nvPr/>
        </p:nvSpPr>
        <p:spPr>
          <a:xfrm rot="0">
            <a:off x="6934200" y="2714625"/>
            <a:ext cx="4648200" cy="2190750"/>
          </a:xfrm>
          <a:prstGeom prst="rect">
            <a:avLst/>
          </a:prstGeom>
          <a:solidFill>
            <a:srgbClr val="D9F2EA"/>
          </a:solidFill>
        </p:spPr>
      </p:sp>
      <p:sp>
        <p:nvSpPr>
          <p:cNvPr name="TextBox 22" id="22"/>
          <p:cNvSpPr txBox="true"/>
          <p:nvPr/>
        </p:nvSpPr>
        <p:spPr>
          <a:xfrm rot="0">
            <a:off x="7162800" y="2867025"/>
            <a:ext cx="4191000" cy="393573"/>
          </a:xfrm>
          <a:prstGeom prst="rect">
            <a:avLst/>
          </a:prstGeom>
        </p:spPr>
        <p:txBody>
          <a:bodyPr anchor="t" rtlCol="false" tIns="0" lIns="0" bIns="0" rIns="0">
            <a:spAutoFit/>
          </a:bodyPr>
          <a:lstStyle/>
          <a:p>
            <a:pPr algn="ctr" marL="0" indent="0" lvl="0">
              <a:lnSpc>
                <a:spcPts val="3111"/>
              </a:lnSpc>
              <a:spcBef>
                <a:spcPct val="0"/>
              </a:spcBef>
            </a:pPr>
            <a:r>
              <a:rPr lang="en-US" sz="2550" strike="noStrike" u="none">
                <a:solidFill>
                  <a:srgbClr val="0A2A66"/>
                </a:solidFill>
                <a:latin typeface="DM Sans"/>
                <a:ea typeface="DM Sans"/>
                <a:cs typeface="DM Sans"/>
                <a:sym typeface="DM Sans"/>
              </a:rPr>
              <a:t>Clear to continue</a:t>
            </a:r>
          </a:p>
        </p:txBody>
      </p:sp>
      <p:sp>
        <p:nvSpPr>
          <p:cNvPr name="TextBox 23" id="23"/>
          <p:cNvSpPr txBox="true"/>
          <p:nvPr/>
        </p:nvSpPr>
        <p:spPr>
          <a:xfrm rot="0">
            <a:off x="7162800" y="3486150"/>
            <a:ext cx="4191000" cy="547878"/>
          </a:xfrm>
          <a:prstGeom prst="rect">
            <a:avLst/>
          </a:prstGeom>
        </p:spPr>
        <p:txBody>
          <a:bodyPr anchor="t" rtlCol="false" tIns="0" lIns="0" bIns="0" rIns="0">
            <a:spAutoFit/>
          </a:bodyPr>
          <a:lstStyle/>
          <a:p>
            <a:pPr algn="ctr" marL="0" indent="0" lvl="0">
              <a:lnSpc>
                <a:spcPts val="2196"/>
              </a:lnSpc>
              <a:spcBef>
                <a:spcPct val="0"/>
              </a:spcBef>
            </a:pPr>
            <a:r>
              <a:rPr lang="en-US" sz="1800" strike="noStrike" u="none">
                <a:solidFill>
                  <a:srgbClr val="0A2A66"/>
                </a:solidFill>
                <a:latin typeface="DM Sans"/>
                <a:ea typeface="DM Sans"/>
                <a:cs typeface="DM Sans"/>
                <a:sym typeface="DM Sans"/>
              </a:rPr>
              <a:t>Each idea points to a matching</a:t>
            </a:r>
          </a:p>
          <a:p>
            <a:pPr algn="ctr" marL="0" indent="0" lvl="0">
              <a:lnSpc>
                <a:spcPts val="2196"/>
              </a:lnSpc>
              <a:spcBef>
                <a:spcPct val="0"/>
              </a:spcBef>
            </a:pPr>
            <a:r>
              <a:rPr lang="en-US" sz="1800" strike="noStrike" u="none">
                <a:solidFill>
                  <a:srgbClr val="0A2A66"/>
                </a:solidFill>
                <a:latin typeface="DM Sans"/>
                <a:ea typeface="DM Sans"/>
                <a:cs typeface="DM Sans"/>
                <a:sym typeface="DM Sans"/>
              </a:rPr>
              <a:t>Khan Academy exercise.</a:t>
            </a:r>
          </a:p>
        </p:txBody>
      </p:sp>
      <p:sp>
        <p:nvSpPr>
          <p:cNvPr name="TextBox 24" id="24"/>
          <p:cNvSpPr txBox="true"/>
          <p:nvPr/>
        </p:nvSpPr>
        <p:spPr>
          <a:xfrm rot="0">
            <a:off x="7162800" y="4248150"/>
            <a:ext cx="4191000" cy="547878"/>
          </a:xfrm>
          <a:prstGeom prst="rect">
            <a:avLst/>
          </a:prstGeom>
        </p:spPr>
        <p:txBody>
          <a:bodyPr anchor="t" rtlCol="false" tIns="0" lIns="0" bIns="0" rIns="0">
            <a:spAutoFit/>
          </a:bodyPr>
          <a:lstStyle/>
          <a:p>
            <a:pPr algn="ctr" marL="0" indent="0" lvl="0">
              <a:lnSpc>
                <a:spcPts val="2196"/>
              </a:lnSpc>
              <a:spcBef>
                <a:spcPct val="0"/>
              </a:spcBef>
            </a:pPr>
            <a:r>
              <a:rPr lang="en-US" sz="1800" strike="noStrike" u="none">
                <a:solidFill>
                  <a:srgbClr val="0A2A66"/>
                </a:solidFill>
                <a:latin typeface="DM Sans"/>
                <a:ea typeface="DM Sans"/>
                <a:cs typeface="DM Sans"/>
                <a:sym typeface="DM Sans"/>
              </a:rPr>
              <a:t>Return to Dunlo for a fresh question.</a:t>
            </a:r>
          </a:p>
          <a:p>
            <a:pPr algn="ctr" marL="0" indent="0" lvl="0">
              <a:lnSpc>
                <a:spcPts val="2196"/>
              </a:lnSpc>
              <a:spcBef>
                <a:spcPct val="0"/>
              </a:spcBef>
            </a:pPr>
            <a:r>
              <a:rPr lang="en-US" sz="1800" strike="noStrike" u="none">
                <a:solidFill>
                  <a:srgbClr val="0A2A66"/>
                </a:solidFill>
                <a:latin typeface="DM Sans"/>
                <a:ea typeface="DM Sans"/>
                <a:cs typeface="DM Sans"/>
                <a:sym typeface="DM Sans"/>
              </a:rPr>
              <a:t>Save the idea to revisit later.</a:t>
            </a:r>
          </a:p>
        </p:txBody>
      </p:sp>
      <p:sp>
        <p:nvSpPr>
          <p:cNvPr name="AutoShape 25" id="25"/>
          <p:cNvSpPr/>
          <p:nvPr/>
        </p:nvSpPr>
        <p:spPr>
          <a:xfrm>
            <a:off x="609600" y="1381125"/>
            <a:ext cx="10972800" cy="0"/>
          </a:xfrm>
          <a:prstGeom prst="line">
            <a:avLst/>
          </a:prstGeom>
          <a:ln cap="flat" w="19050">
            <a:solidFill>
              <a:srgbClr val="CCD7E4"/>
            </a:solidFill>
            <a:prstDash val="solid"/>
            <a:headEnd type="none" len="sm" w="sm"/>
            <a:tailEnd type="none" len="sm" w="sm"/>
          </a:ln>
        </p:spPr>
      </p:sp>
      <p:sp>
        <p:nvSpPr>
          <p:cNvPr name="Freeform 26" id="26" descr="Dunlo"/>
          <p:cNvSpPr/>
          <p:nvPr/>
        </p:nvSpPr>
        <p:spPr>
          <a:xfrm flipH="false" flipV="false" rot="0">
            <a:off x="609600" y="38100"/>
            <a:ext cx="1571625" cy="521160"/>
          </a:xfrm>
          <a:custGeom>
            <a:avLst/>
            <a:gdLst/>
            <a:ahLst/>
            <a:cxnLst/>
            <a:rect r="r" b="b" t="t" l="l"/>
            <a:pathLst>
              <a:path h="521160" w="1571625">
                <a:moveTo>
                  <a:pt x="0" y="0"/>
                </a:moveTo>
                <a:lnTo>
                  <a:pt x="1571625" y="0"/>
                </a:lnTo>
                <a:lnTo>
                  <a:pt x="1571625" y="521160"/>
                </a:lnTo>
                <a:lnTo>
                  <a:pt x="0" y="5211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7" id="27"/>
          <p:cNvSpPr/>
          <p:nvPr/>
        </p:nvSpPr>
        <p:spPr>
          <a:xfrm flipH="false" flipV="false" rot="0">
            <a:off x="9429750" y="323850"/>
            <a:ext cx="2152650" cy="133350"/>
          </a:xfrm>
          <a:custGeom>
            <a:avLst/>
            <a:gdLst/>
            <a:ahLst/>
            <a:cxnLst/>
            <a:rect r="r" b="b" t="t" l="l"/>
            <a:pathLst>
              <a:path h="133350" w="2152650">
                <a:moveTo>
                  <a:pt x="0" y="0"/>
                </a:moveTo>
                <a:lnTo>
                  <a:pt x="2152650" y="0"/>
                </a:lnTo>
                <a:lnTo>
                  <a:pt x="2152650" y="133350"/>
                </a:lnTo>
                <a:lnTo>
                  <a:pt x="0" y="133350"/>
                </a:lnTo>
                <a:lnTo>
                  <a:pt x="0" y="0"/>
                </a:lnTo>
                <a:close/>
              </a:path>
            </a:pathLst>
          </a:custGeom>
          <a:blipFill>
            <a:blip r:embed="rId9">
              <a:extLst>
                <a:ext uri="{96DAC541-7B7A-43D3-8B79-37D633B846F1}">
                  <asvg:svgBlip xmlns:asvg="http://schemas.microsoft.com/office/drawing/2016/SVG/main" r:embed="rId10"/>
                </a:ext>
              </a:extLst>
            </a:blip>
            <a:stretch>
              <a:fillRect l="0" t="-1363" r="0" b="-1363"/>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2192000" cy="6858000"/>
          </a:xfrm>
          <a:prstGeom prst="rect">
            <a:avLst/>
          </a:prstGeom>
          <a:solidFill>
            <a:srgbClr val="FFFFFF"/>
          </a:solidFill>
        </p:spPr>
      </p:sp>
      <p:grpSp>
        <p:nvGrpSpPr>
          <p:cNvPr name="Group 3" id="3"/>
          <p:cNvGrpSpPr/>
          <p:nvPr/>
        </p:nvGrpSpPr>
        <p:grpSpPr>
          <a:xfrm rot="0">
            <a:off x="0" y="0"/>
            <a:ext cx="12192000" cy="6858000"/>
            <a:chOff x="0" y="0"/>
            <a:chExt cx="16256000" cy="9144000"/>
          </a:xfrm>
        </p:grpSpPr>
        <p:sp>
          <p:nvSpPr>
            <p:cNvPr name="Freeform 4" id="4"/>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3"/>
              <a:stretch>
                <a:fillRect l="0" t="0" r="0" b="0"/>
              </a:stretch>
            </a:blipFill>
          </p:spPr>
        </p:sp>
      </p:grpSp>
      <p:grpSp>
        <p:nvGrpSpPr>
          <p:cNvPr name="Group 5" id="5"/>
          <p:cNvGrpSpPr/>
          <p:nvPr/>
        </p:nvGrpSpPr>
        <p:grpSpPr>
          <a:xfrm rot="0">
            <a:off x="0" y="0"/>
            <a:ext cx="12192000" cy="6858000"/>
            <a:chOff x="0" y="0"/>
            <a:chExt cx="16256000" cy="9144000"/>
          </a:xfrm>
        </p:grpSpPr>
        <p:sp>
          <p:nvSpPr>
            <p:cNvPr name="Freeform 6" id="6"/>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887200" y="0"/>
              <a:ext cx="3556000" cy="803656"/>
            </a:xfrm>
            <a:custGeom>
              <a:avLst/>
              <a:gdLst/>
              <a:ahLst/>
              <a:cxnLst/>
              <a:rect r="r" b="b" t="t" l="l"/>
              <a:pathLst>
                <a:path h="803656" w="3556000">
                  <a:moveTo>
                    <a:pt x="0" y="0"/>
                  </a:moveTo>
                  <a:lnTo>
                    <a:pt x="3556000" y="0"/>
                  </a:lnTo>
                  <a:lnTo>
                    <a:pt x="3556000" y="803656"/>
                  </a:lnTo>
                  <a:lnTo>
                    <a:pt x="0" y="803656"/>
                  </a:lnTo>
                  <a:lnTo>
                    <a:pt x="0" y="0"/>
                  </a:lnTo>
                  <a:close/>
                </a:path>
              </a:pathLst>
            </a:custGeom>
            <a:blipFill>
              <a:blip r:embed="rId6"/>
              <a:stretch>
                <a:fillRect l="0" t="0" r="0" b="0"/>
              </a:stretch>
            </a:blipFill>
          </p:spPr>
        </p:sp>
      </p:grpSp>
      <p:sp>
        <p:nvSpPr>
          <p:cNvPr name="TextBox 8" id="8"/>
          <p:cNvSpPr txBox="true"/>
          <p:nvPr/>
        </p:nvSpPr>
        <p:spPr>
          <a:xfrm rot="0">
            <a:off x="11239500" y="6353175"/>
            <a:ext cx="428625" cy="168592"/>
          </a:xfrm>
          <a:prstGeom prst="rect">
            <a:avLst/>
          </a:prstGeom>
        </p:spPr>
        <p:txBody>
          <a:bodyPr anchor="t" rtlCol="false" tIns="0" lIns="0" bIns="0" rIns="0">
            <a:spAutoFit/>
          </a:bodyPr>
          <a:lstStyle/>
          <a:p>
            <a:pPr algn="l" marL="0" indent="0" lvl="0">
              <a:lnSpc>
                <a:spcPts val="1372"/>
              </a:lnSpc>
              <a:spcBef>
                <a:spcPct val="0"/>
              </a:spcBef>
            </a:pPr>
            <a:r>
              <a:rPr lang="en-US" sz="1125" strike="noStrike" u="none">
                <a:solidFill>
                  <a:srgbClr val="0A2A66"/>
                </a:solidFill>
                <a:latin typeface="DM Sans"/>
                <a:ea typeface="DM Sans"/>
                <a:cs typeface="DM Sans"/>
                <a:sym typeface="DM Sans"/>
              </a:rPr>
              <a:t>03</a:t>
            </a:r>
          </a:p>
        </p:txBody>
      </p:sp>
      <p:sp>
        <p:nvSpPr>
          <p:cNvPr name="TextBox 9" id="9"/>
          <p:cNvSpPr txBox="true"/>
          <p:nvPr/>
        </p:nvSpPr>
        <p:spPr>
          <a:xfrm rot="0">
            <a:off x="609600" y="866775"/>
            <a:ext cx="10972800" cy="487299"/>
          </a:xfrm>
          <a:prstGeom prst="rect">
            <a:avLst/>
          </a:prstGeom>
        </p:spPr>
        <p:txBody>
          <a:bodyPr anchor="t" rtlCol="false" tIns="0" lIns="0" bIns="0" rIns="0">
            <a:spAutoFit/>
          </a:bodyPr>
          <a:lstStyle/>
          <a:p>
            <a:pPr algn="l" marL="0" indent="0" lvl="0">
              <a:lnSpc>
                <a:spcPts val="3843"/>
              </a:lnSpc>
              <a:spcBef>
                <a:spcPct val="0"/>
              </a:spcBef>
            </a:pPr>
            <a:r>
              <a:rPr lang="en-US" b="true" sz="3150" strike="noStrike" u="none">
                <a:solidFill>
                  <a:srgbClr val="0A2A66"/>
                </a:solidFill>
                <a:latin typeface="DM Sans Bold"/>
                <a:ea typeface="DM Sans Bold"/>
                <a:cs typeface="DM Sans Bold"/>
                <a:sym typeface="DM Sans Bold"/>
              </a:rPr>
              <a:t>How one discovery becomes a learning session</a:t>
            </a:r>
          </a:p>
        </p:txBody>
      </p:sp>
      <p:grpSp>
        <p:nvGrpSpPr>
          <p:cNvPr name="Group 10" id="10"/>
          <p:cNvGrpSpPr/>
          <p:nvPr/>
        </p:nvGrpSpPr>
        <p:grpSpPr>
          <a:xfrm rot="0">
            <a:off x="1476375" y="2876550"/>
            <a:ext cx="552450" cy="552450"/>
            <a:chOff x="0" y="0"/>
            <a:chExt cx="736600" cy="736600"/>
          </a:xfrm>
        </p:grpSpPr>
        <p:sp>
          <p:nvSpPr>
            <p:cNvPr name="Freeform 11" id="11"/>
            <p:cNvSpPr/>
            <p:nvPr/>
          </p:nvSpPr>
          <p:spPr>
            <a:xfrm flipH="false" flipV="false" rot="0">
              <a:off x="0" y="0"/>
              <a:ext cx="736600" cy="736600"/>
            </a:xfrm>
            <a:custGeom>
              <a:avLst/>
              <a:gdLst/>
              <a:ahLst/>
              <a:cxnLst/>
              <a:rect r="r" b="b" t="t" l="l"/>
              <a:pathLst>
                <a:path h="736600" w="736600">
                  <a:moveTo>
                    <a:pt x="368300" y="0"/>
                  </a:moveTo>
                  <a:cubicBezTo>
                    <a:pt x="571754" y="0"/>
                    <a:pt x="736600" y="164846"/>
                    <a:pt x="736600" y="368300"/>
                  </a:cubicBezTo>
                  <a:cubicBezTo>
                    <a:pt x="736600" y="571754"/>
                    <a:pt x="571754" y="736600"/>
                    <a:pt x="368300" y="736600"/>
                  </a:cubicBezTo>
                  <a:cubicBezTo>
                    <a:pt x="164846" y="736600"/>
                    <a:pt x="0" y="571754"/>
                    <a:pt x="0" y="368300"/>
                  </a:cubicBezTo>
                  <a:cubicBezTo>
                    <a:pt x="0" y="164846"/>
                    <a:pt x="164846" y="0"/>
                    <a:pt x="368300" y="0"/>
                  </a:cubicBezTo>
                  <a:close/>
                </a:path>
              </a:pathLst>
            </a:custGeom>
            <a:solidFill>
              <a:srgbClr val="0A2A66"/>
            </a:solidFill>
          </p:spPr>
        </p:sp>
      </p:grpSp>
      <p:sp>
        <p:nvSpPr>
          <p:cNvPr name="TextBox 12" id="12"/>
          <p:cNvSpPr txBox="true"/>
          <p:nvPr/>
        </p:nvSpPr>
        <p:spPr>
          <a:xfrm rot="0">
            <a:off x="1562100" y="2971800"/>
            <a:ext cx="381000" cy="280797"/>
          </a:xfrm>
          <a:prstGeom prst="rect">
            <a:avLst/>
          </a:prstGeom>
        </p:spPr>
        <p:txBody>
          <a:bodyPr anchor="t" rtlCol="false" tIns="0" lIns="0" bIns="0" rIns="0">
            <a:spAutoFit/>
          </a:bodyPr>
          <a:lstStyle/>
          <a:p>
            <a:pPr algn="ctr" marL="0" indent="0" lvl="0">
              <a:lnSpc>
                <a:spcPts val="2379"/>
              </a:lnSpc>
              <a:spcBef>
                <a:spcPct val="0"/>
              </a:spcBef>
            </a:pPr>
            <a:r>
              <a:rPr lang="en-US" sz="1950" strike="noStrike" u="none">
                <a:solidFill>
                  <a:srgbClr val="FFFFFF"/>
                </a:solidFill>
                <a:latin typeface="DM Sans"/>
                <a:ea typeface="DM Sans"/>
                <a:cs typeface="DM Sans"/>
                <a:sym typeface="DM Sans"/>
              </a:rPr>
              <a:t>1</a:t>
            </a:r>
          </a:p>
        </p:txBody>
      </p:sp>
      <p:sp>
        <p:nvSpPr>
          <p:cNvPr name="TextBox 13" id="13"/>
          <p:cNvSpPr txBox="true"/>
          <p:nvPr/>
        </p:nvSpPr>
        <p:spPr>
          <a:xfrm rot="0">
            <a:off x="609600" y="3648075"/>
            <a:ext cx="2286000" cy="576072"/>
          </a:xfrm>
          <a:prstGeom prst="rect">
            <a:avLst/>
          </a:prstGeom>
        </p:spPr>
        <p:txBody>
          <a:bodyPr anchor="t" rtlCol="false" tIns="0" lIns="0" bIns="0" rIns="0">
            <a:spAutoFit/>
          </a:bodyPr>
          <a:lstStyle/>
          <a:p>
            <a:pPr algn="ctr" marL="0" indent="0" lvl="0">
              <a:lnSpc>
                <a:spcPts val="2379"/>
              </a:lnSpc>
              <a:spcBef>
                <a:spcPct val="0"/>
              </a:spcBef>
            </a:pPr>
            <a:r>
              <a:rPr lang="en-US" sz="1950" strike="noStrike" u="none">
                <a:solidFill>
                  <a:srgbClr val="0A2A66"/>
                </a:solidFill>
                <a:latin typeface="DM Sans"/>
                <a:ea typeface="DM Sans"/>
                <a:cs typeface="DM Sans"/>
                <a:sym typeface="DM Sans"/>
              </a:rPr>
              <a:t>Choose one</a:t>
            </a:r>
          </a:p>
          <a:p>
            <a:pPr algn="ctr" marL="0" indent="0" lvl="0">
              <a:lnSpc>
                <a:spcPts val="2379"/>
              </a:lnSpc>
              <a:spcBef>
                <a:spcPct val="0"/>
              </a:spcBef>
            </a:pPr>
            <a:r>
              <a:rPr lang="en-US" sz="1950" strike="noStrike" u="none">
                <a:solidFill>
                  <a:srgbClr val="0A2A66"/>
                </a:solidFill>
                <a:latin typeface="DM Sans"/>
                <a:ea typeface="DM Sans"/>
                <a:cs typeface="DM Sans"/>
                <a:sym typeface="DM Sans"/>
              </a:rPr>
              <a:t>short idea</a:t>
            </a:r>
          </a:p>
        </p:txBody>
      </p:sp>
      <p:sp>
        <p:nvSpPr>
          <p:cNvPr name="AutoShape 14" id="14"/>
          <p:cNvSpPr/>
          <p:nvPr/>
        </p:nvSpPr>
        <p:spPr>
          <a:xfrm rot="0">
            <a:off x="2419350" y="3133725"/>
            <a:ext cx="876300" cy="38100"/>
          </a:xfrm>
          <a:prstGeom prst="rect">
            <a:avLst/>
          </a:prstGeom>
          <a:solidFill>
            <a:srgbClr val="CCD7E4"/>
          </a:solidFill>
        </p:spPr>
      </p:sp>
      <p:grpSp>
        <p:nvGrpSpPr>
          <p:cNvPr name="Group 15" id="15"/>
          <p:cNvGrpSpPr/>
          <p:nvPr/>
        </p:nvGrpSpPr>
        <p:grpSpPr>
          <a:xfrm rot="1840140">
            <a:off x="3237833" y="3098102"/>
            <a:ext cx="171450" cy="28575"/>
            <a:chOff x="0" y="0"/>
            <a:chExt cx="228600" cy="38100"/>
          </a:xfrm>
        </p:grpSpPr>
        <p:sp>
          <p:nvSpPr>
            <p:cNvPr name="Freeform 16" id="16"/>
            <p:cNvSpPr/>
            <p:nvPr/>
          </p:nvSpPr>
          <p:spPr>
            <a:xfrm flipH="false" flipV="false" rot="0">
              <a:off x="0" y="0"/>
              <a:ext cx="228600" cy="38100"/>
            </a:xfrm>
            <a:custGeom>
              <a:avLst/>
              <a:gdLst/>
              <a:ahLst/>
              <a:cxnLst/>
              <a:rect r="r" b="b" t="t" l="l"/>
              <a:pathLst>
                <a:path h="38100" w="228600">
                  <a:moveTo>
                    <a:pt x="19050" y="0"/>
                  </a:moveTo>
                  <a:lnTo>
                    <a:pt x="209550" y="0"/>
                  </a:lnTo>
                  <a:cubicBezTo>
                    <a:pt x="220091" y="0"/>
                    <a:pt x="228600" y="8509"/>
                    <a:pt x="228600" y="19050"/>
                  </a:cubicBezTo>
                  <a:cubicBezTo>
                    <a:pt x="228600" y="29591"/>
                    <a:pt x="220091" y="38100"/>
                    <a:pt x="209550" y="38100"/>
                  </a:cubicBezTo>
                  <a:lnTo>
                    <a:pt x="19050" y="38100"/>
                  </a:lnTo>
                  <a:cubicBezTo>
                    <a:pt x="8509" y="38100"/>
                    <a:pt x="0" y="29591"/>
                    <a:pt x="0" y="19050"/>
                  </a:cubicBezTo>
                  <a:cubicBezTo>
                    <a:pt x="0" y="8509"/>
                    <a:pt x="8509" y="0"/>
                    <a:pt x="19050" y="0"/>
                  </a:cubicBezTo>
                  <a:close/>
                </a:path>
              </a:pathLst>
            </a:custGeom>
            <a:solidFill>
              <a:srgbClr val="CCD7E4"/>
            </a:solidFill>
          </p:spPr>
        </p:sp>
      </p:grpSp>
      <p:grpSp>
        <p:nvGrpSpPr>
          <p:cNvPr name="Group 17" id="17"/>
          <p:cNvGrpSpPr/>
          <p:nvPr/>
        </p:nvGrpSpPr>
        <p:grpSpPr>
          <a:xfrm rot="8959860">
            <a:off x="3229737" y="3183826"/>
            <a:ext cx="171450" cy="28575"/>
            <a:chOff x="0" y="0"/>
            <a:chExt cx="228600" cy="38100"/>
          </a:xfrm>
        </p:grpSpPr>
        <p:sp>
          <p:nvSpPr>
            <p:cNvPr name="Freeform 18" id="18"/>
            <p:cNvSpPr/>
            <p:nvPr/>
          </p:nvSpPr>
          <p:spPr>
            <a:xfrm flipH="false" flipV="false" rot="0">
              <a:off x="0" y="0"/>
              <a:ext cx="228600" cy="38100"/>
            </a:xfrm>
            <a:custGeom>
              <a:avLst/>
              <a:gdLst/>
              <a:ahLst/>
              <a:cxnLst/>
              <a:rect r="r" b="b" t="t" l="l"/>
              <a:pathLst>
                <a:path h="38100" w="228600">
                  <a:moveTo>
                    <a:pt x="19050" y="0"/>
                  </a:moveTo>
                  <a:lnTo>
                    <a:pt x="209550" y="0"/>
                  </a:lnTo>
                  <a:cubicBezTo>
                    <a:pt x="220091" y="0"/>
                    <a:pt x="228600" y="8509"/>
                    <a:pt x="228600" y="19050"/>
                  </a:cubicBezTo>
                  <a:cubicBezTo>
                    <a:pt x="228600" y="29591"/>
                    <a:pt x="220091" y="38100"/>
                    <a:pt x="209550" y="38100"/>
                  </a:cubicBezTo>
                  <a:lnTo>
                    <a:pt x="19050" y="38100"/>
                  </a:lnTo>
                  <a:cubicBezTo>
                    <a:pt x="8509" y="38100"/>
                    <a:pt x="0" y="29591"/>
                    <a:pt x="0" y="19050"/>
                  </a:cubicBezTo>
                  <a:cubicBezTo>
                    <a:pt x="0" y="8509"/>
                    <a:pt x="8509" y="0"/>
                    <a:pt x="19050" y="0"/>
                  </a:cubicBezTo>
                  <a:close/>
                </a:path>
              </a:pathLst>
            </a:custGeom>
            <a:solidFill>
              <a:srgbClr val="CCD7E4"/>
            </a:solidFill>
          </p:spPr>
        </p:sp>
      </p:grpSp>
      <p:grpSp>
        <p:nvGrpSpPr>
          <p:cNvPr name="Group 19" id="19"/>
          <p:cNvGrpSpPr/>
          <p:nvPr/>
        </p:nvGrpSpPr>
        <p:grpSpPr>
          <a:xfrm rot="0">
            <a:off x="4371975" y="2876550"/>
            <a:ext cx="552450" cy="552450"/>
            <a:chOff x="0" y="0"/>
            <a:chExt cx="736600" cy="736600"/>
          </a:xfrm>
        </p:grpSpPr>
        <p:sp>
          <p:nvSpPr>
            <p:cNvPr name="Freeform 20" id="20"/>
            <p:cNvSpPr/>
            <p:nvPr/>
          </p:nvSpPr>
          <p:spPr>
            <a:xfrm flipH="false" flipV="false" rot="0">
              <a:off x="0" y="0"/>
              <a:ext cx="736600" cy="736600"/>
            </a:xfrm>
            <a:custGeom>
              <a:avLst/>
              <a:gdLst/>
              <a:ahLst/>
              <a:cxnLst/>
              <a:rect r="r" b="b" t="t" l="l"/>
              <a:pathLst>
                <a:path h="736600" w="736600">
                  <a:moveTo>
                    <a:pt x="368300" y="0"/>
                  </a:moveTo>
                  <a:cubicBezTo>
                    <a:pt x="571754" y="0"/>
                    <a:pt x="736600" y="164846"/>
                    <a:pt x="736600" y="368300"/>
                  </a:cubicBezTo>
                  <a:cubicBezTo>
                    <a:pt x="736600" y="571754"/>
                    <a:pt x="571754" y="736600"/>
                    <a:pt x="368300" y="736600"/>
                  </a:cubicBezTo>
                  <a:cubicBezTo>
                    <a:pt x="164846" y="736600"/>
                    <a:pt x="0" y="571754"/>
                    <a:pt x="0" y="368300"/>
                  </a:cubicBezTo>
                  <a:cubicBezTo>
                    <a:pt x="0" y="164846"/>
                    <a:pt x="164846" y="0"/>
                    <a:pt x="368300" y="0"/>
                  </a:cubicBezTo>
                  <a:close/>
                </a:path>
              </a:pathLst>
            </a:custGeom>
            <a:solidFill>
              <a:srgbClr val="C96331"/>
            </a:solidFill>
          </p:spPr>
        </p:sp>
      </p:grpSp>
      <p:sp>
        <p:nvSpPr>
          <p:cNvPr name="TextBox 21" id="21"/>
          <p:cNvSpPr txBox="true"/>
          <p:nvPr/>
        </p:nvSpPr>
        <p:spPr>
          <a:xfrm rot="0">
            <a:off x="4457700" y="2971800"/>
            <a:ext cx="381000" cy="280797"/>
          </a:xfrm>
          <a:prstGeom prst="rect">
            <a:avLst/>
          </a:prstGeom>
        </p:spPr>
        <p:txBody>
          <a:bodyPr anchor="t" rtlCol="false" tIns="0" lIns="0" bIns="0" rIns="0">
            <a:spAutoFit/>
          </a:bodyPr>
          <a:lstStyle/>
          <a:p>
            <a:pPr algn="ctr" marL="0" indent="0" lvl="0">
              <a:lnSpc>
                <a:spcPts val="2379"/>
              </a:lnSpc>
              <a:spcBef>
                <a:spcPct val="0"/>
              </a:spcBef>
            </a:pPr>
            <a:r>
              <a:rPr lang="en-US" sz="1950" strike="noStrike" u="none">
                <a:solidFill>
                  <a:srgbClr val="0A2A66"/>
                </a:solidFill>
                <a:latin typeface="DM Sans"/>
                <a:ea typeface="DM Sans"/>
                <a:cs typeface="DM Sans"/>
                <a:sym typeface="DM Sans"/>
              </a:rPr>
              <a:t>2</a:t>
            </a:r>
          </a:p>
        </p:txBody>
      </p:sp>
      <p:sp>
        <p:nvSpPr>
          <p:cNvPr name="TextBox 22" id="22"/>
          <p:cNvSpPr txBox="true"/>
          <p:nvPr/>
        </p:nvSpPr>
        <p:spPr>
          <a:xfrm rot="0">
            <a:off x="3505200" y="3648075"/>
            <a:ext cx="2286000" cy="576072"/>
          </a:xfrm>
          <a:prstGeom prst="rect">
            <a:avLst/>
          </a:prstGeom>
        </p:spPr>
        <p:txBody>
          <a:bodyPr anchor="t" rtlCol="false" tIns="0" lIns="0" bIns="0" rIns="0">
            <a:spAutoFit/>
          </a:bodyPr>
          <a:lstStyle/>
          <a:p>
            <a:pPr algn="ctr" marL="0" indent="0" lvl="0">
              <a:lnSpc>
                <a:spcPts val="2379"/>
              </a:lnSpc>
              <a:spcBef>
                <a:spcPct val="0"/>
              </a:spcBef>
            </a:pPr>
            <a:r>
              <a:rPr lang="en-US" sz="1950" strike="noStrike" u="none">
                <a:solidFill>
                  <a:srgbClr val="0A2A66"/>
                </a:solidFill>
                <a:latin typeface="DM Sans"/>
                <a:ea typeface="DM Sans"/>
                <a:cs typeface="DM Sans"/>
                <a:sym typeface="DM Sans"/>
              </a:rPr>
              <a:t>Predict, then</a:t>
            </a:r>
          </a:p>
          <a:p>
            <a:pPr algn="ctr" marL="0" indent="0" lvl="0">
              <a:lnSpc>
                <a:spcPts val="2379"/>
              </a:lnSpc>
              <a:spcBef>
                <a:spcPct val="0"/>
              </a:spcBef>
            </a:pPr>
            <a:r>
              <a:rPr lang="en-US" sz="1950" strike="noStrike" u="none">
                <a:solidFill>
                  <a:srgbClr val="0A2A66"/>
                </a:solidFill>
                <a:latin typeface="DM Sans"/>
                <a:ea typeface="DM Sans"/>
                <a:cs typeface="DM Sans"/>
                <a:sym typeface="DM Sans"/>
              </a:rPr>
              <a:t>see why</a:t>
            </a:r>
          </a:p>
        </p:txBody>
      </p:sp>
      <p:sp>
        <p:nvSpPr>
          <p:cNvPr name="AutoShape 23" id="23"/>
          <p:cNvSpPr/>
          <p:nvPr/>
        </p:nvSpPr>
        <p:spPr>
          <a:xfrm rot="0">
            <a:off x="5314950" y="3133725"/>
            <a:ext cx="876300" cy="38100"/>
          </a:xfrm>
          <a:prstGeom prst="rect">
            <a:avLst/>
          </a:prstGeom>
          <a:solidFill>
            <a:srgbClr val="CCD7E4"/>
          </a:solidFill>
        </p:spPr>
      </p:sp>
      <p:grpSp>
        <p:nvGrpSpPr>
          <p:cNvPr name="Group 24" id="24"/>
          <p:cNvGrpSpPr/>
          <p:nvPr/>
        </p:nvGrpSpPr>
        <p:grpSpPr>
          <a:xfrm rot="1840140">
            <a:off x="6133433" y="3098102"/>
            <a:ext cx="171450" cy="28575"/>
            <a:chOff x="0" y="0"/>
            <a:chExt cx="228600" cy="38100"/>
          </a:xfrm>
        </p:grpSpPr>
        <p:sp>
          <p:nvSpPr>
            <p:cNvPr name="Freeform 25" id="25"/>
            <p:cNvSpPr/>
            <p:nvPr/>
          </p:nvSpPr>
          <p:spPr>
            <a:xfrm flipH="false" flipV="false" rot="0">
              <a:off x="0" y="0"/>
              <a:ext cx="228600" cy="38100"/>
            </a:xfrm>
            <a:custGeom>
              <a:avLst/>
              <a:gdLst/>
              <a:ahLst/>
              <a:cxnLst/>
              <a:rect r="r" b="b" t="t" l="l"/>
              <a:pathLst>
                <a:path h="38100" w="228600">
                  <a:moveTo>
                    <a:pt x="19050" y="0"/>
                  </a:moveTo>
                  <a:lnTo>
                    <a:pt x="209550" y="0"/>
                  </a:lnTo>
                  <a:cubicBezTo>
                    <a:pt x="220091" y="0"/>
                    <a:pt x="228600" y="8509"/>
                    <a:pt x="228600" y="19050"/>
                  </a:cubicBezTo>
                  <a:cubicBezTo>
                    <a:pt x="228600" y="29591"/>
                    <a:pt x="220091" y="38100"/>
                    <a:pt x="209550" y="38100"/>
                  </a:cubicBezTo>
                  <a:lnTo>
                    <a:pt x="19050" y="38100"/>
                  </a:lnTo>
                  <a:cubicBezTo>
                    <a:pt x="8509" y="38100"/>
                    <a:pt x="0" y="29591"/>
                    <a:pt x="0" y="19050"/>
                  </a:cubicBezTo>
                  <a:cubicBezTo>
                    <a:pt x="0" y="8509"/>
                    <a:pt x="8509" y="0"/>
                    <a:pt x="19050" y="0"/>
                  </a:cubicBezTo>
                  <a:close/>
                </a:path>
              </a:pathLst>
            </a:custGeom>
            <a:solidFill>
              <a:srgbClr val="CCD7E4"/>
            </a:solidFill>
          </p:spPr>
        </p:sp>
      </p:grpSp>
      <p:grpSp>
        <p:nvGrpSpPr>
          <p:cNvPr name="Group 26" id="26"/>
          <p:cNvGrpSpPr/>
          <p:nvPr/>
        </p:nvGrpSpPr>
        <p:grpSpPr>
          <a:xfrm rot="8959860">
            <a:off x="6125337" y="3183826"/>
            <a:ext cx="171450" cy="28575"/>
            <a:chOff x="0" y="0"/>
            <a:chExt cx="228600" cy="38100"/>
          </a:xfrm>
        </p:grpSpPr>
        <p:sp>
          <p:nvSpPr>
            <p:cNvPr name="Freeform 27" id="27"/>
            <p:cNvSpPr/>
            <p:nvPr/>
          </p:nvSpPr>
          <p:spPr>
            <a:xfrm flipH="false" flipV="false" rot="0">
              <a:off x="0" y="0"/>
              <a:ext cx="228600" cy="38100"/>
            </a:xfrm>
            <a:custGeom>
              <a:avLst/>
              <a:gdLst/>
              <a:ahLst/>
              <a:cxnLst/>
              <a:rect r="r" b="b" t="t" l="l"/>
              <a:pathLst>
                <a:path h="38100" w="228600">
                  <a:moveTo>
                    <a:pt x="19050" y="0"/>
                  </a:moveTo>
                  <a:lnTo>
                    <a:pt x="209550" y="0"/>
                  </a:lnTo>
                  <a:cubicBezTo>
                    <a:pt x="220091" y="0"/>
                    <a:pt x="228600" y="8509"/>
                    <a:pt x="228600" y="19050"/>
                  </a:cubicBezTo>
                  <a:cubicBezTo>
                    <a:pt x="228600" y="29591"/>
                    <a:pt x="220091" y="38100"/>
                    <a:pt x="209550" y="38100"/>
                  </a:cubicBezTo>
                  <a:lnTo>
                    <a:pt x="19050" y="38100"/>
                  </a:lnTo>
                  <a:cubicBezTo>
                    <a:pt x="8509" y="38100"/>
                    <a:pt x="0" y="29591"/>
                    <a:pt x="0" y="19050"/>
                  </a:cubicBezTo>
                  <a:cubicBezTo>
                    <a:pt x="0" y="8509"/>
                    <a:pt x="8509" y="0"/>
                    <a:pt x="19050" y="0"/>
                  </a:cubicBezTo>
                  <a:close/>
                </a:path>
              </a:pathLst>
            </a:custGeom>
            <a:solidFill>
              <a:srgbClr val="CCD7E4"/>
            </a:solidFill>
          </p:spPr>
        </p:sp>
      </p:grpSp>
      <p:grpSp>
        <p:nvGrpSpPr>
          <p:cNvPr name="Group 28" id="28"/>
          <p:cNvGrpSpPr/>
          <p:nvPr/>
        </p:nvGrpSpPr>
        <p:grpSpPr>
          <a:xfrm rot="0">
            <a:off x="7267575" y="2876550"/>
            <a:ext cx="552450" cy="552450"/>
            <a:chOff x="0" y="0"/>
            <a:chExt cx="736600" cy="736600"/>
          </a:xfrm>
        </p:grpSpPr>
        <p:sp>
          <p:nvSpPr>
            <p:cNvPr name="Freeform 29" id="29"/>
            <p:cNvSpPr/>
            <p:nvPr/>
          </p:nvSpPr>
          <p:spPr>
            <a:xfrm flipH="false" flipV="false" rot="0">
              <a:off x="0" y="0"/>
              <a:ext cx="736600" cy="736600"/>
            </a:xfrm>
            <a:custGeom>
              <a:avLst/>
              <a:gdLst/>
              <a:ahLst/>
              <a:cxnLst/>
              <a:rect r="r" b="b" t="t" l="l"/>
              <a:pathLst>
                <a:path h="736600" w="736600">
                  <a:moveTo>
                    <a:pt x="368300" y="0"/>
                  </a:moveTo>
                  <a:cubicBezTo>
                    <a:pt x="571754" y="0"/>
                    <a:pt x="736600" y="164846"/>
                    <a:pt x="736600" y="368300"/>
                  </a:cubicBezTo>
                  <a:cubicBezTo>
                    <a:pt x="736600" y="571754"/>
                    <a:pt x="571754" y="736600"/>
                    <a:pt x="368300" y="736600"/>
                  </a:cubicBezTo>
                  <a:cubicBezTo>
                    <a:pt x="164846" y="736600"/>
                    <a:pt x="0" y="571754"/>
                    <a:pt x="0" y="368300"/>
                  </a:cubicBezTo>
                  <a:cubicBezTo>
                    <a:pt x="0" y="164846"/>
                    <a:pt x="164846" y="0"/>
                    <a:pt x="368300" y="0"/>
                  </a:cubicBezTo>
                  <a:close/>
                </a:path>
              </a:pathLst>
            </a:custGeom>
            <a:solidFill>
              <a:srgbClr val="0A2A66"/>
            </a:solidFill>
          </p:spPr>
        </p:sp>
      </p:grpSp>
      <p:sp>
        <p:nvSpPr>
          <p:cNvPr name="TextBox 30" id="30"/>
          <p:cNvSpPr txBox="true"/>
          <p:nvPr/>
        </p:nvSpPr>
        <p:spPr>
          <a:xfrm rot="0">
            <a:off x="7353300" y="2971800"/>
            <a:ext cx="381000" cy="280797"/>
          </a:xfrm>
          <a:prstGeom prst="rect">
            <a:avLst/>
          </a:prstGeom>
        </p:spPr>
        <p:txBody>
          <a:bodyPr anchor="t" rtlCol="false" tIns="0" lIns="0" bIns="0" rIns="0">
            <a:spAutoFit/>
          </a:bodyPr>
          <a:lstStyle/>
          <a:p>
            <a:pPr algn="ctr" marL="0" indent="0" lvl="0">
              <a:lnSpc>
                <a:spcPts val="2379"/>
              </a:lnSpc>
              <a:spcBef>
                <a:spcPct val="0"/>
              </a:spcBef>
            </a:pPr>
            <a:r>
              <a:rPr lang="en-US" sz="1950" strike="noStrike" u="none">
                <a:solidFill>
                  <a:srgbClr val="FFFFFF"/>
                </a:solidFill>
                <a:latin typeface="DM Sans"/>
                <a:ea typeface="DM Sans"/>
                <a:cs typeface="DM Sans"/>
                <a:sym typeface="DM Sans"/>
              </a:rPr>
              <a:t>3</a:t>
            </a:r>
          </a:p>
        </p:txBody>
      </p:sp>
      <p:sp>
        <p:nvSpPr>
          <p:cNvPr name="TextBox 31" id="31"/>
          <p:cNvSpPr txBox="true"/>
          <p:nvPr/>
        </p:nvSpPr>
        <p:spPr>
          <a:xfrm rot="0">
            <a:off x="6400800" y="3648075"/>
            <a:ext cx="2286000" cy="576072"/>
          </a:xfrm>
          <a:prstGeom prst="rect">
            <a:avLst/>
          </a:prstGeom>
        </p:spPr>
        <p:txBody>
          <a:bodyPr anchor="t" rtlCol="false" tIns="0" lIns="0" bIns="0" rIns="0">
            <a:spAutoFit/>
          </a:bodyPr>
          <a:lstStyle/>
          <a:p>
            <a:pPr algn="ctr" marL="0" indent="0" lvl="0">
              <a:lnSpc>
                <a:spcPts val="2379"/>
              </a:lnSpc>
              <a:spcBef>
                <a:spcPct val="0"/>
              </a:spcBef>
            </a:pPr>
            <a:r>
              <a:rPr lang="en-US" sz="1950" strike="noStrike" u="none">
                <a:solidFill>
                  <a:srgbClr val="0A2A66"/>
                </a:solidFill>
                <a:latin typeface="DM Sans"/>
                <a:ea typeface="DM Sans"/>
                <a:cs typeface="DM Sans"/>
                <a:sym typeface="DM Sans"/>
              </a:rPr>
              <a:t>Practise with</a:t>
            </a:r>
          </a:p>
          <a:p>
            <a:pPr algn="ctr" marL="0" indent="0" lvl="0">
              <a:lnSpc>
                <a:spcPts val="2379"/>
              </a:lnSpc>
              <a:spcBef>
                <a:spcPct val="0"/>
              </a:spcBef>
            </a:pPr>
            <a:r>
              <a:rPr lang="en-US" sz="1950" strike="noStrike" u="none">
                <a:solidFill>
                  <a:srgbClr val="0A2A66"/>
                </a:solidFill>
                <a:latin typeface="DM Sans"/>
                <a:ea typeface="DM Sans"/>
                <a:cs typeface="DM Sans"/>
                <a:sym typeface="DM Sans"/>
              </a:rPr>
              <a:t>Khan Academy</a:t>
            </a:r>
          </a:p>
        </p:txBody>
      </p:sp>
      <p:sp>
        <p:nvSpPr>
          <p:cNvPr name="AutoShape 32" id="32"/>
          <p:cNvSpPr/>
          <p:nvPr/>
        </p:nvSpPr>
        <p:spPr>
          <a:xfrm rot="0">
            <a:off x="8210550" y="3133725"/>
            <a:ext cx="876300" cy="38100"/>
          </a:xfrm>
          <a:prstGeom prst="rect">
            <a:avLst/>
          </a:prstGeom>
          <a:solidFill>
            <a:srgbClr val="CCD7E4"/>
          </a:solidFill>
        </p:spPr>
      </p:sp>
      <p:grpSp>
        <p:nvGrpSpPr>
          <p:cNvPr name="Group 33" id="33"/>
          <p:cNvGrpSpPr/>
          <p:nvPr/>
        </p:nvGrpSpPr>
        <p:grpSpPr>
          <a:xfrm rot="1840140">
            <a:off x="9029033" y="3098102"/>
            <a:ext cx="171450" cy="28575"/>
            <a:chOff x="0" y="0"/>
            <a:chExt cx="228600" cy="38100"/>
          </a:xfrm>
        </p:grpSpPr>
        <p:sp>
          <p:nvSpPr>
            <p:cNvPr name="Freeform 34" id="34"/>
            <p:cNvSpPr/>
            <p:nvPr/>
          </p:nvSpPr>
          <p:spPr>
            <a:xfrm flipH="false" flipV="false" rot="0">
              <a:off x="0" y="0"/>
              <a:ext cx="228600" cy="38100"/>
            </a:xfrm>
            <a:custGeom>
              <a:avLst/>
              <a:gdLst/>
              <a:ahLst/>
              <a:cxnLst/>
              <a:rect r="r" b="b" t="t" l="l"/>
              <a:pathLst>
                <a:path h="38100" w="228600">
                  <a:moveTo>
                    <a:pt x="19050" y="0"/>
                  </a:moveTo>
                  <a:lnTo>
                    <a:pt x="209550" y="0"/>
                  </a:lnTo>
                  <a:cubicBezTo>
                    <a:pt x="220091" y="0"/>
                    <a:pt x="228600" y="8509"/>
                    <a:pt x="228600" y="19050"/>
                  </a:cubicBezTo>
                  <a:cubicBezTo>
                    <a:pt x="228600" y="29591"/>
                    <a:pt x="220091" y="38100"/>
                    <a:pt x="209550" y="38100"/>
                  </a:cubicBezTo>
                  <a:lnTo>
                    <a:pt x="19050" y="38100"/>
                  </a:lnTo>
                  <a:cubicBezTo>
                    <a:pt x="8509" y="38100"/>
                    <a:pt x="0" y="29591"/>
                    <a:pt x="0" y="19050"/>
                  </a:cubicBezTo>
                  <a:cubicBezTo>
                    <a:pt x="0" y="8509"/>
                    <a:pt x="8509" y="0"/>
                    <a:pt x="19050" y="0"/>
                  </a:cubicBezTo>
                  <a:close/>
                </a:path>
              </a:pathLst>
            </a:custGeom>
            <a:solidFill>
              <a:srgbClr val="CCD7E4"/>
            </a:solidFill>
          </p:spPr>
        </p:sp>
      </p:grpSp>
      <p:grpSp>
        <p:nvGrpSpPr>
          <p:cNvPr name="Group 35" id="35"/>
          <p:cNvGrpSpPr/>
          <p:nvPr/>
        </p:nvGrpSpPr>
        <p:grpSpPr>
          <a:xfrm rot="8959860">
            <a:off x="9020937" y="3183826"/>
            <a:ext cx="171450" cy="28575"/>
            <a:chOff x="0" y="0"/>
            <a:chExt cx="228600" cy="38100"/>
          </a:xfrm>
        </p:grpSpPr>
        <p:sp>
          <p:nvSpPr>
            <p:cNvPr name="Freeform 36" id="36"/>
            <p:cNvSpPr/>
            <p:nvPr/>
          </p:nvSpPr>
          <p:spPr>
            <a:xfrm flipH="false" flipV="false" rot="0">
              <a:off x="0" y="0"/>
              <a:ext cx="228600" cy="38100"/>
            </a:xfrm>
            <a:custGeom>
              <a:avLst/>
              <a:gdLst/>
              <a:ahLst/>
              <a:cxnLst/>
              <a:rect r="r" b="b" t="t" l="l"/>
              <a:pathLst>
                <a:path h="38100" w="228600">
                  <a:moveTo>
                    <a:pt x="19050" y="0"/>
                  </a:moveTo>
                  <a:lnTo>
                    <a:pt x="209550" y="0"/>
                  </a:lnTo>
                  <a:cubicBezTo>
                    <a:pt x="220091" y="0"/>
                    <a:pt x="228600" y="8509"/>
                    <a:pt x="228600" y="19050"/>
                  </a:cubicBezTo>
                  <a:cubicBezTo>
                    <a:pt x="228600" y="29591"/>
                    <a:pt x="220091" y="38100"/>
                    <a:pt x="209550" y="38100"/>
                  </a:cubicBezTo>
                  <a:lnTo>
                    <a:pt x="19050" y="38100"/>
                  </a:lnTo>
                  <a:cubicBezTo>
                    <a:pt x="8509" y="38100"/>
                    <a:pt x="0" y="29591"/>
                    <a:pt x="0" y="19050"/>
                  </a:cubicBezTo>
                  <a:cubicBezTo>
                    <a:pt x="0" y="8509"/>
                    <a:pt x="8509" y="0"/>
                    <a:pt x="19050" y="0"/>
                  </a:cubicBezTo>
                  <a:close/>
                </a:path>
              </a:pathLst>
            </a:custGeom>
            <a:solidFill>
              <a:srgbClr val="CCD7E4"/>
            </a:solidFill>
          </p:spPr>
        </p:sp>
      </p:grpSp>
      <p:grpSp>
        <p:nvGrpSpPr>
          <p:cNvPr name="Group 37" id="37"/>
          <p:cNvGrpSpPr/>
          <p:nvPr/>
        </p:nvGrpSpPr>
        <p:grpSpPr>
          <a:xfrm rot="0">
            <a:off x="10163175" y="2876550"/>
            <a:ext cx="552450" cy="552450"/>
            <a:chOff x="0" y="0"/>
            <a:chExt cx="736600" cy="736600"/>
          </a:xfrm>
        </p:grpSpPr>
        <p:sp>
          <p:nvSpPr>
            <p:cNvPr name="Freeform 38" id="38"/>
            <p:cNvSpPr/>
            <p:nvPr/>
          </p:nvSpPr>
          <p:spPr>
            <a:xfrm flipH="false" flipV="false" rot="0">
              <a:off x="0" y="0"/>
              <a:ext cx="736600" cy="736600"/>
            </a:xfrm>
            <a:custGeom>
              <a:avLst/>
              <a:gdLst/>
              <a:ahLst/>
              <a:cxnLst/>
              <a:rect r="r" b="b" t="t" l="l"/>
              <a:pathLst>
                <a:path h="736600" w="736600">
                  <a:moveTo>
                    <a:pt x="368300" y="0"/>
                  </a:moveTo>
                  <a:cubicBezTo>
                    <a:pt x="571754" y="0"/>
                    <a:pt x="736600" y="164846"/>
                    <a:pt x="736600" y="368300"/>
                  </a:cubicBezTo>
                  <a:cubicBezTo>
                    <a:pt x="736600" y="571754"/>
                    <a:pt x="571754" y="736600"/>
                    <a:pt x="368300" y="736600"/>
                  </a:cubicBezTo>
                  <a:cubicBezTo>
                    <a:pt x="164846" y="736600"/>
                    <a:pt x="0" y="571754"/>
                    <a:pt x="0" y="368300"/>
                  </a:cubicBezTo>
                  <a:cubicBezTo>
                    <a:pt x="0" y="164846"/>
                    <a:pt x="164846" y="0"/>
                    <a:pt x="368300" y="0"/>
                  </a:cubicBezTo>
                  <a:close/>
                </a:path>
              </a:pathLst>
            </a:custGeom>
            <a:solidFill>
              <a:srgbClr val="14BF96"/>
            </a:solidFill>
          </p:spPr>
        </p:sp>
      </p:grpSp>
      <p:sp>
        <p:nvSpPr>
          <p:cNvPr name="TextBox 39" id="39"/>
          <p:cNvSpPr txBox="true"/>
          <p:nvPr/>
        </p:nvSpPr>
        <p:spPr>
          <a:xfrm rot="0">
            <a:off x="10248900" y="2971800"/>
            <a:ext cx="381000" cy="280797"/>
          </a:xfrm>
          <a:prstGeom prst="rect">
            <a:avLst/>
          </a:prstGeom>
        </p:spPr>
        <p:txBody>
          <a:bodyPr anchor="t" rtlCol="false" tIns="0" lIns="0" bIns="0" rIns="0">
            <a:spAutoFit/>
          </a:bodyPr>
          <a:lstStyle/>
          <a:p>
            <a:pPr algn="ctr" marL="0" indent="0" lvl="0">
              <a:lnSpc>
                <a:spcPts val="2379"/>
              </a:lnSpc>
              <a:spcBef>
                <a:spcPct val="0"/>
              </a:spcBef>
            </a:pPr>
            <a:r>
              <a:rPr lang="en-US" sz="1950" strike="noStrike" u="none">
                <a:solidFill>
                  <a:srgbClr val="0A2A66"/>
                </a:solidFill>
                <a:latin typeface="DM Sans"/>
                <a:ea typeface="DM Sans"/>
                <a:cs typeface="DM Sans"/>
                <a:sym typeface="DM Sans"/>
              </a:rPr>
              <a:t>4</a:t>
            </a:r>
          </a:p>
        </p:txBody>
      </p:sp>
      <p:sp>
        <p:nvSpPr>
          <p:cNvPr name="TextBox 40" id="40"/>
          <p:cNvSpPr txBox="true"/>
          <p:nvPr/>
        </p:nvSpPr>
        <p:spPr>
          <a:xfrm rot="0">
            <a:off x="9296400" y="3648075"/>
            <a:ext cx="2286000" cy="576072"/>
          </a:xfrm>
          <a:prstGeom prst="rect">
            <a:avLst/>
          </a:prstGeom>
        </p:spPr>
        <p:txBody>
          <a:bodyPr anchor="t" rtlCol="false" tIns="0" lIns="0" bIns="0" rIns="0">
            <a:spAutoFit/>
          </a:bodyPr>
          <a:lstStyle/>
          <a:p>
            <a:pPr algn="ctr" marL="0" indent="0" lvl="0">
              <a:lnSpc>
                <a:spcPts val="2379"/>
              </a:lnSpc>
              <a:spcBef>
                <a:spcPct val="0"/>
              </a:spcBef>
            </a:pPr>
            <a:r>
              <a:rPr lang="en-US" sz="1950" strike="noStrike" u="none">
                <a:solidFill>
                  <a:srgbClr val="0A2A66"/>
                </a:solidFill>
                <a:latin typeface="DM Sans"/>
                <a:ea typeface="DM Sans"/>
                <a:cs typeface="DM Sans"/>
                <a:sym typeface="DM Sans"/>
              </a:rPr>
              <a:t>Answer a fresh</a:t>
            </a:r>
          </a:p>
          <a:p>
            <a:pPr algn="ctr" marL="0" indent="0" lvl="0">
              <a:lnSpc>
                <a:spcPts val="2379"/>
              </a:lnSpc>
              <a:spcBef>
                <a:spcPct val="0"/>
              </a:spcBef>
            </a:pPr>
            <a:r>
              <a:rPr lang="en-US" sz="1950" strike="noStrike" u="none">
                <a:solidFill>
                  <a:srgbClr val="0A2A66"/>
                </a:solidFill>
                <a:latin typeface="DM Sans"/>
                <a:ea typeface="DM Sans"/>
                <a:cs typeface="DM Sans"/>
                <a:sym typeface="DM Sans"/>
              </a:rPr>
              <a:t>question in Dunlo</a:t>
            </a:r>
          </a:p>
        </p:txBody>
      </p:sp>
      <p:sp>
        <p:nvSpPr>
          <p:cNvPr name="TextBox 41" id="41"/>
          <p:cNvSpPr txBox="true"/>
          <p:nvPr/>
        </p:nvSpPr>
        <p:spPr>
          <a:xfrm rot="0">
            <a:off x="609600" y="5295900"/>
            <a:ext cx="10972800" cy="529018"/>
          </a:xfrm>
          <a:prstGeom prst="rect">
            <a:avLst/>
          </a:prstGeom>
        </p:spPr>
        <p:txBody>
          <a:bodyPr anchor="t" rtlCol="false" tIns="0" lIns="0" bIns="0" rIns="0">
            <a:spAutoFit/>
          </a:bodyPr>
          <a:lstStyle/>
          <a:p>
            <a:pPr algn="ctr" marL="0" indent="0" lvl="0">
              <a:lnSpc>
                <a:spcPts val="2104"/>
              </a:lnSpc>
              <a:spcBef>
                <a:spcPct val="0"/>
              </a:spcBef>
            </a:pPr>
            <a:r>
              <a:rPr lang="en-US" sz="1725" strike="noStrike" u="none">
                <a:solidFill>
                  <a:srgbClr val="0A2A66"/>
                </a:solidFill>
                <a:latin typeface="DM Sans"/>
                <a:ea typeface="DM Sans"/>
                <a:cs typeface="DM Sans"/>
                <a:sym typeface="DM Sans"/>
                <a:hlinkClick r:id="rId7" tooltip="https://ies.ed.gov/ncee/wwc/practiceguide/1"/>
              </a:rPr>
              <a:t>One topic stays connected across the feed, Khan practice and later review.</a:t>
            </a:r>
          </a:p>
          <a:p>
            <a:pPr algn="ctr" marL="0" indent="0" lvl="0">
              <a:lnSpc>
                <a:spcPts val="2104"/>
              </a:lnSpc>
              <a:spcBef>
                <a:spcPct val="0"/>
              </a:spcBef>
            </a:pPr>
            <a:r>
              <a:rPr lang="en-US" sz="1725" strike="noStrike" u="none">
                <a:solidFill>
                  <a:srgbClr val="0A2A66"/>
                </a:solidFill>
                <a:latin typeface="DM Sans"/>
                <a:ea typeface="DM Sans"/>
                <a:cs typeface="DM Sans"/>
                <a:sym typeface="DM Sans"/>
                <a:hlinkClick r:id="rId8" tooltip="https://ies.ed.gov/ncee/wwc/practiceguide/1"/>
              </a:rPr>
              <a:t>Learning design: IES practice guide (2007).</a:t>
            </a:r>
          </a:p>
        </p:txBody>
      </p:sp>
      <p:sp>
        <p:nvSpPr>
          <p:cNvPr name="AutoShape 42" id="42"/>
          <p:cNvSpPr/>
          <p:nvPr/>
        </p:nvSpPr>
        <p:spPr>
          <a:xfrm>
            <a:off x="609600" y="1381125"/>
            <a:ext cx="10972800" cy="0"/>
          </a:xfrm>
          <a:prstGeom prst="line">
            <a:avLst/>
          </a:prstGeom>
          <a:ln cap="flat" w="19050">
            <a:solidFill>
              <a:srgbClr val="CCD7E4"/>
            </a:solidFill>
            <a:prstDash val="solid"/>
            <a:headEnd type="none" len="sm" w="sm"/>
            <a:tailEnd type="none" len="sm" w="sm"/>
          </a:ln>
        </p:spPr>
      </p:sp>
      <p:sp>
        <p:nvSpPr>
          <p:cNvPr name="Freeform 43" id="43" descr="Dunlo"/>
          <p:cNvSpPr/>
          <p:nvPr/>
        </p:nvSpPr>
        <p:spPr>
          <a:xfrm flipH="false" flipV="false" rot="0">
            <a:off x="609600" y="38100"/>
            <a:ext cx="1571625" cy="521160"/>
          </a:xfrm>
          <a:custGeom>
            <a:avLst/>
            <a:gdLst/>
            <a:ahLst/>
            <a:cxnLst/>
            <a:rect r="r" b="b" t="t" l="l"/>
            <a:pathLst>
              <a:path h="521160" w="1571625">
                <a:moveTo>
                  <a:pt x="0" y="0"/>
                </a:moveTo>
                <a:lnTo>
                  <a:pt x="1571625" y="0"/>
                </a:lnTo>
                <a:lnTo>
                  <a:pt x="1571625" y="521160"/>
                </a:lnTo>
                <a:lnTo>
                  <a:pt x="0" y="52116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44" id="44"/>
          <p:cNvSpPr/>
          <p:nvPr/>
        </p:nvSpPr>
        <p:spPr>
          <a:xfrm flipH="false" flipV="false" rot="0">
            <a:off x="9429750" y="323850"/>
            <a:ext cx="2152650" cy="133350"/>
          </a:xfrm>
          <a:custGeom>
            <a:avLst/>
            <a:gdLst/>
            <a:ahLst/>
            <a:cxnLst/>
            <a:rect r="r" b="b" t="t" l="l"/>
            <a:pathLst>
              <a:path h="133350" w="2152650">
                <a:moveTo>
                  <a:pt x="0" y="0"/>
                </a:moveTo>
                <a:lnTo>
                  <a:pt x="2152650" y="0"/>
                </a:lnTo>
                <a:lnTo>
                  <a:pt x="2152650" y="133350"/>
                </a:lnTo>
                <a:lnTo>
                  <a:pt x="0" y="133350"/>
                </a:lnTo>
                <a:lnTo>
                  <a:pt x="0" y="0"/>
                </a:lnTo>
                <a:close/>
              </a:path>
            </a:pathLst>
          </a:custGeom>
          <a:blipFill>
            <a:blip r:embed="rId11">
              <a:extLst>
                <a:ext uri="{96DAC541-7B7A-43D3-8B79-37D633B846F1}">
                  <asvg:svgBlip xmlns:asvg="http://schemas.microsoft.com/office/drawing/2016/SVG/main" r:embed="rId12"/>
                </a:ext>
              </a:extLst>
            </a:blip>
            <a:stretch>
              <a:fillRect l="0" t="-1363" r="0" b="-1363"/>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2192000" cy="6858000"/>
          </a:xfrm>
          <a:prstGeom prst="rect">
            <a:avLst/>
          </a:prstGeom>
          <a:solidFill>
            <a:srgbClr val="FFFFFF"/>
          </a:solidFill>
        </p:spPr>
      </p:sp>
      <p:grpSp>
        <p:nvGrpSpPr>
          <p:cNvPr name="Group 3" id="3"/>
          <p:cNvGrpSpPr/>
          <p:nvPr/>
        </p:nvGrpSpPr>
        <p:grpSpPr>
          <a:xfrm rot="0">
            <a:off x="0" y="0"/>
            <a:ext cx="12192000" cy="6858000"/>
            <a:chOff x="0" y="0"/>
            <a:chExt cx="16256000" cy="9144000"/>
          </a:xfrm>
        </p:grpSpPr>
        <p:sp>
          <p:nvSpPr>
            <p:cNvPr name="Freeform 4" id="4">
              <a:extLst>
                <a:ext uri="{C183D7F6-B498-43B3-948B-1728B52AA6E4}">
                  <adec:decorative xmlns:adec="http://schemas.microsoft.com/office/drawing/2017/decorative" val="1"/>
                </a:ext>
              </a:extLst>
            </p:cNvPr>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3"/>
              <a:stretch>
                <a:fillRect l="0" t="0" r="0" b="0"/>
              </a:stretch>
            </a:blipFill>
          </p:spPr>
        </p:sp>
      </p:grpSp>
      <p:grpSp>
        <p:nvGrpSpPr>
          <p:cNvPr name="Group 5" id="5"/>
          <p:cNvGrpSpPr/>
          <p:nvPr/>
        </p:nvGrpSpPr>
        <p:grpSpPr>
          <a:xfrm rot="0">
            <a:off x="0" y="0"/>
            <a:ext cx="12192000" cy="6858000"/>
            <a:chOff x="0" y="0"/>
            <a:chExt cx="16256000" cy="9144000"/>
          </a:xfrm>
        </p:grpSpPr>
        <p:sp>
          <p:nvSpPr>
            <p:cNvPr name="Freeform 6" id="6"/>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887200" y="0"/>
              <a:ext cx="3556000" cy="803656"/>
            </a:xfrm>
            <a:custGeom>
              <a:avLst/>
              <a:gdLst/>
              <a:ahLst/>
              <a:cxnLst/>
              <a:rect r="r" b="b" t="t" l="l"/>
              <a:pathLst>
                <a:path h="803656" w="3556000">
                  <a:moveTo>
                    <a:pt x="0" y="0"/>
                  </a:moveTo>
                  <a:lnTo>
                    <a:pt x="3556000" y="0"/>
                  </a:lnTo>
                  <a:lnTo>
                    <a:pt x="3556000" y="803656"/>
                  </a:lnTo>
                  <a:lnTo>
                    <a:pt x="0" y="803656"/>
                  </a:lnTo>
                  <a:lnTo>
                    <a:pt x="0" y="0"/>
                  </a:lnTo>
                  <a:close/>
                </a:path>
              </a:pathLst>
            </a:custGeom>
            <a:blipFill>
              <a:blip r:embed="rId6"/>
              <a:stretch>
                <a:fillRect l="0" t="0" r="0" b="0"/>
              </a:stretch>
            </a:blipFill>
          </p:spPr>
        </p:sp>
      </p:grpSp>
      <p:sp>
        <p:nvSpPr>
          <p:cNvPr name="AutoShape 8" id="8"/>
          <p:cNvSpPr/>
          <p:nvPr/>
        </p:nvSpPr>
        <p:spPr>
          <a:xfrm>
            <a:off x="609600" y="1381125"/>
            <a:ext cx="10972800" cy="0"/>
          </a:xfrm>
          <a:prstGeom prst="line">
            <a:avLst/>
          </a:prstGeom>
          <a:ln cap="flat" w="19050">
            <a:solidFill>
              <a:srgbClr val="CCD7E4"/>
            </a:solidFill>
            <a:prstDash val="solid"/>
            <a:headEnd type="none" len="sm" w="sm"/>
            <a:tailEnd type="none" len="sm" w="sm"/>
          </a:ln>
        </p:spPr>
      </p:sp>
      <p:sp>
        <p:nvSpPr>
          <p:cNvPr name="Freeform 9" id="9" descr="Dunlo"/>
          <p:cNvSpPr/>
          <p:nvPr/>
        </p:nvSpPr>
        <p:spPr>
          <a:xfrm flipH="false" flipV="false" rot="0">
            <a:off x="609600" y="38100"/>
            <a:ext cx="1571625" cy="521160"/>
          </a:xfrm>
          <a:custGeom>
            <a:avLst/>
            <a:gdLst/>
            <a:ahLst/>
            <a:cxnLst/>
            <a:rect r="r" b="b" t="t" l="l"/>
            <a:pathLst>
              <a:path h="521160" w="1571625">
                <a:moveTo>
                  <a:pt x="0" y="0"/>
                </a:moveTo>
                <a:lnTo>
                  <a:pt x="1571625" y="0"/>
                </a:lnTo>
                <a:lnTo>
                  <a:pt x="1571625" y="521160"/>
                </a:lnTo>
                <a:lnTo>
                  <a:pt x="0" y="5211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609600" y="1790700"/>
            <a:ext cx="7000875" cy="604456"/>
          </a:xfrm>
          <a:prstGeom prst="rect">
            <a:avLst/>
          </a:prstGeom>
        </p:spPr>
        <p:txBody>
          <a:bodyPr anchor="t" rtlCol="false" tIns="0" lIns="0" bIns="0" rIns="0">
            <a:spAutoFit/>
          </a:bodyPr>
          <a:lstStyle/>
          <a:p>
            <a:pPr algn="l" marL="0" indent="0" lvl="0">
              <a:lnSpc>
                <a:spcPts val="2470"/>
              </a:lnSpc>
              <a:spcBef>
                <a:spcPct val="0"/>
              </a:spcBef>
            </a:pPr>
            <a:r>
              <a:rPr lang="en-US" sz="2025" strike="noStrike" u="none">
                <a:solidFill>
                  <a:srgbClr val="0A2A66"/>
                </a:solidFill>
                <a:latin typeface="DM Sans"/>
                <a:ea typeface="DM Sans"/>
                <a:cs typeface="DM Sans"/>
                <a:sym typeface="DM Sans"/>
              </a:rPr>
              <a:t>For learners used to mobile feeds,</a:t>
            </a:r>
          </a:p>
          <a:p>
            <a:pPr algn="l" marL="0" indent="0" lvl="0">
              <a:lnSpc>
                <a:spcPts val="2470"/>
              </a:lnSpc>
              <a:spcBef>
                <a:spcPct val="0"/>
              </a:spcBef>
            </a:pPr>
            <a:r>
              <a:rPr lang="en-US" sz="2025" strike="noStrike" u="none">
                <a:solidFill>
                  <a:srgbClr val="0A2A66"/>
                </a:solidFill>
                <a:latin typeface="DM Sans"/>
                <a:ea typeface="DM Sans"/>
                <a:cs typeface="DM Sans"/>
                <a:sym typeface="DM Sans"/>
              </a:rPr>
              <a:t>Dunlo makes one idea easy to start.</a:t>
            </a:r>
          </a:p>
        </p:txBody>
      </p:sp>
      <p:sp>
        <p:nvSpPr>
          <p:cNvPr name="TextBox 11" id="11"/>
          <p:cNvSpPr txBox="true"/>
          <p:nvPr/>
        </p:nvSpPr>
        <p:spPr>
          <a:xfrm rot="0">
            <a:off x="609600" y="2838450"/>
            <a:ext cx="7048500" cy="393573"/>
          </a:xfrm>
          <a:prstGeom prst="rect">
            <a:avLst/>
          </a:prstGeom>
        </p:spPr>
        <p:txBody>
          <a:bodyPr anchor="t" rtlCol="false" tIns="0" lIns="0" bIns="0" rIns="0">
            <a:spAutoFit/>
          </a:bodyPr>
          <a:lstStyle/>
          <a:p>
            <a:pPr algn="l" marL="0" indent="0" lvl="0">
              <a:lnSpc>
                <a:spcPts val="3111"/>
              </a:lnSpc>
              <a:spcBef>
                <a:spcPct val="0"/>
              </a:spcBef>
            </a:pPr>
            <a:r>
              <a:rPr lang="en-US" b="true" sz="2550" strike="noStrike" u="none">
                <a:solidFill>
                  <a:srgbClr val="0A2A66"/>
                </a:solidFill>
                <a:latin typeface="DM Sans Bold"/>
                <a:ea typeface="DM Sans Bold"/>
                <a:cs typeface="DM Sans Bold"/>
                <a:sym typeface="DM Sans Bold"/>
              </a:rPr>
              <a:t>Scroll. Try. Keep going.</a:t>
            </a:r>
          </a:p>
        </p:txBody>
      </p:sp>
      <p:sp>
        <p:nvSpPr>
          <p:cNvPr name="TextBox 12" id="12"/>
          <p:cNvSpPr txBox="true"/>
          <p:nvPr/>
        </p:nvSpPr>
        <p:spPr>
          <a:xfrm rot="0">
            <a:off x="609600" y="3448050"/>
            <a:ext cx="7048500" cy="604456"/>
          </a:xfrm>
          <a:prstGeom prst="rect">
            <a:avLst/>
          </a:prstGeom>
        </p:spPr>
        <p:txBody>
          <a:bodyPr anchor="t" rtlCol="false" tIns="0" lIns="0" bIns="0" rIns="0">
            <a:spAutoFit/>
          </a:bodyPr>
          <a:lstStyle/>
          <a:p>
            <a:pPr algn="l" marL="0" indent="0" lvl="0">
              <a:lnSpc>
                <a:spcPts val="2470"/>
              </a:lnSpc>
              <a:spcBef>
                <a:spcPct val="0"/>
              </a:spcBef>
            </a:pPr>
            <a:r>
              <a:rPr lang="en-US" sz="2025" strike="noStrike" u="none">
                <a:solidFill>
                  <a:srgbClr val="0A2A66"/>
                </a:solidFill>
                <a:latin typeface="DM Sans"/>
                <a:ea typeface="DM Sans"/>
                <a:cs typeface="DM Sans"/>
                <a:sym typeface="DM Sans"/>
              </a:rPr>
              <a:t>Move a slider or watch a focused Khan clip.</a:t>
            </a:r>
          </a:p>
          <a:p>
            <a:pPr algn="l" marL="0" indent="0" lvl="0">
              <a:lnSpc>
                <a:spcPts val="2470"/>
              </a:lnSpc>
              <a:spcBef>
                <a:spcPct val="0"/>
              </a:spcBef>
            </a:pPr>
            <a:r>
              <a:rPr lang="en-US" sz="2025" strike="noStrike" u="none">
                <a:solidFill>
                  <a:srgbClr val="0A2A66"/>
                </a:solidFill>
                <a:latin typeface="DM Sans"/>
                <a:ea typeface="DM Sans"/>
                <a:cs typeface="DM Sans"/>
                <a:sym typeface="DM Sans"/>
              </a:rPr>
              <a:t>Make a prediction and get an explanation.</a:t>
            </a:r>
          </a:p>
        </p:txBody>
      </p:sp>
      <p:sp>
        <p:nvSpPr>
          <p:cNvPr name="TextBox 13" id="13"/>
          <p:cNvSpPr txBox="true"/>
          <p:nvPr/>
        </p:nvSpPr>
        <p:spPr>
          <a:xfrm rot="0">
            <a:off x="609600" y="4686300"/>
            <a:ext cx="7334250" cy="604456"/>
          </a:xfrm>
          <a:prstGeom prst="rect">
            <a:avLst/>
          </a:prstGeom>
        </p:spPr>
        <p:txBody>
          <a:bodyPr anchor="t" rtlCol="false" tIns="0" lIns="0" bIns="0" rIns="0">
            <a:spAutoFit/>
          </a:bodyPr>
          <a:lstStyle/>
          <a:p>
            <a:pPr algn="l" marL="0" indent="0" lvl="0">
              <a:lnSpc>
                <a:spcPts val="2470"/>
              </a:lnSpc>
              <a:spcBef>
                <a:spcPct val="0"/>
              </a:spcBef>
            </a:pPr>
            <a:r>
              <a:rPr lang="en-US" sz="2025" strike="noStrike" u="none">
                <a:solidFill>
                  <a:srgbClr val="0A2A66"/>
                </a:solidFill>
                <a:latin typeface="DM Sans"/>
                <a:ea typeface="DM Sans"/>
                <a:cs typeface="DM Sans"/>
                <a:sym typeface="DM Sans"/>
              </a:rPr>
              <a:t>Follow the idea into a matching Khan exercise.</a:t>
            </a:r>
          </a:p>
          <a:p>
            <a:pPr algn="l" marL="0" indent="0" lvl="0">
              <a:lnSpc>
                <a:spcPts val="2470"/>
              </a:lnSpc>
              <a:spcBef>
                <a:spcPct val="0"/>
              </a:spcBef>
            </a:pPr>
            <a:r>
              <a:rPr lang="en-US" sz="2025" strike="noStrike" u="none">
                <a:solidFill>
                  <a:srgbClr val="0A2A66"/>
                </a:solidFill>
                <a:latin typeface="DM Sans"/>
                <a:ea typeface="DM Sans"/>
                <a:cs typeface="DM Sans"/>
                <a:sym typeface="DM Sans"/>
              </a:rPr>
              <a:t>Save it for a fresh question later.</a:t>
            </a:r>
          </a:p>
        </p:txBody>
      </p:sp>
      <p:pic>
        <p:nvPicPr>
          <p:cNvPr name="Picture 14" id="14"/>
          <p:cNvPicPr>
            <a:picLocks noChangeAspect="true"/>
          </p:cNvPicPr>
          <p:nvPr/>
        </p:nvPicPr>
        <p:blipFill>
          <a:blip r:embed="rId9"/>
          <a:stretch>
            <a:fillRect/>
          </a:stretch>
        </p:blipFill>
        <p:spPr>
          <a:xfrm rot="0">
            <a:off x="7986495" y="1033245"/>
            <a:ext cx="3362760" cy="5889061"/>
          </a:xfrm>
          <a:prstGeom prst="rect">
            <a:avLst/>
          </a:prstGeom>
        </p:spPr>
      </p:pic>
      <p:sp>
        <p:nvSpPr>
          <p:cNvPr name="TextBox 15" id="15"/>
          <p:cNvSpPr txBox="true"/>
          <p:nvPr/>
        </p:nvSpPr>
        <p:spPr>
          <a:xfrm rot="0">
            <a:off x="609600" y="866775"/>
            <a:ext cx="10972800" cy="487299"/>
          </a:xfrm>
          <a:prstGeom prst="rect">
            <a:avLst/>
          </a:prstGeom>
        </p:spPr>
        <p:txBody>
          <a:bodyPr anchor="t" rtlCol="false" tIns="0" lIns="0" bIns="0" rIns="0">
            <a:spAutoFit/>
          </a:bodyPr>
          <a:lstStyle/>
          <a:p>
            <a:pPr algn="l" marL="0" indent="0" lvl="0">
              <a:lnSpc>
                <a:spcPts val="3843"/>
              </a:lnSpc>
              <a:spcBef>
                <a:spcPct val="0"/>
              </a:spcBef>
            </a:pPr>
            <a:r>
              <a:rPr lang="en-US" b="true" sz="3150" strike="noStrike" u="none">
                <a:solidFill>
                  <a:srgbClr val="0A2A66"/>
                </a:solidFill>
                <a:latin typeface="DM Sans Bold"/>
                <a:ea typeface="DM Sans Bold"/>
                <a:cs typeface="DM Sans Bold"/>
                <a:sym typeface="DM Sans Bold"/>
              </a:rPr>
              <a:t>Short-form content. Active learning.</a:t>
            </a:r>
          </a:p>
        </p:txBody>
      </p:sp>
      <p:sp>
        <p:nvSpPr>
          <p:cNvPr name="TextBox 16" id="16"/>
          <p:cNvSpPr txBox="true"/>
          <p:nvPr/>
        </p:nvSpPr>
        <p:spPr>
          <a:xfrm rot="0">
            <a:off x="609600" y="6134100"/>
            <a:ext cx="7620000" cy="196787"/>
          </a:xfrm>
          <a:prstGeom prst="rect">
            <a:avLst/>
          </a:prstGeom>
        </p:spPr>
        <p:txBody>
          <a:bodyPr anchor="t" rtlCol="false" tIns="0" lIns="0" bIns="0" rIns="0">
            <a:spAutoFit/>
          </a:bodyPr>
          <a:lstStyle/>
          <a:p>
            <a:pPr algn="l" marL="0" indent="0" lvl="0">
              <a:lnSpc>
                <a:spcPts val="1555"/>
              </a:lnSpc>
              <a:spcBef>
                <a:spcPct val="0"/>
              </a:spcBef>
            </a:pPr>
            <a:r>
              <a:rPr lang="en-US" sz="1275" strike="noStrike" u="none">
                <a:solidFill>
                  <a:srgbClr val="0A2A66"/>
                </a:solidFill>
                <a:latin typeface="DM Sans"/>
                <a:ea typeface="DM Sans"/>
                <a:cs typeface="DM Sans"/>
                <a:sym typeface="DM Sans"/>
                <a:hlinkClick r:id="rId10" tooltip="https://dunlo.vercel.app/explore"/>
              </a:rPr>
              <a:t>Explore the working feed · dunlo.vercel.app/explore</a:t>
            </a:r>
          </a:p>
        </p:txBody>
      </p:sp>
      <p:sp>
        <p:nvSpPr>
          <p:cNvPr name="TextBox 17" id="17"/>
          <p:cNvSpPr txBox="true"/>
          <p:nvPr/>
        </p:nvSpPr>
        <p:spPr>
          <a:xfrm rot="0">
            <a:off x="11239500" y="6353175"/>
            <a:ext cx="428625" cy="168592"/>
          </a:xfrm>
          <a:prstGeom prst="rect">
            <a:avLst/>
          </a:prstGeom>
        </p:spPr>
        <p:txBody>
          <a:bodyPr anchor="t" rtlCol="false" tIns="0" lIns="0" bIns="0" rIns="0">
            <a:spAutoFit/>
          </a:bodyPr>
          <a:lstStyle/>
          <a:p>
            <a:pPr algn="l" marL="0" indent="0" lvl="0">
              <a:lnSpc>
                <a:spcPts val="1372"/>
              </a:lnSpc>
              <a:spcBef>
                <a:spcPct val="0"/>
              </a:spcBef>
            </a:pPr>
            <a:r>
              <a:rPr lang="en-US" sz="1125" strike="noStrike" u="none">
                <a:solidFill>
                  <a:srgbClr val="0A2A66"/>
                </a:solidFill>
                <a:latin typeface="DM Sans"/>
                <a:ea typeface="DM Sans"/>
                <a:cs typeface="DM Sans"/>
                <a:sym typeface="DM Sans"/>
              </a:rPr>
              <a:t>04</a:t>
            </a:r>
          </a:p>
        </p:txBody>
      </p:sp>
      <p:sp>
        <p:nvSpPr>
          <p:cNvPr name="Freeform 18" id="18"/>
          <p:cNvSpPr/>
          <p:nvPr/>
        </p:nvSpPr>
        <p:spPr>
          <a:xfrm flipH="false" flipV="false" rot="0">
            <a:off x="9429750" y="323850"/>
            <a:ext cx="2152650" cy="133350"/>
          </a:xfrm>
          <a:custGeom>
            <a:avLst/>
            <a:gdLst/>
            <a:ahLst/>
            <a:cxnLst/>
            <a:rect r="r" b="b" t="t" l="l"/>
            <a:pathLst>
              <a:path h="133350" w="2152650">
                <a:moveTo>
                  <a:pt x="0" y="0"/>
                </a:moveTo>
                <a:lnTo>
                  <a:pt x="2152650" y="0"/>
                </a:lnTo>
                <a:lnTo>
                  <a:pt x="2152650" y="133350"/>
                </a:lnTo>
                <a:lnTo>
                  <a:pt x="0" y="133350"/>
                </a:lnTo>
                <a:lnTo>
                  <a:pt x="0" y="0"/>
                </a:lnTo>
                <a:close/>
              </a:path>
            </a:pathLst>
          </a:custGeom>
          <a:blipFill>
            <a:blip r:embed="rId11">
              <a:extLst>
                <a:ext uri="{96DAC541-7B7A-43D3-8B79-37D633B846F1}">
                  <asvg:svgBlip xmlns:asvg="http://schemas.microsoft.com/office/drawing/2016/SVG/main" r:embed="rId12"/>
                </a:ext>
              </a:extLst>
            </a:blip>
            <a:stretch>
              <a:fillRect l="0" t="-1363" r="0" b="-1363"/>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2192000" cy="6858000"/>
          </a:xfrm>
          <a:prstGeom prst="rect">
            <a:avLst/>
          </a:prstGeom>
          <a:solidFill>
            <a:srgbClr val="FFFFFF"/>
          </a:solidFill>
        </p:spPr>
      </p:sp>
      <p:grpSp>
        <p:nvGrpSpPr>
          <p:cNvPr name="Group 3" id="3"/>
          <p:cNvGrpSpPr/>
          <p:nvPr/>
        </p:nvGrpSpPr>
        <p:grpSpPr>
          <a:xfrm rot="0">
            <a:off x="0" y="0"/>
            <a:ext cx="12192000" cy="6858000"/>
            <a:chOff x="0" y="0"/>
            <a:chExt cx="16256000" cy="9144000"/>
          </a:xfrm>
        </p:grpSpPr>
        <p:sp>
          <p:nvSpPr>
            <p:cNvPr name="Freeform 4" id="4"/>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3"/>
              <a:stretch>
                <a:fillRect l="0" t="0" r="0" b="0"/>
              </a:stretch>
            </a:blipFill>
          </p:spPr>
        </p:sp>
      </p:grpSp>
      <p:grpSp>
        <p:nvGrpSpPr>
          <p:cNvPr name="Group 5" id="5"/>
          <p:cNvGrpSpPr/>
          <p:nvPr/>
        </p:nvGrpSpPr>
        <p:grpSpPr>
          <a:xfrm rot="0">
            <a:off x="0" y="0"/>
            <a:ext cx="12192000" cy="6858000"/>
            <a:chOff x="0" y="0"/>
            <a:chExt cx="16256000" cy="9144000"/>
          </a:xfrm>
        </p:grpSpPr>
        <p:sp>
          <p:nvSpPr>
            <p:cNvPr name="Freeform 6" id="6"/>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887200" y="0"/>
              <a:ext cx="3556000" cy="690065"/>
            </a:xfrm>
            <a:custGeom>
              <a:avLst/>
              <a:gdLst/>
              <a:ahLst/>
              <a:cxnLst/>
              <a:rect r="r" b="b" t="t" l="l"/>
              <a:pathLst>
                <a:path h="690065" w="3556000">
                  <a:moveTo>
                    <a:pt x="0" y="0"/>
                  </a:moveTo>
                  <a:lnTo>
                    <a:pt x="3556000" y="0"/>
                  </a:lnTo>
                  <a:lnTo>
                    <a:pt x="3556000" y="690065"/>
                  </a:lnTo>
                  <a:lnTo>
                    <a:pt x="0" y="690065"/>
                  </a:lnTo>
                  <a:lnTo>
                    <a:pt x="0" y="0"/>
                  </a:lnTo>
                  <a:close/>
                </a:path>
              </a:pathLst>
            </a:custGeom>
            <a:blipFill>
              <a:blip r:embed="rId6"/>
              <a:stretch>
                <a:fillRect l="0" t="0" r="0" b="-16460"/>
              </a:stretch>
            </a:blipFill>
          </p:spPr>
        </p:sp>
      </p:grpSp>
      <p:sp>
        <p:nvSpPr>
          <p:cNvPr name="TextBox 8" id="8"/>
          <p:cNvSpPr txBox="true"/>
          <p:nvPr/>
        </p:nvSpPr>
        <p:spPr>
          <a:xfrm rot="0">
            <a:off x="11239500" y="6353175"/>
            <a:ext cx="428625" cy="168592"/>
          </a:xfrm>
          <a:prstGeom prst="rect">
            <a:avLst/>
          </a:prstGeom>
        </p:spPr>
        <p:txBody>
          <a:bodyPr anchor="t" rtlCol="false" tIns="0" lIns="0" bIns="0" rIns="0">
            <a:spAutoFit/>
          </a:bodyPr>
          <a:lstStyle/>
          <a:p>
            <a:pPr algn="l" marL="0" indent="0" lvl="0">
              <a:lnSpc>
                <a:spcPts val="1372"/>
              </a:lnSpc>
              <a:spcBef>
                <a:spcPct val="0"/>
              </a:spcBef>
            </a:pPr>
            <a:r>
              <a:rPr lang="en-US" sz="1125" strike="noStrike" u="none">
                <a:solidFill>
                  <a:srgbClr val="0A2A66"/>
                </a:solidFill>
                <a:latin typeface="DM Sans"/>
                <a:ea typeface="DM Sans"/>
                <a:cs typeface="DM Sans"/>
                <a:sym typeface="DM Sans"/>
              </a:rPr>
              <a:t>05</a:t>
            </a:r>
          </a:p>
        </p:txBody>
      </p:sp>
      <p:sp>
        <p:nvSpPr>
          <p:cNvPr name="TextBox 9" id="9"/>
          <p:cNvSpPr txBox="true"/>
          <p:nvPr/>
        </p:nvSpPr>
        <p:spPr>
          <a:xfrm rot="0">
            <a:off x="609600" y="866775"/>
            <a:ext cx="10972800" cy="487299"/>
          </a:xfrm>
          <a:prstGeom prst="rect">
            <a:avLst/>
          </a:prstGeom>
        </p:spPr>
        <p:txBody>
          <a:bodyPr anchor="t" rtlCol="false" tIns="0" lIns="0" bIns="0" rIns="0">
            <a:spAutoFit/>
          </a:bodyPr>
          <a:lstStyle/>
          <a:p>
            <a:pPr algn="l" marL="0" indent="0" lvl="0">
              <a:lnSpc>
                <a:spcPts val="3843"/>
              </a:lnSpc>
              <a:spcBef>
                <a:spcPct val="0"/>
              </a:spcBef>
            </a:pPr>
            <a:r>
              <a:rPr lang="en-US" b="true" sz="3150" strike="noStrike" u="none">
                <a:solidFill>
                  <a:srgbClr val="0A2A66"/>
                </a:solidFill>
                <a:latin typeface="DM Sans Bold"/>
                <a:ea typeface="DM Sans Bold"/>
                <a:cs typeface="DM Sans Bold"/>
                <a:sym typeface="DM Sans Bold"/>
              </a:rPr>
              <a:t>Make the relationship visible</a:t>
            </a:r>
          </a:p>
        </p:txBody>
      </p:sp>
      <p:sp>
        <p:nvSpPr>
          <p:cNvPr name="TextBox 10" id="10"/>
          <p:cNvSpPr txBox="true"/>
          <p:nvPr/>
        </p:nvSpPr>
        <p:spPr>
          <a:xfrm rot="0">
            <a:off x="6667500" y="2209800"/>
            <a:ext cx="4572000" cy="159258"/>
          </a:xfrm>
          <a:prstGeom prst="rect">
            <a:avLst/>
          </a:prstGeom>
        </p:spPr>
        <p:txBody>
          <a:bodyPr anchor="t" rtlCol="false" tIns="0" lIns="0" bIns="0" rIns="0">
            <a:spAutoFit/>
          </a:bodyPr>
          <a:lstStyle/>
          <a:p>
            <a:pPr algn="l" marL="0" indent="0" lvl="0">
              <a:lnSpc>
                <a:spcPts val="1281"/>
              </a:lnSpc>
              <a:spcBef>
                <a:spcPct val="0"/>
              </a:spcBef>
            </a:pPr>
            <a:r>
              <a:rPr lang="en-US" sz="1050" strike="noStrike" u="none">
                <a:solidFill>
                  <a:srgbClr val="0A2A66"/>
                </a:solidFill>
                <a:latin typeface="DM Sans"/>
                <a:ea typeface="DM Sans"/>
                <a:cs typeface="DM Sans"/>
                <a:sym typeface="DM Sans"/>
              </a:rPr>
              <a:t>FOUR AREAS</a:t>
            </a:r>
          </a:p>
        </p:txBody>
      </p:sp>
      <p:sp>
        <p:nvSpPr>
          <p:cNvPr name="TextBox 11" id="11"/>
          <p:cNvSpPr txBox="true"/>
          <p:nvPr/>
        </p:nvSpPr>
        <p:spPr>
          <a:xfrm rot="0">
            <a:off x="6667500" y="2533650"/>
            <a:ext cx="4572000" cy="346710"/>
          </a:xfrm>
          <a:prstGeom prst="rect">
            <a:avLst/>
          </a:prstGeom>
        </p:spPr>
        <p:txBody>
          <a:bodyPr anchor="t" rtlCol="false" tIns="0" lIns="0" bIns="0" rIns="0">
            <a:spAutoFit/>
          </a:bodyPr>
          <a:lstStyle/>
          <a:p>
            <a:pPr algn="l" marL="0" indent="0" lvl="0">
              <a:lnSpc>
                <a:spcPts val="2745"/>
              </a:lnSpc>
              <a:spcBef>
                <a:spcPct val="0"/>
              </a:spcBef>
            </a:pPr>
            <a:r>
              <a:rPr lang="en-US" sz="2250" strike="noStrike" u="none">
                <a:solidFill>
                  <a:srgbClr val="0A2A66"/>
                </a:solidFill>
                <a:latin typeface="DM Sans"/>
                <a:ea typeface="DM Sans"/>
                <a:cs typeface="DM Sans"/>
                <a:sym typeface="DM Sans"/>
              </a:rPr>
              <a:t>x² + 3x + 4x + 12</a:t>
            </a:r>
          </a:p>
        </p:txBody>
      </p:sp>
      <p:sp>
        <p:nvSpPr>
          <p:cNvPr name="TextBox 12" id="12"/>
          <p:cNvSpPr txBox="true"/>
          <p:nvPr/>
        </p:nvSpPr>
        <p:spPr>
          <a:xfrm rot="0">
            <a:off x="6667500" y="2952750"/>
            <a:ext cx="4572000" cy="234315"/>
          </a:xfrm>
          <a:prstGeom prst="rect">
            <a:avLst/>
          </a:prstGeom>
        </p:spPr>
        <p:txBody>
          <a:bodyPr anchor="t" rtlCol="false" tIns="0" lIns="0" bIns="0" rIns="0">
            <a:spAutoFit/>
          </a:bodyPr>
          <a:lstStyle/>
          <a:p>
            <a:pPr algn="l" marL="0" indent="0" lvl="0">
              <a:lnSpc>
                <a:spcPts val="1830"/>
              </a:lnSpc>
              <a:spcBef>
                <a:spcPct val="0"/>
              </a:spcBef>
            </a:pPr>
            <a:r>
              <a:rPr lang="en-US" sz="1500" strike="noStrike" u="none">
                <a:solidFill>
                  <a:srgbClr val="0A2A66"/>
                </a:solidFill>
                <a:latin typeface="DM Sans"/>
                <a:ea typeface="DM Sans"/>
                <a:cs typeface="DM Sans"/>
                <a:sym typeface="DM Sans"/>
              </a:rPr>
              <a:t>Each part keeps its meaning.</a:t>
            </a:r>
          </a:p>
        </p:txBody>
      </p:sp>
      <p:sp>
        <p:nvSpPr>
          <p:cNvPr name="AutoShape 13" id="13"/>
          <p:cNvSpPr/>
          <p:nvPr/>
        </p:nvSpPr>
        <p:spPr>
          <a:xfrm rot="0">
            <a:off x="3990975" y="3838575"/>
            <a:ext cx="238125" cy="38100"/>
          </a:xfrm>
          <a:prstGeom prst="rect">
            <a:avLst/>
          </a:prstGeom>
          <a:solidFill>
            <a:srgbClr val="CCD7E4"/>
          </a:solidFill>
        </p:spPr>
      </p:sp>
      <p:grpSp>
        <p:nvGrpSpPr>
          <p:cNvPr name="Group 14" id="14"/>
          <p:cNvGrpSpPr/>
          <p:nvPr/>
        </p:nvGrpSpPr>
        <p:grpSpPr>
          <a:xfrm rot="1840140">
            <a:off x="4171283" y="3802952"/>
            <a:ext cx="171450" cy="28575"/>
            <a:chOff x="0" y="0"/>
            <a:chExt cx="228600" cy="38100"/>
          </a:xfrm>
        </p:grpSpPr>
        <p:sp>
          <p:nvSpPr>
            <p:cNvPr name="Freeform 15" id="15"/>
            <p:cNvSpPr/>
            <p:nvPr/>
          </p:nvSpPr>
          <p:spPr>
            <a:xfrm flipH="false" flipV="false" rot="0">
              <a:off x="0" y="0"/>
              <a:ext cx="228600" cy="38100"/>
            </a:xfrm>
            <a:custGeom>
              <a:avLst/>
              <a:gdLst/>
              <a:ahLst/>
              <a:cxnLst/>
              <a:rect r="r" b="b" t="t" l="l"/>
              <a:pathLst>
                <a:path h="38100" w="228600">
                  <a:moveTo>
                    <a:pt x="19050" y="0"/>
                  </a:moveTo>
                  <a:lnTo>
                    <a:pt x="209550" y="0"/>
                  </a:lnTo>
                  <a:cubicBezTo>
                    <a:pt x="220091" y="0"/>
                    <a:pt x="228600" y="8509"/>
                    <a:pt x="228600" y="19050"/>
                  </a:cubicBezTo>
                  <a:cubicBezTo>
                    <a:pt x="228600" y="29591"/>
                    <a:pt x="220091" y="38100"/>
                    <a:pt x="209550" y="38100"/>
                  </a:cubicBezTo>
                  <a:lnTo>
                    <a:pt x="19050" y="38100"/>
                  </a:lnTo>
                  <a:cubicBezTo>
                    <a:pt x="8509" y="38100"/>
                    <a:pt x="0" y="29591"/>
                    <a:pt x="0" y="19050"/>
                  </a:cubicBezTo>
                  <a:cubicBezTo>
                    <a:pt x="0" y="8509"/>
                    <a:pt x="8509" y="0"/>
                    <a:pt x="19050" y="0"/>
                  </a:cubicBezTo>
                  <a:close/>
                </a:path>
              </a:pathLst>
            </a:custGeom>
            <a:solidFill>
              <a:srgbClr val="CCD7E4"/>
            </a:solidFill>
          </p:spPr>
        </p:sp>
      </p:grpSp>
      <p:grpSp>
        <p:nvGrpSpPr>
          <p:cNvPr name="Group 16" id="16"/>
          <p:cNvGrpSpPr/>
          <p:nvPr/>
        </p:nvGrpSpPr>
        <p:grpSpPr>
          <a:xfrm rot="8959860">
            <a:off x="4163187" y="3888676"/>
            <a:ext cx="171450" cy="28575"/>
            <a:chOff x="0" y="0"/>
            <a:chExt cx="228600" cy="38100"/>
          </a:xfrm>
        </p:grpSpPr>
        <p:sp>
          <p:nvSpPr>
            <p:cNvPr name="Freeform 17" id="17"/>
            <p:cNvSpPr/>
            <p:nvPr/>
          </p:nvSpPr>
          <p:spPr>
            <a:xfrm flipH="false" flipV="false" rot="0">
              <a:off x="0" y="0"/>
              <a:ext cx="228600" cy="38100"/>
            </a:xfrm>
            <a:custGeom>
              <a:avLst/>
              <a:gdLst/>
              <a:ahLst/>
              <a:cxnLst/>
              <a:rect r="r" b="b" t="t" l="l"/>
              <a:pathLst>
                <a:path h="38100" w="228600">
                  <a:moveTo>
                    <a:pt x="19050" y="0"/>
                  </a:moveTo>
                  <a:lnTo>
                    <a:pt x="209550" y="0"/>
                  </a:lnTo>
                  <a:cubicBezTo>
                    <a:pt x="220091" y="0"/>
                    <a:pt x="228600" y="8509"/>
                    <a:pt x="228600" y="19050"/>
                  </a:cubicBezTo>
                  <a:cubicBezTo>
                    <a:pt x="228600" y="29591"/>
                    <a:pt x="220091" y="38100"/>
                    <a:pt x="209550" y="38100"/>
                  </a:cubicBezTo>
                  <a:lnTo>
                    <a:pt x="19050" y="38100"/>
                  </a:lnTo>
                  <a:cubicBezTo>
                    <a:pt x="8509" y="38100"/>
                    <a:pt x="0" y="29591"/>
                    <a:pt x="0" y="19050"/>
                  </a:cubicBezTo>
                  <a:cubicBezTo>
                    <a:pt x="0" y="8509"/>
                    <a:pt x="8509" y="0"/>
                    <a:pt x="19050" y="0"/>
                  </a:cubicBezTo>
                  <a:close/>
                </a:path>
              </a:pathLst>
            </a:custGeom>
            <a:solidFill>
              <a:srgbClr val="CCD7E4"/>
            </a:solidFill>
          </p:spPr>
        </p:sp>
      </p:grpSp>
      <p:sp>
        <p:nvSpPr>
          <p:cNvPr name="TextBox 18" id="18"/>
          <p:cNvSpPr txBox="true"/>
          <p:nvPr/>
        </p:nvSpPr>
        <p:spPr>
          <a:xfrm rot="0">
            <a:off x="6667500" y="3562350"/>
            <a:ext cx="4572000" cy="159258"/>
          </a:xfrm>
          <a:prstGeom prst="rect">
            <a:avLst/>
          </a:prstGeom>
        </p:spPr>
        <p:txBody>
          <a:bodyPr anchor="t" rtlCol="false" tIns="0" lIns="0" bIns="0" rIns="0">
            <a:spAutoFit/>
          </a:bodyPr>
          <a:lstStyle/>
          <a:p>
            <a:pPr algn="l" marL="0" indent="0" lvl="0">
              <a:lnSpc>
                <a:spcPts val="1281"/>
              </a:lnSpc>
              <a:spcBef>
                <a:spcPct val="0"/>
              </a:spcBef>
            </a:pPr>
            <a:r>
              <a:rPr lang="en-US" sz="1050" strike="noStrike" u="none">
                <a:solidFill>
                  <a:srgbClr val="0A2A66"/>
                </a:solidFill>
                <a:latin typeface="DM Sans"/>
                <a:ea typeface="DM Sans"/>
                <a:cs typeface="DM Sans"/>
                <a:sym typeface="DM Sans"/>
              </a:rPr>
              <a:t>COMBINE</a:t>
            </a:r>
          </a:p>
        </p:txBody>
      </p:sp>
      <p:sp>
        <p:nvSpPr>
          <p:cNvPr name="TextBox 19" id="19"/>
          <p:cNvSpPr txBox="true"/>
          <p:nvPr/>
        </p:nvSpPr>
        <p:spPr>
          <a:xfrm rot="0">
            <a:off x="6667500" y="3886200"/>
            <a:ext cx="4572000" cy="346710"/>
          </a:xfrm>
          <a:prstGeom prst="rect">
            <a:avLst/>
          </a:prstGeom>
        </p:spPr>
        <p:txBody>
          <a:bodyPr anchor="t" rtlCol="false" tIns="0" lIns="0" bIns="0" rIns="0">
            <a:spAutoFit/>
          </a:bodyPr>
          <a:lstStyle/>
          <a:p>
            <a:pPr algn="l" marL="0" indent="0" lvl="0">
              <a:lnSpc>
                <a:spcPts val="2745"/>
              </a:lnSpc>
              <a:spcBef>
                <a:spcPct val="0"/>
              </a:spcBef>
            </a:pPr>
            <a:r>
              <a:rPr lang="en-US" sz="2250" strike="noStrike" u="none">
                <a:solidFill>
                  <a:srgbClr val="0A2A66"/>
                </a:solidFill>
                <a:latin typeface="DM Sans"/>
                <a:ea typeface="DM Sans"/>
                <a:cs typeface="DM Sans"/>
                <a:sym typeface="DM Sans"/>
              </a:rPr>
              <a:t>3x + 4x = 7x</a:t>
            </a:r>
          </a:p>
        </p:txBody>
      </p:sp>
      <p:sp>
        <p:nvSpPr>
          <p:cNvPr name="TextBox 20" id="20"/>
          <p:cNvSpPr txBox="true"/>
          <p:nvPr/>
        </p:nvSpPr>
        <p:spPr>
          <a:xfrm rot="0">
            <a:off x="6667500" y="4286250"/>
            <a:ext cx="4572000" cy="234315"/>
          </a:xfrm>
          <a:prstGeom prst="rect">
            <a:avLst/>
          </a:prstGeom>
        </p:spPr>
        <p:txBody>
          <a:bodyPr anchor="t" rtlCol="false" tIns="0" lIns="0" bIns="0" rIns="0">
            <a:spAutoFit/>
          </a:bodyPr>
          <a:lstStyle/>
          <a:p>
            <a:pPr algn="l" marL="0" indent="0" lvl="0">
              <a:lnSpc>
                <a:spcPts val="1830"/>
              </a:lnSpc>
              <a:spcBef>
                <a:spcPct val="0"/>
              </a:spcBef>
            </a:pPr>
            <a:r>
              <a:rPr lang="en-US" sz="1500" strike="noStrike" u="none">
                <a:solidFill>
                  <a:srgbClr val="0A2A66"/>
                </a:solidFill>
                <a:latin typeface="DM Sans"/>
                <a:ea typeface="DM Sans"/>
                <a:cs typeface="DM Sans"/>
                <a:sym typeface="DM Sans"/>
              </a:rPr>
              <a:t>The middle terms belong together.</a:t>
            </a:r>
          </a:p>
        </p:txBody>
      </p:sp>
      <p:grpSp>
        <p:nvGrpSpPr>
          <p:cNvPr name="Group 21" id="21"/>
          <p:cNvGrpSpPr/>
          <p:nvPr/>
        </p:nvGrpSpPr>
        <p:grpSpPr>
          <a:xfrm rot="1840140">
            <a:off x="8057483" y="3802952"/>
            <a:ext cx="171450" cy="28575"/>
            <a:chOff x="0" y="0"/>
            <a:chExt cx="228600" cy="38100"/>
          </a:xfrm>
        </p:grpSpPr>
        <p:sp>
          <p:nvSpPr>
            <p:cNvPr name="Freeform 22" id="22"/>
            <p:cNvSpPr/>
            <p:nvPr/>
          </p:nvSpPr>
          <p:spPr>
            <a:xfrm flipH="false" flipV="false" rot="0">
              <a:off x="0" y="0"/>
              <a:ext cx="228600" cy="38100"/>
            </a:xfrm>
            <a:custGeom>
              <a:avLst/>
              <a:gdLst/>
              <a:ahLst/>
              <a:cxnLst/>
              <a:rect r="r" b="b" t="t" l="l"/>
              <a:pathLst>
                <a:path h="38100" w="228600">
                  <a:moveTo>
                    <a:pt x="19050" y="0"/>
                  </a:moveTo>
                  <a:lnTo>
                    <a:pt x="209550" y="0"/>
                  </a:lnTo>
                  <a:cubicBezTo>
                    <a:pt x="220091" y="0"/>
                    <a:pt x="228600" y="8509"/>
                    <a:pt x="228600" y="19050"/>
                  </a:cubicBezTo>
                  <a:cubicBezTo>
                    <a:pt x="228600" y="29591"/>
                    <a:pt x="220091" y="38100"/>
                    <a:pt x="209550" y="38100"/>
                  </a:cubicBezTo>
                  <a:lnTo>
                    <a:pt x="19050" y="38100"/>
                  </a:lnTo>
                  <a:cubicBezTo>
                    <a:pt x="8509" y="38100"/>
                    <a:pt x="0" y="29591"/>
                    <a:pt x="0" y="19050"/>
                  </a:cubicBezTo>
                  <a:cubicBezTo>
                    <a:pt x="0" y="8509"/>
                    <a:pt x="8509" y="0"/>
                    <a:pt x="19050" y="0"/>
                  </a:cubicBezTo>
                  <a:close/>
                </a:path>
              </a:pathLst>
            </a:custGeom>
            <a:solidFill>
              <a:srgbClr val="CCD7E4"/>
            </a:solidFill>
          </p:spPr>
        </p:sp>
      </p:grpSp>
      <p:grpSp>
        <p:nvGrpSpPr>
          <p:cNvPr name="Group 23" id="23"/>
          <p:cNvGrpSpPr/>
          <p:nvPr/>
        </p:nvGrpSpPr>
        <p:grpSpPr>
          <a:xfrm rot="8959860">
            <a:off x="8049387" y="3888676"/>
            <a:ext cx="171450" cy="28575"/>
            <a:chOff x="0" y="0"/>
            <a:chExt cx="228600" cy="38100"/>
          </a:xfrm>
        </p:grpSpPr>
        <p:sp>
          <p:nvSpPr>
            <p:cNvPr name="Freeform 24" id="24"/>
            <p:cNvSpPr/>
            <p:nvPr/>
          </p:nvSpPr>
          <p:spPr>
            <a:xfrm flipH="false" flipV="false" rot="0">
              <a:off x="0" y="0"/>
              <a:ext cx="228600" cy="38100"/>
            </a:xfrm>
            <a:custGeom>
              <a:avLst/>
              <a:gdLst/>
              <a:ahLst/>
              <a:cxnLst/>
              <a:rect r="r" b="b" t="t" l="l"/>
              <a:pathLst>
                <a:path h="38100" w="228600">
                  <a:moveTo>
                    <a:pt x="19050" y="0"/>
                  </a:moveTo>
                  <a:lnTo>
                    <a:pt x="209550" y="0"/>
                  </a:lnTo>
                  <a:cubicBezTo>
                    <a:pt x="220091" y="0"/>
                    <a:pt x="228600" y="8509"/>
                    <a:pt x="228600" y="19050"/>
                  </a:cubicBezTo>
                  <a:cubicBezTo>
                    <a:pt x="228600" y="29591"/>
                    <a:pt x="220091" y="38100"/>
                    <a:pt x="209550" y="38100"/>
                  </a:cubicBezTo>
                  <a:lnTo>
                    <a:pt x="19050" y="38100"/>
                  </a:lnTo>
                  <a:cubicBezTo>
                    <a:pt x="8509" y="38100"/>
                    <a:pt x="0" y="29591"/>
                    <a:pt x="0" y="19050"/>
                  </a:cubicBezTo>
                  <a:cubicBezTo>
                    <a:pt x="0" y="8509"/>
                    <a:pt x="8509" y="0"/>
                    <a:pt x="19050" y="0"/>
                  </a:cubicBezTo>
                  <a:close/>
                </a:path>
              </a:pathLst>
            </a:custGeom>
            <a:solidFill>
              <a:srgbClr val="CCD7E4"/>
            </a:solidFill>
          </p:spPr>
        </p:sp>
      </p:grpSp>
      <p:sp>
        <p:nvSpPr>
          <p:cNvPr name="TextBox 25" id="25"/>
          <p:cNvSpPr txBox="true"/>
          <p:nvPr/>
        </p:nvSpPr>
        <p:spPr>
          <a:xfrm rot="0">
            <a:off x="6667500" y="4895850"/>
            <a:ext cx="4572000" cy="159258"/>
          </a:xfrm>
          <a:prstGeom prst="rect">
            <a:avLst/>
          </a:prstGeom>
        </p:spPr>
        <p:txBody>
          <a:bodyPr anchor="t" rtlCol="false" tIns="0" lIns="0" bIns="0" rIns="0">
            <a:spAutoFit/>
          </a:bodyPr>
          <a:lstStyle/>
          <a:p>
            <a:pPr algn="l" marL="0" indent="0" lvl="0">
              <a:lnSpc>
                <a:spcPts val="1281"/>
              </a:lnSpc>
              <a:spcBef>
                <a:spcPct val="0"/>
              </a:spcBef>
            </a:pPr>
            <a:r>
              <a:rPr lang="en-US" sz="1050" strike="noStrike" u="none">
                <a:solidFill>
                  <a:srgbClr val="0A2A66"/>
                </a:solidFill>
                <a:latin typeface="DM Sans"/>
                <a:ea typeface="DM Sans"/>
                <a:cs typeface="DM Sans"/>
                <a:sym typeface="DM Sans"/>
              </a:rPr>
              <a:t>RESULT</a:t>
            </a:r>
          </a:p>
        </p:txBody>
      </p:sp>
      <p:sp>
        <p:nvSpPr>
          <p:cNvPr name="TextBox 26" id="26"/>
          <p:cNvSpPr txBox="true"/>
          <p:nvPr/>
        </p:nvSpPr>
        <p:spPr>
          <a:xfrm rot="0">
            <a:off x="6667500" y="5219700"/>
            <a:ext cx="4572000" cy="346710"/>
          </a:xfrm>
          <a:prstGeom prst="rect">
            <a:avLst/>
          </a:prstGeom>
        </p:spPr>
        <p:txBody>
          <a:bodyPr anchor="t" rtlCol="false" tIns="0" lIns="0" bIns="0" rIns="0">
            <a:spAutoFit/>
          </a:bodyPr>
          <a:lstStyle/>
          <a:p>
            <a:pPr algn="l" marL="0" indent="0" lvl="0">
              <a:lnSpc>
                <a:spcPts val="2745"/>
              </a:lnSpc>
              <a:spcBef>
                <a:spcPct val="0"/>
              </a:spcBef>
            </a:pPr>
            <a:r>
              <a:rPr lang="en-US" sz="2250" strike="noStrike" u="none">
                <a:solidFill>
                  <a:srgbClr val="0A2A66"/>
                </a:solidFill>
                <a:latin typeface="DM Sans"/>
                <a:ea typeface="DM Sans"/>
                <a:cs typeface="DM Sans"/>
                <a:sym typeface="DM Sans"/>
              </a:rPr>
              <a:t>x² + 7x + 12</a:t>
            </a:r>
          </a:p>
        </p:txBody>
      </p:sp>
      <p:sp>
        <p:nvSpPr>
          <p:cNvPr name="TextBox 27" id="27"/>
          <p:cNvSpPr txBox="true"/>
          <p:nvPr/>
        </p:nvSpPr>
        <p:spPr>
          <a:xfrm rot="0">
            <a:off x="6667500" y="5610225"/>
            <a:ext cx="4572000" cy="234315"/>
          </a:xfrm>
          <a:prstGeom prst="rect">
            <a:avLst/>
          </a:prstGeom>
        </p:spPr>
        <p:txBody>
          <a:bodyPr anchor="t" rtlCol="false" tIns="0" lIns="0" bIns="0" rIns="0">
            <a:spAutoFit/>
          </a:bodyPr>
          <a:lstStyle/>
          <a:p>
            <a:pPr algn="l" marL="0" indent="0" lvl="0">
              <a:lnSpc>
                <a:spcPts val="1830"/>
              </a:lnSpc>
              <a:spcBef>
                <a:spcPct val="0"/>
              </a:spcBef>
            </a:pPr>
            <a:r>
              <a:rPr lang="en-US" sz="1500" strike="noStrike" u="none">
                <a:solidFill>
                  <a:srgbClr val="0A2A66"/>
                </a:solidFill>
                <a:latin typeface="DM Sans"/>
                <a:ea typeface="DM Sans"/>
                <a:cs typeface="DM Sans"/>
                <a:sym typeface="DM Sans"/>
              </a:rPr>
              <a:t>Then try a different question.</a:t>
            </a:r>
          </a:p>
        </p:txBody>
      </p:sp>
      <p:sp>
        <p:nvSpPr>
          <p:cNvPr name="TextBox 28" id="28"/>
          <p:cNvSpPr txBox="true"/>
          <p:nvPr/>
        </p:nvSpPr>
        <p:spPr>
          <a:xfrm rot="0">
            <a:off x="609600" y="6191250"/>
            <a:ext cx="9906000" cy="196596"/>
          </a:xfrm>
          <a:prstGeom prst="rect">
            <a:avLst/>
          </a:prstGeom>
        </p:spPr>
        <p:txBody>
          <a:bodyPr anchor="t" rtlCol="false" tIns="0" lIns="0" bIns="0" rIns="0">
            <a:spAutoFit/>
          </a:bodyPr>
          <a:lstStyle/>
          <a:p>
            <a:pPr algn="ctr" marL="0" indent="0" lvl="0">
              <a:lnSpc>
                <a:spcPts val="1647"/>
              </a:lnSpc>
              <a:spcBef>
                <a:spcPct val="0"/>
              </a:spcBef>
            </a:pPr>
            <a:r>
              <a:rPr lang="en-US" sz="1350" strike="noStrike" u="none">
                <a:solidFill>
                  <a:srgbClr val="0A2A66"/>
                </a:solidFill>
                <a:latin typeface="DM Sans"/>
                <a:ea typeface="DM Sans"/>
                <a:cs typeface="DM Sans"/>
                <a:sym typeface="DM Sans"/>
                <a:hlinkClick r:id="rId7" tooltip="https://doi.org/10.1080/00461520.2014.965823"/>
              </a:rPr>
              <a:t>Original Dunlo interactive · Learning design: Chi &amp; Wylie (2014), ICAP framework</a:t>
            </a:r>
          </a:p>
        </p:txBody>
      </p:sp>
      <p:sp>
        <p:nvSpPr>
          <p:cNvPr name="TextBox 29" id="29"/>
          <p:cNvSpPr txBox="true"/>
          <p:nvPr/>
        </p:nvSpPr>
        <p:spPr>
          <a:xfrm rot="0">
            <a:off x="609600" y="1600200"/>
            <a:ext cx="10972800" cy="299656"/>
          </a:xfrm>
          <a:prstGeom prst="rect">
            <a:avLst/>
          </a:prstGeom>
        </p:spPr>
        <p:txBody>
          <a:bodyPr anchor="t" rtlCol="false" tIns="0" lIns="0" bIns="0" rIns="0">
            <a:spAutoFit/>
          </a:bodyPr>
          <a:lstStyle/>
          <a:p>
            <a:pPr algn="l" marL="0" indent="0" lvl="0">
              <a:lnSpc>
                <a:spcPts val="2470"/>
              </a:lnSpc>
              <a:spcBef>
                <a:spcPct val="0"/>
              </a:spcBef>
            </a:pPr>
            <a:r>
              <a:rPr lang="en-US" sz="2025" strike="noStrike" u="none">
                <a:solidFill>
                  <a:srgbClr val="0A2A66"/>
                </a:solidFill>
                <a:latin typeface="DM Sans"/>
                <a:ea typeface="DM Sans"/>
                <a:cs typeface="DM Sans"/>
                <a:sym typeface="DM Sans"/>
              </a:rPr>
              <a:t>Example: move the four areas to see why the middle terms combine.</a:t>
            </a:r>
          </a:p>
        </p:txBody>
      </p:sp>
      <p:sp>
        <p:nvSpPr>
          <p:cNvPr name="AutoShape 30" id="30"/>
          <p:cNvSpPr/>
          <p:nvPr/>
        </p:nvSpPr>
        <p:spPr>
          <a:xfrm>
            <a:off x="609600" y="1381125"/>
            <a:ext cx="10972800" cy="0"/>
          </a:xfrm>
          <a:prstGeom prst="line">
            <a:avLst/>
          </a:prstGeom>
          <a:ln cap="flat" w="19050">
            <a:solidFill>
              <a:srgbClr val="CCD7E4"/>
            </a:solidFill>
            <a:prstDash val="solid"/>
            <a:headEnd type="none" len="sm" w="sm"/>
            <a:tailEnd type="none" len="sm" w="sm"/>
          </a:ln>
        </p:spPr>
      </p:sp>
      <p:sp>
        <p:nvSpPr>
          <p:cNvPr name="Freeform 31" id="31" descr="Dunlo"/>
          <p:cNvSpPr/>
          <p:nvPr/>
        </p:nvSpPr>
        <p:spPr>
          <a:xfrm flipH="false" flipV="false" rot="0">
            <a:off x="609600" y="38100"/>
            <a:ext cx="1571625" cy="521160"/>
          </a:xfrm>
          <a:custGeom>
            <a:avLst/>
            <a:gdLst/>
            <a:ahLst/>
            <a:cxnLst/>
            <a:rect r="r" b="b" t="t" l="l"/>
            <a:pathLst>
              <a:path h="521160" w="1571625">
                <a:moveTo>
                  <a:pt x="0" y="0"/>
                </a:moveTo>
                <a:lnTo>
                  <a:pt x="1571625" y="0"/>
                </a:lnTo>
                <a:lnTo>
                  <a:pt x="1571625" y="521160"/>
                </a:lnTo>
                <a:lnTo>
                  <a:pt x="0" y="5211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descr="Original Dunlo factor model: four areas x squared, 3x, 4x and 12, with the middle terms combined."/>
          <p:cNvSpPr/>
          <p:nvPr/>
        </p:nvSpPr>
        <p:spPr>
          <a:xfrm flipH="false" flipV="false" rot="0">
            <a:off x="838200" y="2000250"/>
            <a:ext cx="3905250" cy="3813851"/>
          </a:xfrm>
          <a:custGeom>
            <a:avLst/>
            <a:gdLst/>
            <a:ahLst/>
            <a:cxnLst/>
            <a:rect r="r" b="b" t="t" l="l"/>
            <a:pathLst>
              <a:path h="3813851" w="3905250">
                <a:moveTo>
                  <a:pt x="0" y="0"/>
                </a:moveTo>
                <a:lnTo>
                  <a:pt x="3905250" y="0"/>
                </a:lnTo>
                <a:lnTo>
                  <a:pt x="3905250" y="3813851"/>
                </a:lnTo>
                <a:lnTo>
                  <a:pt x="0" y="3813851"/>
                </a:lnTo>
                <a:lnTo>
                  <a:pt x="0" y="0"/>
                </a:lnTo>
                <a:close/>
              </a:path>
            </a:pathLst>
          </a:custGeom>
          <a:blipFill>
            <a:blip r:embed="rId10"/>
            <a:stretch>
              <a:fillRect l="-35" t="0" r="-35" b="0"/>
            </a:stretch>
          </a:blipFill>
        </p:spPr>
      </p:sp>
      <p:sp>
        <p:nvSpPr>
          <p:cNvPr name="Freeform 33" id="33"/>
          <p:cNvSpPr/>
          <p:nvPr/>
        </p:nvSpPr>
        <p:spPr>
          <a:xfrm flipH="false" flipV="false" rot="0">
            <a:off x="9429750" y="323850"/>
            <a:ext cx="2152650" cy="133350"/>
          </a:xfrm>
          <a:custGeom>
            <a:avLst/>
            <a:gdLst/>
            <a:ahLst/>
            <a:cxnLst/>
            <a:rect r="r" b="b" t="t" l="l"/>
            <a:pathLst>
              <a:path h="133350" w="2152650">
                <a:moveTo>
                  <a:pt x="0" y="0"/>
                </a:moveTo>
                <a:lnTo>
                  <a:pt x="2152650" y="0"/>
                </a:lnTo>
                <a:lnTo>
                  <a:pt x="2152650" y="133350"/>
                </a:lnTo>
                <a:lnTo>
                  <a:pt x="0" y="133350"/>
                </a:lnTo>
                <a:lnTo>
                  <a:pt x="0" y="0"/>
                </a:lnTo>
                <a:close/>
              </a:path>
            </a:pathLst>
          </a:custGeom>
          <a:blipFill>
            <a:blip r:embed="rId11">
              <a:extLst>
                <a:ext uri="{96DAC541-7B7A-43D3-8B79-37D633B846F1}">
                  <asvg:svgBlip xmlns:asvg="http://schemas.microsoft.com/office/drawing/2016/SVG/main" r:embed="rId12"/>
                </a:ext>
              </a:extLst>
            </a:blip>
            <a:stretch>
              <a:fillRect l="0" t="-1363" r="0" b="-1363"/>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2192000" cy="6858000"/>
          </a:xfrm>
          <a:prstGeom prst="rect">
            <a:avLst/>
          </a:prstGeom>
          <a:solidFill>
            <a:srgbClr val="FFFFFF"/>
          </a:solidFill>
        </p:spPr>
      </p:sp>
      <p:grpSp>
        <p:nvGrpSpPr>
          <p:cNvPr name="Group 3" id="3"/>
          <p:cNvGrpSpPr/>
          <p:nvPr/>
        </p:nvGrpSpPr>
        <p:grpSpPr>
          <a:xfrm rot="0">
            <a:off x="0" y="0"/>
            <a:ext cx="12192000" cy="6858000"/>
            <a:chOff x="0" y="0"/>
            <a:chExt cx="16256000" cy="9144000"/>
          </a:xfrm>
        </p:grpSpPr>
        <p:sp>
          <p:nvSpPr>
            <p:cNvPr name="Freeform 4" id="4"/>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3"/>
              <a:stretch>
                <a:fillRect l="0" t="0" r="0" b="0"/>
              </a:stretch>
            </a:blipFill>
          </p:spPr>
        </p:sp>
      </p:grpSp>
      <p:grpSp>
        <p:nvGrpSpPr>
          <p:cNvPr name="Group 5" id="5"/>
          <p:cNvGrpSpPr/>
          <p:nvPr/>
        </p:nvGrpSpPr>
        <p:grpSpPr>
          <a:xfrm rot="0">
            <a:off x="0" y="0"/>
            <a:ext cx="12192000" cy="6858000"/>
            <a:chOff x="0" y="0"/>
            <a:chExt cx="16256000" cy="9144000"/>
          </a:xfrm>
        </p:grpSpPr>
        <p:sp>
          <p:nvSpPr>
            <p:cNvPr name="Freeform 6" id="6"/>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887200" y="0"/>
              <a:ext cx="3556000" cy="803656"/>
            </a:xfrm>
            <a:custGeom>
              <a:avLst/>
              <a:gdLst/>
              <a:ahLst/>
              <a:cxnLst/>
              <a:rect r="r" b="b" t="t" l="l"/>
              <a:pathLst>
                <a:path h="803656" w="3556000">
                  <a:moveTo>
                    <a:pt x="0" y="0"/>
                  </a:moveTo>
                  <a:lnTo>
                    <a:pt x="3556000" y="0"/>
                  </a:lnTo>
                  <a:lnTo>
                    <a:pt x="3556000" y="803656"/>
                  </a:lnTo>
                  <a:lnTo>
                    <a:pt x="0" y="803656"/>
                  </a:lnTo>
                  <a:lnTo>
                    <a:pt x="0" y="0"/>
                  </a:lnTo>
                  <a:close/>
                </a:path>
              </a:pathLst>
            </a:custGeom>
            <a:blipFill>
              <a:blip r:embed="rId6"/>
              <a:stretch>
                <a:fillRect l="0" t="0" r="0" b="0"/>
              </a:stretch>
            </a:blipFill>
          </p:spPr>
        </p:sp>
      </p:grpSp>
      <p:sp>
        <p:nvSpPr>
          <p:cNvPr name="TextBox 8" id="8"/>
          <p:cNvSpPr txBox="true"/>
          <p:nvPr/>
        </p:nvSpPr>
        <p:spPr>
          <a:xfrm rot="0">
            <a:off x="11239500" y="6353175"/>
            <a:ext cx="428625" cy="168592"/>
          </a:xfrm>
          <a:prstGeom prst="rect">
            <a:avLst/>
          </a:prstGeom>
        </p:spPr>
        <p:txBody>
          <a:bodyPr anchor="t" rtlCol="false" tIns="0" lIns="0" bIns="0" rIns="0">
            <a:spAutoFit/>
          </a:bodyPr>
          <a:lstStyle/>
          <a:p>
            <a:pPr algn="l" marL="0" indent="0" lvl="0">
              <a:lnSpc>
                <a:spcPts val="1372"/>
              </a:lnSpc>
              <a:spcBef>
                <a:spcPct val="0"/>
              </a:spcBef>
            </a:pPr>
            <a:r>
              <a:rPr lang="en-US" sz="1125" strike="noStrike" u="none">
                <a:solidFill>
                  <a:srgbClr val="0A2A66"/>
                </a:solidFill>
                <a:latin typeface="DM Sans"/>
                <a:ea typeface="DM Sans"/>
                <a:cs typeface="DM Sans"/>
                <a:sym typeface="DM Sans"/>
              </a:rPr>
              <a:t>06</a:t>
            </a:r>
          </a:p>
        </p:txBody>
      </p:sp>
      <p:sp>
        <p:nvSpPr>
          <p:cNvPr name="TextBox 9" id="9"/>
          <p:cNvSpPr txBox="true"/>
          <p:nvPr/>
        </p:nvSpPr>
        <p:spPr>
          <a:xfrm rot="0">
            <a:off x="609600" y="866775"/>
            <a:ext cx="10972800" cy="487299"/>
          </a:xfrm>
          <a:prstGeom prst="rect">
            <a:avLst/>
          </a:prstGeom>
        </p:spPr>
        <p:txBody>
          <a:bodyPr anchor="t" rtlCol="false" tIns="0" lIns="0" bIns="0" rIns="0">
            <a:spAutoFit/>
          </a:bodyPr>
          <a:lstStyle/>
          <a:p>
            <a:pPr algn="l" marL="0" indent="0" lvl="0">
              <a:lnSpc>
                <a:spcPts val="3843"/>
              </a:lnSpc>
              <a:spcBef>
                <a:spcPct val="0"/>
              </a:spcBef>
            </a:pPr>
            <a:r>
              <a:rPr lang="en-US" b="true" sz="3150" strike="noStrike" u="none">
                <a:solidFill>
                  <a:srgbClr val="0A2A66"/>
                </a:solidFill>
                <a:latin typeface="DM Sans Bold"/>
                <a:ea typeface="DM Sans Bold"/>
                <a:cs typeface="DM Sans Bold"/>
                <a:sym typeface="DM Sans Bold"/>
              </a:rPr>
              <a:t>Khan Academy, right in the feed</a:t>
            </a:r>
          </a:p>
        </p:txBody>
      </p:sp>
      <p:sp>
        <p:nvSpPr>
          <p:cNvPr name="TextBox 10" id="10"/>
          <p:cNvSpPr txBox="true"/>
          <p:nvPr/>
        </p:nvSpPr>
        <p:spPr>
          <a:xfrm rot="0">
            <a:off x="609600" y="2143125"/>
            <a:ext cx="5619750" cy="196787"/>
          </a:xfrm>
          <a:prstGeom prst="rect">
            <a:avLst/>
          </a:prstGeom>
        </p:spPr>
        <p:txBody>
          <a:bodyPr anchor="t" rtlCol="false" tIns="0" lIns="0" bIns="0" rIns="0">
            <a:spAutoFit/>
          </a:bodyPr>
          <a:lstStyle/>
          <a:p>
            <a:pPr algn="ctr" marL="0" indent="0" lvl="0">
              <a:lnSpc>
                <a:spcPts val="1555"/>
              </a:lnSpc>
              <a:spcBef>
                <a:spcPct val="0"/>
              </a:spcBef>
            </a:pPr>
            <a:r>
              <a:rPr lang="en-US" sz="1275" strike="noStrike" u="none">
                <a:solidFill>
                  <a:srgbClr val="0A2A66"/>
                </a:solidFill>
                <a:latin typeface="DM Sans"/>
                <a:ea typeface="DM Sans"/>
                <a:cs typeface="DM Sans"/>
                <a:sym typeface="DM Sans"/>
              </a:rPr>
              <a:t>FACTORING · 1 MIN 34 SEC</a:t>
            </a:r>
          </a:p>
        </p:txBody>
      </p:sp>
      <p:sp>
        <p:nvSpPr>
          <p:cNvPr name="TextBox 11" id="11"/>
          <p:cNvSpPr txBox="true"/>
          <p:nvPr/>
        </p:nvSpPr>
        <p:spPr>
          <a:xfrm rot="0">
            <a:off x="609600" y="2781300"/>
            <a:ext cx="5048250" cy="973074"/>
          </a:xfrm>
          <a:prstGeom prst="rect">
            <a:avLst/>
          </a:prstGeom>
        </p:spPr>
        <p:txBody>
          <a:bodyPr anchor="t" rtlCol="false" tIns="0" lIns="0" bIns="0" rIns="0">
            <a:spAutoFit/>
          </a:bodyPr>
          <a:lstStyle/>
          <a:p>
            <a:pPr algn="ctr" marL="0" indent="0" lvl="0">
              <a:lnSpc>
                <a:spcPts val="3843"/>
              </a:lnSpc>
              <a:spcBef>
                <a:spcPct val="0"/>
              </a:spcBef>
            </a:pPr>
            <a:r>
              <a:rPr lang="en-US" sz="3150" strike="noStrike" u="none">
                <a:solidFill>
                  <a:srgbClr val="0A2A66"/>
                </a:solidFill>
                <a:latin typeface="DM Sans"/>
                <a:ea typeface="DM Sans"/>
                <a:cs typeface="DM Sans"/>
                <a:sym typeface="DM Sans"/>
              </a:rPr>
              <a:t>One focused clip.</a:t>
            </a:r>
          </a:p>
          <a:p>
            <a:pPr algn="ctr" marL="0" indent="0" lvl="0">
              <a:lnSpc>
                <a:spcPts val="3843"/>
              </a:lnSpc>
              <a:spcBef>
                <a:spcPct val="0"/>
              </a:spcBef>
            </a:pPr>
            <a:r>
              <a:rPr lang="en-US" sz="3150" strike="noStrike" u="none">
                <a:solidFill>
                  <a:srgbClr val="0A2A66"/>
                </a:solidFill>
                <a:latin typeface="DM Sans"/>
                <a:ea typeface="DM Sans"/>
                <a:cs typeface="DM Sans"/>
                <a:sym typeface="DM Sans"/>
              </a:rPr>
              <a:t>A clear next step.</a:t>
            </a:r>
          </a:p>
        </p:txBody>
      </p:sp>
      <p:sp>
        <p:nvSpPr>
          <p:cNvPr name="TextBox 12" id="12"/>
          <p:cNvSpPr txBox="true"/>
          <p:nvPr/>
        </p:nvSpPr>
        <p:spPr>
          <a:xfrm rot="0">
            <a:off x="609600" y="4105275"/>
            <a:ext cx="5381625" cy="909256"/>
          </a:xfrm>
          <a:prstGeom prst="rect">
            <a:avLst/>
          </a:prstGeom>
        </p:spPr>
        <p:txBody>
          <a:bodyPr anchor="t" rtlCol="false" tIns="0" lIns="0" bIns="0" rIns="0">
            <a:spAutoFit/>
          </a:bodyPr>
          <a:lstStyle/>
          <a:p>
            <a:pPr algn="ctr" marL="0" indent="0" lvl="0">
              <a:lnSpc>
                <a:spcPts val="2470"/>
              </a:lnSpc>
              <a:spcBef>
                <a:spcPct val="0"/>
              </a:spcBef>
            </a:pPr>
            <a:r>
              <a:rPr lang="en-US" sz="2025" strike="noStrike" u="none">
                <a:solidFill>
                  <a:srgbClr val="0A2A66"/>
                </a:solidFill>
                <a:latin typeface="DM Sans"/>
                <a:ea typeface="DM Sans"/>
                <a:cs typeface="DM Sans"/>
                <a:sym typeface="DM Sans"/>
              </a:rPr>
              <a:t>The original Khan video plays in the feed.</a:t>
            </a:r>
          </a:p>
          <a:p>
            <a:pPr algn="ctr" marL="0" indent="0" lvl="0">
              <a:lnSpc>
                <a:spcPts val="2470"/>
              </a:lnSpc>
              <a:spcBef>
                <a:spcPct val="0"/>
              </a:spcBef>
            </a:pPr>
            <a:r>
              <a:rPr lang="en-US" sz="2025" strike="noStrike" u="none">
                <a:solidFill>
                  <a:srgbClr val="0A2A66"/>
                </a:solidFill>
                <a:latin typeface="DM Sans"/>
                <a:ea typeface="DM Sans"/>
                <a:cs typeface="DM Sans"/>
                <a:sym typeface="DM Sans"/>
              </a:rPr>
              <a:t>Learners can open the full lesson,</a:t>
            </a:r>
          </a:p>
          <a:p>
            <a:pPr algn="ctr" marL="0" indent="0" lvl="0">
              <a:lnSpc>
                <a:spcPts val="2470"/>
              </a:lnSpc>
              <a:spcBef>
                <a:spcPct val="0"/>
              </a:spcBef>
            </a:pPr>
            <a:r>
              <a:rPr lang="en-US" sz="2025" strike="noStrike" u="none">
                <a:solidFill>
                  <a:srgbClr val="0A2A66"/>
                </a:solidFill>
                <a:latin typeface="DM Sans"/>
                <a:ea typeface="DM Sans"/>
                <a:cs typeface="DM Sans"/>
                <a:sym typeface="DM Sans"/>
              </a:rPr>
              <a:t>then practise the same skill on Khan.</a:t>
            </a:r>
          </a:p>
        </p:txBody>
      </p:sp>
      <p:sp>
        <p:nvSpPr>
          <p:cNvPr name="TextBox 13" id="13"/>
          <p:cNvSpPr txBox="true"/>
          <p:nvPr/>
        </p:nvSpPr>
        <p:spPr>
          <a:xfrm rot="0">
            <a:off x="609600" y="6134100"/>
            <a:ext cx="10477500" cy="187452"/>
          </a:xfrm>
          <a:prstGeom prst="rect">
            <a:avLst/>
          </a:prstGeom>
        </p:spPr>
        <p:txBody>
          <a:bodyPr anchor="t" rtlCol="false" tIns="0" lIns="0" bIns="0" rIns="0">
            <a:spAutoFit/>
          </a:bodyPr>
          <a:lstStyle/>
          <a:p>
            <a:pPr algn="ctr" marL="0" indent="0" lvl="0">
              <a:lnSpc>
                <a:spcPts val="1464"/>
              </a:lnSpc>
              <a:spcBef>
                <a:spcPct val="0"/>
              </a:spcBef>
            </a:pPr>
            <a:r>
              <a:rPr lang="en-US" sz="1200" strike="noStrike" u="none">
                <a:solidFill>
                  <a:srgbClr val="0A2A66"/>
                </a:solidFill>
                <a:latin typeface="DM Sans"/>
                <a:ea typeface="DM Sans"/>
                <a:cs typeface="DM Sans"/>
                <a:sym typeface="DM Sans"/>
                <a:hlinkClick r:id="rId7" tooltip="https://www.khanacademy.org/math/algebra/x2f8bb11595b61c86:quadratics-multiplying-factoring/x2f8bb11595b61c86:factor-quadratics-intro/v/factoring-simple-quadratic-expression"/>
              </a:rPr>
              <a:t>Source: Khan Academy · Factoring quadratics · 2:22–3:56</a:t>
            </a:r>
          </a:p>
        </p:txBody>
      </p:sp>
      <p:sp>
        <p:nvSpPr>
          <p:cNvPr name="AutoShape 14" id="14"/>
          <p:cNvSpPr/>
          <p:nvPr/>
        </p:nvSpPr>
        <p:spPr>
          <a:xfrm>
            <a:off x="609600" y="1381125"/>
            <a:ext cx="10972800" cy="0"/>
          </a:xfrm>
          <a:prstGeom prst="line">
            <a:avLst/>
          </a:prstGeom>
          <a:ln cap="flat" w="19050">
            <a:solidFill>
              <a:srgbClr val="CCD7E4"/>
            </a:solidFill>
            <a:prstDash val="solid"/>
            <a:headEnd type="none" len="sm" w="sm"/>
            <a:tailEnd type="none" len="sm" w="sm"/>
          </a:ln>
        </p:spPr>
      </p:sp>
      <p:sp>
        <p:nvSpPr>
          <p:cNvPr name="Freeform 15" id="15" descr="Dunlo"/>
          <p:cNvSpPr/>
          <p:nvPr/>
        </p:nvSpPr>
        <p:spPr>
          <a:xfrm flipH="false" flipV="false" rot="0">
            <a:off x="609600" y="38100"/>
            <a:ext cx="1571625" cy="521160"/>
          </a:xfrm>
          <a:custGeom>
            <a:avLst/>
            <a:gdLst/>
            <a:ahLst/>
            <a:cxnLst/>
            <a:rect r="r" b="b" t="t" l="l"/>
            <a:pathLst>
              <a:path h="521160" w="1571625">
                <a:moveTo>
                  <a:pt x="0" y="0"/>
                </a:moveTo>
                <a:lnTo>
                  <a:pt x="1571625" y="0"/>
                </a:lnTo>
                <a:lnTo>
                  <a:pt x="1571625" y="521160"/>
                </a:lnTo>
                <a:lnTo>
                  <a:pt x="0" y="5211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descr="Khan Academy factoring segment with Play, the original time range and full lesson link."/>
          <p:cNvSpPr/>
          <p:nvPr/>
        </p:nvSpPr>
        <p:spPr>
          <a:xfrm flipH="false" flipV="false" rot="0">
            <a:off x="6591300" y="2038350"/>
            <a:ext cx="4286250" cy="4038600"/>
          </a:xfrm>
          <a:custGeom>
            <a:avLst/>
            <a:gdLst/>
            <a:ahLst/>
            <a:cxnLst/>
            <a:rect r="r" b="b" t="t" l="l"/>
            <a:pathLst>
              <a:path h="4038600" w="4286250">
                <a:moveTo>
                  <a:pt x="0" y="0"/>
                </a:moveTo>
                <a:lnTo>
                  <a:pt x="4286250" y="0"/>
                </a:lnTo>
                <a:lnTo>
                  <a:pt x="4286250" y="4038600"/>
                </a:lnTo>
                <a:lnTo>
                  <a:pt x="0" y="4038600"/>
                </a:lnTo>
                <a:lnTo>
                  <a:pt x="0" y="0"/>
                </a:lnTo>
                <a:close/>
              </a:path>
            </a:pathLst>
          </a:custGeom>
          <a:blipFill>
            <a:blip r:embed="rId10"/>
            <a:stretch>
              <a:fillRect l="0" t="-29" r="0" b="-29"/>
            </a:stretch>
          </a:blipFill>
        </p:spPr>
      </p:sp>
      <p:sp>
        <p:nvSpPr>
          <p:cNvPr name="Freeform 17" id="17"/>
          <p:cNvSpPr/>
          <p:nvPr/>
        </p:nvSpPr>
        <p:spPr>
          <a:xfrm flipH="false" flipV="false" rot="0">
            <a:off x="9429750" y="323850"/>
            <a:ext cx="2152650" cy="133350"/>
          </a:xfrm>
          <a:custGeom>
            <a:avLst/>
            <a:gdLst/>
            <a:ahLst/>
            <a:cxnLst/>
            <a:rect r="r" b="b" t="t" l="l"/>
            <a:pathLst>
              <a:path h="133350" w="2152650">
                <a:moveTo>
                  <a:pt x="0" y="0"/>
                </a:moveTo>
                <a:lnTo>
                  <a:pt x="2152650" y="0"/>
                </a:lnTo>
                <a:lnTo>
                  <a:pt x="2152650" y="133350"/>
                </a:lnTo>
                <a:lnTo>
                  <a:pt x="0" y="133350"/>
                </a:lnTo>
                <a:lnTo>
                  <a:pt x="0" y="0"/>
                </a:lnTo>
                <a:close/>
              </a:path>
            </a:pathLst>
          </a:custGeom>
          <a:blipFill>
            <a:blip r:embed="rId11">
              <a:extLst>
                <a:ext uri="{96DAC541-7B7A-43D3-8B79-37D633B846F1}">
                  <asvg:svgBlip xmlns:asvg="http://schemas.microsoft.com/office/drawing/2016/SVG/main" r:embed="rId12"/>
                </a:ext>
              </a:extLst>
            </a:blip>
            <a:stretch>
              <a:fillRect l="0" t="-1363" r="0" b="-1363"/>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2192000" cy="6858000"/>
          </a:xfrm>
          <a:prstGeom prst="rect">
            <a:avLst/>
          </a:prstGeom>
          <a:solidFill>
            <a:srgbClr val="FFFFFF"/>
          </a:solidFill>
        </p:spPr>
      </p:sp>
      <p:grpSp>
        <p:nvGrpSpPr>
          <p:cNvPr name="Group 3" id="3"/>
          <p:cNvGrpSpPr/>
          <p:nvPr/>
        </p:nvGrpSpPr>
        <p:grpSpPr>
          <a:xfrm rot="0">
            <a:off x="0" y="0"/>
            <a:ext cx="12192000" cy="6858000"/>
            <a:chOff x="0" y="0"/>
            <a:chExt cx="16256000" cy="9144000"/>
          </a:xfrm>
        </p:grpSpPr>
        <p:sp>
          <p:nvSpPr>
            <p:cNvPr name="Freeform 4" id="4"/>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3"/>
              <a:stretch>
                <a:fillRect l="0" t="0" r="0" b="0"/>
              </a:stretch>
            </a:blipFill>
          </p:spPr>
        </p:sp>
      </p:grpSp>
      <p:grpSp>
        <p:nvGrpSpPr>
          <p:cNvPr name="Group 5" id="5"/>
          <p:cNvGrpSpPr/>
          <p:nvPr/>
        </p:nvGrpSpPr>
        <p:grpSpPr>
          <a:xfrm rot="0">
            <a:off x="0" y="0"/>
            <a:ext cx="12192000" cy="6858000"/>
            <a:chOff x="0" y="0"/>
            <a:chExt cx="16256000" cy="9144000"/>
          </a:xfrm>
        </p:grpSpPr>
        <p:sp>
          <p:nvSpPr>
            <p:cNvPr name="Freeform 6" id="6"/>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887200" y="0"/>
              <a:ext cx="3556000" cy="803656"/>
            </a:xfrm>
            <a:custGeom>
              <a:avLst/>
              <a:gdLst/>
              <a:ahLst/>
              <a:cxnLst/>
              <a:rect r="r" b="b" t="t" l="l"/>
              <a:pathLst>
                <a:path h="803656" w="3556000">
                  <a:moveTo>
                    <a:pt x="0" y="0"/>
                  </a:moveTo>
                  <a:lnTo>
                    <a:pt x="3556000" y="0"/>
                  </a:lnTo>
                  <a:lnTo>
                    <a:pt x="3556000" y="803656"/>
                  </a:lnTo>
                  <a:lnTo>
                    <a:pt x="0" y="803656"/>
                  </a:lnTo>
                  <a:lnTo>
                    <a:pt x="0" y="0"/>
                  </a:lnTo>
                  <a:close/>
                </a:path>
              </a:pathLst>
            </a:custGeom>
            <a:blipFill>
              <a:blip r:embed="rId6"/>
              <a:stretch>
                <a:fillRect l="0" t="0" r="0" b="0"/>
              </a:stretch>
            </a:blipFill>
          </p:spPr>
        </p:sp>
      </p:grpSp>
      <p:sp>
        <p:nvSpPr>
          <p:cNvPr name="TextBox 8" id="8"/>
          <p:cNvSpPr txBox="true"/>
          <p:nvPr/>
        </p:nvSpPr>
        <p:spPr>
          <a:xfrm rot="0">
            <a:off x="11239500" y="6353175"/>
            <a:ext cx="428625" cy="168592"/>
          </a:xfrm>
          <a:prstGeom prst="rect">
            <a:avLst/>
          </a:prstGeom>
        </p:spPr>
        <p:txBody>
          <a:bodyPr anchor="t" rtlCol="false" tIns="0" lIns="0" bIns="0" rIns="0">
            <a:spAutoFit/>
          </a:bodyPr>
          <a:lstStyle/>
          <a:p>
            <a:pPr algn="l" marL="0" indent="0" lvl="0">
              <a:lnSpc>
                <a:spcPts val="1372"/>
              </a:lnSpc>
              <a:spcBef>
                <a:spcPct val="0"/>
              </a:spcBef>
            </a:pPr>
            <a:r>
              <a:rPr lang="en-US" sz="1125" strike="noStrike" u="none">
                <a:solidFill>
                  <a:srgbClr val="0A2A66"/>
                </a:solidFill>
                <a:latin typeface="DM Sans"/>
                <a:ea typeface="DM Sans"/>
                <a:cs typeface="DM Sans"/>
                <a:sym typeface="DM Sans"/>
              </a:rPr>
              <a:t>07</a:t>
            </a:r>
          </a:p>
        </p:txBody>
      </p:sp>
      <p:sp>
        <p:nvSpPr>
          <p:cNvPr name="TextBox 9" id="9"/>
          <p:cNvSpPr txBox="true"/>
          <p:nvPr/>
        </p:nvSpPr>
        <p:spPr>
          <a:xfrm rot="0">
            <a:off x="609600" y="866775"/>
            <a:ext cx="10972800" cy="487299"/>
          </a:xfrm>
          <a:prstGeom prst="rect">
            <a:avLst/>
          </a:prstGeom>
        </p:spPr>
        <p:txBody>
          <a:bodyPr anchor="t" rtlCol="false" tIns="0" lIns="0" bIns="0" rIns="0">
            <a:spAutoFit/>
          </a:bodyPr>
          <a:lstStyle/>
          <a:p>
            <a:pPr algn="l" marL="0" indent="0" lvl="0">
              <a:lnSpc>
                <a:spcPts val="3843"/>
              </a:lnSpc>
              <a:spcBef>
                <a:spcPct val="0"/>
              </a:spcBef>
            </a:pPr>
            <a:r>
              <a:rPr lang="en-US" b="true" sz="3150" strike="noStrike" u="none">
                <a:solidFill>
                  <a:srgbClr val="0A2A66"/>
                </a:solidFill>
                <a:latin typeface="DM Sans Bold"/>
                <a:ea typeface="DM Sans Bold"/>
                <a:cs typeface="DM Sans Bold"/>
                <a:sym typeface="DM Sans Bold"/>
              </a:rPr>
              <a:t>Useful help when a step is difficult</a:t>
            </a:r>
          </a:p>
        </p:txBody>
      </p:sp>
      <p:grpSp>
        <p:nvGrpSpPr>
          <p:cNvPr name="Group 10" id="10"/>
          <p:cNvGrpSpPr/>
          <p:nvPr/>
        </p:nvGrpSpPr>
        <p:grpSpPr>
          <a:xfrm rot="0">
            <a:off x="1619250" y="2705100"/>
            <a:ext cx="552450" cy="552450"/>
            <a:chOff x="0" y="0"/>
            <a:chExt cx="736600" cy="736600"/>
          </a:xfrm>
        </p:grpSpPr>
        <p:sp>
          <p:nvSpPr>
            <p:cNvPr name="Freeform 11" id="11"/>
            <p:cNvSpPr/>
            <p:nvPr/>
          </p:nvSpPr>
          <p:spPr>
            <a:xfrm flipH="false" flipV="false" rot="0">
              <a:off x="0" y="0"/>
              <a:ext cx="736600" cy="736600"/>
            </a:xfrm>
            <a:custGeom>
              <a:avLst/>
              <a:gdLst/>
              <a:ahLst/>
              <a:cxnLst/>
              <a:rect r="r" b="b" t="t" l="l"/>
              <a:pathLst>
                <a:path h="736600" w="736600">
                  <a:moveTo>
                    <a:pt x="368300" y="0"/>
                  </a:moveTo>
                  <a:cubicBezTo>
                    <a:pt x="571754" y="0"/>
                    <a:pt x="736600" y="164846"/>
                    <a:pt x="736600" y="368300"/>
                  </a:cubicBezTo>
                  <a:cubicBezTo>
                    <a:pt x="736600" y="571754"/>
                    <a:pt x="571754" y="736600"/>
                    <a:pt x="368300" y="736600"/>
                  </a:cubicBezTo>
                  <a:cubicBezTo>
                    <a:pt x="164846" y="736600"/>
                    <a:pt x="0" y="571754"/>
                    <a:pt x="0" y="368300"/>
                  </a:cubicBezTo>
                  <a:cubicBezTo>
                    <a:pt x="0" y="164846"/>
                    <a:pt x="164846" y="0"/>
                    <a:pt x="368300" y="0"/>
                  </a:cubicBezTo>
                  <a:close/>
                </a:path>
              </a:pathLst>
            </a:custGeom>
            <a:solidFill>
              <a:srgbClr val="C96331"/>
            </a:solidFill>
          </p:spPr>
        </p:sp>
      </p:grpSp>
      <p:sp>
        <p:nvSpPr>
          <p:cNvPr name="TextBox 12" id="12"/>
          <p:cNvSpPr txBox="true"/>
          <p:nvPr/>
        </p:nvSpPr>
        <p:spPr>
          <a:xfrm rot="0">
            <a:off x="1704975" y="2800350"/>
            <a:ext cx="381000" cy="280797"/>
          </a:xfrm>
          <a:prstGeom prst="rect">
            <a:avLst/>
          </a:prstGeom>
        </p:spPr>
        <p:txBody>
          <a:bodyPr anchor="t" rtlCol="false" tIns="0" lIns="0" bIns="0" rIns="0">
            <a:spAutoFit/>
          </a:bodyPr>
          <a:lstStyle/>
          <a:p>
            <a:pPr algn="ctr" marL="0" indent="0" lvl="0">
              <a:lnSpc>
                <a:spcPts val="2379"/>
              </a:lnSpc>
              <a:spcBef>
                <a:spcPct val="0"/>
              </a:spcBef>
            </a:pPr>
            <a:r>
              <a:rPr lang="en-US" sz="1950" strike="noStrike" u="none">
                <a:solidFill>
                  <a:srgbClr val="0A2A66"/>
                </a:solidFill>
                <a:latin typeface="DM Sans"/>
                <a:ea typeface="DM Sans"/>
                <a:cs typeface="DM Sans"/>
                <a:sym typeface="DM Sans"/>
              </a:rPr>
              <a:t>1</a:t>
            </a:r>
          </a:p>
        </p:txBody>
      </p:sp>
      <p:sp>
        <p:nvSpPr>
          <p:cNvPr name="TextBox 13" id="13"/>
          <p:cNvSpPr txBox="true"/>
          <p:nvPr/>
        </p:nvSpPr>
        <p:spPr>
          <a:xfrm rot="0">
            <a:off x="609600" y="3467100"/>
            <a:ext cx="2571750" cy="909256"/>
          </a:xfrm>
          <a:prstGeom prst="rect">
            <a:avLst/>
          </a:prstGeom>
        </p:spPr>
        <p:txBody>
          <a:bodyPr anchor="t" rtlCol="false" tIns="0" lIns="0" bIns="0" rIns="0">
            <a:spAutoFit/>
          </a:bodyPr>
          <a:lstStyle/>
          <a:p>
            <a:pPr algn="ctr" marL="0" indent="0" lvl="0">
              <a:lnSpc>
                <a:spcPts val="2470"/>
              </a:lnSpc>
              <a:spcBef>
                <a:spcPct val="0"/>
              </a:spcBef>
            </a:pPr>
            <a:r>
              <a:rPr lang="en-US" sz="2025" strike="noStrike" u="none">
                <a:solidFill>
                  <a:srgbClr val="0A2A66"/>
                </a:solidFill>
                <a:latin typeface="DM Sans"/>
                <a:ea typeface="DM Sans"/>
                <a:cs typeface="DM Sans"/>
                <a:sym typeface="DM Sans"/>
              </a:rPr>
              <a:t>A short question</a:t>
            </a:r>
          </a:p>
          <a:p>
            <a:pPr algn="ctr" marL="0" indent="0" lvl="0">
              <a:lnSpc>
                <a:spcPts val="2470"/>
              </a:lnSpc>
              <a:spcBef>
                <a:spcPct val="0"/>
              </a:spcBef>
            </a:pPr>
            <a:r>
              <a:rPr lang="en-US" sz="2025" strike="noStrike" u="none">
                <a:solidFill>
                  <a:srgbClr val="0A2A66"/>
                </a:solidFill>
                <a:latin typeface="DM Sans"/>
                <a:ea typeface="DM Sans"/>
                <a:cs typeface="DM Sans"/>
                <a:sym typeface="DM Sans"/>
              </a:rPr>
              <a:t>finds the missing step</a:t>
            </a:r>
          </a:p>
        </p:txBody>
      </p:sp>
      <p:sp>
        <p:nvSpPr>
          <p:cNvPr name="AutoShape 14" id="14"/>
          <p:cNvSpPr/>
          <p:nvPr/>
        </p:nvSpPr>
        <p:spPr>
          <a:xfrm rot="0">
            <a:off x="2838450" y="2962275"/>
            <a:ext cx="838200" cy="38100"/>
          </a:xfrm>
          <a:prstGeom prst="rect">
            <a:avLst/>
          </a:prstGeom>
          <a:solidFill>
            <a:srgbClr val="CCD7E4"/>
          </a:solidFill>
        </p:spPr>
      </p:sp>
      <p:grpSp>
        <p:nvGrpSpPr>
          <p:cNvPr name="Group 15" id="15"/>
          <p:cNvGrpSpPr/>
          <p:nvPr/>
        </p:nvGrpSpPr>
        <p:grpSpPr>
          <a:xfrm rot="1840140">
            <a:off x="3618833" y="2926652"/>
            <a:ext cx="171450" cy="28575"/>
            <a:chOff x="0" y="0"/>
            <a:chExt cx="228600" cy="38100"/>
          </a:xfrm>
        </p:grpSpPr>
        <p:sp>
          <p:nvSpPr>
            <p:cNvPr name="Freeform 16" id="16"/>
            <p:cNvSpPr/>
            <p:nvPr/>
          </p:nvSpPr>
          <p:spPr>
            <a:xfrm flipH="false" flipV="false" rot="0">
              <a:off x="0" y="0"/>
              <a:ext cx="228600" cy="38100"/>
            </a:xfrm>
            <a:custGeom>
              <a:avLst/>
              <a:gdLst/>
              <a:ahLst/>
              <a:cxnLst/>
              <a:rect r="r" b="b" t="t" l="l"/>
              <a:pathLst>
                <a:path h="38100" w="228600">
                  <a:moveTo>
                    <a:pt x="19050" y="0"/>
                  </a:moveTo>
                  <a:lnTo>
                    <a:pt x="209550" y="0"/>
                  </a:lnTo>
                  <a:cubicBezTo>
                    <a:pt x="220091" y="0"/>
                    <a:pt x="228600" y="8509"/>
                    <a:pt x="228600" y="19050"/>
                  </a:cubicBezTo>
                  <a:cubicBezTo>
                    <a:pt x="228600" y="29591"/>
                    <a:pt x="220091" y="38100"/>
                    <a:pt x="209550" y="38100"/>
                  </a:cubicBezTo>
                  <a:lnTo>
                    <a:pt x="19050" y="38100"/>
                  </a:lnTo>
                  <a:cubicBezTo>
                    <a:pt x="8509" y="38100"/>
                    <a:pt x="0" y="29591"/>
                    <a:pt x="0" y="19050"/>
                  </a:cubicBezTo>
                  <a:cubicBezTo>
                    <a:pt x="0" y="8509"/>
                    <a:pt x="8509" y="0"/>
                    <a:pt x="19050" y="0"/>
                  </a:cubicBezTo>
                  <a:close/>
                </a:path>
              </a:pathLst>
            </a:custGeom>
            <a:solidFill>
              <a:srgbClr val="CCD7E4"/>
            </a:solidFill>
          </p:spPr>
        </p:sp>
      </p:grpSp>
      <p:grpSp>
        <p:nvGrpSpPr>
          <p:cNvPr name="Group 17" id="17"/>
          <p:cNvGrpSpPr/>
          <p:nvPr/>
        </p:nvGrpSpPr>
        <p:grpSpPr>
          <a:xfrm rot="8959860">
            <a:off x="3610737" y="3012376"/>
            <a:ext cx="171450" cy="28575"/>
            <a:chOff x="0" y="0"/>
            <a:chExt cx="228600" cy="38100"/>
          </a:xfrm>
        </p:grpSpPr>
        <p:sp>
          <p:nvSpPr>
            <p:cNvPr name="Freeform 18" id="18"/>
            <p:cNvSpPr/>
            <p:nvPr/>
          </p:nvSpPr>
          <p:spPr>
            <a:xfrm flipH="false" flipV="false" rot="0">
              <a:off x="0" y="0"/>
              <a:ext cx="228600" cy="38100"/>
            </a:xfrm>
            <a:custGeom>
              <a:avLst/>
              <a:gdLst/>
              <a:ahLst/>
              <a:cxnLst/>
              <a:rect r="r" b="b" t="t" l="l"/>
              <a:pathLst>
                <a:path h="38100" w="228600">
                  <a:moveTo>
                    <a:pt x="19050" y="0"/>
                  </a:moveTo>
                  <a:lnTo>
                    <a:pt x="209550" y="0"/>
                  </a:lnTo>
                  <a:cubicBezTo>
                    <a:pt x="220091" y="0"/>
                    <a:pt x="228600" y="8509"/>
                    <a:pt x="228600" y="19050"/>
                  </a:cubicBezTo>
                  <a:cubicBezTo>
                    <a:pt x="228600" y="29591"/>
                    <a:pt x="220091" y="38100"/>
                    <a:pt x="209550" y="38100"/>
                  </a:cubicBezTo>
                  <a:lnTo>
                    <a:pt x="19050" y="38100"/>
                  </a:lnTo>
                  <a:cubicBezTo>
                    <a:pt x="8509" y="38100"/>
                    <a:pt x="0" y="29591"/>
                    <a:pt x="0" y="19050"/>
                  </a:cubicBezTo>
                  <a:cubicBezTo>
                    <a:pt x="0" y="8509"/>
                    <a:pt x="8509" y="0"/>
                    <a:pt x="19050" y="0"/>
                  </a:cubicBezTo>
                  <a:close/>
                </a:path>
              </a:pathLst>
            </a:custGeom>
            <a:solidFill>
              <a:srgbClr val="CCD7E4"/>
            </a:solidFill>
          </p:spPr>
        </p:sp>
      </p:grpSp>
      <p:grpSp>
        <p:nvGrpSpPr>
          <p:cNvPr name="Group 19" id="19"/>
          <p:cNvGrpSpPr/>
          <p:nvPr/>
        </p:nvGrpSpPr>
        <p:grpSpPr>
          <a:xfrm rot="0">
            <a:off x="5505450" y="2705100"/>
            <a:ext cx="552450" cy="552450"/>
            <a:chOff x="0" y="0"/>
            <a:chExt cx="736600" cy="736600"/>
          </a:xfrm>
        </p:grpSpPr>
        <p:sp>
          <p:nvSpPr>
            <p:cNvPr name="Freeform 20" id="20"/>
            <p:cNvSpPr/>
            <p:nvPr/>
          </p:nvSpPr>
          <p:spPr>
            <a:xfrm flipH="false" flipV="false" rot="0">
              <a:off x="0" y="0"/>
              <a:ext cx="736600" cy="736600"/>
            </a:xfrm>
            <a:custGeom>
              <a:avLst/>
              <a:gdLst/>
              <a:ahLst/>
              <a:cxnLst/>
              <a:rect r="r" b="b" t="t" l="l"/>
              <a:pathLst>
                <a:path h="736600" w="736600">
                  <a:moveTo>
                    <a:pt x="368300" y="0"/>
                  </a:moveTo>
                  <a:cubicBezTo>
                    <a:pt x="571754" y="0"/>
                    <a:pt x="736600" y="164846"/>
                    <a:pt x="736600" y="368300"/>
                  </a:cubicBezTo>
                  <a:cubicBezTo>
                    <a:pt x="736600" y="571754"/>
                    <a:pt x="571754" y="736600"/>
                    <a:pt x="368300" y="736600"/>
                  </a:cubicBezTo>
                  <a:cubicBezTo>
                    <a:pt x="164846" y="736600"/>
                    <a:pt x="0" y="571754"/>
                    <a:pt x="0" y="368300"/>
                  </a:cubicBezTo>
                  <a:cubicBezTo>
                    <a:pt x="0" y="164846"/>
                    <a:pt x="164846" y="0"/>
                    <a:pt x="368300" y="0"/>
                  </a:cubicBezTo>
                  <a:close/>
                </a:path>
              </a:pathLst>
            </a:custGeom>
            <a:solidFill>
              <a:srgbClr val="0A2A66"/>
            </a:solidFill>
          </p:spPr>
        </p:sp>
      </p:grpSp>
      <p:sp>
        <p:nvSpPr>
          <p:cNvPr name="TextBox 21" id="21"/>
          <p:cNvSpPr txBox="true"/>
          <p:nvPr/>
        </p:nvSpPr>
        <p:spPr>
          <a:xfrm rot="0">
            <a:off x="5591175" y="2800350"/>
            <a:ext cx="381000" cy="280797"/>
          </a:xfrm>
          <a:prstGeom prst="rect">
            <a:avLst/>
          </a:prstGeom>
        </p:spPr>
        <p:txBody>
          <a:bodyPr anchor="t" rtlCol="false" tIns="0" lIns="0" bIns="0" rIns="0">
            <a:spAutoFit/>
          </a:bodyPr>
          <a:lstStyle/>
          <a:p>
            <a:pPr algn="ctr" marL="0" indent="0" lvl="0">
              <a:lnSpc>
                <a:spcPts val="2379"/>
              </a:lnSpc>
              <a:spcBef>
                <a:spcPct val="0"/>
              </a:spcBef>
            </a:pPr>
            <a:r>
              <a:rPr lang="en-US" sz="1950" strike="noStrike" u="none">
                <a:solidFill>
                  <a:srgbClr val="FFFFFF"/>
                </a:solidFill>
                <a:latin typeface="DM Sans"/>
                <a:ea typeface="DM Sans"/>
                <a:cs typeface="DM Sans"/>
                <a:sym typeface="DM Sans"/>
              </a:rPr>
              <a:t>2</a:t>
            </a:r>
          </a:p>
        </p:txBody>
      </p:sp>
      <p:sp>
        <p:nvSpPr>
          <p:cNvPr name="TextBox 22" id="22"/>
          <p:cNvSpPr txBox="true"/>
          <p:nvPr/>
        </p:nvSpPr>
        <p:spPr>
          <a:xfrm rot="0">
            <a:off x="4495800" y="3467100"/>
            <a:ext cx="2571750" cy="604456"/>
          </a:xfrm>
          <a:prstGeom prst="rect">
            <a:avLst/>
          </a:prstGeom>
        </p:spPr>
        <p:txBody>
          <a:bodyPr anchor="t" rtlCol="false" tIns="0" lIns="0" bIns="0" rIns="0">
            <a:spAutoFit/>
          </a:bodyPr>
          <a:lstStyle/>
          <a:p>
            <a:pPr algn="ctr" marL="0" indent="0" lvl="0">
              <a:lnSpc>
                <a:spcPts val="2470"/>
              </a:lnSpc>
              <a:spcBef>
                <a:spcPct val="0"/>
              </a:spcBef>
            </a:pPr>
            <a:r>
              <a:rPr lang="en-US" sz="2025" strike="noStrike" u="none">
                <a:solidFill>
                  <a:srgbClr val="0A2A66"/>
                </a:solidFill>
                <a:latin typeface="DM Sans"/>
                <a:ea typeface="DM Sans"/>
                <a:cs typeface="DM Sans"/>
                <a:sym typeface="DM Sans"/>
              </a:rPr>
              <a:t>A worked example</a:t>
            </a:r>
          </a:p>
          <a:p>
            <a:pPr algn="ctr" marL="0" indent="0" lvl="0">
              <a:lnSpc>
                <a:spcPts val="2470"/>
              </a:lnSpc>
              <a:spcBef>
                <a:spcPct val="0"/>
              </a:spcBef>
            </a:pPr>
            <a:r>
              <a:rPr lang="en-US" sz="2025" strike="noStrike" u="none">
                <a:solidFill>
                  <a:srgbClr val="0A2A66"/>
                </a:solidFill>
                <a:latin typeface="DM Sans"/>
                <a:ea typeface="DM Sans"/>
                <a:cs typeface="DM Sans"/>
                <a:sym typeface="DM Sans"/>
              </a:rPr>
              <a:t>explains that step</a:t>
            </a:r>
          </a:p>
        </p:txBody>
      </p:sp>
      <p:sp>
        <p:nvSpPr>
          <p:cNvPr name="AutoShape 23" id="23"/>
          <p:cNvSpPr/>
          <p:nvPr/>
        </p:nvSpPr>
        <p:spPr>
          <a:xfrm rot="0">
            <a:off x="6724650" y="2962275"/>
            <a:ext cx="838200" cy="38100"/>
          </a:xfrm>
          <a:prstGeom prst="rect">
            <a:avLst/>
          </a:prstGeom>
          <a:solidFill>
            <a:srgbClr val="CCD7E4"/>
          </a:solidFill>
        </p:spPr>
      </p:sp>
      <p:grpSp>
        <p:nvGrpSpPr>
          <p:cNvPr name="Group 24" id="24"/>
          <p:cNvGrpSpPr/>
          <p:nvPr/>
        </p:nvGrpSpPr>
        <p:grpSpPr>
          <a:xfrm rot="1840140">
            <a:off x="7505033" y="2926652"/>
            <a:ext cx="171450" cy="28575"/>
            <a:chOff x="0" y="0"/>
            <a:chExt cx="228600" cy="38100"/>
          </a:xfrm>
        </p:grpSpPr>
        <p:sp>
          <p:nvSpPr>
            <p:cNvPr name="Freeform 25" id="25"/>
            <p:cNvSpPr/>
            <p:nvPr/>
          </p:nvSpPr>
          <p:spPr>
            <a:xfrm flipH="false" flipV="false" rot="0">
              <a:off x="0" y="0"/>
              <a:ext cx="228600" cy="38100"/>
            </a:xfrm>
            <a:custGeom>
              <a:avLst/>
              <a:gdLst/>
              <a:ahLst/>
              <a:cxnLst/>
              <a:rect r="r" b="b" t="t" l="l"/>
              <a:pathLst>
                <a:path h="38100" w="228600">
                  <a:moveTo>
                    <a:pt x="19050" y="0"/>
                  </a:moveTo>
                  <a:lnTo>
                    <a:pt x="209550" y="0"/>
                  </a:lnTo>
                  <a:cubicBezTo>
                    <a:pt x="220091" y="0"/>
                    <a:pt x="228600" y="8509"/>
                    <a:pt x="228600" y="19050"/>
                  </a:cubicBezTo>
                  <a:cubicBezTo>
                    <a:pt x="228600" y="29591"/>
                    <a:pt x="220091" y="38100"/>
                    <a:pt x="209550" y="38100"/>
                  </a:cubicBezTo>
                  <a:lnTo>
                    <a:pt x="19050" y="38100"/>
                  </a:lnTo>
                  <a:cubicBezTo>
                    <a:pt x="8509" y="38100"/>
                    <a:pt x="0" y="29591"/>
                    <a:pt x="0" y="19050"/>
                  </a:cubicBezTo>
                  <a:cubicBezTo>
                    <a:pt x="0" y="8509"/>
                    <a:pt x="8509" y="0"/>
                    <a:pt x="19050" y="0"/>
                  </a:cubicBezTo>
                  <a:close/>
                </a:path>
              </a:pathLst>
            </a:custGeom>
            <a:solidFill>
              <a:srgbClr val="CCD7E4"/>
            </a:solidFill>
          </p:spPr>
        </p:sp>
      </p:grpSp>
      <p:grpSp>
        <p:nvGrpSpPr>
          <p:cNvPr name="Group 26" id="26"/>
          <p:cNvGrpSpPr/>
          <p:nvPr/>
        </p:nvGrpSpPr>
        <p:grpSpPr>
          <a:xfrm rot="8959860">
            <a:off x="7496937" y="3012376"/>
            <a:ext cx="171450" cy="28575"/>
            <a:chOff x="0" y="0"/>
            <a:chExt cx="228600" cy="38100"/>
          </a:xfrm>
        </p:grpSpPr>
        <p:sp>
          <p:nvSpPr>
            <p:cNvPr name="Freeform 27" id="27"/>
            <p:cNvSpPr/>
            <p:nvPr/>
          </p:nvSpPr>
          <p:spPr>
            <a:xfrm flipH="false" flipV="false" rot="0">
              <a:off x="0" y="0"/>
              <a:ext cx="228600" cy="38100"/>
            </a:xfrm>
            <a:custGeom>
              <a:avLst/>
              <a:gdLst/>
              <a:ahLst/>
              <a:cxnLst/>
              <a:rect r="r" b="b" t="t" l="l"/>
              <a:pathLst>
                <a:path h="38100" w="228600">
                  <a:moveTo>
                    <a:pt x="19050" y="0"/>
                  </a:moveTo>
                  <a:lnTo>
                    <a:pt x="209550" y="0"/>
                  </a:lnTo>
                  <a:cubicBezTo>
                    <a:pt x="220091" y="0"/>
                    <a:pt x="228600" y="8509"/>
                    <a:pt x="228600" y="19050"/>
                  </a:cubicBezTo>
                  <a:cubicBezTo>
                    <a:pt x="228600" y="29591"/>
                    <a:pt x="220091" y="38100"/>
                    <a:pt x="209550" y="38100"/>
                  </a:cubicBezTo>
                  <a:lnTo>
                    <a:pt x="19050" y="38100"/>
                  </a:lnTo>
                  <a:cubicBezTo>
                    <a:pt x="8509" y="38100"/>
                    <a:pt x="0" y="29591"/>
                    <a:pt x="0" y="19050"/>
                  </a:cubicBezTo>
                  <a:cubicBezTo>
                    <a:pt x="0" y="8509"/>
                    <a:pt x="8509" y="0"/>
                    <a:pt x="19050" y="0"/>
                  </a:cubicBezTo>
                  <a:close/>
                </a:path>
              </a:pathLst>
            </a:custGeom>
            <a:solidFill>
              <a:srgbClr val="CCD7E4"/>
            </a:solidFill>
          </p:spPr>
        </p:sp>
      </p:grpSp>
      <p:grpSp>
        <p:nvGrpSpPr>
          <p:cNvPr name="Group 28" id="28"/>
          <p:cNvGrpSpPr/>
          <p:nvPr/>
        </p:nvGrpSpPr>
        <p:grpSpPr>
          <a:xfrm rot="0">
            <a:off x="9391650" y="2705100"/>
            <a:ext cx="552450" cy="552450"/>
            <a:chOff x="0" y="0"/>
            <a:chExt cx="736600" cy="736600"/>
          </a:xfrm>
        </p:grpSpPr>
        <p:sp>
          <p:nvSpPr>
            <p:cNvPr name="Freeform 29" id="29"/>
            <p:cNvSpPr/>
            <p:nvPr/>
          </p:nvSpPr>
          <p:spPr>
            <a:xfrm flipH="false" flipV="false" rot="0">
              <a:off x="0" y="0"/>
              <a:ext cx="736600" cy="736600"/>
            </a:xfrm>
            <a:custGeom>
              <a:avLst/>
              <a:gdLst/>
              <a:ahLst/>
              <a:cxnLst/>
              <a:rect r="r" b="b" t="t" l="l"/>
              <a:pathLst>
                <a:path h="736600" w="736600">
                  <a:moveTo>
                    <a:pt x="368300" y="0"/>
                  </a:moveTo>
                  <a:cubicBezTo>
                    <a:pt x="571754" y="0"/>
                    <a:pt x="736600" y="164846"/>
                    <a:pt x="736600" y="368300"/>
                  </a:cubicBezTo>
                  <a:cubicBezTo>
                    <a:pt x="736600" y="571754"/>
                    <a:pt x="571754" y="736600"/>
                    <a:pt x="368300" y="736600"/>
                  </a:cubicBezTo>
                  <a:cubicBezTo>
                    <a:pt x="164846" y="736600"/>
                    <a:pt x="0" y="571754"/>
                    <a:pt x="0" y="368300"/>
                  </a:cubicBezTo>
                  <a:cubicBezTo>
                    <a:pt x="0" y="164846"/>
                    <a:pt x="164846" y="0"/>
                    <a:pt x="368300" y="0"/>
                  </a:cubicBezTo>
                  <a:close/>
                </a:path>
              </a:pathLst>
            </a:custGeom>
            <a:solidFill>
              <a:srgbClr val="14BF96"/>
            </a:solidFill>
          </p:spPr>
        </p:sp>
      </p:grpSp>
      <p:sp>
        <p:nvSpPr>
          <p:cNvPr name="TextBox 30" id="30"/>
          <p:cNvSpPr txBox="true"/>
          <p:nvPr/>
        </p:nvSpPr>
        <p:spPr>
          <a:xfrm rot="0">
            <a:off x="9477375" y="2800350"/>
            <a:ext cx="381000" cy="280797"/>
          </a:xfrm>
          <a:prstGeom prst="rect">
            <a:avLst/>
          </a:prstGeom>
        </p:spPr>
        <p:txBody>
          <a:bodyPr anchor="t" rtlCol="false" tIns="0" lIns="0" bIns="0" rIns="0">
            <a:spAutoFit/>
          </a:bodyPr>
          <a:lstStyle/>
          <a:p>
            <a:pPr algn="ctr" marL="0" indent="0" lvl="0">
              <a:lnSpc>
                <a:spcPts val="2379"/>
              </a:lnSpc>
              <a:spcBef>
                <a:spcPct val="0"/>
              </a:spcBef>
            </a:pPr>
            <a:r>
              <a:rPr lang="en-US" sz="1950" strike="noStrike" u="none">
                <a:solidFill>
                  <a:srgbClr val="0A2A66"/>
                </a:solidFill>
                <a:latin typeface="DM Sans"/>
                <a:ea typeface="DM Sans"/>
                <a:cs typeface="DM Sans"/>
                <a:sym typeface="DM Sans"/>
              </a:rPr>
              <a:t>3</a:t>
            </a:r>
          </a:p>
        </p:txBody>
      </p:sp>
      <p:sp>
        <p:nvSpPr>
          <p:cNvPr name="TextBox 31" id="31"/>
          <p:cNvSpPr txBox="true"/>
          <p:nvPr/>
        </p:nvSpPr>
        <p:spPr>
          <a:xfrm rot="0">
            <a:off x="8382000" y="3467100"/>
            <a:ext cx="2571750" cy="909256"/>
          </a:xfrm>
          <a:prstGeom prst="rect">
            <a:avLst/>
          </a:prstGeom>
        </p:spPr>
        <p:txBody>
          <a:bodyPr anchor="t" rtlCol="false" tIns="0" lIns="0" bIns="0" rIns="0">
            <a:spAutoFit/>
          </a:bodyPr>
          <a:lstStyle/>
          <a:p>
            <a:pPr algn="ctr" marL="0" indent="0" lvl="0">
              <a:lnSpc>
                <a:spcPts val="2470"/>
              </a:lnSpc>
              <a:spcBef>
                <a:spcPct val="0"/>
              </a:spcBef>
            </a:pPr>
            <a:r>
              <a:rPr lang="en-US" sz="2025" strike="noStrike" u="none">
                <a:solidFill>
                  <a:srgbClr val="0A2A66"/>
                </a:solidFill>
                <a:latin typeface="DM Sans"/>
                <a:ea typeface="DM Sans"/>
                <a:cs typeface="DM Sans"/>
                <a:sym typeface="DM Sans"/>
              </a:rPr>
              <a:t>A new question</a:t>
            </a:r>
          </a:p>
          <a:p>
            <a:pPr algn="ctr" marL="0" indent="0" lvl="0">
              <a:lnSpc>
                <a:spcPts val="2470"/>
              </a:lnSpc>
              <a:spcBef>
                <a:spcPct val="0"/>
              </a:spcBef>
            </a:pPr>
            <a:r>
              <a:rPr lang="en-US" sz="2025" strike="noStrike" u="none">
                <a:solidFill>
                  <a:srgbClr val="0A2A66"/>
                </a:solidFill>
                <a:latin typeface="DM Sans"/>
                <a:ea typeface="DM Sans"/>
                <a:cs typeface="DM Sans"/>
                <a:sym typeface="DM Sans"/>
              </a:rPr>
              <a:t>checks independent use</a:t>
            </a:r>
          </a:p>
        </p:txBody>
      </p:sp>
      <p:sp>
        <p:nvSpPr>
          <p:cNvPr name="TextBox 32" id="32"/>
          <p:cNvSpPr txBox="true"/>
          <p:nvPr/>
        </p:nvSpPr>
        <p:spPr>
          <a:xfrm rot="0">
            <a:off x="609600" y="5010150"/>
            <a:ext cx="10972800" cy="280797"/>
          </a:xfrm>
          <a:prstGeom prst="rect">
            <a:avLst/>
          </a:prstGeom>
        </p:spPr>
        <p:txBody>
          <a:bodyPr anchor="t" rtlCol="false" tIns="0" lIns="0" bIns="0" rIns="0">
            <a:spAutoFit/>
          </a:bodyPr>
          <a:lstStyle/>
          <a:p>
            <a:pPr algn="ctr" marL="0" indent="0" lvl="0">
              <a:lnSpc>
                <a:spcPts val="2379"/>
              </a:lnSpc>
              <a:spcBef>
                <a:spcPct val="0"/>
              </a:spcBef>
            </a:pPr>
            <a:r>
              <a:rPr lang="en-US" sz="1950" strike="noStrike" u="none">
                <a:solidFill>
                  <a:srgbClr val="0A2A66"/>
                </a:solidFill>
                <a:latin typeface="DM Sans"/>
                <a:ea typeface="DM Sans"/>
                <a:cs typeface="DM Sans"/>
                <a:sym typeface="DM Sans"/>
              </a:rPr>
              <a:t>Learners can choose “learn first” or check what they already know.</a:t>
            </a:r>
          </a:p>
        </p:txBody>
      </p:sp>
      <p:sp>
        <p:nvSpPr>
          <p:cNvPr name="TextBox 33" id="33"/>
          <p:cNvSpPr txBox="true"/>
          <p:nvPr/>
        </p:nvSpPr>
        <p:spPr>
          <a:xfrm rot="0">
            <a:off x="609600" y="5467350"/>
            <a:ext cx="10972800" cy="262318"/>
          </a:xfrm>
          <a:prstGeom prst="rect">
            <a:avLst/>
          </a:prstGeom>
        </p:spPr>
        <p:txBody>
          <a:bodyPr anchor="t" rtlCol="false" tIns="0" lIns="0" bIns="0" rIns="0">
            <a:spAutoFit/>
          </a:bodyPr>
          <a:lstStyle/>
          <a:p>
            <a:pPr algn="ctr" marL="0" indent="0" lvl="0">
              <a:lnSpc>
                <a:spcPts val="2104"/>
              </a:lnSpc>
              <a:spcBef>
                <a:spcPct val="0"/>
              </a:spcBef>
            </a:pPr>
            <a:r>
              <a:rPr lang="en-US" sz="1725" strike="noStrike" u="none">
                <a:solidFill>
                  <a:srgbClr val="0A2A66"/>
                </a:solidFill>
                <a:latin typeface="DM Sans"/>
                <a:ea typeface="DM Sans"/>
                <a:cs typeface="DM Sans"/>
                <a:sym typeface="DM Sans"/>
              </a:rPr>
              <a:t>Worked examples guide the attempt; a different question checks what the learner can do next.</a:t>
            </a:r>
          </a:p>
        </p:txBody>
      </p:sp>
      <p:sp>
        <p:nvSpPr>
          <p:cNvPr name="TextBox 34" id="34"/>
          <p:cNvSpPr txBox="true"/>
          <p:nvPr/>
        </p:nvSpPr>
        <p:spPr>
          <a:xfrm rot="0">
            <a:off x="609600" y="6067425"/>
            <a:ext cx="4667250" cy="196787"/>
          </a:xfrm>
          <a:prstGeom prst="rect">
            <a:avLst/>
          </a:prstGeom>
        </p:spPr>
        <p:txBody>
          <a:bodyPr anchor="t" rtlCol="false" tIns="0" lIns="0" bIns="0" rIns="0">
            <a:spAutoFit/>
          </a:bodyPr>
          <a:lstStyle/>
          <a:p>
            <a:pPr algn="l" marL="0" indent="0" lvl="0">
              <a:lnSpc>
                <a:spcPts val="1555"/>
              </a:lnSpc>
              <a:spcBef>
                <a:spcPct val="0"/>
              </a:spcBef>
            </a:pPr>
            <a:r>
              <a:rPr lang="en-US" sz="1275" strike="noStrike" u="none">
                <a:solidFill>
                  <a:srgbClr val="0A2A66"/>
                </a:solidFill>
                <a:latin typeface="DM Sans"/>
                <a:ea typeface="DM Sans"/>
                <a:cs typeface="DM Sans"/>
                <a:sym typeface="DM Sans"/>
                <a:hlinkClick r:id="rId7" tooltip="https://dunlo.vercel.app/demo"/>
              </a:rPr>
              <a:t>See the recovery example</a:t>
            </a:r>
          </a:p>
        </p:txBody>
      </p:sp>
      <p:sp>
        <p:nvSpPr>
          <p:cNvPr name="AutoShape 35" id="35"/>
          <p:cNvSpPr/>
          <p:nvPr/>
        </p:nvSpPr>
        <p:spPr>
          <a:xfrm>
            <a:off x="609600" y="1381125"/>
            <a:ext cx="10972800" cy="0"/>
          </a:xfrm>
          <a:prstGeom prst="line">
            <a:avLst/>
          </a:prstGeom>
          <a:ln cap="flat" w="19050">
            <a:solidFill>
              <a:srgbClr val="CCD7E4"/>
            </a:solidFill>
            <a:prstDash val="solid"/>
            <a:headEnd type="none" len="sm" w="sm"/>
            <a:tailEnd type="none" len="sm" w="sm"/>
          </a:ln>
        </p:spPr>
      </p:sp>
      <p:sp>
        <p:nvSpPr>
          <p:cNvPr name="Freeform 36" id="36" descr="Dunlo"/>
          <p:cNvSpPr/>
          <p:nvPr/>
        </p:nvSpPr>
        <p:spPr>
          <a:xfrm flipH="false" flipV="false" rot="0">
            <a:off x="609600" y="38100"/>
            <a:ext cx="1571625" cy="521160"/>
          </a:xfrm>
          <a:custGeom>
            <a:avLst/>
            <a:gdLst/>
            <a:ahLst/>
            <a:cxnLst/>
            <a:rect r="r" b="b" t="t" l="l"/>
            <a:pathLst>
              <a:path h="521160" w="1571625">
                <a:moveTo>
                  <a:pt x="0" y="0"/>
                </a:moveTo>
                <a:lnTo>
                  <a:pt x="1571625" y="0"/>
                </a:lnTo>
                <a:lnTo>
                  <a:pt x="1571625" y="521160"/>
                </a:lnTo>
                <a:lnTo>
                  <a:pt x="0" y="5211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7" id="37"/>
          <p:cNvSpPr/>
          <p:nvPr/>
        </p:nvSpPr>
        <p:spPr>
          <a:xfrm flipH="false" flipV="false" rot="0">
            <a:off x="9429750" y="323850"/>
            <a:ext cx="2152650" cy="133350"/>
          </a:xfrm>
          <a:custGeom>
            <a:avLst/>
            <a:gdLst/>
            <a:ahLst/>
            <a:cxnLst/>
            <a:rect r="r" b="b" t="t" l="l"/>
            <a:pathLst>
              <a:path h="133350" w="2152650">
                <a:moveTo>
                  <a:pt x="0" y="0"/>
                </a:moveTo>
                <a:lnTo>
                  <a:pt x="2152650" y="0"/>
                </a:lnTo>
                <a:lnTo>
                  <a:pt x="2152650" y="133350"/>
                </a:lnTo>
                <a:lnTo>
                  <a:pt x="0" y="133350"/>
                </a:lnTo>
                <a:lnTo>
                  <a:pt x="0" y="0"/>
                </a:lnTo>
                <a:close/>
              </a:path>
            </a:pathLst>
          </a:custGeom>
          <a:blipFill>
            <a:blip r:embed="rId10">
              <a:extLst>
                <a:ext uri="{96DAC541-7B7A-43D3-8B79-37D633B846F1}">
                  <asvg:svgBlip xmlns:asvg="http://schemas.microsoft.com/office/drawing/2016/SVG/main" r:embed="rId11"/>
                </a:ext>
              </a:extLst>
            </a:blip>
            <a:stretch>
              <a:fillRect l="0" t="-1363" r="0" b="-1363"/>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2192000" cy="6858000"/>
          </a:xfrm>
          <a:prstGeom prst="rect">
            <a:avLst/>
          </a:prstGeom>
          <a:solidFill>
            <a:srgbClr val="FFFFFF"/>
          </a:solidFill>
        </p:spPr>
      </p:sp>
      <p:grpSp>
        <p:nvGrpSpPr>
          <p:cNvPr name="Group 3" id="3"/>
          <p:cNvGrpSpPr/>
          <p:nvPr/>
        </p:nvGrpSpPr>
        <p:grpSpPr>
          <a:xfrm rot="0">
            <a:off x="0" y="0"/>
            <a:ext cx="12192000" cy="6858000"/>
            <a:chOff x="0" y="0"/>
            <a:chExt cx="16256000" cy="9144000"/>
          </a:xfrm>
        </p:grpSpPr>
        <p:sp>
          <p:nvSpPr>
            <p:cNvPr name="Freeform 4" id="4"/>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3"/>
              <a:stretch>
                <a:fillRect l="0" t="0" r="0" b="0"/>
              </a:stretch>
            </a:blipFill>
          </p:spPr>
        </p:sp>
      </p:grpSp>
      <p:grpSp>
        <p:nvGrpSpPr>
          <p:cNvPr name="Group 5" id="5"/>
          <p:cNvGrpSpPr/>
          <p:nvPr/>
        </p:nvGrpSpPr>
        <p:grpSpPr>
          <a:xfrm rot="0">
            <a:off x="0" y="0"/>
            <a:ext cx="12192000" cy="6858000"/>
            <a:chOff x="0" y="0"/>
            <a:chExt cx="16256000" cy="9144000"/>
          </a:xfrm>
        </p:grpSpPr>
        <p:sp>
          <p:nvSpPr>
            <p:cNvPr name="Freeform 6" id="6"/>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887200" y="0"/>
              <a:ext cx="3556000" cy="803656"/>
            </a:xfrm>
            <a:custGeom>
              <a:avLst/>
              <a:gdLst/>
              <a:ahLst/>
              <a:cxnLst/>
              <a:rect r="r" b="b" t="t" l="l"/>
              <a:pathLst>
                <a:path h="803656" w="3556000">
                  <a:moveTo>
                    <a:pt x="0" y="0"/>
                  </a:moveTo>
                  <a:lnTo>
                    <a:pt x="3556000" y="0"/>
                  </a:lnTo>
                  <a:lnTo>
                    <a:pt x="3556000" y="803656"/>
                  </a:lnTo>
                  <a:lnTo>
                    <a:pt x="0" y="803656"/>
                  </a:lnTo>
                  <a:lnTo>
                    <a:pt x="0" y="0"/>
                  </a:lnTo>
                  <a:close/>
                </a:path>
              </a:pathLst>
            </a:custGeom>
            <a:blipFill>
              <a:blip r:embed="rId6"/>
              <a:stretch>
                <a:fillRect l="0" t="0" r="0" b="0"/>
              </a:stretch>
            </a:blipFill>
          </p:spPr>
        </p:sp>
      </p:grpSp>
      <p:grpSp>
        <p:nvGrpSpPr>
          <p:cNvPr name="Group 8" id="8"/>
          <p:cNvGrpSpPr/>
          <p:nvPr/>
        </p:nvGrpSpPr>
        <p:grpSpPr>
          <a:xfrm rot="0">
            <a:off x="609600" y="3648075"/>
            <a:ext cx="7029450" cy="1066800"/>
            <a:chOff x="0" y="0"/>
            <a:chExt cx="9372600" cy="1422400"/>
          </a:xfrm>
        </p:grpSpPr>
        <p:sp>
          <p:nvSpPr>
            <p:cNvPr name="Freeform 9" id="9"/>
            <p:cNvSpPr/>
            <p:nvPr/>
          </p:nvSpPr>
          <p:spPr>
            <a:xfrm flipH="false" flipV="false" rot="0">
              <a:off x="0" y="0"/>
              <a:ext cx="9372600" cy="1422400"/>
            </a:xfrm>
            <a:custGeom>
              <a:avLst/>
              <a:gdLst/>
              <a:ahLst/>
              <a:cxnLst/>
              <a:rect r="r" b="b" t="t" l="l"/>
              <a:pathLst>
                <a:path h="1422400" w="9372600">
                  <a:moveTo>
                    <a:pt x="127000" y="0"/>
                  </a:moveTo>
                  <a:lnTo>
                    <a:pt x="9245600" y="0"/>
                  </a:lnTo>
                  <a:cubicBezTo>
                    <a:pt x="9315704" y="0"/>
                    <a:pt x="9372600" y="56896"/>
                    <a:pt x="9372600" y="127000"/>
                  </a:cubicBezTo>
                  <a:lnTo>
                    <a:pt x="9372600" y="1295400"/>
                  </a:lnTo>
                  <a:cubicBezTo>
                    <a:pt x="9372600" y="1365504"/>
                    <a:pt x="9315704" y="1422400"/>
                    <a:pt x="9245600" y="1422400"/>
                  </a:cubicBezTo>
                  <a:lnTo>
                    <a:pt x="127000" y="1422400"/>
                  </a:lnTo>
                  <a:cubicBezTo>
                    <a:pt x="56896" y="1422400"/>
                    <a:pt x="0" y="1365504"/>
                    <a:pt x="0" y="1295400"/>
                  </a:cubicBezTo>
                  <a:lnTo>
                    <a:pt x="0" y="127000"/>
                  </a:lnTo>
                  <a:cubicBezTo>
                    <a:pt x="0" y="56896"/>
                    <a:pt x="56896" y="0"/>
                    <a:pt x="127000" y="0"/>
                  </a:cubicBezTo>
                  <a:close/>
                </a:path>
              </a:pathLst>
            </a:custGeom>
            <a:solidFill>
              <a:srgbClr val="14BF96"/>
            </a:solidFill>
          </p:spPr>
        </p:sp>
      </p:grpSp>
      <p:grpSp>
        <p:nvGrpSpPr>
          <p:cNvPr name="Group 10" id="10"/>
          <p:cNvGrpSpPr/>
          <p:nvPr/>
        </p:nvGrpSpPr>
        <p:grpSpPr>
          <a:xfrm rot="0">
            <a:off x="9039225" y="2990850"/>
            <a:ext cx="2238375" cy="2238375"/>
            <a:chOff x="0" y="0"/>
            <a:chExt cx="2984500" cy="2984500"/>
          </a:xfrm>
        </p:grpSpPr>
        <p:sp>
          <p:nvSpPr>
            <p:cNvPr name="Freeform 11" id="11"/>
            <p:cNvSpPr/>
            <p:nvPr/>
          </p:nvSpPr>
          <p:spPr>
            <a:xfrm flipH="false" flipV="false" rot="0">
              <a:off x="0" y="0"/>
              <a:ext cx="2984500" cy="2984500"/>
            </a:xfrm>
            <a:custGeom>
              <a:avLst/>
              <a:gdLst/>
              <a:ahLst/>
              <a:cxnLst/>
              <a:rect r="r" b="b" t="t" l="l"/>
              <a:pathLst>
                <a:path h="2984500" w="2984500">
                  <a:moveTo>
                    <a:pt x="0" y="0"/>
                  </a:moveTo>
                  <a:lnTo>
                    <a:pt x="2984500" y="0"/>
                  </a:lnTo>
                  <a:lnTo>
                    <a:pt x="2984500" y="2984500"/>
                  </a:lnTo>
                  <a:lnTo>
                    <a:pt x="0" y="2984500"/>
                  </a:lnTo>
                  <a:lnTo>
                    <a:pt x="0" y="0"/>
                  </a:lnTo>
                  <a:close/>
                </a:path>
              </a:pathLst>
            </a:custGeom>
            <a:blipFill>
              <a:blip r:embed="rId7"/>
              <a:stretch>
                <a:fillRect l="-78303" t="0" r="-78303" b="0"/>
              </a:stretch>
            </a:blipFill>
          </p:spPr>
        </p:sp>
      </p:grpSp>
      <p:sp>
        <p:nvSpPr>
          <p:cNvPr name="AutoShape 12" id="12"/>
          <p:cNvSpPr/>
          <p:nvPr/>
        </p:nvSpPr>
        <p:spPr>
          <a:xfrm>
            <a:off x="609600" y="1381125"/>
            <a:ext cx="10972800" cy="0"/>
          </a:xfrm>
          <a:prstGeom prst="line">
            <a:avLst/>
          </a:prstGeom>
          <a:ln cap="flat" w="19050">
            <a:solidFill>
              <a:srgbClr val="CCD7E4"/>
            </a:solidFill>
            <a:prstDash val="solid"/>
            <a:headEnd type="none" len="sm" w="sm"/>
            <a:tailEnd type="none" len="sm" w="sm"/>
          </a:ln>
        </p:spPr>
      </p:sp>
      <p:sp>
        <p:nvSpPr>
          <p:cNvPr name="Freeform 13" id="13" descr="Scan to open Dunlo at https://dunlo.vercel.app/">
            <a:hlinkClick r:id="rId9" tooltip="https://dunlo.vercel.app"/>
          </p:cNvPr>
          <p:cNvSpPr/>
          <p:nvPr/>
        </p:nvSpPr>
        <p:spPr>
          <a:xfrm flipH="false" flipV="false" rot="0">
            <a:off x="9039225" y="2990850"/>
            <a:ext cx="2238375" cy="2238375"/>
          </a:xfrm>
          <a:custGeom>
            <a:avLst/>
            <a:gdLst/>
            <a:ahLst/>
            <a:cxnLst/>
            <a:rect r="r" b="b" t="t" l="l"/>
            <a:pathLst>
              <a:path h="2238375" w="2238375">
                <a:moveTo>
                  <a:pt x="0" y="0"/>
                </a:moveTo>
                <a:lnTo>
                  <a:pt x="2238375" y="0"/>
                </a:lnTo>
                <a:lnTo>
                  <a:pt x="2238375" y="2238375"/>
                </a:lnTo>
                <a:lnTo>
                  <a:pt x="0" y="2238375"/>
                </a:lnTo>
                <a:lnTo>
                  <a:pt x="0" y="0"/>
                </a:lnTo>
                <a:close/>
              </a:path>
            </a:pathLst>
          </a:custGeom>
          <a:blipFill>
            <a:blip r:embed="rId8"/>
            <a:stretch>
              <a:fillRect l="-4824" t="-4824" r="-4824" b="-4824"/>
            </a:stretch>
          </a:blipFill>
        </p:spPr>
      </p:sp>
      <p:sp>
        <p:nvSpPr>
          <p:cNvPr name="TextBox 14" id="14"/>
          <p:cNvSpPr txBox="true"/>
          <p:nvPr/>
        </p:nvSpPr>
        <p:spPr>
          <a:xfrm rot="0">
            <a:off x="11239500" y="6353175"/>
            <a:ext cx="428625" cy="168592"/>
          </a:xfrm>
          <a:prstGeom prst="rect">
            <a:avLst/>
          </a:prstGeom>
        </p:spPr>
        <p:txBody>
          <a:bodyPr anchor="t" rtlCol="false" tIns="0" lIns="0" bIns="0" rIns="0">
            <a:spAutoFit/>
          </a:bodyPr>
          <a:lstStyle/>
          <a:p>
            <a:pPr algn="l" marL="0" indent="0" lvl="0">
              <a:lnSpc>
                <a:spcPts val="1372"/>
              </a:lnSpc>
              <a:spcBef>
                <a:spcPct val="0"/>
              </a:spcBef>
            </a:pPr>
            <a:r>
              <a:rPr lang="en-US" sz="1125" strike="noStrike" u="none">
                <a:solidFill>
                  <a:srgbClr val="0A2A66"/>
                </a:solidFill>
                <a:latin typeface="DM Sans"/>
                <a:ea typeface="DM Sans"/>
                <a:cs typeface="DM Sans"/>
                <a:sym typeface="DM Sans"/>
              </a:rPr>
              <a:t>08</a:t>
            </a:r>
          </a:p>
        </p:txBody>
      </p:sp>
      <p:sp>
        <p:nvSpPr>
          <p:cNvPr name="TextBox 15" id="15"/>
          <p:cNvSpPr txBox="true"/>
          <p:nvPr/>
        </p:nvSpPr>
        <p:spPr>
          <a:xfrm rot="0">
            <a:off x="609600" y="866775"/>
            <a:ext cx="10972800" cy="505968"/>
          </a:xfrm>
          <a:prstGeom prst="rect">
            <a:avLst/>
          </a:prstGeom>
        </p:spPr>
        <p:txBody>
          <a:bodyPr anchor="t" rtlCol="false" tIns="0" lIns="0" bIns="0" rIns="0">
            <a:spAutoFit/>
          </a:bodyPr>
          <a:lstStyle/>
          <a:p>
            <a:pPr algn="l" marL="0" indent="0" lvl="0">
              <a:lnSpc>
                <a:spcPts val="4026"/>
              </a:lnSpc>
              <a:spcBef>
                <a:spcPct val="0"/>
              </a:spcBef>
            </a:pPr>
            <a:r>
              <a:rPr lang="en-US" b="true" sz="3300" strike="noStrike" u="none">
                <a:solidFill>
                  <a:srgbClr val="0A2A66"/>
                </a:solidFill>
                <a:latin typeface="DM Sans Bold"/>
                <a:ea typeface="DM Sans Bold"/>
                <a:cs typeface="DM Sans Bold"/>
                <a:sym typeface="DM Sans Bold"/>
              </a:rPr>
              <a:t>Try the complete journey</a:t>
            </a:r>
          </a:p>
        </p:txBody>
      </p:sp>
      <p:sp>
        <p:nvSpPr>
          <p:cNvPr name="TextBox 16" id="16"/>
          <p:cNvSpPr txBox="true"/>
          <p:nvPr/>
        </p:nvSpPr>
        <p:spPr>
          <a:xfrm rot="0">
            <a:off x="609600" y="2228850"/>
            <a:ext cx="6858000" cy="651891"/>
          </a:xfrm>
          <a:prstGeom prst="rect">
            <a:avLst/>
          </a:prstGeom>
        </p:spPr>
        <p:txBody>
          <a:bodyPr anchor="t" rtlCol="false" tIns="0" lIns="0" bIns="0" rIns="0">
            <a:spAutoFit/>
          </a:bodyPr>
          <a:lstStyle/>
          <a:p>
            <a:pPr algn="l" marL="0" indent="0" lvl="0">
              <a:lnSpc>
                <a:spcPts val="2562"/>
              </a:lnSpc>
              <a:spcBef>
                <a:spcPct val="0"/>
              </a:spcBef>
            </a:pPr>
            <a:r>
              <a:rPr lang="en-US" sz="2100" strike="noStrike" u="none">
                <a:solidFill>
                  <a:srgbClr val="0A2A66"/>
                </a:solidFill>
                <a:latin typeface="DM Sans"/>
                <a:ea typeface="DM Sans"/>
                <a:cs typeface="DM Sans"/>
                <a:sym typeface="DM Sans"/>
              </a:rPr>
              <a:t>Explore an idea, open Khan practice,</a:t>
            </a:r>
          </a:p>
          <a:p>
            <a:pPr algn="l" marL="0" indent="0" lvl="0">
              <a:lnSpc>
                <a:spcPts val="2562"/>
              </a:lnSpc>
              <a:spcBef>
                <a:spcPct val="0"/>
              </a:spcBef>
            </a:pPr>
            <a:r>
              <a:rPr lang="en-US" sz="2100" strike="noStrike" u="none">
                <a:solidFill>
                  <a:srgbClr val="0A2A66"/>
                </a:solidFill>
                <a:latin typeface="DM Sans"/>
                <a:ea typeface="DM Sans"/>
                <a:cs typeface="DM Sans"/>
                <a:sym typeface="DM Sans"/>
              </a:rPr>
              <a:t>and return for a fresh question.</a:t>
            </a:r>
          </a:p>
        </p:txBody>
      </p:sp>
      <p:sp>
        <p:nvSpPr>
          <p:cNvPr name="TextBox 17" id="17"/>
          <p:cNvSpPr txBox="true"/>
          <p:nvPr/>
        </p:nvSpPr>
        <p:spPr>
          <a:xfrm rot="0">
            <a:off x="819150" y="3857625"/>
            <a:ext cx="6610350" cy="487299"/>
          </a:xfrm>
          <a:prstGeom prst="rect">
            <a:avLst/>
          </a:prstGeom>
        </p:spPr>
        <p:txBody>
          <a:bodyPr anchor="t" rtlCol="false" tIns="0" lIns="0" bIns="0" rIns="0">
            <a:spAutoFit/>
          </a:bodyPr>
          <a:lstStyle/>
          <a:p>
            <a:pPr algn="ctr" marL="0" indent="0" lvl="0">
              <a:lnSpc>
                <a:spcPts val="3843"/>
              </a:lnSpc>
              <a:spcBef>
                <a:spcPct val="0"/>
              </a:spcBef>
            </a:pPr>
            <a:r>
              <a:rPr lang="en-US" b="true" sz="3150" strike="noStrike" u="none">
                <a:solidFill>
                  <a:srgbClr val="0A2A66"/>
                </a:solidFill>
                <a:latin typeface="DM Sans Bold"/>
                <a:ea typeface="DM Sans Bold"/>
                <a:cs typeface="DM Sans Bold"/>
                <a:sym typeface="DM Sans Bold"/>
                <a:hlinkClick r:id="rId10" tooltip="https://dunlo.vercel.app"/>
              </a:rPr>
              <a:t>Try Dunlo</a:t>
            </a:r>
          </a:p>
        </p:txBody>
      </p:sp>
      <p:sp>
        <p:nvSpPr>
          <p:cNvPr name="TextBox 18" id="18"/>
          <p:cNvSpPr txBox="true"/>
          <p:nvPr/>
        </p:nvSpPr>
        <p:spPr>
          <a:xfrm rot="0">
            <a:off x="609600" y="5048250"/>
            <a:ext cx="7029450" cy="271653"/>
          </a:xfrm>
          <a:prstGeom prst="rect">
            <a:avLst/>
          </a:prstGeom>
        </p:spPr>
        <p:txBody>
          <a:bodyPr anchor="t" rtlCol="false" tIns="0" lIns="0" bIns="0" rIns="0">
            <a:spAutoFit/>
          </a:bodyPr>
          <a:lstStyle/>
          <a:p>
            <a:pPr algn="ctr" marL="0" indent="0" lvl="0">
              <a:lnSpc>
                <a:spcPts val="2196"/>
              </a:lnSpc>
              <a:spcBef>
                <a:spcPct val="0"/>
              </a:spcBef>
            </a:pPr>
            <a:r>
              <a:rPr lang="en-US" sz="1800" strike="noStrike" u="sng">
                <a:solidFill>
                  <a:srgbClr val="0A2A66"/>
                </a:solidFill>
                <a:latin typeface="DM Sans"/>
                <a:ea typeface="DM Sans"/>
                <a:cs typeface="DM Sans"/>
                <a:sym typeface="DM Sans"/>
                <a:hlinkClick r:id="rId11" tooltip="https://dunlo.vercel.app"/>
              </a:rPr>
              <a:t>dunlo.vercel.app</a:t>
            </a:r>
          </a:p>
        </p:txBody>
      </p:sp>
      <p:sp>
        <p:nvSpPr>
          <p:cNvPr name="TextBox 19" id="19"/>
          <p:cNvSpPr txBox="true"/>
          <p:nvPr/>
        </p:nvSpPr>
        <p:spPr>
          <a:xfrm rot="0">
            <a:off x="8743950" y="5438775"/>
            <a:ext cx="2828925" cy="280797"/>
          </a:xfrm>
          <a:prstGeom prst="rect">
            <a:avLst/>
          </a:prstGeom>
        </p:spPr>
        <p:txBody>
          <a:bodyPr anchor="t" rtlCol="false" tIns="0" lIns="0" bIns="0" rIns="0">
            <a:spAutoFit/>
          </a:bodyPr>
          <a:lstStyle/>
          <a:p>
            <a:pPr algn="ctr" marL="0" indent="0" lvl="0">
              <a:lnSpc>
                <a:spcPts val="2379"/>
              </a:lnSpc>
              <a:spcBef>
                <a:spcPct val="0"/>
              </a:spcBef>
            </a:pPr>
            <a:r>
              <a:rPr lang="en-US" sz="1950" strike="noStrike" u="none">
                <a:solidFill>
                  <a:srgbClr val="0A2A66"/>
                </a:solidFill>
                <a:latin typeface="DM Sans"/>
                <a:ea typeface="DM Sans"/>
                <a:cs typeface="DM Sans"/>
                <a:sym typeface="DM Sans"/>
              </a:rPr>
              <a:t>Scan to explore</a:t>
            </a:r>
          </a:p>
        </p:txBody>
      </p:sp>
      <p:sp>
        <p:nvSpPr>
          <p:cNvPr name="TextBox 20" id="20"/>
          <p:cNvSpPr txBox="true"/>
          <p:nvPr/>
        </p:nvSpPr>
        <p:spPr>
          <a:xfrm rot="0">
            <a:off x="609600" y="5867400"/>
            <a:ext cx="7620000" cy="234315"/>
          </a:xfrm>
          <a:prstGeom prst="rect">
            <a:avLst/>
          </a:prstGeom>
        </p:spPr>
        <p:txBody>
          <a:bodyPr anchor="t" rtlCol="false" tIns="0" lIns="0" bIns="0" rIns="0">
            <a:spAutoFit/>
          </a:bodyPr>
          <a:lstStyle/>
          <a:p>
            <a:pPr algn="l" marL="0" indent="0" lvl="0">
              <a:lnSpc>
                <a:spcPts val="1830"/>
              </a:lnSpc>
              <a:spcBef>
                <a:spcPct val="0"/>
              </a:spcBef>
            </a:pPr>
            <a:r>
              <a:rPr lang="en-US" sz="1500" strike="noStrike" u="none">
                <a:solidFill>
                  <a:srgbClr val="0A2A66"/>
                </a:solidFill>
                <a:latin typeface="DM Sans"/>
                <a:ea typeface="DM Sans"/>
                <a:cs typeface="DM Sans"/>
                <a:sym typeface="DM Sans"/>
              </a:rPr>
              <a:t>Explore freely, or bring your current learning goal.</a:t>
            </a:r>
          </a:p>
        </p:txBody>
      </p:sp>
      <p:sp>
        <p:nvSpPr>
          <p:cNvPr name="Freeform 21" id="21" descr="Dunlo"/>
          <p:cNvSpPr/>
          <p:nvPr/>
        </p:nvSpPr>
        <p:spPr>
          <a:xfrm flipH="false" flipV="false" rot="0">
            <a:off x="609600" y="38100"/>
            <a:ext cx="1571625" cy="521160"/>
          </a:xfrm>
          <a:custGeom>
            <a:avLst/>
            <a:gdLst/>
            <a:ahLst/>
            <a:cxnLst/>
            <a:rect r="r" b="b" t="t" l="l"/>
            <a:pathLst>
              <a:path h="521160" w="1571625">
                <a:moveTo>
                  <a:pt x="0" y="0"/>
                </a:moveTo>
                <a:lnTo>
                  <a:pt x="1571625" y="0"/>
                </a:lnTo>
                <a:lnTo>
                  <a:pt x="1571625" y="521160"/>
                </a:lnTo>
                <a:lnTo>
                  <a:pt x="0" y="52116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2" id="22"/>
          <p:cNvSpPr/>
          <p:nvPr/>
        </p:nvSpPr>
        <p:spPr>
          <a:xfrm flipH="false" flipV="false" rot="0">
            <a:off x="9429750" y="323850"/>
            <a:ext cx="2152650" cy="133350"/>
          </a:xfrm>
          <a:custGeom>
            <a:avLst/>
            <a:gdLst/>
            <a:ahLst/>
            <a:cxnLst/>
            <a:rect r="r" b="b" t="t" l="l"/>
            <a:pathLst>
              <a:path h="133350" w="2152650">
                <a:moveTo>
                  <a:pt x="0" y="0"/>
                </a:moveTo>
                <a:lnTo>
                  <a:pt x="2152650" y="0"/>
                </a:lnTo>
                <a:lnTo>
                  <a:pt x="2152650" y="133350"/>
                </a:lnTo>
                <a:lnTo>
                  <a:pt x="0" y="133350"/>
                </a:lnTo>
                <a:lnTo>
                  <a:pt x="0" y="0"/>
                </a:lnTo>
                <a:close/>
              </a:path>
            </a:pathLst>
          </a:custGeom>
          <a:blipFill>
            <a:blip r:embed="rId14">
              <a:extLst>
                <a:ext uri="{96DAC541-7B7A-43D3-8B79-37D633B846F1}">
                  <asvg:svgBlip xmlns:asvg="http://schemas.microsoft.com/office/drawing/2016/SVG/main" r:embed="rId15"/>
                </a:ext>
              </a:extLst>
            </a:blip>
            <a:stretch>
              <a:fillRect l="0" t="-1363" r="0" b="-1363"/>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2192000" cy="6858000"/>
          </a:xfrm>
          <a:prstGeom prst="rect">
            <a:avLst/>
          </a:prstGeom>
          <a:solidFill>
            <a:srgbClr val="FFFFFF"/>
          </a:solidFill>
        </p:spPr>
      </p:sp>
      <p:grpSp>
        <p:nvGrpSpPr>
          <p:cNvPr name="Group 3" id="3"/>
          <p:cNvGrpSpPr/>
          <p:nvPr/>
        </p:nvGrpSpPr>
        <p:grpSpPr>
          <a:xfrm rot="0">
            <a:off x="0" y="0"/>
            <a:ext cx="12192000" cy="6858000"/>
            <a:chOff x="0" y="0"/>
            <a:chExt cx="16256000" cy="9144000"/>
          </a:xfrm>
        </p:grpSpPr>
        <p:sp>
          <p:nvSpPr>
            <p:cNvPr name="Freeform 4" id="4"/>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3"/>
              <a:stretch>
                <a:fillRect l="0" t="0" r="0" b="0"/>
              </a:stretch>
            </a:blipFill>
          </p:spPr>
        </p:sp>
      </p:grpSp>
      <p:grpSp>
        <p:nvGrpSpPr>
          <p:cNvPr name="Group 5" id="5"/>
          <p:cNvGrpSpPr/>
          <p:nvPr/>
        </p:nvGrpSpPr>
        <p:grpSpPr>
          <a:xfrm rot="0">
            <a:off x="0" y="0"/>
            <a:ext cx="12192000" cy="6858000"/>
            <a:chOff x="0" y="0"/>
            <a:chExt cx="16256000" cy="9144000"/>
          </a:xfrm>
        </p:grpSpPr>
        <p:sp>
          <p:nvSpPr>
            <p:cNvPr name="Freeform 6" id="6"/>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887200" y="0"/>
              <a:ext cx="3556000" cy="803656"/>
            </a:xfrm>
            <a:custGeom>
              <a:avLst/>
              <a:gdLst/>
              <a:ahLst/>
              <a:cxnLst/>
              <a:rect r="r" b="b" t="t" l="l"/>
              <a:pathLst>
                <a:path h="803656" w="3556000">
                  <a:moveTo>
                    <a:pt x="0" y="0"/>
                  </a:moveTo>
                  <a:lnTo>
                    <a:pt x="3556000" y="0"/>
                  </a:lnTo>
                  <a:lnTo>
                    <a:pt x="3556000" y="803656"/>
                  </a:lnTo>
                  <a:lnTo>
                    <a:pt x="0" y="803656"/>
                  </a:lnTo>
                  <a:lnTo>
                    <a:pt x="0" y="0"/>
                  </a:lnTo>
                  <a:close/>
                </a:path>
              </a:pathLst>
            </a:custGeom>
            <a:blipFill>
              <a:blip r:embed="rId6"/>
              <a:stretch>
                <a:fillRect l="0" t="0" r="0" b="0"/>
              </a:stretch>
            </a:blipFill>
          </p:spPr>
        </p:sp>
      </p:grpSp>
      <p:sp>
        <p:nvSpPr>
          <p:cNvPr name="TextBox 8" id="8"/>
          <p:cNvSpPr txBox="true"/>
          <p:nvPr/>
        </p:nvSpPr>
        <p:spPr>
          <a:xfrm rot="0">
            <a:off x="11239500" y="6353175"/>
            <a:ext cx="428625" cy="168592"/>
          </a:xfrm>
          <a:prstGeom prst="rect">
            <a:avLst/>
          </a:prstGeom>
        </p:spPr>
        <p:txBody>
          <a:bodyPr anchor="t" rtlCol="false" tIns="0" lIns="0" bIns="0" rIns="0">
            <a:spAutoFit/>
          </a:bodyPr>
          <a:lstStyle/>
          <a:p>
            <a:pPr algn="l" marL="0" indent="0" lvl="0">
              <a:lnSpc>
                <a:spcPts val="1372"/>
              </a:lnSpc>
              <a:spcBef>
                <a:spcPct val="0"/>
              </a:spcBef>
            </a:pPr>
            <a:r>
              <a:rPr lang="en-US" sz="1125" strike="noStrike" u="none">
                <a:solidFill>
                  <a:srgbClr val="0A2A66"/>
                </a:solidFill>
                <a:latin typeface="DM Sans"/>
                <a:ea typeface="DM Sans"/>
                <a:cs typeface="DM Sans"/>
                <a:sym typeface="DM Sans"/>
              </a:rPr>
              <a:t>09</a:t>
            </a:r>
          </a:p>
        </p:txBody>
      </p:sp>
      <p:sp>
        <p:nvSpPr>
          <p:cNvPr name="TextBox 9" id="9"/>
          <p:cNvSpPr txBox="true"/>
          <p:nvPr/>
        </p:nvSpPr>
        <p:spPr>
          <a:xfrm rot="0">
            <a:off x="609600" y="866775"/>
            <a:ext cx="10972800" cy="487299"/>
          </a:xfrm>
          <a:prstGeom prst="rect">
            <a:avLst/>
          </a:prstGeom>
        </p:spPr>
        <p:txBody>
          <a:bodyPr anchor="t" rtlCol="false" tIns="0" lIns="0" bIns="0" rIns="0">
            <a:spAutoFit/>
          </a:bodyPr>
          <a:lstStyle/>
          <a:p>
            <a:pPr algn="l" marL="0" indent="0" lvl="0">
              <a:lnSpc>
                <a:spcPts val="3843"/>
              </a:lnSpc>
              <a:spcBef>
                <a:spcPct val="0"/>
              </a:spcBef>
            </a:pPr>
            <a:r>
              <a:rPr lang="en-US" b="true" sz="3150" strike="noStrike" u="none">
                <a:solidFill>
                  <a:srgbClr val="0A2A66"/>
                </a:solidFill>
                <a:latin typeface="DM Sans Bold"/>
                <a:ea typeface="DM Sans Bold"/>
                <a:cs typeface="DM Sans Bold"/>
                <a:sym typeface="DM Sans Bold"/>
              </a:rPr>
              <a:t>Khan learning has a clear continuation</a:t>
            </a:r>
          </a:p>
        </p:txBody>
      </p:sp>
      <p:sp>
        <p:nvSpPr>
          <p:cNvPr name="TextBox 10" id="10"/>
          <p:cNvSpPr txBox="true"/>
          <p:nvPr/>
        </p:nvSpPr>
        <p:spPr>
          <a:xfrm rot="0">
            <a:off x="609600" y="1676400"/>
            <a:ext cx="10972800" cy="280797"/>
          </a:xfrm>
          <a:prstGeom prst="rect">
            <a:avLst/>
          </a:prstGeom>
        </p:spPr>
        <p:txBody>
          <a:bodyPr anchor="t" rtlCol="false" tIns="0" lIns="0" bIns="0" rIns="0">
            <a:spAutoFit/>
          </a:bodyPr>
          <a:lstStyle/>
          <a:p>
            <a:pPr algn="l" marL="0" indent="0" lvl="0">
              <a:lnSpc>
                <a:spcPts val="2379"/>
              </a:lnSpc>
              <a:spcBef>
                <a:spcPct val="0"/>
              </a:spcBef>
            </a:pPr>
            <a:r>
              <a:rPr lang="en-US" sz="1950" strike="noStrike" u="none">
                <a:solidFill>
                  <a:srgbClr val="0A2A66"/>
                </a:solidFill>
                <a:latin typeface="DM Sans"/>
                <a:ea typeface="DM Sans"/>
                <a:cs typeface="DM Sans"/>
                <a:sym typeface="DM Sans"/>
              </a:rPr>
              <a:t>The same idea connects discovery, practice and review.</a:t>
            </a:r>
          </a:p>
        </p:txBody>
      </p:sp>
      <p:sp>
        <p:nvSpPr>
          <p:cNvPr name="AutoShape 11" id="11"/>
          <p:cNvSpPr/>
          <p:nvPr/>
        </p:nvSpPr>
        <p:spPr>
          <a:xfrm rot="0">
            <a:off x="1409700" y="3209925"/>
            <a:ext cx="9172575" cy="38100"/>
          </a:xfrm>
          <a:prstGeom prst="rect">
            <a:avLst/>
          </a:prstGeom>
          <a:solidFill>
            <a:srgbClr val="CCD7E4"/>
          </a:solidFill>
        </p:spPr>
      </p:sp>
      <p:grpSp>
        <p:nvGrpSpPr>
          <p:cNvPr name="Group 12" id="12"/>
          <p:cNvGrpSpPr/>
          <p:nvPr/>
        </p:nvGrpSpPr>
        <p:grpSpPr>
          <a:xfrm rot="0">
            <a:off x="1066800" y="2828925"/>
            <a:ext cx="800100" cy="800100"/>
            <a:chOff x="0" y="0"/>
            <a:chExt cx="1066800" cy="1066800"/>
          </a:xfrm>
        </p:grpSpPr>
        <p:sp>
          <p:nvSpPr>
            <p:cNvPr name="Freeform 13" id="13"/>
            <p:cNvSpPr/>
            <p:nvPr/>
          </p:nvSpPr>
          <p:spPr>
            <a:xfrm flipH="false" flipV="false" rot="0">
              <a:off x="0" y="0"/>
              <a:ext cx="1066800" cy="1066800"/>
            </a:xfrm>
            <a:custGeom>
              <a:avLst/>
              <a:gdLst/>
              <a:ahLst/>
              <a:cxnLst/>
              <a:rect r="r" b="b" t="t" l="l"/>
              <a:pathLst>
                <a:path h="1066800" w="1066800">
                  <a:moveTo>
                    <a:pt x="533400" y="0"/>
                  </a:moveTo>
                  <a:cubicBezTo>
                    <a:pt x="828040" y="0"/>
                    <a:pt x="1066800" y="238760"/>
                    <a:pt x="1066800" y="533400"/>
                  </a:cubicBezTo>
                  <a:cubicBezTo>
                    <a:pt x="1066800" y="828040"/>
                    <a:pt x="828040" y="1066800"/>
                    <a:pt x="533400" y="1066800"/>
                  </a:cubicBezTo>
                  <a:cubicBezTo>
                    <a:pt x="238760" y="1066800"/>
                    <a:pt x="0" y="828040"/>
                    <a:pt x="0" y="533400"/>
                  </a:cubicBezTo>
                  <a:cubicBezTo>
                    <a:pt x="0" y="238760"/>
                    <a:pt x="238760" y="0"/>
                    <a:pt x="533400" y="0"/>
                  </a:cubicBezTo>
                  <a:close/>
                </a:path>
              </a:pathLst>
            </a:custGeom>
            <a:solidFill>
              <a:srgbClr val="D9F2EA"/>
            </a:solidFill>
          </p:spPr>
        </p:sp>
      </p:grpSp>
      <p:sp>
        <p:nvSpPr>
          <p:cNvPr name="TextBox 14" id="14"/>
          <p:cNvSpPr txBox="true"/>
          <p:nvPr/>
        </p:nvSpPr>
        <p:spPr>
          <a:xfrm rot="0">
            <a:off x="962025" y="3067050"/>
            <a:ext cx="1009650" cy="243459"/>
          </a:xfrm>
          <a:prstGeom prst="rect">
            <a:avLst/>
          </a:prstGeom>
        </p:spPr>
        <p:txBody>
          <a:bodyPr anchor="t" rtlCol="false" tIns="0" lIns="0" bIns="0" rIns="0">
            <a:spAutoFit/>
          </a:bodyPr>
          <a:lstStyle/>
          <a:p>
            <a:pPr algn="ctr" marL="0" indent="0" lvl="0">
              <a:lnSpc>
                <a:spcPts val="2013"/>
              </a:lnSpc>
              <a:spcBef>
                <a:spcPct val="0"/>
              </a:spcBef>
            </a:pPr>
            <a:r>
              <a:rPr lang="en-US" sz="1650" strike="noStrike" u="none">
                <a:solidFill>
                  <a:srgbClr val="0A2A66"/>
                </a:solidFill>
                <a:latin typeface="DM Sans"/>
                <a:ea typeface="DM Sans"/>
                <a:cs typeface="DM Sans"/>
                <a:sym typeface="DM Sans"/>
              </a:rPr>
              <a:t>IDEA</a:t>
            </a:r>
          </a:p>
        </p:txBody>
      </p:sp>
      <p:sp>
        <p:nvSpPr>
          <p:cNvPr name="TextBox 15" id="15"/>
          <p:cNvSpPr txBox="true"/>
          <p:nvPr/>
        </p:nvSpPr>
        <p:spPr>
          <a:xfrm rot="0">
            <a:off x="609600" y="4067175"/>
            <a:ext cx="2000250" cy="529018"/>
          </a:xfrm>
          <a:prstGeom prst="rect">
            <a:avLst/>
          </a:prstGeom>
        </p:spPr>
        <p:txBody>
          <a:bodyPr anchor="t" rtlCol="false" tIns="0" lIns="0" bIns="0" rIns="0">
            <a:spAutoFit/>
          </a:bodyPr>
          <a:lstStyle/>
          <a:p>
            <a:pPr algn="ctr" marL="0" indent="0" lvl="0">
              <a:lnSpc>
                <a:spcPts val="2104"/>
              </a:lnSpc>
              <a:spcBef>
                <a:spcPct val="0"/>
              </a:spcBef>
            </a:pPr>
            <a:r>
              <a:rPr lang="en-US" sz="1725" strike="noStrike" u="none">
                <a:solidFill>
                  <a:srgbClr val="0A2A66"/>
                </a:solidFill>
                <a:latin typeface="DM Sans"/>
                <a:ea typeface="DM Sans"/>
                <a:cs typeface="DM Sans"/>
                <a:sym typeface="DM Sans"/>
              </a:rPr>
              <a:t>Discover or bring</a:t>
            </a:r>
          </a:p>
          <a:p>
            <a:pPr algn="ctr" marL="0" indent="0" lvl="0">
              <a:lnSpc>
                <a:spcPts val="2104"/>
              </a:lnSpc>
              <a:spcBef>
                <a:spcPct val="0"/>
              </a:spcBef>
            </a:pPr>
            <a:r>
              <a:rPr lang="en-US" sz="1725" strike="noStrike" u="none">
                <a:solidFill>
                  <a:srgbClr val="0A2A66"/>
                </a:solidFill>
                <a:latin typeface="DM Sans"/>
                <a:ea typeface="DM Sans"/>
                <a:cs typeface="DM Sans"/>
                <a:sym typeface="DM Sans"/>
              </a:rPr>
              <a:t>a learning goal</a:t>
            </a:r>
          </a:p>
        </p:txBody>
      </p:sp>
      <p:grpSp>
        <p:nvGrpSpPr>
          <p:cNvPr name="Group 16" id="16"/>
          <p:cNvGrpSpPr/>
          <p:nvPr/>
        </p:nvGrpSpPr>
        <p:grpSpPr>
          <a:xfrm rot="0">
            <a:off x="3352800" y="2828925"/>
            <a:ext cx="800100" cy="800100"/>
            <a:chOff x="0" y="0"/>
            <a:chExt cx="1066800" cy="1066800"/>
          </a:xfrm>
        </p:grpSpPr>
        <p:sp>
          <p:nvSpPr>
            <p:cNvPr name="Freeform 17" id="17"/>
            <p:cNvSpPr/>
            <p:nvPr/>
          </p:nvSpPr>
          <p:spPr>
            <a:xfrm flipH="false" flipV="false" rot="0">
              <a:off x="0" y="0"/>
              <a:ext cx="1066800" cy="1066800"/>
            </a:xfrm>
            <a:custGeom>
              <a:avLst/>
              <a:gdLst/>
              <a:ahLst/>
              <a:cxnLst/>
              <a:rect r="r" b="b" t="t" l="l"/>
              <a:pathLst>
                <a:path h="1066800" w="1066800">
                  <a:moveTo>
                    <a:pt x="533400" y="0"/>
                  </a:moveTo>
                  <a:cubicBezTo>
                    <a:pt x="828040" y="0"/>
                    <a:pt x="1066800" y="238760"/>
                    <a:pt x="1066800" y="533400"/>
                  </a:cubicBezTo>
                  <a:cubicBezTo>
                    <a:pt x="1066800" y="828040"/>
                    <a:pt x="828040" y="1066800"/>
                    <a:pt x="533400" y="1066800"/>
                  </a:cubicBezTo>
                  <a:cubicBezTo>
                    <a:pt x="238760" y="1066800"/>
                    <a:pt x="0" y="828040"/>
                    <a:pt x="0" y="533400"/>
                  </a:cubicBezTo>
                  <a:cubicBezTo>
                    <a:pt x="0" y="238760"/>
                    <a:pt x="238760" y="0"/>
                    <a:pt x="533400" y="0"/>
                  </a:cubicBezTo>
                  <a:close/>
                </a:path>
              </a:pathLst>
            </a:custGeom>
            <a:solidFill>
              <a:srgbClr val="F0EFFF"/>
            </a:solidFill>
          </p:spPr>
        </p:sp>
      </p:grpSp>
      <p:sp>
        <p:nvSpPr>
          <p:cNvPr name="TextBox 18" id="18"/>
          <p:cNvSpPr txBox="true"/>
          <p:nvPr/>
        </p:nvSpPr>
        <p:spPr>
          <a:xfrm rot="0">
            <a:off x="3248025" y="3067050"/>
            <a:ext cx="1009650" cy="243459"/>
          </a:xfrm>
          <a:prstGeom prst="rect">
            <a:avLst/>
          </a:prstGeom>
        </p:spPr>
        <p:txBody>
          <a:bodyPr anchor="t" rtlCol="false" tIns="0" lIns="0" bIns="0" rIns="0">
            <a:spAutoFit/>
          </a:bodyPr>
          <a:lstStyle/>
          <a:p>
            <a:pPr algn="ctr" marL="0" indent="0" lvl="0">
              <a:lnSpc>
                <a:spcPts val="2013"/>
              </a:lnSpc>
              <a:spcBef>
                <a:spcPct val="0"/>
              </a:spcBef>
            </a:pPr>
            <a:r>
              <a:rPr lang="en-US" sz="1650" strike="noStrike" u="none">
                <a:solidFill>
                  <a:srgbClr val="0A2A66"/>
                </a:solidFill>
                <a:latin typeface="DM Sans"/>
                <a:ea typeface="DM Sans"/>
                <a:cs typeface="DM Sans"/>
                <a:sym typeface="DM Sans"/>
              </a:rPr>
              <a:t>LEARN</a:t>
            </a:r>
          </a:p>
        </p:txBody>
      </p:sp>
      <p:sp>
        <p:nvSpPr>
          <p:cNvPr name="TextBox 19" id="19"/>
          <p:cNvSpPr txBox="true"/>
          <p:nvPr/>
        </p:nvSpPr>
        <p:spPr>
          <a:xfrm rot="0">
            <a:off x="2895600" y="4067175"/>
            <a:ext cx="2000250" cy="529018"/>
          </a:xfrm>
          <a:prstGeom prst="rect">
            <a:avLst/>
          </a:prstGeom>
        </p:spPr>
        <p:txBody>
          <a:bodyPr anchor="t" rtlCol="false" tIns="0" lIns="0" bIns="0" rIns="0">
            <a:spAutoFit/>
          </a:bodyPr>
          <a:lstStyle/>
          <a:p>
            <a:pPr algn="ctr" marL="0" indent="0" lvl="0">
              <a:lnSpc>
                <a:spcPts val="2104"/>
              </a:lnSpc>
              <a:spcBef>
                <a:spcPct val="0"/>
              </a:spcBef>
            </a:pPr>
            <a:r>
              <a:rPr lang="en-US" sz="1725" strike="noStrike" u="none">
                <a:solidFill>
                  <a:srgbClr val="0A2A66"/>
                </a:solidFill>
                <a:latin typeface="DM Sans"/>
                <a:ea typeface="DM Sans"/>
                <a:cs typeface="DM Sans"/>
                <a:sym typeface="DM Sans"/>
              </a:rPr>
              <a:t>Open a Khan clip</a:t>
            </a:r>
          </a:p>
          <a:p>
            <a:pPr algn="ctr" marL="0" indent="0" lvl="0">
              <a:lnSpc>
                <a:spcPts val="2104"/>
              </a:lnSpc>
              <a:spcBef>
                <a:spcPct val="0"/>
              </a:spcBef>
            </a:pPr>
            <a:r>
              <a:rPr lang="en-US" sz="1725" strike="noStrike" u="none">
                <a:solidFill>
                  <a:srgbClr val="0A2A66"/>
                </a:solidFill>
                <a:latin typeface="DM Sans"/>
                <a:ea typeface="DM Sans"/>
                <a:cs typeface="DM Sans"/>
                <a:sym typeface="DM Sans"/>
              </a:rPr>
              <a:t>or explanation</a:t>
            </a:r>
          </a:p>
        </p:txBody>
      </p:sp>
      <p:grpSp>
        <p:nvGrpSpPr>
          <p:cNvPr name="Group 20" id="20"/>
          <p:cNvGrpSpPr/>
          <p:nvPr/>
        </p:nvGrpSpPr>
        <p:grpSpPr>
          <a:xfrm rot="0">
            <a:off x="5638800" y="2828925"/>
            <a:ext cx="800100" cy="800100"/>
            <a:chOff x="0" y="0"/>
            <a:chExt cx="1066800" cy="1066800"/>
          </a:xfrm>
        </p:grpSpPr>
        <p:sp>
          <p:nvSpPr>
            <p:cNvPr name="Freeform 21" id="21"/>
            <p:cNvSpPr/>
            <p:nvPr/>
          </p:nvSpPr>
          <p:spPr>
            <a:xfrm flipH="false" flipV="false" rot="0">
              <a:off x="0" y="0"/>
              <a:ext cx="1066800" cy="1066800"/>
            </a:xfrm>
            <a:custGeom>
              <a:avLst/>
              <a:gdLst/>
              <a:ahLst/>
              <a:cxnLst/>
              <a:rect r="r" b="b" t="t" l="l"/>
              <a:pathLst>
                <a:path h="1066800" w="1066800">
                  <a:moveTo>
                    <a:pt x="533400" y="0"/>
                  </a:moveTo>
                  <a:cubicBezTo>
                    <a:pt x="828040" y="0"/>
                    <a:pt x="1066800" y="238760"/>
                    <a:pt x="1066800" y="533400"/>
                  </a:cubicBezTo>
                  <a:cubicBezTo>
                    <a:pt x="1066800" y="828040"/>
                    <a:pt x="828040" y="1066800"/>
                    <a:pt x="533400" y="1066800"/>
                  </a:cubicBezTo>
                  <a:cubicBezTo>
                    <a:pt x="238760" y="1066800"/>
                    <a:pt x="0" y="828040"/>
                    <a:pt x="0" y="533400"/>
                  </a:cubicBezTo>
                  <a:cubicBezTo>
                    <a:pt x="0" y="238760"/>
                    <a:pt x="238760" y="0"/>
                    <a:pt x="533400" y="0"/>
                  </a:cubicBezTo>
                  <a:close/>
                </a:path>
              </a:pathLst>
            </a:custGeom>
            <a:solidFill>
              <a:srgbClr val="D9F2EA"/>
            </a:solidFill>
          </p:spPr>
        </p:sp>
      </p:grpSp>
      <p:sp>
        <p:nvSpPr>
          <p:cNvPr name="TextBox 22" id="22"/>
          <p:cNvSpPr txBox="true"/>
          <p:nvPr/>
        </p:nvSpPr>
        <p:spPr>
          <a:xfrm rot="0">
            <a:off x="5534025" y="3067050"/>
            <a:ext cx="1009650" cy="243459"/>
          </a:xfrm>
          <a:prstGeom prst="rect">
            <a:avLst/>
          </a:prstGeom>
        </p:spPr>
        <p:txBody>
          <a:bodyPr anchor="t" rtlCol="false" tIns="0" lIns="0" bIns="0" rIns="0">
            <a:spAutoFit/>
          </a:bodyPr>
          <a:lstStyle/>
          <a:p>
            <a:pPr algn="ctr" marL="0" indent="0" lvl="0">
              <a:lnSpc>
                <a:spcPts val="2013"/>
              </a:lnSpc>
              <a:spcBef>
                <a:spcPct val="0"/>
              </a:spcBef>
            </a:pPr>
            <a:r>
              <a:rPr lang="en-US" sz="1650" strike="noStrike" u="none">
                <a:solidFill>
                  <a:srgbClr val="0A2A66"/>
                </a:solidFill>
                <a:latin typeface="DM Sans"/>
                <a:ea typeface="DM Sans"/>
                <a:cs typeface="DM Sans"/>
                <a:sym typeface="DM Sans"/>
              </a:rPr>
              <a:t>KHAN</a:t>
            </a:r>
          </a:p>
        </p:txBody>
      </p:sp>
      <p:sp>
        <p:nvSpPr>
          <p:cNvPr name="TextBox 23" id="23"/>
          <p:cNvSpPr txBox="true"/>
          <p:nvPr/>
        </p:nvSpPr>
        <p:spPr>
          <a:xfrm rot="0">
            <a:off x="5181600" y="4067175"/>
            <a:ext cx="2000250" cy="529018"/>
          </a:xfrm>
          <a:prstGeom prst="rect">
            <a:avLst/>
          </a:prstGeom>
        </p:spPr>
        <p:txBody>
          <a:bodyPr anchor="t" rtlCol="false" tIns="0" lIns="0" bIns="0" rIns="0">
            <a:spAutoFit/>
          </a:bodyPr>
          <a:lstStyle/>
          <a:p>
            <a:pPr algn="ctr" marL="0" indent="0" lvl="0">
              <a:lnSpc>
                <a:spcPts val="2104"/>
              </a:lnSpc>
              <a:spcBef>
                <a:spcPct val="0"/>
              </a:spcBef>
            </a:pPr>
            <a:r>
              <a:rPr lang="en-US" sz="1725" strike="noStrike" u="none">
                <a:solidFill>
                  <a:srgbClr val="0A2A66"/>
                </a:solidFill>
                <a:latin typeface="DM Sans"/>
                <a:ea typeface="DM Sans"/>
                <a:cs typeface="DM Sans"/>
                <a:sym typeface="DM Sans"/>
              </a:rPr>
              <a:t>Practise the</a:t>
            </a:r>
          </a:p>
          <a:p>
            <a:pPr algn="ctr" marL="0" indent="0" lvl="0">
              <a:lnSpc>
                <a:spcPts val="2104"/>
              </a:lnSpc>
              <a:spcBef>
                <a:spcPct val="0"/>
              </a:spcBef>
            </a:pPr>
            <a:r>
              <a:rPr lang="en-US" sz="1725" strike="noStrike" u="none">
                <a:solidFill>
                  <a:srgbClr val="0A2A66"/>
                </a:solidFill>
                <a:latin typeface="DM Sans"/>
                <a:ea typeface="DM Sans"/>
                <a:cs typeface="DM Sans"/>
                <a:sym typeface="DM Sans"/>
              </a:rPr>
              <a:t>relevant exercise</a:t>
            </a:r>
          </a:p>
        </p:txBody>
      </p:sp>
      <p:grpSp>
        <p:nvGrpSpPr>
          <p:cNvPr name="Group 24" id="24"/>
          <p:cNvGrpSpPr/>
          <p:nvPr/>
        </p:nvGrpSpPr>
        <p:grpSpPr>
          <a:xfrm rot="0">
            <a:off x="7924800" y="2828925"/>
            <a:ext cx="800100" cy="800100"/>
            <a:chOff x="0" y="0"/>
            <a:chExt cx="1066800" cy="1066800"/>
          </a:xfrm>
        </p:grpSpPr>
        <p:sp>
          <p:nvSpPr>
            <p:cNvPr name="Freeform 25" id="25"/>
            <p:cNvSpPr/>
            <p:nvPr/>
          </p:nvSpPr>
          <p:spPr>
            <a:xfrm flipH="false" flipV="false" rot="0">
              <a:off x="0" y="0"/>
              <a:ext cx="1066800" cy="1066800"/>
            </a:xfrm>
            <a:custGeom>
              <a:avLst/>
              <a:gdLst/>
              <a:ahLst/>
              <a:cxnLst/>
              <a:rect r="r" b="b" t="t" l="l"/>
              <a:pathLst>
                <a:path h="1066800" w="1066800">
                  <a:moveTo>
                    <a:pt x="533400" y="0"/>
                  </a:moveTo>
                  <a:cubicBezTo>
                    <a:pt x="828040" y="0"/>
                    <a:pt x="1066800" y="238760"/>
                    <a:pt x="1066800" y="533400"/>
                  </a:cubicBezTo>
                  <a:cubicBezTo>
                    <a:pt x="1066800" y="828040"/>
                    <a:pt x="828040" y="1066800"/>
                    <a:pt x="533400" y="1066800"/>
                  </a:cubicBezTo>
                  <a:cubicBezTo>
                    <a:pt x="238760" y="1066800"/>
                    <a:pt x="0" y="828040"/>
                    <a:pt x="0" y="533400"/>
                  </a:cubicBezTo>
                  <a:cubicBezTo>
                    <a:pt x="0" y="238760"/>
                    <a:pt x="238760" y="0"/>
                    <a:pt x="533400" y="0"/>
                  </a:cubicBezTo>
                  <a:close/>
                </a:path>
              </a:pathLst>
            </a:custGeom>
            <a:solidFill>
              <a:srgbClr val="F0EFFF"/>
            </a:solidFill>
          </p:spPr>
        </p:sp>
      </p:grpSp>
      <p:sp>
        <p:nvSpPr>
          <p:cNvPr name="TextBox 26" id="26"/>
          <p:cNvSpPr txBox="true"/>
          <p:nvPr/>
        </p:nvSpPr>
        <p:spPr>
          <a:xfrm rot="0">
            <a:off x="7820025" y="3067050"/>
            <a:ext cx="1009650" cy="243459"/>
          </a:xfrm>
          <a:prstGeom prst="rect">
            <a:avLst/>
          </a:prstGeom>
        </p:spPr>
        <p:txBody>
          <a:bodyPr anchor="t" rtlCol="false" tIns="0" lIns="0" bIns="0" rIns="0">
            <a:spAutoFit/>
          </a:bodyPr>
          <a:lstStyle/>
          <a:p>
            <a:pPr algn="ctr" marL="0" indent="0" lvl="0">
              <a:lnSpc>
                <a:spcPts val="2013"/>
              </a:lnSpc>
              <a:spcBef>
                <a:spcPct val="0"/>
              </a:spcBef>
            </a:pPr>
            <a:r>
              <a:rPr lang="en-US" sz="1650" strike="noStrike" u="none">
                <a:solidFill>
                  <a:srgbClr val="0A2A66"/>
                </a:solidFill>
                <a:latin typeface="DM Sans"/>
                <a:ea typeface="DM Sans"/>
                <a:cs typeface="DM Sans"/>
                <a:sym typeface="DM Sans"/>
              </a:rPr>
              <a:t>TRY</a:t>
            </a:r>
          </a:p>
        </p:txBody>
      </p:sp>
      <p:sp>
        <p:nvSpPr>
          <p:cNvPr name="TextBox 27" id="27"/>
          <p:cNvSpPr txBox="true"/>
          <p:nvPr/>
        </p:nvSpPr>
        <p:spPr>
          <a:xfrm rot="0">
            <a:off x="7467600" y="4067175"/>
            <a:ext cx="2000250" cy="795718"/>
          </a:xfrm>
          <a:prstGeom prst="rect">
            <a:avLst/>
          </a:prstGeom>
        </p:spPr>
        <p:txBody>
          <a:bodyPr anchor="t" rtlCol="false" tIns="0" lIns="0" bIns="0" rIns="0">
            <a:spAutoFit/>
          </a:bodyPr>
          <a:lstStyle/>
          <a:p>
            <a:pPr algn="ctr" marL="0" indent="0" lvl="0">
              <a:lnSpc>
                <a:spcPts val="2104"/>
              </a:lnSpc>
              <a:spcBef>
                <a:spcPct val="0"/>
              </a:spcBef>
            </a:pPr>
            <a:r>
              <a:rPr lang="en-US" sz="1725" strike="noStrike" u="none">
                <a:solidFill>
                  <a:srgbClr val="0A2A66"/>
                </a:solidFill>
                <a:latin typeface="DM Sans"/>
                <a:ea typeface="DM Sans"/>
                <a:cs typeface="DM Sans"/>
                <a:sym typeface="DM Sans"/>
              </a:rPr>
              <a:t>Return to a fresh</a:t>
            </a:r>
          </a:p>
          <a:p>
            <a:pPr algn="ctr" marL="0" indent="0" lvl="0">
              <a:lnSpc>
                <a:spcPts val="2104"/>
              </a:lnSpc>
              <a:spcBef>
                <a:spcPct val="0"/>
              </a:spcBef>
            </a:pPr>
            <a:r>
              <a:rPr lang="en-US" sz="1725" strike="noStrike" u="none">
                <a:solidFill>
                  <a:srgbClr val="0A2A66"/>
                </a:solidFill>
                <a:latin typeface="DM Sans"/>
                <a:ea typeface="DM Sans"/>
                <a:cs typeface="DM Sans"/>
                <a:sym typeface="DM Sans"/>
              </a:rPr>
              <a:t>independent question</a:t>
            </a:r>
          </a:p>
        </p:txBody>
      </p:sp>
      <p:grpSp>
        <p:nvGrpSpPr>
          <p:cNvPr name="Group 28" id="28"/>
          <p:cNvGrpSpPr/>
          <p:nvPr/>
        </p:nvGrpSpPr>
        <p:grpSpPr>
          <a:xfrm rot="0">
            <a:off x="10210800" y="2828925"/>
            <a:ext cx="800100" cy="800100"/>
            <a:chOff x="0" y="0"/>
            <a:chExt cx="1066800" cy="1066800"/>
          </a:xfrm>
        </p:grpSpPr>
        <p:sp>
          <p:nvSpPr>
            <p:cNvPr name="Freeform 29" id="29"/>
            <p:cNvSpPr/>
            <p:nvPr/>
          </p:nvSpPr>
          <p:spPr>
            <a:xfrm flipH="false" flipV="false" rot="0">
              <a:off x="0" y="0"/>
              <a:ext cx="1066800" cy="1066800"/>
            </a:xfrm>
            <a:custGeom>
              <a:avLst/>
              <a:gdLst/>
              <a:ahLst/>
              <a:cxnLst/>
              <a:rect r="r" b="b" t="t" l="l"/>
              <a:pathLst>
                <a:path h="1066800" w="1066800">
                  <a:moveTo>
                    <a:pt x="533400" y="0"/>
                  </a:moveTo>
                  <a:cubicBezTo>
                    <a:pt x="828040" y="0"/>
                    <a:pt x="1066800" y="238760"/>
                    <a:pt x="1066800" y="533400"/>
                  </a:cubicBezTo>
                  <a:cubicBezTo>
                    <a:pt x="1066800" y="828040"/>
                    <a:pt x="828040" y="1066800"/>
                    <a:pt x="533400" y="1066800"/>
                  </a:cubicBezTo>
                  <a:cubicBezTo>
                    <a:pt x="238760" y="1066800"/>
                    <a:pt x="0" y="828040"/>
                    <a:pt x="0" y="533400"/>
                  </a:cubicBezTo>
                  <a:cubicBezTo>
                    <a:pt x="0" y="238760"/>
                    <a:pt x="238760" y="0"/>
                    <a:pt x="533400" y="0"/>
                  </a:cubicBezTo>
                  <a:close/>
                </a:path>
              </a:pathLst>
            </a:custGeom>
            <a:solidFill>
              <a:srgbClr val="D9F2EA"/>
            </a:solidFill>
          </p:spPr>
        </p:sp>
      </p:grpSp>
      <p:sp>
        <p:nvSpPr>
          <p:cNvPr name="TextBox 30" id="30"/>
          <p:cNvSpPr txBox="true"/>
          <p:nvPr/>
        </p:nvSpPr>
        <p:spPr>
          <a:xfrm rot="0">
            <a:off x="10106025" y="3067050"/>
            <a:ext cx="1009650" cy="243459"/>
          </a:xfrm>
          <a:prstGeom prst="rect">
            <a:avLst/>
          </a:prstGeom>
        </p:spPr>
        <p:txBody>
          <a:bodyPr anchor="t" rtlCol="false" tIns="0" lIns="0" bIns="0" rIns="0">
            <a:spAutoFit/>
          </a:bodyPr>
          <a:lstStyle/>
          <a:p>
            <a:pPr algn="ctr" marL="0" indent="0" lvl="0">
              <a:lnSpc>
                <a:spcPts val="2013"/>
              </a:lnSpc>
              <a:spcBef>
                <a:spcPct val="0"/>
              </a:spcBef>
            </a:pPr>
            <a:r>
              <a:rPr lang="en-US" sz="1650" strike="noStrike" u="none">
                <a:solidFill>
                  <a:srgbClr val="0A2A66"/>
                </a:solidFill>
                <a:latin typeface="DM Sans"/>
                <a:ea typeface="DM Sans"/>
                <a:cs typeface="DM Sans"/>
                <a:sym typeface="DM Sans"/>
              </a:rPr>
              <a:t>REVISIT</a:t>
            </a:r>
          </a:p>
        </p:txBody>
      </p:sp>
      <p:sp>
        <p:nvSpPr>
          <p:cNvPr name="TextBox 31" id="31"/>
          <p:cNvSpPr txBox="true"/>
          <p:nvPr/>
        </p:nvSpPr>
        <p:spPr>
          <a:xfrm rot="0">
            <a:off x="9753600" y="4067175"/>
            <a:ext cx="2000250" cy="529018"/>
          </a:xfrm>
          <a:prstGeom prst="rect">
            <a:avLst/>
          </a:prstGeom>
        </p:spPr>
        <p:txBody>
          <a:bodyPr anchor="t" rtlCol="false" tIns="0" lIns="0" bIns="0" rIns="0">
            <a:spAutoFit/>
          </a:bodyPr>
          <a:lstStyle/>
          <a:p>
            <a:pPr algn="ctr" marL="0" indent="0" lvl="0">
              <a:lnSpc>
                <a:spcPts val="2104"/>
              </a:lnSpc>
              <a:spcBef>
                <a:spcPct val="0"/>
              </a:spcBef>
            </a:pPr>
            <a:r>
              <a:rPr lang="en-US" sz="1725" strike="noStrike" u="none">
                <a:solidFill>
                  <a:srgbClr val="0A2A66"/>
                </a:solidFill>
                <a:latin typeface="DM Sans"/>
                <a:ea typeface="DM Sans"/>
                <a:cs typeface="DM Sans"/>
                <a:sym typeface="DM Sans"/>
              </a:rPr>
              <a:t>Keep the idea for</a:t>
            </a:r>
          </a:p>
          <a:p>
            <a:pPr algn="ctr" marL="0" indent="0" lvl="0">
              <a:lnSpc>
                <a:spcPts val="2104"/>
              </a:lnSpc>
              <a:spcBef>
                <a:spcPct val="0"/>
              </a:spcBef>
            </a:pPr>
            <a:r>
              <a:rPr lang="en-US" sz="1725" strike="noStrike" u="none">
                <a:solidFill>
                  <a:srgbClr val="0A2A66"/>
                </a:solidFill>
                <a:latin typeface="DM Sans"/>
                <a:ea typeface="DM Sans"/>
                <a:cs typeface="DM Sans"/>
                <a:sym typeface="DM Sans"/>
              </a:rPr>
              <a:t>a later session</a:t>
            </a:r>
          </a:p>
        </p:txBody>
      </p:sp>
      <p:sp>
        <p:nvSpPr>
          <p:cNvPr name="TextBox 32" id="32"/>
          <p:cNvSpPr txBox="true"/>
          <p:nvPr/>
        </p:nvSpPr>
        <p:spPr>
          <a:xfrm rot="0">
            <a:off x="609600" y="5553075"/>
            <a:ext cx="10972800" cy="280988"/>
          </a:xfrm>
          <a:prstGeom prst="rect">
            <a:avLst/>
          </a:prstGeom>
        </p:spPr>
        <p:txBody>
          <a:bodyPr anchor="t" rtlCol="false" tIns="0" lIns="0" bIns="0" rIns="0">
            <a:spAutoFit/>
          </a:bodyPr>
          <a:lstStyle/>
          <a:p>
            <a:pPr algn="l" marL="0" indent="0" lvl="0">
              <a:lnSpc>
                <a:spcPts val="2287"/>
              </a:lnSpc>
              <a:spcBef>
                <a:spcPct val="0"/>
              </a:spcBef>
            </a:pPr>
            <a:r>
              <a:rPr lang="en-US" sz="1875" strike="noStrike" u="none">
                <a:solidFill>
                  <a:srgbClr val="0A2A66"/>
                </a:solidFill>
                <a:latin typeface="DM Sans"/>
                <a:ea typeface="DM Sans"/>
                <a:cs typeface="DM Sans"/>
                <a:sym typeface="DM Sans"/>
              </a:rPr>
              <a:t>Your place is saved when you open Khan practice.</a:t>
            </a:r>
          </a:p>
        </p:txBody>
      </p:sp>
      <p:sp>
        <p:nvSpPr>
          <p:cNvPr name="TextBox 33" id="33"/>
          <p:cNvSpPr txBox="true"/>
          <p:nvPr/>
        </p:nvSpPr>
        <p:spPr>
          <a:xfrm rot="0">
            <a:off x="609600" y="6105525"/>
            <a:ext cx="10572750" cy="187452"/>
          </a:xfrm>
          <a:prstGeom prst="rect">
            <a:avLst/>
          </a:prstGeom>
        </p:spPr>
        <p:txBody>
          <a:bodyPr anchor="t" rtlCol="false" tIns="0" lIns="0" bIns="0" rIns="0">
            <a:spAutoFit/>
          </a:bodyPr>
          <a:lstStyle/>
          <a:p>
            <a:pPr algn="l" marL="0" indent="0" lvl="0">
              <a:lnSpc>
                <a:spcPts val="1464"/>
              </a:lnSpc>
              <a:spcBef>
                <a:spcPct val="0"/>
              </a:spcBef>
            </a:pPr>
            <a:r>
              <a:rPr lang="en-US" sz="1200" strike="noStrike" u="none">
                <a:solidFill>
                  <a:srgbClr val="0A2A66"/>
                </a:solidFill>
                <a:latin typeface="DM Sans"/>
                <a:ea typeface="DM Sans"/>
                <a:cs typeface="DM Sans"/>
                <a:sym typeface="DM Sans"/>
                <a:hlinkClick r:id="rId7" tooltip="https://support.khanacademy.org/hc/en-us/articles/202262954-Can-I-use-Khan-Academy-s-videos-name-materials-links-in-my-project"/>
              </a:rPr>
              <a:t>Khan sources are labelled. Completion reports and fresh answers stay separate.</a:t>
            </a:r>
          </a:p>
        </p:txBody>
      </p:sp>
      <p:sp>
        <p:nvSpPr>
          <p:cNvPr name="AutoShape 34" id="34"/>
          <p:cNvSpPr/>
          <p:nvPr/>
        </p:nvSpPr>
        <p:spPr>
          <a:xfrm>
            <a:off x="609600" y="1381125"/>
            <a:ext cx="10972800" cy="0"/>
          </a:xfrm>
          <a:prstGeom prst="line">
            <a:avLst/>
          </a:prstGeom>
          <a:ln cap="flat" w="19050">
            <a:solidFill>
              <a:srgbClr val="CCD7E4"/>
            </a:solidFill>
            <a:prstDash val="solid"/>
            <a:headEnd type="none" len="sm" w="sm"/>
            <a:tailEnd type="none" len="sm" w="sm"/>
          </a:ln>
        </p:spPr>
      </p:sp>
      <p:sp>
        <p:nvSpPr>
          <p:cNvPr name="Freeform 35" id="35" descr="Dunlo"/>
          <p:cNvSpPr/>
          <p:nvPr/>
        </p:nvSpPr>
        <p:spPr>
          <a:xfrm flipH="false" flipV="false" rot="0">
            <a:off x="609600" y="38100"/>
            <a:ext cx="1571625" cy="521160"/>
          </a:xfrm>
          <a:custGeom>
            <a:avLst/>
            <a:gdLst/>
            <a:ahLst/>
            <a:cxnLst/>
            <a:rect r="r" b="b" t="t" l="l"/>
            <a:pathLst>
              <a:path h="521160" w="1571625">
                <a:moveTo>
                  <a:pt x="0" y="0"/>
                </a:moveTo>
                <a:lnTo>
                  <a:pt x="1571625" y="0"/>
                </a:lnTo>
                <a:lnTo>
                  <a:pt x="1571625" y="521160"/>
                </a:lnTo>
                <a:lnTo>
                  <a:pt x="0" y="5211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6" id="36" descr="Khan Academy learning and practice"/>
          <p:cNvSpPr/>
          <p:nvPr/>
        </p:nvSpPr>
        <p:spPr>
          <a:xfrm flipH="false" flipV="false" rot="0">
            <a:off x="4429125" y="2305050"/>
            <a:ext cx="3333750" cy="530352"/>
          </a:xfrm>
          <a:custGeom>
            <a:avLst/>
            <a:gdLst/>
            <a:ahLst/>
            <a:cxnLst/>
            <a:rect r="r" b="b" t="t" l="l"/>
            <a:pathLst>
              <a:path h="530352" w="3333750">
                <a:moveTo>
                  <a:pt x="0" y="0"/>
                </a:moveTo>
                <a:lnTo>
                  <a:pt x="3333750" y="0"/>
                </a:lnTo>
                <a:lnTo>
                  <a:pt x="3333750" y="530352"/>
                </a:lnTo>
                <a:lnTo>
                  <a:pt x="0" y="530352"/>
                </a:lnTo>
                <a:lnTo>
                  <a:pt x="0" y="0"/>
                </a:lnTo>
                <a:close/>
              </a:path>
            </a:pathLst>
          </a:custGeom>
          <a:blipFill>
            <a:blip r:embed="rId10"/>
            <a:stretch>
              <a:fillRect l="0" t="-1" r="0" b="-1"/>
            </a:stretch>
          </a:blipFill>
        </p:spPr>
      </p:sp>
      <p:sp>
        <p:nvSpPr>
          <p:cNvPr name="Freeform 37" id="37"/>
          <p:cNvSpPr/>
          <p:nvPr/>
        </p:nvSpPr>
        <p:spPr>
          <a:xfrm flipH="false" flipV="false" rot="0">
            <a:off x="9429750" y="323850"/>
            <a:ext cx="2152650" cy="133350"/>
          </a:xfrm>
          <a:custGeom>
            <a:avLst/>
            <a:gdLst/>
            <a:ahLst/>
            <a:cxnLst/>
            <a:rect r="r" b="b" t="t" l="l"/>
            <a:pathLst>
              <a:path h="133350" w="2152650">
                <a:moveTo>
                  <a:pt x="0" y="0"/>
                </a:moveTo>
                <a:lnTo>
                  <a:pt x="2152650" y="0"/>
                </a:lnTo>
                <a:lnTo>
                  <a:pt x="2152650" y="133350"/>
                </a:lnTo>
                <a:lnTo>
                  <a:pt x="0" y="133350"/>
                </a:lnTo>
                <a:lnTo>
                  <a:pt x="0" y="0"/>
                </a:lnTo>
                <a:close/>
              </a:path>
            </a:pathLst>
          </a:custGeom>
          <a:blipFill>
            <a:blip r:embed="rId11">
              <a:extLst>
                <a:ext uri="{96DAC541-7B7A-43D3-8B79-37D633B846F1}">
                  <asvg:svgBlip xmlns:asvg="http://schemas.microsoft.com/office/drawing/2016/SVG/main" r:embed="rId12"/>
                </a:ext>
              </a:extLst>
            </a:blip>
            <a:stretch>
              <a:fillRect l="0" t="-1363" r="0" b="-1363"/>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2192000" cy="6858000"/>
          </a:xfrm>
          <a:prstGeom prst="rect">
            <a:avLst/>
          </a:prstGeom>
          <a:solidFill>
            <a:srgbClr val="FFFFFF"/>
          </a:solidFill>
        </p:spPr>
      </p:sp>
      <p:grpSp>
        <p:nvGrpSpPr>
          <p:cNvPr name="Group 3" id="3"/>
          <p:cNvGrpSpPr/>
          <p:nvPr/>
        </p:nvGrpSpPr>
        <p:grpSpPr>
          <a:xfrm rot="0">
            <a:off x="0" y="0"/>
            <a:ext cx="12192000" cy="6858000"/>
            <a:chOff x="0" y="0"/>
            <a:chExt cx="16256000" cy="9144000"/>
          </a:xfrm>
        </p:grpSpPr>
        <p:sp>
          <p:nvSpPr>
            <p:cNvPr name="Freeform 4" id="4"/>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3"/>
              <a:stretch>
                <a:fillRect l="0" t="0" r="0" b="0"/>
              </a:stretch>
            </a:blipFill>
          </p:spPr>
        </p:sp>
      </p:grpSp>
      <p:grpSp>
        <p:nvGrpSpPr>
          <p:cNvPr name="Group 5" id="5"/>
          <p:cNvGrpSpPr/>
          <p:nvPr/>
        </p:nvGrpSpPr>
        <p:grpSpPr>
          <a:xfrm rot="0">
            <a:off x="0" y="0"/>
            <a:ext cx="12192000" cy="6858000"/>
            <a:chOff x="0" y="0"/>
            <a:chExt cx="16256000" cy="9144000"/>
          </a:xfrm>
        </p:grpSpPr>
        <p:sp>
          <p:nvSpPr>
            <p:cNvPr name="Freeform 6" id="6"/>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887200" y="0"/>
              <a:ext cx="3556000" cy="803656"/>
            </a:xfrm>
            <a:custGeom>
              <a:avLst/>
              <a:gdLst/>
              <a:ahLst/>
              <a:cxnLst/>
              <a:rect r="r" b="b" t="t" l="l"/>
              <a:pathLst>
                <a:path h="803656" w="3556000">
                  <a:moveTo>
                    <a:pt x="0" y="0"/>
                  </a:moveTo>
                  <a:lnTo>
                    <a:pt x="3556000" y="0"/>
                  </a:lnTo>
                  <a:lnTo>
                    <a:pt x="3556000" y="803656"/>
                  </a:lnTo>
                  <a:lnTo>
                    <a:pt x="0" y="803656"/>
                  </a:lnTo>
                  <a:lnTo>
                    <a:pt x="0" y="0"/>
                  </a:lnTo>
                  <a:close/>
                </a:path>
              </a:pathLst>
            </a:custGeom>
            <a:blipFill>
              <a:blip r:embed="rId6"/>
              <a:stretch>
                <a:fillRect l="0" t="0" r="0" b="0"/>
              </a:stretch>
            </a:blipFill>
          </p:spPr>
        </p:sp>
      </p:grpSp>
      <p:sp>
        <p:nvSpPr>
          <p:cNvPr name="TextBox 8" id="8"/>
          <p:cNvSpPr txBox="true"/>
          <p:nvPr/>
        </p:nvSpPr>
        <p:spPr>
          <a:xfrm rot="0">
            <a:off x="11239500" y="6353175"/>
            <a:ext cx="428625" cy="168592"/>
          </a:xfrm>
          <a:prstGeom prst="rect">
            <a:avLst/>
          </a:prstGeom>
        </p:spPr>
        <p:txBody>
          <a:bodyPr anchor="t" rtlCol="false" tIns="0" lIns="0" bIns="0" rIns="0">
            <a:spAutoFit/>
          </a:bodyPr>
          <a:lstStyle/>
          <a:p>
            <a:pPr algn="l" marL="0" indent="0" lvl="0">
              <a:lnSpc>
                <a:spcPts val="1372"/>
              </a:lnSpc>
              <a:spcBef>
                <a:spcPct val="0"/>
              </a:spcBef>
            </a:pPr>
            <a:r>
              <a:rPr lang="en-US" sz="1125" strike="noStrike" u="none">
                <a:solidFill>
                  <a:srgbClr val="0A2A66"/>
                </a:solidFill>
                <a:latin typeface="DM Sans"/>
                <a:ea typeface="DM Sans"/>
                <a:cs typeface="DM Sans"/>
                <a:sym typeface="DM Sans"/>
              </a:rPr>
              <a:t>10</a:t>
            </a:r>
          </a:p>
        </p:txBody>
      </p:sp>
      <p:sp>
        <p:nvSpPr>
          <p:cNvPr name="TextBox 9" id="9"/>
          <p:cNvSpPr txBox="true"/>
          <p:nvPr/>
        </p:nvSpPr>
        <p:spPr>
          <a:xfrm rot="0">
            <a:off x="609600" y="866775"/>
            <a:ext cx="10972800" cy="487299"/>
          </a:xfrm>
          <a:prstGeom prst="rect">
            <a:avLst/>
          </a:prstGeom>
        </p:spPr>
        <p:txBody>
          <a:bodyPr anchor="t" rtlCol="false" tIns="0" lIns="0" bIns="0" rIns="0">
            <a:spAutoFit/>
          </a:bodyPr>
          <a:lstStyle/>
          <a:p>
            <a:pPr algn="l" marL="0" indent="0" lvl="0">
              <a:lnSpc>
                <a:spcPts val="3843"/>
              </a:lnSpc>
              <a:spcBef>
                <a:spcPct val="0"/>
              </a:spcBef>
            </a:pPr>
            <a:r>
              <a:rPr lang="en-US" b="true" sz="3150" strike="noStrike" u="none">
                <a:solidFill>
                  <a:srgbClr val="0A2A66"/>
                </a:solidFill>
                <a:latin typeface="DM Sans Bold"/>
                <a:ea typeface="DM Sans Bold"/>
                <a:cs typeface="DM Sans Bold"/>
                <a:sym typeface="DM Sans Bold"/>
              </a:rPr>
              <a:t>A useful reason to return</a:t>
            </a:r>
          </a:p>
        </p:txBody>
      </p:sp>
      <p:sp>
        <p:nvSpPr>
          <p:cNvPr name="AutoShape 10" id="10"/>
          <p:cNvSpPr/>
          <p:nvPr/>
        </p:nvSpPr>
        <p:spPr>
          <a:xfrm rot="0">
            <a:off x="609600" y="2457450"/>
            <a:ext cx="5172075" cy="1447800"/>
          </a:xfrm>
          <a:prstGeom prst="rect">
            <a:avLst/>
          </a:prstGeom>
          <a:solidFill>
            <a:srgbClr val="D9F2EA"/>
          </a:solidFill>
        </p:spPr>
      </p:sp>
      <p:sp>
        <p:nvSpPr>
          <p:cNvPr name="AutoShape 11" id="11"/>
          <p:cNvSpPr/>
          <p:nvPr/>
        </p:nvSpPr>
        <p:spPr>
          <a:xfrm rot="0">
            <a:off x="6153150" y="2457450"/>
            <a:ext cx="5429250" cy="1447800"/>
          </a:xfrm>
          <a:prstGeom prst="rect">
            <a:avLst/>
          </a:prstGeom>
          <a:solidFill>
            <a:srgbClr val="F0EFFF"/>
          </a:solidFill>
        </p:spPr>
      </p:sp>
      <p:sp>
        <p:nvSpPr>
          <p:cNvPr name="TextBox 12" id="12"/>
          <p:cNvSpPr txBox="true"/>
          <p:nvPr/>
        </p:nvSpPr>
        <p:spPr>
          <a:xfrm rot="0">
            <a:off x="838200" y="2676525"/>
            <a:ext cx="4714875" cy="393573"/>
          </a:xfrm>
          <a:prstGeom prst="rect">
            <a:avLst/>
          </a:prstGeom>
        </p:spPr>
        <p:txBody>
          <a:bodyPr anchor="t" rtlCol="false" tIns="0" lIns="0" bIns="0" rIns="0">
            <a:spAutoFit/>
          </a:bodyPr>
          <a:lstStyle/>
          <a:p>
            <a:pPr algn="ctr" marL="0" indent="0" lvl="0">
              <a:lnSpc>
                <a:spcPts val="3111"/>
              </a:lnSpc>
              <a:spcBef>
                <a:spcPct val="0"/>
              </a:spcBef>
            </a:pPr>
            <a:r>
              <a:rPr lang="en-US" sz="2550" strike="noStrike" u="none">
                <a:solidFill>
                  <a:srgbClr val="0A2A66"/>
                </a:solidFill>
                <a:latin typeface="DM Sans"/>
                <a:ea typeface="DM Sans"/>
                <a:cs typeface="DM Sans"/>
                <a:sym typeface="DM Sans"/>
              </a:rPr>
              <a:t>Today</a:t>
            </a:r>
          </a:p>
        </p:txBody>
      </p:sp>
      <p:sp>
        <p:nvSpPr>
          <p:cNvPr name="TextBox 13" id="13"/>
          <p:cNvSpPr txBox="true"/>
          <p:nvPr/>
        </p:nvSpPr>
        <p:spPr>
          <a:xfrm rot="0">
            <a:off x="838200" y="3352800"/>
            <a:ext cx="4714875" cy="651891"/>
          </a:xfrm>
          <a:prstGeom prst="rect">
            <a:avLst/>
          </a:prstGeom>
        </p:spPr>
        <p:txBody>
          <a:bodyPr anchor="t" rtlCol="false" tIns="0" lIns="0" bIns="0" rIns="0">
            <a:spAutoFit/>
          </a:bodyPr>
          <a:lstStyle/>
          <a:p>
            <a:pPr algn="ctr" marL="0" indent="0" lvl="0">
              <a:lnSpc>
                <a:spcPts val="2562"/>
              </a:lnSpc>
              <a:spcBef>
                <a:spcPct val="0"/>
              </a:spcBef>
            </a:pPr>
            <a:r>
              <a:rPr lang="en-US" sz="2100" strike="noStrike" u="none">
                <a:solidFill>
                  <a:srgbClr val="0A2A66"/>
                </a:solidFill>
                <a:latin typeface="DM Sans"/>
                <a:ea typeface="DM Sans"/>
                <a:cs typeface="DM Sans"/>
                <a:sym typeface="DM Sans"/>
              </a:rPr>
              <a:t>Save a discovery.</a:t>
            </a:r>
          </a:p>
          <a:p>
            <a:pPr algn="ctr" marL="0" indent="0" lvl="0">
              <a:lnSpc>
                <a:spcPts val="2562"/>
              </a:lnSpc>
              <a:spcBef>
                <a:spcPct val="0"/>
              </a:spcBef>
            </a:pPr>
            <a:r>
              <a:rPr lang="en-US" sz="2100" strike="noStrike" u="none">
                <a:solidFill>
                  <a:srgbClr val="0A2A66"/>
                </a:solidFill>
                <a:latin typeface="DM Sans"/>
                <a:ea typeface="DM Sans"/>
                <a:cs typeface="DM Sans"/>
                <a:sym typeface="DM Sans"/>
              </a:rPr>
              <a:t>Use it on a fresh question.</a:t>
            </a:r>
          </a:p>
        </p:txBody>
      </p:sp>
      <p:sp>
        <p:nvSpPr>
          <p:cNvPr name="TextBox 14" id="14"/>
          <p:cNvSpPr txBox="true"/>
          <p:nvPr/>
        </p:nvSpPr>
        <p:spPr>
          <a:xfrm rot="0">
            <a:off x="6381750" y="2676525"/>
            <a:ext cx="4972050" cy="393573"/>
          </a:xfrm>
          <a:prstGeom prst="rect">
            <a:avLst/>
          </a:prstGeom>
        </p:spPr>
        <p:txBody>
          <a:bodyPr anchor="t" rtlCol="false" tIns="0" lIns="0" bIns="0" rIns="0">
            <a:spAutoFit/>
          </a:bodyPr>
          <a:lstStyle/>
          <a:p>
            <a:pPr algn="ctr" marL="0" indent="0" lvl="0">
              <a:lnSpc>
                <a:spcPts val="3111"/>
              </a:lnSpc>
              <a:spcBef>
                <a:spcPct val="0"/>
              </a:spcBef>
            </a:pPr>
            <a:r>
              <a:rPr lang="en-US" sz="2550" strike="noStrike" u="none">
                <a:solidFill>
                  <a:srgbClr val="0A2A66"/>
                </a:solidFill>
                <a:latin typeface="DM Sans"/>
                <a:ea typeface="DM Sans"/>
                <a:cs typeface="DM Sans"/>
                <a:sym typeface="DM Sans"/>
              </a:rPr>
              <a:t>Later</a:t>
            </a:r>
          </a:p>
        </p:txBody>
      </p:sp>
      <p:sp>
        <p:nvSpPr>
          <p:cNvPr name="TextBox 15" id="15"/>
          <p:cNvSpPr txBox="true"/>
          <p:nvPr/>
        </p:nvSpPr>
        <p:spPr>
          <a:xfrm rot="0">
            <a:off x="6381750" y="3352800"/>
            <a:ext cx="4972050" cy="651891"/>
          </a:xfrm>
          <a:prstGeom prst="rect">
            <a:avLst/>
          </a:prstGeom>
        </p:spPr>
        <p:txBody>
          <a:bodyPr anchor="t" rtlCol="false" tIns="0" lIns="0" bIns="0" rIns="0">
            <a:spAutoFit/>
          </a:bodyPr>
          <a:lstStyle/>
          <a:p>
            <a:pPr algn="ctr" marL="0" indent="0" lvl="0">
              <a:lnSpc>
                <a:spcPts val="2562"/>
              </a:lnSpc>
              <a:spcBef>
                <a:spcPct val="0"/>
              </a:spcBef>
            </a:pPr>
            <a:r>
              <a:rPr lang="en-US" sz="2100" strike="noStrike" u="none">
                <a:solidFill>
                  <a:srgbClr val="0A2A66"/>
                </a:solidFill>
                <a:latin typeface="DM Sans"/>
                <a:ea typeface="DM Sans"/>
                <a:cs typeface="DM Sans"/>
                <a:sym typeface="DM Sans"/>
              </a:rPr>
              <a:t>Revisit the idea.</a:t>
            </a:r>
          </a:p>
          <a:p>
            <a:pPr algn="ctr" marL="0" indent="0" lvl="0">
              <a:lnSpc>
                <a:spcPts val="2562"/>
              </a:lnSpc>
              <a:spcBef>
                <a:spcPct val="0"/>
              </a:spcBef>
            </a:pPr>
            <a:r>
              <a:rPr lang="en-US" sz="2100" strike="noStrike" u="none">
                <a:solidFill>
                  <a:srgbClr val="0A2A66"/>
                </a:solidFill>
                <a:latin typeface="DM Sans"/>
                <a:ea typeface="DM Sans"/>
                <a:cs typeface="DM Sans"/>
                <a:sym typeface="DM Sans"/>
              </a:rPr>
              <a:t>Try it in another situation.</a:t>
            </a:r>
          </a:p>
        </p:txBody>
      </p:sp>
      <p:grpSp>
        <p:nvGrpSpPr>
          <p:cNvPr name="Group 16" id="16"/>
          <p:cNvGrpSpPr/>
          <p:nvPr/>
        </p:nvGrpSpPr>
        <p:grpSpPr>
          <a:xfrm rot="5400000">
            <a:off x="2876550" y="4200525"/>
            <a:ext cx="628650" cy="38100"/>
            <a:chOff x="0" y="0"/>
            <a:chExt cx="838200" cy="50800"/>
          </a:xfrm>
        </p:grpSpPr>
        <p:sp>
          <p:nvSpPr>
            <p:cNvPr name="Freeform 17" id="17"/>
            <p:cNvSpPr/>
            <p:nvPr/>
          </p:nvSpPr>
          <p:spPr>
            <a:xfrm flipH="false" flipV="false" rot="0">
              <a:off x="0" y="0"/>
              <a:ext cx="838200" cy="50800"/>
            </a:xfrm>
            <a:custGeom>
              <a:avLst/>
              <a:gdLst/>
              <a:ahLst/>
              <a:cxnLst/>
              <a:rect r="r" b="b" t="t" l="l"/>
              <a:pathLst>
                <a:path h="50800" w="838200">
                  <a:moveTo>
                    <a:pt x="25400" y="0"/>
                  </a:moveTo>
                  <a:lnTo>
                    <a:pt x="812800" y="0"/>
                  </a:lnTo>
                  <a:cubicBezTo>
                    <a:pt x="826770" y="0"/>
                    <a:pt x="838200" y="11430"/>
                    <a:pt x="838200" y="25400"/>
                  </a:cubicBezTo>
                  <a:cubicBezTo>
                    <a:pt x="838200" y="39370"/>
                    <a:pt x="826770" y="50800"/>
                    <a:pt x="812800" y="50800"/>
                  </a:cubicBezTo>
                  <a:lnTo>
                    <a:pt x="25400" y="50800"/>
                  </a:lnTo>
                  <a:cubicBezTo>
                    <a:pt x="11430" y="50800"/>
                    <a:pt x="0" y="39370"/>
                    <a:pt x="0" y="25400"/>
                  </a:cubicBezTo>
                  <a:cubicBezTo>
                    <a:pt x="0" y="11430"/>
                    <a:pt x="11430" y="0"/>
                    <a:pt x="25400" y="0"/>
                  </a:cubicBezTo>
                  <a:close/>
                </a:path>
              </a:pathLst>
            </a:custGeom>
            <a:solidFill>
              <a:srgbClr val="0A2A66"/>
            </a:solidFill>
          </p:spPr>
        </p:sp>
      </p:grpSp>
      <p:grpSp>
        <p:nvGrpSpPr>
          <p:cNvPr name="Group 18" id="18"/>
          <p:cNvGrpSpPr/>
          <p:nvPr/>
        </p:nvGrpSpPr>
        <p:grpSpPr>
          <a:xfrm rot="0">
            <a:off x="3190875" y="4505325"/>
            <a:ext cx="2914650" cy="38100"/>
            <a:chOff x="0" y="0"/>
            <a:chExt cx="3886200" cy="50800"/>
          </a:xfrm>
        </p:grpSpPr>
        <p:sp>
          <p:nvSpPr>
            <p:cNvPr name="Freeform 19" id="19"/>
            <p:cNvSpPr/>
            <p:nvPr/>
          </p:nvSpPr>
          <p:spPr>
            <a:xfrm flipH="false" flipV="false" rot="0">
              <a:off x="0" y="0"/>
              <a:ext cx="3886200" cy="50800"/>
            </a:xfrm>
            <a:custGeom>
              <a:avLst/>
              <a:gdLst/>
              <a:ahLst/>
              <a:cxnLst/>
              <a:rect r="r" b="b" t="t" l="l"/>
              <a:pathLst>
                <a:path h="50800" w="3886200">
                  <a:moveTo>
                    <a:pt x="25400" y="0"/>
                  </a:moveTo>
                  <a:lnTo>
                    <a:pt x="3860800" y="0"/>
                  </a:lnTo>
                  <a:cubicBezTo>
                    <a:pt x="3874770" y="0"/>
                    <a:pt x="3886200" y="11430"/>
                    <a:pt x="3886200" y="25400"/>
                  </a:cubicBezTo>
                  <a:cubicBezTo>
                    <a:pt x="3886200" y="39370"/>
                    <a:pt x="3874770" y="50800"/>
                    <a:pt x="3860800" y="50800"/>
                  </a:cubicBezTo>
                  <a:lnTo>
                    <a:pt x="25400" y="50800"/>
                  </a:lnTo>
                  <a:cubicBezTo>
                    <a:pt x="11430" y="50800"/>
                    <a:pt x="0" y="39370"/>
                    <a:pt x="0" y="25400"/>
                  </a:cubicBezTo>
                  <a:cubicBezTo>
                    <a:pt x="0" y="11430"/>
                    <a:pt x="11430" y="0"/>
                    <a:pt x="25400" y="0"/>
                  </a:cubicBezTo>
                  <a:close/>
                </a:path>
              </a:pathLst>
            </a:custGeom>
            <a:solidFill>
              <a:srgbClr val="0A2A66"/>
            </a:solidFill>
          </p:spPr>
        </p:sp>
      </p:grpSp>
      <p:grpSp>
        <p:nvGrpSpPr>
          <p:cNvPr name="Group 20" id="20"/>
          <p:cNvGrpSpPr/>
          <p:nvPr/>
        </p:nvGrpSpPr>
        <p:grpSpPr>
          <a:xfrm rot="5400000">
            <a:off x="5872162" y="4729162"/>
            <a:ext cx="447675" cy="38100"/>
            <a:chOff x="0" y="0"/>
            <a:chExt cx="596900" cy="50800"/>
          </a:xfrm>
        </p:grpSpPr>
        <p:sp>
          <p:nvSpPr>
            <p:cNvPr name="Freeform 21" id="21"/>
            <p:cNvSpPr/>
            <p:nvPr/>
          </p:nvSpPr>
          <p:spPr>
            <a:xfrm flipH="false" flipV="false" rot="0">
              <a:off x="0" y="0"/>
              <a:ext cx="596900" cy="50800"/>
            </a:xfrm>
            <a:custGeom>
              <a:avLst/>
              <a:gdLst/>
              <a:ahLst/>
              <a:cxnLst/>
              <a:rect r="r" b="b" t="t" l="l"/>
              <a:pathLst>
                <a:path h="50800" w="596900">
                  <a:moveTo>
                    <a:pt x="25400" y="0"/>
                  </a:moveTo>
                  <a:lnTo>
                    <a:pt x="571500" y="0"/>
                  </a:lnTo>
                  <a:cubicBezTo>
                    <a:pt x="585470" y="0"/>
                    <a:pt x="596900" y="11430"/>
                    <a:pt x="596900" y="25400"/>
                  </a:cubicBezTo>
                  <a:cubicBezTo>
                    <a:pt x="596900" y="39370"/>
                    <a:pt x="585470" y="50800"/>
                    <a:pt x="571500" y="50800"/>
                  </a:cubicBezTo>
                  <a:lnTo>
                    <a:pt x="25400" y="50800"/>
                  </a:lnTo>
                  <a:cubicBezTo>
                    <a:pt x="11430" y="50800"/>
                    <a:pt x="0" y="39370"/>
                    <a:pt x="0" y="25400"/>
                  </a:cubicBezTo>
                  <a:cubicBezTo>
                    <a:pt x="0" y="11430"/>
                    <a:pt x="11430" y="0"/>
                    <a:pt x="25400" y="0"/>
                  </a:cubicBezTo>
                  <a:close/>
                </a:path>
              </a:pathLst>
            </a:custGeom>
            <a:solidFill>
              <a:srgbClr val="0A2A66"/>
            </a:solidFill>
          </p:spPr>
        </p:sp>
      </p:grpSp>
      <p:grpSp>
        <p:nvGrpSpPr>
          <p:cNvPr name="Group 22" id="22"/>
          <p:cNvGrpSpPr/>
          <p:nvPr/>
        </p:nvGrpSpPr>
        <p:grpSpPr>
          <a:xfrm rot="5400000">
            <a:off x="8543925" y="4200525"/>
            <a:ext cx="628650" cy="38100"/>
            <a:chOff x="0" y="0"/>
            <a:chExt cx="838200" cy="50800"/>
          </a:xfrm>
        </p:grpSpPr>
        <p:sp>
          <p:nvSpPr>
            <p:cNvPr name="Freeform 23" id="23"/>
            <p:cNvSpPr/>
            <p:nvPr/>
          </p:nvSpPr>
          <p:spPr>
            <a:xfrm flipH="false" flipV="false" rot="0">
              <a:off x="0" y="0"/>
              <a:ext cx="838200" cy="50800"/>
            </a:xfrm>
            <a:custGeom>
              <a:avLst/>
              <a:gdLst/>
              <a:ahLst/>
              <a:cxnLst/>
              <a:rect r="r" b="b" t="t" l="l"/>
              <a:pathLst>
                <a:path h="50800" w="838200">
                  <a:moveTo>
                    <a:pt x="25400" y="0"/>
                  </a:moveTo>
                  <a:lnTo>
                    <a:pt x="812800" y="0"/>
                  </a:lnTo>
                  <a:cubicBezTo>
                    <a:pt x="826770" y="0"/>
                    <a:pt x="838200" y="11430"/>
                    <a:pt x="838200" y="25400"/>
                  </a:cubicBezTo>
                  <a:cubicBezTo>
                    <a:pt x="838200" y="39370"/>
                    <a:pt x="826770" y="50800"/>
                    <a:pt x="812800" y="50800"/>
                  </a:cubicBezTo>
                  <a:lnTo>
                    <a:pt x="25400" y="50800"/>
                  </a:lnTo>
                  <a:cubicBezTo>
                    <a:pt x="11430" y="50800"/>
                    <a:pt x="0" y="39370"/>
                    <a:pt x="0" y="25400"/>
                  </a:cubicBezTo>
                  <a:cubicBezTo>
                    <a:pt x="0" y="11430"/>
                    <a:pt x="11430" y="0"/>
                    <a:pt x="25400" y="0"/>
                  </a:cubicBezTo>
                  <a:close/>
                </a:path>
              </a:pathLst>
            </a:custGeom>
            <a:solidFill>
              <a:srgbClr val="14BF96"/>
            </a:solidFill>
          </p:spPr>
        </p:sp>
      </p:grpSp>
      <p:grpSp>
        <p:nvGrpSpPr>
          <p:cNvPr name="Group 24" id="24"/>
          <p:cNvGrpSpPr/>
          <p:nvPr/>
        </p:nvGrpSpPr>
        <p:grpSpPr>
          <a:xfrm rot="-10800000">
            <a:off x="6086475" y="4505325"/>
            <a:ext cx="2771775" cy="38100"/>
            <a:chOff x="0" y="0"/>
            <a:chExt cx="3695700" cy="50800"/>
          </a:xfrm>
        </p:grpSpPr>
        <p:sp>
          <p:nvSpPr>
            <p:cNvPr name="Freeform 25" id="25"/>
            <p:cNvSpPr/>
            <p:nvPr/>
          </p:nvSpPr>
          <p:spPr>
            <a:xfrm flipH="false" flipV="false" rot="0">
              <a:off x="0" y="0"/>
              <a:ext cx="3695700" cy="50800"/>
            </a:xfrm>
            <a:custGeom>
              <a:avLst/>
              <a:gdLst/>
              <a:ahLst/>
              <a:cxnLst/>
              <a:rect r="r" b="b" t="t" l="l"/>
              <a:pathLst>
                <a:path h="50800" w="3695700">
                  <a:moveTo>
                    <a:pt x="25400" y="0"/>
                  </a:moveTo>
                  <a:lnTo>
                    <a:pt x="3670300" y="0"/>
                  </a:lnTo>
                  <a:cubicBezTo>
                    <a:pt x="3684270" y="0"/>
                    <a:pt x="3695700" y="11430"/>
                    <a:pt x="3695700" y="25400"/>
                  </a:cubicBezTo>
                  <a:cubicBezTo>
                    <a:pt x="3695700" y="39370"/>
                    <a:pt x="3684270" y="50800"/>
                    <a:pt x="3670300" y="50800"/>
                  </a:cubicBezTo>
                  <a:lnTo>
                    <a:pt x="25400" y="50800"/>
                  </a:lnTo>
                  <a:cubicBezTo>
                    <a:pt x="11430" y="50800"/>
                    <a:pt x="0" y="39370"/>
                    <a:pt x="0" y="25400"/>
                  </a:cubicBezTo>
                  <a:cubicBezTo>
                    <a:pt x="0" y="11430"/>
                    <a:pt x="11430" y="0"/>
                    <a:pt x="25400" y="0"/>
                  </a:cubicBezTo>
                  <a:close/>
                </a:path>
              </a:pathLst>
            </a:custGeom>
            <a:solidFill>
              <a:srgbClr val="14BF96"/>
            </a:solidFill>
          </p:spPr>
        </p:sp>
      </p:grpSp>
      <p:sp>
        <p:nvSpPr>
          <p:cNvPr name="AutoShape 26" id="26"/>
          <p:cNvSpPr/>
          <p:nvPr/>
        </p:nvSpPr>
        <p:spPr>
          <a:xfrm rot="0">
            <a:off x="1809750" y="4962525"/>
            <a:ext cx="8572500" cy="819150"/>
          </a:xfrm>
          <a:prstGeom prst="rect">
            <a:avLst/>
          </a:prstGeom>
          <a:solidFill>
            <a:srgbClr val="0A2A66"/>
          </a:solidFill>
        </p:spPr>
      </p:sp>
      <p:sp>
        <p:nvSpPr>
          <p:cNvPr name="TextBox 27" id="27"/>
          <p:cNvSpPr txBox="true"/>
          <p:nvPr/>
        </p:nvSpPr>
        <p:spPr>
          <a:xfrm rot="0">
            <a:off x="609600" y="5067300"/>
            <a:ext cx="10972800" cy="299656"/>
          </a:xfrm>
          <a:prstGeom prst="rect">
            <a:avLst/>
          </a:prstGeom>
        </p:spPr>
        <p:txBody>
          <a:bodyPr anchor="t" rtlCol="false" tIns="0" lIns="0" bIns="0" rIns="0">
            <a:spAutoFit/>
          </a:bodyPr>
          <a:lstStyle/>
          <a:p>
            <a:pPr algn="ctr" marL="0" indent="0" lvl="0">
              <a:lnSpc>
                <a:spcPts val="2470"/>
              </a:lnSpc>
              <a:spcBef>
                <a:spcPct val="0"/>
              </a:spcBef>
            </a:pPr>
            <a:r>
              <a:rPr lang="en-US" sz="2025" strike="noStrike" u="none">
                <a:solidFill>
                  <a:srgbClr val="FFFFFF"/>
                </a:solidFill>
                <a:latin typeface="DM Sans"/>
                <a:ea typeface="DM Sans"/>
                <a:cs typeface="DM Sans"/>
                <a:sym typeface="DM Sans"/>
              </a:rPr>
              <a:t>Saved ideas and later questions turn a quick visit into a path back.</a:t>
            </a:r>
          </a:p>
        </p:txBody>
      </p:sp>
      <p:sp>
        <p:nvSpPr>
          <p:cNvPr name="TextBox 28" id="28"/>
          <p:cNvSpPr txBox="true"/>
          <p:nvPr/>
        </p:nvSpPr>
        <p:spPr>
          <a:xfrm rot="0">
            <a:off x="609600" y="6067425"/>
            <a:ext cx="10972800" cy="215456"/>
          </a:xfrm>
          <a:prstGeom prst="rect">
            <a:avLst/>
          </a:prstGeom>
        </p:spPr>
        <p:txBody>
          <a:bodyPr anchor="t" rtlCol="false" tIns="0" lIns="0" bIns="0" rIns="0">
            <a:spAutoFit/>
          </a:bodyPr>
          <a:lstStyle/>
          <a:p>
            <a:pPr algn="ctr" marL="0" indent="0" lvl="0">
              <a:lnSpc>
                <a:spcPts val="1738"/>
              </a:lnSpc>
              <a:spcBef>
                <a:spcPct val="0"/>
              </a:spcBef>
            </a:pPr>
            <a:r>
              <a:rPr lang="en-US" sz="1425" strike="noStrike" u="none">
                <a:solidFill>
                  <a:srgbClr val="0A2A66"/>
                </a:solidFill>
                <a:latin typeface="DM Sans"/>
                <a:ea typeface="DM Sans"/>
                <a:cs typeface="DM Sans"/>
                <a:sym typeface="DM Sans"/>
                <a:hlinkClick r:id="rId7" tooltip="https://doi.org/10.1038/s44159-022-00089-1"/>
              </a:rPr>
              <a:t>Learning design: recalling an idea and spacing practice · Carpenter, Pan &amp; Butler (2022)</a:t>
            </a:r>
          </a:p>
        </p:txBody>
      </p:sp>
      <p:sp>
        <p:nvSpPr>
          <p:cNvPr name="AutoShape 29" id="29"/>
          <p:cNvSpPr/>
          <p:nvPr/>
        </p:nvSpPr>
        <p:spPr>
          <a:xfrm>
            <a:off x="609600" y="1381125"/>
            <a:ext cx="10972800" cy="0"/>
          </a:xfrm>
          <a:prstGeom prst="line">
            <a:avLst/>
          </a:prstGeom>
          <a:ln cap="flat" w="19050">
            <a:solidFill>
              <a:srgbClr val="CCD7E4"/>
            </a:solidFill>
            <a:prstDash val="solid"/>
            <a:headEnd type="none" len="sm" w="sm"/>
            <a:tailEnd type="none" len="sm" w="sm"/>
          </a:ln>
        </p:spPr>
      </p:sp>
      <p:sp>
        <p:nvSpPr>
          <p:cNvPr name="Freeform 30" id="30" descr="Dunlo"/>
          <p:cNvSpPr/>
          <p:nvPr/>
        </p:nvSpPr>
        <p:spPr>
          <a:xfrm flipH="false" flipV="false" rot="0">
            <a:off x="609600" y="38100"/>
            <a:ext cx="1571625" cy="521160"/>
          </a:xfrm>
          <a:custGeom>
            <a:avLst/>
            <a:gdLst/>
            <a:ahLst/>
            <a:cxnLst/>
            <a:rect r="r" b="b" t="t" l="l"/>
            <a:pathLst>
              <a:path h="521160" w="1571625">
                <a:moveTo>
                  <a:pt x="0" y="0"/>
                </a:moveTo>
                <a:lnTo>
                  <a:pt x="1571625" y="0"/>
                </a:lnTo>
                <a:lnTo>
                  <a:pt x="1571625" y="521160"/>
                </a:lnTo>
                <a:lnTo>
                  <a:pt x="0" y="5211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1" id="31"/>
          <p:cNvSpPr/>
          <p:nvPr/>
        </p:nvSpPr>
        <p:spPr>
          <a:xfrm flipH="false" flipV="false" rot="0">
            <a:off x="9429750" y="323850"/>
            <a:ext cx="2152650" cy="133350"/>
          </a:xfrm>
          <a:custGeom>
            <a:avLst/>
            <a:gdLst/>
            <a:ahLst/>
            <a:cxnLst/>
            <a:rect r="r" b="b" t="t" l="l"/>
            <a:pathLst>
              <a:path h="133350" w="2152650">
                <a:moveTo>
                  <a:pt x="0" y="0"/>
                </a:moveTo>
                <a:lnTo>
                  <a:pt x="2152650" y="0"/>
                </a:lnTo>
                <a:lnTo>
                  <a:pt x="2152650" y="133350"/>
                </a:lnTo>
                <a:lnTo>
                  <a:pt x="0" y="133350"/>
                </a:lnTo>
                <a:lnTo>
                  <a:pt x="0" y="0"/>
                </a:lnTo>
                <a:close/>
              </a:path>
            </a:pathLst>
          </a:custGeom>
          <a:blipFill>
            <a:blip r:embed="rId10">
              <a:extLst>
                <a:ext uri="{96DAC541-7B7A-43D3-8B79-37D633B846F1}">
                  <asvg:svgBlip xmlns:asvg="http://schemas.microsoft.com/office/drawing/2016/SVG/main" r:embed="rId11"/>
                </a:ext>
              </a:extLst>
            </a:blip>
            <a:stretch>
              <a:fillRect l="0" t="-1363" r="0" b="-1363"/>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2192000" cy="6858000"/>
          </a:xfrm>
          <a:prstGeom prst="rect">
            <a:avLst/>
          </a:prstGeom>
          <a:solidFill>
            <a:srgbClr val="FFFFFF"/>
          </a:solidFill>
        </p:spPr>
      </p:sp>
      <p:grpSp>
        <p:nvGrpSpPr>
          <p:cNvPr name="Group 3" id="3"/>
          <p:cNvGrpSpPr/>
          <p:nvPr/>
        </p:nvGrpSpPr>
        <p:grpSpPr>
          <a:xfrm rot="0">
            <a:off x="0" y="0"/>
            <a:ext cx="12192000" cy="6858000"/>
            <a:chOff x="0" y="0"/>
            <a:chExt cx="16256000" cy="9144000"/>
          </a:xfrm>
        </p:grpSpPr>
        <p:sp>
          <p:nvSpPr>
            <p:cNvPr name="Freeform 4" id="4"/>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3"/>
              <a:stretch>
                <a:fillRect l="0" t="0" r="0" b="0"/>
              </a:stretch>
            </a:blipFill>
          </p:spPr>
        </p:sp>
      </p:grpSp>
      <p:grpSp>
        <p:nvGrpSpPr>
          <p:cNvPr name="Group 5" id="5"/>
          <p:cNvGrpSpPr/>
          <p:nvPr/>
        </p:nvGrpSpPr>
        <p:grpSpPr>
          <a:xfrm rot="0">
            <a:off x="0" y="0"/>
            <a:ext cx="12192000" cy="6858000"/>
            <a:chOff x="0" y="0"/>
            <a:chExt cx="16256000" cy="9144000"/>
          </a:xfrm>
        </p:grpSpPr>
        <p:sp>
          <p:nvSpPr>
            <p:cNvPr name="Freeform 6" id="6"/>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887200" y="0"/>
              <a:ext cx="3556000" cy="803656"/>
            </a:xfrm>
            <a:custGeom>
              <a:avLst/>
              <a:gdLst/>
              <a:ahLst/>
              <a:cxnLst/>
              <a:rect r="r" b="b" t="t" l="l"/>
              <a:pathLst>
                <a:path h="803656" w="3556000">
                  <a:moveTo>
                    <a:pt x="0" y="0"/>
                  </a:moveTo>
                  <a:lnTo>
                    <a:pt x="3556000" y="0"/>
                  </a:lnTo>
                  <a:lnTo>
                    <a:pt x="3556000" y="803656"/>
                  </a:lnTo>
                  <a:lnTo>
                    <a:pt x="0" y="803656"/>
                  </a:lnTo>
                  <a:lnTo>
                    <a:pt x="0" y="0"/>
                  </a:lnTo>
                  <a:close/>
                </a:path>
              </a:pathLst>
            </a:custGeom>
            <a:blipFill>
              <a:blip r:embed="rId6"/>
              <a:stretch>
                <a:fillRect l="0" t="0" r="0" b="0"/>
              </a:stretch>
            </a:blipFill>
          </p:spPr>
        </p:sp>
      </p:grpSp>
      <p:sp>
        <p:nvSpPr>
          <p:cNvPr name="TextBox 8" id="8"/>
          <p:cNvSpPr txBox="true"/>
          <p:nvPr/>
        </p:nvSpPr>
        <p:spPr>
          <a:xfrm rot="0">
            <a:off x="11239500" y="6353175"/>
            <a:ext cx="428625" cy="168592"/>
          </a:xfrm>
          <a:prstGeom prst="rect">
            <a:avLst/>
          </a:prstGeom>
        </p:spPr>
        <p:txBody>
          <a:bodyPr anchor="t" rtlCol="false" tIns="0" lIns="0" bIns="0" rIns="0">
            <a:spAutoFit/>
          </a:bodyPr>
          <a:lstStyle/>
          <a:p>
            <a:pPr algn="l" marL="0" indent="0" lvl="0">
              <a:lnSpc>
                <a:spcPts val="1372"/>
              </a:lnSpc>
              <a:spcBef>
                <a:spcPct val="0"/>
              </a:spcBef>
            </a:pPr>
            <a:r>
              <a:rPr lang="en-US" sz="1125" strike="noStrike" u="none">
                <a:solidFill>
                  <a:srgbClr val="0A2A66"/>
                </a:solidFill>
                <a:latin typeface="DM Sans"/>
                <a:ea typeface="DM Sans"/>
                <a:cs typeface="DM Sans"/>
                <a:sym typeface="DM Sans"/>
              </a:rPr>
              <a:t>11</a:t>
            </a:r>
          </a:p>
        </p:txBody>
      </p:sp>
      <p:sp>
        <p:nvSpPr>
          <p:cNvPr name="TextBox 9" id="9"/>
          <p:cNvSpPr txBox="true"/>
          <p:nvPr/>
        </p:nvSpPr>
        <p:spPr>
          <a:xfrm rot="0">
            <a:off x="609600" y="866775"/>
            <a:ext cx="10972800" cy="487299"/>
          </a:xfrm>
          <a:prstGeom prst="rect">
            <a:avLst/>
          </a:prstGeom>
        </p:spPr>
        <p:txBody>
          <a:bodyPr anchor="t" rtlCol="false" tIns="0" lIns="0" bIns="0" rIns="0">
            <a:spAutoFit/>
          </a:bodyPr>
          <a:lstStyle/>
          <a:p>
            <a:pPr algn="l" marL="0" indent="0" lvl="0">
              <a:lnSpc>
                <a:spcPts val="3843"/>
              </a:lnSpc>
              <a:spcBef>
                <a:spcPct val="0"/>
              </a:spcBef>
            </a:pPr>
            <a:r>
              <a:rPr lang="en-US" b="true" sz="3150" strike="noStrike" u="none">
                <a:solidFill>
                  <a:srgbClr val="0A2A66"/>
                </a:solidFill>
                <a:latin typeface="DM Sans Bold"/>
                <a:ea typeface="DM Sans Bold"/>
                <a:cs typeface="DM Sans Bold"/>
                <a:sym typeface="DM Sans Bold"/>
              </a:rPr>
              <a:t>Start with public access</a:t>
            </a:r>
          </a:p>
        </p:txBody>
      </p:sp>
      <p:sp>
        <p:nvSpPr>
          <p:cNvPr name="TextBox 10" id="10"/>
          <p:cNvSpPr txBox="true"/>
          <p:nvPr/>
        </p:nvSpPr>
        <p:spPr>
          <a:xfrm rot="0">
            <a:off x="609600" y="2114550"/>
            <a:ext cx="4095750" cy="187452"/>
          </a:xfrm>
          <a:prstGeom prst="rect">
            <a:avLst/>
          </a:prstGeom>
        </p:spPr>
        <p:txBody>
          <a:bodyPr anchor="t" rtlCol="false" tIns="0" lIns="0" bIns="0" rIns="0">
            <a:spAutoFit/>
          </a:bodyPr>
          <a:lstStyle/>
          <a:p>
            <a:pPr algn="l" marL="0" indent="0" lvl="0">
              <a:lnSpc>
                <a:spcPts val="1464"/>
              </a:lnSpc>
              <a:spcBef>
                <a:spcPct val="0"/>
              </a:spcBef>
            </a:pPr>
            <a:r>
              <a:rPr lang="en-US" sz="1200" strike="noStrike" u="none">
                <a:solidFill>
                  <a:srgbClr val="0A2A66"/>
                </a:solidFill>
                <a:latin typeface="DM Sans"/>
                <a:ea typeface="DM Sans"/>
                <a:cs typeface="DM Sans"/>
                <a:sym typeface="DM Sans"/>
              </a:rPr>
              <a:t>PUBLIC LAUNCH</a:t>
            </a:r>
          </a:p>
        </p:txBody>
      </p:sp>
      <p:sp>
        <p:nvSpPr>
          <p:cNvPr name="TextBox 11" id="11"/>
          <p:cNvSpPr txBox="true"/>
          <p:nvPr/>
        </p:nvSpPr>
        <p:spPr>
          <a:xfrm rot="0">
            <a:off x="6610350" y="2114550"/>
            <a:ext cx="4953000" cy="187452"/>
          </a:xfrm>
          <a:prstGeom prst="rect">
            <a:avLst/>
          </a:prstGeom>
        </p:spPr>
        <p:txBody>
          <a:bodyPr anchor="t" rtlCol="false" tIns="0" lIns="0" bIns="0" rIns="0">
            <a:spAutoFit/>
          </a:bodyPr>
          <a:lstStyle/>
          <a:p>
            <a:pPr algn="l" marL="0" indent="0" lvl="0">
              <a:lnSpc>
                <a:spcPts val="1464"/>
              </a:lnSpc>
              <a:spcBef>
                <a:spcPct val="0"/>
              </a:spcBef>
            </a:pPr>
            <a:r>
              <a:rPr lang="en-US" sz="1200" strike="noStrike" u="none">
                <a:solidFill>
                  <a:srgbClr val="0A2A66"/>
                </a:solidFill>
                <a:latin typeface="DM Sans"/>
                <a:ea typeface="DM Sans"/>
                <a:cs typeface="DM Sans"/>
                <a:sym typeface="DM Sans"/>
              </a:rPr>
              <a:t>NO DUNLO ACCOUNT NEEDED</a:t>
            </a:r>
          </a:p>
        </p:txBody>
      </p:sp>
      <p:sp>
        <p:nvSpPr>
          <p:cNvPr name="TextBox 12" id="12"/>
          <p:cNvSpPr txBox="true"/>
          <p:nvPr/>
        </p:nvSpPr>
        <p:spPr>
          <a:xfrm rot="0">
            <a:off x="609600" y="2895600"/>
            <a:ext cx="4191000" cy="430911"/>
          </a:xfrm>
          <a:prstGeom prst="rect">
            <a:avLst/>
          </a:prstGeom>
        </p:spPr>
        <p:txBody>
          <a:bodyPr anchor="t" rtlCol="false" tIns="0" lIns="0" bIns="0" rIns="0">
            <a:spAutoFit/>
          </a:bodyPr>
          <a:lstStyle/>
          <a:p>
            <a:pPr algn="ctr" marL="0" indent="0" lvl="0">
              <a:lnSpc>
                <a:spcPts val="3476"/>
              </a:lnSpc>
              <a:spcBef>
                <a:spcPct val="0"/>
              </a:spcBef>
            </a:pPr>
            <a:r>
              <a:rPr lang="en-US" sz="2850" strike="noStrike" u="none">
                <a:solidFill>
                  <a:srgbClr val="0A2A66"/>
                </a:solidFill>
                <a:latin typeface="DM Sans"/>
                <a:ea typeface="DM Sans"/>
                <a:cs typeface="DM Sans"/>
                <a:sym typeface="DM Sans"/>
              </a:rPr>
              <a:t>Open an idea</a:t>
            </a:r>
          </a:p>
        </p:txBody>
      </p:sp>
      <p:sp>
        <p:nvSpPr>
          <p:cNvPr name="AutoShape 13" id="13"/>
          <p:cNvSpPr/>
          <p:nvPr/>
        </p:nvSpPr>
        <p:spPr>
          <a:xfrm rot="0">
            <a:off x="4981575" y="3105150"/>
            <a:ext cx="981075" cy="38100"/>
          </a:xfrm>
          <a:prstGeom prst="rect">
            <a:avLst/>
          </a:prstGeom>
          <a:solidFill>
            <a:srgbClr val="0A2A66"/>
          </a:solidFill>
        </p:spPr>
      </p:sp>
      <p:grpSp>
        <p:nvGrpSpPr>
          <p:cNvPr name="Group 14" id="14"/>
          <p:cNvGrpSpPr/>
          <p:nvPr/>
        </p:nvGrpSpPr>
        <p:grpSpPr>
          <a:xfrm rot="1840140">
            <a:off x="5904833" y="3069526"/>
            <a:ext cx="171450" cy="28575"/>
            <a:chOff x="0" y="0"/>
            <a:chExt cx="228600" cy="38100"/>
          </a:xfrm>
        </p:grpSpPr>
        <p:sp>
          <p:nvSpPr>
            <p:cNvPr name="Freeform 15" id="15"/>
            <p:cNvSpPr/>
            <p:nvPr/>
          </p:nvSpPr>
          <p:spPr>
            <a:xfrm flipH="false" flipV="false" rot="0">
              <a:off x="0" y="0"/>
              <a:ext cx="228600" cy="38100"/>
            </a:xfrm>
            <a:custGeom>
              <a:avLst/>
              <a:gdLst/>
              <a:ahLst/>
              <a:cxnLst/>
              <a:rect r="r" b="b" t="t" l="l"/>
              <a:pathLst>
                <a:path h="38100" w="228600">
                  <a:moveTo>
                    <a:pt x="19050" y="0"/>
                  </a:moveTo>
                  <a:lnTo>
                    <a:pt x="209550" y="0"/>
                  </a:lnTo>
                  <a:cubicBezTo>
                    <a:pt x="220091" y="0"/>
                    <a:pt x="228600" y="8509"/>
                    <a:pt x="228600" y="19050"/>
                  </a:cubicBezTo>
                  <a:cubicBezTo>
                    <a:pt x="228600" y="29591"/>
                    <a:pt x="220091" y="38100"/>
                    <a:pt x="209550" y="38100"/>
                  </a:cubicBezTo>
                  <a:lnTo>
                    <a:pt x="19050" y="38100"/>
                  </a:lnTo>
                  <a:cubicBezTo>
                    <a:pt x="8509" y="38100"/>
                    <a:pt x="0" y="29591"/>
                    <a:pt x="0" y="19050"/>
                  </a:cubicBezTo>
                  <a:cubicBezTo>
                    <a:pt x="0" y="8509"/>
                    <a:pt x="8509" y="0"/>
                    <a:pt x="19050" y="0"/>
                  </a:cubicBezTo>
                  <a:close/>
                </a:path>
              </a:pathLst>
            </a:custGeom>
            <a:solidFill>
              <a:srgbClr val="0A2A66"/>
            </a:solidFill>
          </p:spPr>
        </p:sp>
      </p:grpSp>
      <p:grpSp>
        <p:nvGrpSpPr>
          <p:cNvPr name="Group 16" id="16"/>
          <p:cNvGrpSpPr/>
          <p:nvPr/>
        </p:nvGrpSpPr>
        <p:grpSpPr>
          <a:xfrm rot="8959860">
            <a:off x="5896737" y="3155252"/>
            <a:ext cx="171450" cy="28575"/>
            <a:chOff x="0" y="0"/>
            <a:chExt cx="228600" cy="38100"/>
          </a:xfrm>
        </p:grpSpPr>
        <p:sp>
          <p:nvSpPr>
            <p:cNvPr name="Freeform 17" id="17"/>
            <p:cNvSpPr/>
            <p:nvPr/>
          </p:nvSpPr>
          <p:spPr>
            <a:xfrm flipH="false" flipV="false" rot="0">
              <a:off x="0" y="0"/>
              <a:ext cx="228600" cy="38100"/>
            </a:xfrm>
            <a:custGeom>
              <a:avLst/>
              <a:gdLst/>
              <a:ahLst/>
              <a:cxnLst/>
              <a:rect r="r" b="b" t="t" l="l"/>
              <a:pathLst>
                <a:path h="38100" w="228600">
                  <a:moveTo>
                    <a:pt x="19050" y="0"/>
                  </a:moveTo>
                  <a:lnTo>
                    <a:pt x="209550" y="0"/>
                  </a:lnTo>
                  <a:cubicBezTo>
                    <a:pt x="220091" y="0"/>
                    <a:pt x="228600" y="8509"/>
                    <a:pt x="228600" y="19050"/>
                  </a:cubicBezTo>
                  <a:cubicBezTo>
                    <a:pt x="228600" y="29591"/>
                    <a:pt x="220091" y="38100"/>
                    <a:pt x="209550" y="38100"/>
                  </a:cubicBezTo>
                  <a:lnTo>
                    <a:pt x="19050" y="38100"/>
                  </a:lnTo>
                  <a:cubicBezTo>
                    <a:pt x="8509" y="38100"/>
                    <a:pt x="0" y="29591"/>
                    <a:pt x="0" y="19050"/>
                  </a:cubicBezTo>
                  <a:cubicBezTo>
                    <a:pt x="0" y="8509"/>
                    <a:pt x="8509" y="0"/>
                    <a:pt x="19050" y="0"/>
                  </a:cubicBezTo>
                  <a:close/>
                </a:path>
              </a:pathLst>
            </a:custGeom>
            <a:solidFill>
              <a:srgbClr val="0A2A66"/>
            </a:solidFill>
          </p:spPr>
        </p:sp>
      </p:grpSp>
      <p:sp>
        <p:nvSpPr>
          <p:cNvPr name="TextBox 18" id="18"/>
          <p:cNvSpPr txBox="true"/>
          <p:nvPr/>
        </p:nvSpPr>
        <p:spPr>
          <a:xfrm rot="0">
            <a:off x="6610350" y="2895600"/>
            <a:ext cx="4972050" cy="430911"/>
          </a:xfrm>
          <a:prstGeom prst="rect">
            <a:avLst/>
          </a:prstGeom>
        </p:spPr>
        <p:txBody>
          <a:bodyPr anchor="t" rtlCol="false" tIns="0" lIns="0" bIns="0" rIns="0">
            <a:spAutoFit/>
          </a:bodyPr>
          <a:lstStyle/>
          <a:p>
            <a:pPr algn="ctr" marL="0" indent="0" lvl="0">
              <a:lnSpc>
                <a:spcPts val="3476"/>
              </a:lnSpc>
              <a:spcBef>
                <a:spcPct val="0"/>
              </a:spcBef>
            </a:pPr>
            <a:r>
              <a:rPr lang="en-US" sz="2850" strike="noStrike" u="none">
                <a:solidFill>
                  <a:srgbClr val="0A2A66"/>
                </a:solidFill>
                <a:latin typeface="DM Sans"/>
                <a:ea typeface="DM Sans"/>
                <a:cs typeface="DM Sans"/>
                <a:sym typeface="DM Sans"/>
              </a:rPr>
              <a:t>Share an idea</a:t>
            </a:r>
          </a:p>
        </p:txBody>
      </p:sp>
      <p:sp>
        <p:nvSpPr>
          <p:cNvPr name="AutoShape 19" id="19"/>
          <p:cNvSpPr/>
          <p:nvPr/>
        </p:nvSpPr>
        <p:spPr>
          <a:xfrm rot="0">
            <a:off x="609600" y="3686175"/>
            <a:ext cx="10972800" cy="9525"/>
          </a:xfrm>
          <a:prstGeom prst="rect">
            <a:avLst/>
          </a:prstGeom>
          <a:solidFill>
            <a:srgbClr val="CCD7E4"/>
          </a:solidFill>
        </p:spPr>
      </p:sp>
      <p:sp>
        <p:nvSpPr>
          <p:cNvPr name="TextBox 20" id="20"/>
          <p:cNvSpPr txBox="true"/>
          <p:nvPr/>
        </p:nvSpPr>
        <p:spPr>
          <a:xfrm rot="0">
            <a:off x="609600" y="3857625"/>
            <a:ext cx="5000625" cy="566738"/>
          </a:xfrm>
          <a:prstGeom prst="rect">
            <a:avLst/>
          </a:prstGeom>
        </p:spPr>
        <p:txBody>
          <a:bodyPr anchor="t" rtlCol="false" tIns="0" lIns="0" bIns="0" rIns="0">
            <a:spAutoFit/>
          </a:bodyPr>
          <a:lstStyle/>
          <a:p>
            <a:pPr algn="ctr" marL="0" indent="0" lvl="0">
              <a:lnSpc>
                <a:spcPts val="2287"/>
              </a:lnSpc>
              <a:spcBef>
                <a:spcPct val="0"/>
              </a:spcBef>
            </a:pPr>
            <a:r>
              <a:rPr lang="en-US" sz="1875" strike="noStrike" u="none">
                <a:solidFill>
                  <a:srgbClr val="0A2A66"/>
                </a:solidFill>
                <a:latin typeface="DM Sans"/>
                <a:ea typeface="DM Sans"/>
                <a:cs typeface="DM Sans"/>
                <a:sym typeface="DM Sans"/>
              </a:rPr>
              <a:t>Public topic links will let learners</a:t>
            </a:r>
          </a:p>
          <a:p>
            <a:pPr algn="ctr" marL="0" indent="0" lvl="0">
              <a:lnSpc>
                <a:spcPts val="2287"/>
              </a:lnSpc>
              <a:spcBef>
                <a:spcPct val="0"/>
              </a:spcBef>
            </a:pPr>
            <a:r>
              <a:rPr lang="en-US" sz="1875" strike="noStrike" u="none">
                <a:solidFill>
                  <a:srgbClr val="0A2A66"/>
                </a:solidFill>
                <a:latin typeface="DM Sans"/>
                <a:ea typeface="DM Sans"/>
                <a:cs typeface="DM Sans"/>
                <a:sym typeface="DM Sans"/>
              </a:rPr>
              <a:t>open an idea without a Dunlo account.</a:t>
            </a:r>
          </a:p>
        </p:txBody>
      </p:sp>
      <p:sp>
        <p:nvSpPr>
          <p:cNvPr name="AutoShape 21" id="21"/>
          <p:cNvSpPr/>
          <p:nvPr/>
        </p:nvSpPr>
        <p:spPr>
          <a:xfrm rot="0">
            <a:off x="4981575" y="4191000"/>
            <a:ext cx="981075" cy="38100"/>
          </a:xfrm>
          <a:prstGeom prst="rect">
            <a:avLst/>
          </a:prstGeom>
          <a:solidFill>
            <a:srgbClr val="C96331"/>
          </a:solidFill>
        </p:spPr>
      </p:sp>
      <p:grpSp>
        <p:nvGrpSpPr>
          <p:cNvPr name="Group 22" id="22"/>
          <p:cNvGrpSpPr/>
          <p:nvPr/>
        </p:nvGrpSpPr>
        <p:grpSpPr>
          <a:xfrm rot="1840140">
            <a:off x="5904833" y="4155376"/>
            <a:ext cx="171450" cy="28575"/>
            <a:chOff x="0" y="0"/>
            <a:chExt cx="228600" cy="38100"/>
          </a:xfrm>
        </p:grpSpPr>
        <p:sp>
          <p:nvSpPr>
            <p:cNvPr name="Freeform 23" id="23"/>
            <p:cNvSpPr/>
            <p:nvPr/>
          </p:nvSpPr>
          <p:spPr>
            <a:xfrm flipH="false" flipV="false" rot="0">
              <a:off x="0" y="0"/>
              <a:ext cx="228600" cy="38100"/>
            </a:xfrm>
            <a:custGeom>
              <a:avLst/>
              <a:gdLst/>
              <a:ahLst/>
              <a:cxnLst/>
              <a:rect r="r" b="b" t="t" l="l"/>
              <a:pathLst>
                <a:path h="38100" w="228600">
                  <a:moveTo>
                    <a:pt x="19050" y="0"/>
                  </a:moveTo>
                  <a:lnTo>
                    <a:pt x="209550" y="0"/>
                  </a:lnTo>
                  <a:cubicBezTo>
                    <a:pt x="220091" y="0"/>
                    <a:pt x="228600" y="8509"/>
                    <a:pt x="228600" y="19050"/>
                  </a:cubicBezTo>
                  <a:cubicBezTo>
                    <a:pt x="228600" y="29591"/>
                    <a:pt x="220091" y="38100"/>
                    <a:pt x="209550" y="38100"/>
                  </a:cubicBezTo>
                  <a:lnTo>
                    <a:pt x="19050" y="38100"/>
                  </a:lnTo>
                  <a:cubicBezTo>
                    <a:pt x="8509" y="38100"/>
                    <a:pt x="0" y="29591"/>
                    <a:pt x="0" y="19050"/>
                  </a:cubicBezTo>
                  <a:cubicBezTo>
                    <a:pt x="0" y="8509"/>
                    <a:pt x="8509" y="0"/>
                    <a:pt x="19050" y="0"/>
                  </a:cubicBezTo>
                  <a:close/>
                </a:path>
              </a:pathLst>
            </a:custGeom>
            <a:solidFill>
              <a:srgbClr val="C96331"/>
            </a:solidFill>
          </p:spPr>
        </p:sp>
      </p:grpSp>
      <p:grpSp>
        <p:nvGrpSpPr>
          <p:cNvPr name="Group 24" id="24"/>
          <p:cNvGrpSpPr/>
          <p:nvPr/>
        </p:nvGrpSpPr>
        <p:grpSpPr>
          <a:xfrm rot="8959860">
            <a:off x="5896737" y="4241102"/>
            <a:ext cx="171450" cy="28575"/>
            <a:chOff x="0" y="0"/>
            <a:chExt cx="228600" cy="38100"/>
          </a:xfrm>
        </p:grpSpPr>
        <p:sp>
          <p:nvSpPr>
            <p:cNvPr name="Freeform 25" id="25"/>
            <p:cNvSpPr/>
            <p:nvPr/>
          </p:nvSpPr>
          <p:spPr>
            <a:xfrm flipH="false" flipV="false" rot="0">
              <a:off x="0" y="0"/>
              <a:ext cx="228600" cy="38100"/>
            </a:xfrm>
            <a:custGeom>
              <a:avLst/>
              <a:gdLst/>
              <a:ahLst/>
              <a:cxnLst/>
              <a:rect r="r" b="b" t="t" l="l"/>
              <a:pathLst>
                <a:path h="38100" w="228600">
                  <a:moveTo>
                    <a:pt x="19050" y="0"/>
                  </a:moveTo>
                  <a:lnTo>
                    <a:pt x="209550" y="0"/>
                  </a:lnTo>
                  <a:cubicBezTo>
                    <a:pt x="220091" y="0"/>
                    <a:pt x="228600" y="8509"/>
                    <a:pt x="228600" y="19050"/>
                  </a:cubicBezTo>
                  <a:cubicBezTo>
                    <a:pt x="228600" y="29591"/>
                    <a:pt x="220091" y="38100"/>
                    <a:pt x="209550" y="38100"/>
                  </a:cubicBezTo>
                  <a:lnTo>
                    <a:pt x="19050" y="38100"/>
                  </a:lnTo>
                  <a:cubicBezTo>
                    <a:pt x="8509" y="38100"/>
                    <a:pt x="0" y="29591"/>
                    <a:pt x="0" y="19050"/>
                  </a:cubicBezTo>
                  <a:cubicBezTo>
                    <a:pt x="0" y="8509"/>
                    <a:pt x="8509" y="0"/>
                    <a:pt x="19050" y="0"/>
                  </a:cubicBezTo>
                  <a:close/>
                </a:path>
              </a:pathLst>
            </a:custGeom>
            <a:solidFill>
              <a:srgbClr val="C96331"/>
            </a:solidFill>
          </p:spPr>
        </p:sp>
      </p:grpSp>
      <p:sp>
        <p:nvSpPr>
          <p:cNvPr name="TextBox 26" id="26"/>
          <p:cNvSpPr txBox="true"/>
          <p:nvPr/>
        </p:nvSpPr>
        <p:spPr>
          <a:xfrm rot="0">
            <a:off x="6610350" y="3857625"/>
            <a:ext cx="4972050" cy="566738"/>
          </a:xfrm>
          <a:prstGeom prst="rect">
            <a:avLst/>
          </a:prstGeom>
        </p:spPr>
        <p:txBody>
          <a:bodyPr anchor="t" rtlCol="false" tIns="0" lIns="0" bIns="0" rIns="0">
            <a:spAutoFit/>
          </a:bodyPr>
          <a:lstStyle/>
          <a:p>
            <a:pPr algn="ctr" marL="0" indent="0" lvl="0">
              <a:lnSpc>
                <a:spcPts val="2287"/>
              </a:lnSpc>
              <a:spcBef>
                <a:spcPct val="0"/>
              </a:spcBef>
            </a:pPr>
            <a:r>
              <a:rPr lang="en-US" sz="1875" strike="noStrike" u="none">
                <a:solidFill>
                  <a:srgbClr val="0A2A66"/>
                </a:solidFill>
                <a:latin typeface="DM Sans"/>
                <a:ea typeface="DM Sans"/>
                <a:cs typeface="DM Sans"/>
                <a:sym typeface="DM Sans"/>
              </a:rPr>
              <a:t>Save and share a specific challenge</a:t>
            </a:r>
          </a:p>
          <a:p>
            <a:pPr algn="ctr" marL="0" indent="0" lvl="0">
              <a:lnSpc>
                <a:spcPts val="2287"/>
              </a:lnSpc>
              <a:spcBef>
                <a:spcPct val="0"/>
              </a:spcBef>
            </a:pPr>
            <a:r>
              <a:rPr lang="en-US" sz="1875" strike="noStrike" u="none">
                <a:solidFill>
                  <a:srgbClr val="0A2A66"/>
                </a:solidFill>
                <a:latin typeface="DM Sans"/>
                <a:ea typeface="DM Sans"/>
                <a:cs typeface="DM Sans"/>
                <a:sym typeface="DM Sans"/>
              </a:rPr>
              <a:t>to give someone a useful starting point.</a:t>
            </a:r>
          </a:p>
        </p:txBody>
      </p:sp>
      <p:sp>
        <p:nvSpPr>
          <p:cNvPr name="AutoShape 27" id="27"/>
          <p:cNvSpPr/>
          <p:nvPr/>
        </p:nvSpPr>
        <p:spPr>
          <a:xfrm rot="0">
            <a:off x="609600" y="4772025"/>
            <a:ext cx="10972800" cy="9525"/>
          </a:xfrm>
          <a:prstGeom prst="rect">
            <a:avLst/>
          </a:prstGeom>
          <a:solidFill>
            <a:srgbClr val="CCD7E4"/>
          </a:solidFill>
        </p:spPr>
      </p:sp>
      <p:sp>
        <p:nvSpPr>
          <p:cNvPr name="TextBox 28" id="28"/>
          <p:cNvSpPr txBox="true"/>
          <p:nvPr/>
        </p:nvSpPr>
        <p:spPr>
          <a:xfrm rot="0">
            <a:off x="609600" y="5076825"/>
            <a:ext cx="4191000" cy="280797"/>
          </a:xfrm>
          <a:prstGeom prst="rect">
            <a:avLst/>
          </a:prstGeom>
        </p:spPr>
        <p:txBody>
          <a:bodyPr anchor="t" rtlCol="false" tIns="0" lIns="0" bIns="0" rIns="0">
            <a:spAutoFit/>
          </a:bodyPr>
          <a:lstStyle/>
          <a:p>
            <a:pPr algn="ctr" marL="0" indent="0" lvl="0">
              <a:lnSpc>
                <a:spcPts val="2379"/>
              </a:lnSpc>
              <a:spcBef>
                <a:spcPct val="0"/>
              </a:spcBef>
            </a:pPr>
            <a:r>
              <a:rPr lang="en-US" sz="1950" strike="noStrike" u="none">
                <a:solidFill>
                  <a:srgbClr val="0A2A66"/>
                </a:solidFill>
                <a:latin typeface="DM Sans"/>
                <a:ea typeface="DM Sans"/>
                <a:cs typeface="DM Sans"/>
                <a:sym typeface="DM Sans"/>
              </a:rPr>
              <a:t>Launch with short demo posts</a:t>
            </a:r>
          </a:p>
        </p:txBody>
      </p:sp>
      <p:sp>
        <p:nvSpPr>
          <p:cNvPr name="AutoShape 29" id="29"/>
          <p:cNvSpPr/>
          <p:nvPr/>
        </p:nvSpPr>
        <p:spPr>
          <a:xfrm rot="0">
            <a:off x="4981575" y="5276850"/>
            <a:ext cx="981075" cy="38100"/>
          </a:xfrm>
          <a:prstGeom prst="rect">
            <a:avLst/>
          </a:prstGeom>
          <a:solidFill>
            <a:srgbClr val="14BF96"/>
          </a:solidFill>
        </p:spPr>
      </p:sp>
      <p:grpSp>
        <p:nvGrpSpPr>
          <p:cNvPr name="Group 30" id="30"/>
          <p:cNvGrpSpPr/>
          <p:nvPr/>
        </p:nvGrpSpPr>
        <p:grpSpPr>
          <a:xfrm rot="1840140">
            <a:off x="5904833" y="5241226"/>
            <a:ext cx="171450" cy="28575"/>
            <a:chOff x="0" y="0"/>
            <a:chExt cx="228600" cy="38100"/>
          </a:xfrm>
        </p:grpSpPr>
        <p:sp>
          <p:nvSpPr>
            <p:cNvPr name="Freeform 31" id="31"/>
            <p:cNvSpPr/>
            <p:nvPr/>
          </p:nvSpPr>
          <p:spPr>
            <a:xfrm flipH="false" flipV="false" rot="0">
              <a:off x="0" y="0"/>
              <a:ext cx="228600" cy="38100"/>
            </a:xfrm>
            <a:custGeom>
              <a:avLst/>
              <a:gdLst/>
              <a:ahLst/>
              <a:cxnLst/>
              <a:rect r="r" b="b" t="t" l="l"/>
              <a:pathLst>
                <a:path h="38100" w="228600">
                  <a:moveTo>
                    <a:pt x="19050" y="0"/>
                  </a:moveTo>
                  <a:lnTo>
                    <a:pt x="209550" y="0"/>
                  </a:lnTo>
                  <a:cubicBezTo>
                    <a:pt x="220091" y="0"/>
                    <a:pt x="228600" y="8509"/>
                    <a:pt x="228600" y="19050"/>
                  </a:cubicBezTo>
                  <a:cubicBezTo>
                    <a:pt x="228600" y="29591"/>
                    <a:pt x="220091" y="38100"/>
                    <a:pt x="209550" y="38100"/>
                  </a:cubicBezTo>
                  <a:lnTo>
                    <a:pt x="19050" y="38100"/>
                  </a:lnTo>
                  <a:cubicBezTo>
                    <a:pt x="8509" y="38100"/>
                    <a:pt x="0" y="29591"/>
                    <a:pt x="0" y="19050"/>
                  </a:cubicBezTo>
                  <a:cubicBezTo>
                    <a:pt x="0" y="8509"/>
                    <a:pt x="8509" y="0"/>
                    <a:pt x="19050" y="0"/>
                  </a:cubicBezTo>
                  <a:close/>
                </a:path>
              </a:pathLst>
            </a:custGeom>
            <a:solidFill>
              <a:srgbClr val="14BF96"/>
            </a:solidFill>
          </p:spPr>
        </p:sp>
      </p:grpSp>
      <p:grpSp>
        <p:nvGrpSpPr>
          <p:cNvPr name="Group 32" id="32"/>
          <p:cNvGrpSpPr/>
          <p:nvPr/>
        </p:nvGrpSpPr>
        <p:grpSpPr>
          <a:xfrm rot="8959860">
            <a:off x="5896737" y="5326952"/>
            <a:ext cx="171450" cy="28575"/>
            <a:chOff x="0" y="0"/>
            <a:chExt cx="228600" cy="38100"/>
          </a:xfrm>
        </p:grpSpPr>
        <p:sp>
          <p:nvSpPr>
            <p:cNvPr name="Freeform 33" id="33"/>
            <p:cNvSpPr/>
            <p:nvPr/>
          </p:nvSpPr>
          <p:spPr>
            <a:xfrm flipH="false" flipV="false" rot="0">
              <a:off x="0" y="0"/>
              <a:ext cx="228600" cy="38100"/>
            </a:xfrm>
            <a:custGeom>
              <a:avLst/>
              <a:gdLst/>
              <a:ahLst/>
              <a:cxnLst/>
              <a:rect r="r" b="b" t="t" l="l"/>
              <a:pathLst>
                <a:path h="38100" w="228600">
                  <a:moveTo>
                    <a:pt x="19050" y="0"/>
                  </a:moveTo>
                  <a:lnTo>
                    <a:pt x="209550" y="0"/>
                  </a:lnTo>
                  <a:cubicBezTo>
                    <a:pt x="220091" y="0"/>
                    <a:pt x="228600" y="8509"/>
                    <a:pt x="228600" y="19050"/>
                  </a:cubicBezTo>
                  <a:cubicBezTo>
                    <a:pt x="228600" y="29591"/>
                    <a:pt x="220091" y="38100"/>
                    <a:pt x="209550" y="38100"/>
                  </a:cubicBezTo>
                  <a:lnTo>
                    <a:pt x="19050" y="38100"/>
                  </a:lnTo>
                  <a:cubicBezTo>
                    <a:pt x="8509" y="38100"/>
                    <a:pt x="0" y="29591"/>
                    <a:pt x="0" y="19050"/>
                  </a:cubicBezTo>
                  <a:cubicBezTo>
                    <a:pt x="0" y="8509"/>
                    <a:pt x="8509" y="0"/>
                    <a:pt x="19050" y="0"/>
                  </a:cubicBezTo>
                  <a:close/>
                </a:path>
              </a:pathLst>
            </a:custGeom>
            <a:solidFill>
              <a:srgbClr val="14BF96"/>
            </a:solidFill>
          </p:spPr>
        </p:sp>
      </p:grpSp>
      <p:sp>
        <p:nvSpPr>
          <p:cNvPr name="TextBox 34" id="34"/>
          <p:cNvSpPr txBox="true"/>
          <p:nvPr/>
        </p:nvSpPr>
        <p:spPr>
          <a:xfrm rot="0">
            <a:off x="6610350" y="5076825"/>
            <a:ext cx="4972050" cy="280797"/>
          </a:xfrm>
          <a:prstGeom prst="rect">
            <a:avLst/>
          </a:prstGeom>
        </p:spPr>
        <p:txBody>
          <a:bodyPr anchor="t" rtlCol="false" tIns="0" lIns="0" bIns="0" rIns="0">
            <a:spAutoFit/>
          </a:bodyPr>
          <a:lstStyle/>
          <a:p>
            <a:pPr algn="ctr" marL="0" indent="0" lvl="0">
              <a:lnSpc>
                <a:spcPts val="2379"/>
              </a:lnSpc>
              <a:spcBef>
                <a:spcPct val="0"/>
              </a:spcBef>
            </a:pPr>
            <a:r>
              <a:rPr lang="en-US" sz="1950" strike="noStrike" u="none">
                <a:solidFill>
                  <a:srgbClr val="0A2A66"/>
                </a:solidFill>
                <a:latin typeface="DM Sans"/>
                <a:ea typeface="DM Sans"/>
                <a:cs typeface="DM Sans"/>
                <a:sym typeface="DM Sans"/>
              </a:rPr>
              <a:t>Link each post to the matching idea</a:t>
            </a:r>
          </a:p>
        </p:txBody>
      </p:sp>
      <p:sp>
        <p:nvSpPr>
          <p:cNvPr name="TextBox 35" id="35"/>
          <p:cNvSpPr txBox="true"/>
          <p:nvPr/>
        </p:nvSpPr>
        <p:spPr>
          <a:xfrm rot="0">
            <a:off x="609600" y="6191250"/>
            <a:ext cx="10572750" cy="234315"/>
          </a:xfrm>
          <a:prstGeom prst="rect">
            <a:avLst/>
          </a:prstGeom>
        </p:spPr>
        <p:txBody>
          <a:bodyPr anchor="t" rtlCol="false" tIns="0" lIns="0" bIns="0" rIns="0">
            <a:spAutoFit/>
          </a:bodyPr>
          <a:lstStyle/>
          <a:p>
            <a:pPr algn="l" marL="0" indent="0" lvl="0">
              <a:lnSpc>
                <a:spcPts val="1830"/>
              </a:lnSpc>
              <a:spcBef>
                <a:spcPct val="0"/>
              </a:spcBef>
            </a:pPr>
            <a:r>
              <a:rPr lang="en-US" sz="1500" strike="noStrike" u="none">
                <a:solidFill>
                  <a:srgbClr val="0A2A66"/>
                </a:solidFill>
                <a:latin typeface="DM Sans"/>
                <a:ea typeface="DM Sans"/>
                <a:cs typeface="DM Sans"/>
                <a:sym typeface="DM Sans"/>
              </a:rPr>
              <a:t>Start online through public sharing; future school or community use can extend this model.</a:t>
            </a:r>
          </a:p>
        </p:txBody>
      </p:sp>
      <p:sp>
        <p:nvSpPr>
          <p:cNvPr name="AutoShape 36" id="36"/>
          <p:cNvSpPr/>
          <p:nvPr/>
        </p:nvSpPr>
        <p:spPr>
          <a:xfrm>
            <a:off x="609600" y="1381125"/>
            <a:ext cx="10972800" cy="0"/>
          </a:xfrm>
          <a:prstGeom prst="line">
            <a:avLst/>
          </a:prstGeom>
          <a:ln cap="flat" w="19050">
            <a:solidFill>
              <a:srgbClr val="CCD7E4"/>
            </a:solidFill>
            <a:prstDash val="solid"/>
            <a:headEnd type="none" len="sm" w="sm"/>
            <a:tailEnd type="none" len="sm" w="sm"/>
          </a:ln>
        </p:spPr>
      </p:sp>
      <p:sp>
        <p:nvSpPr>
          <p:cNvPr name="Freeform 37" id="37" descr="Dunlo"/>
          <p:cNvSpPr/>
          <p:nvPr/>
        </p:nvSpPr>
        <p:spPr>
          <a:xfrm flipH="false" flipV="false" rot="0">
            <a:off x="609600" y="38100"/>
            <a:ext cx="1571625" cy="521160"/>
          </a:xfrm>
          <a:custGeom>
            <a:avLst/>
            <a:gdLst/>
            <a:ahLst/>
            <a:cxnLst/>
            <a:rect r="r" b="b" t="t" l="l"/>
            <a:pathLst>
              <a:path h="521160" w="1571625">
                <a:moveTo>
                  <a:pt x="0" y="0"/>
                </a:moveTo>
                <a:lnTo>
                  <a:pt x="1571625" y="0"/>
                </a:lnTo>
                <a:lnTo>
                  <a:pt x="1571625" y="521160"/>
                </a:lnTo>
                <a:lnTo>
                  <a:pt x="0" y="5211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8" id="38"/>
          <p:cNvSpPr/>
          <p:nvPr/>
        </p:nvSpPr>
        <p:spPr>
          <a:xfrm flipH="false" flipV="false" rot="0">
            <a:off x="9429750" y="323850"/>
            <a:ext cx="2152650" cy="133350"/>
          </a:xfrm>
          <a:custGeom>
            <a:avLst/>
            <a:gdLst/>
            <a:ahLst/>
            <a:cxnLst/>
            <a:rect r="r" b="b" t="t" l="l"/>
            <a:pathLst>
              <a:path h="133350" w="2152650">
                <a:moveTo>
                  <a:pt x="0" y="0"/>
                </a:moveTo>
                <a:lnTo>
                  <a:pt x="2152650" y="0"/>
                </a:lnTo>
                <a:lnTo>
                  <a:pt x="2152650" y="133350"/>
                </a:lnTo>
                <a:lnTo>
                  <a:pt x="0" y="133350"/>
                </a:lnTo>
                <a:lnTo>
                  <a:pt x="0" y="0"/>
                </a:lnTo>
                <a:close/>
              </a:path>
            </a:pathLst>
          </a:custGeom>
          <a:blipFill>
            <a:blip r:embed="rId9">
              <a:extLst>
                <a:ext uri="{96DAC541-7B7A-43D3-8B79-37D633B846F1}">
                  <asvg:svgBlip xmlns:asvg="http://schemas.microsoft.com/office/drawing/2016/SVG/main" r:embed="rId10"/>
                </a:ext>
              </a:extLst>
            </a:blip>
            <a:stretch>
              <a:fillRect l="0" t="-1363" r="0" b="-1363"/>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2192000" cy="6858000"/>
          </a:xfrm>
          <a:prstGeom prst="rect">
            <a:avLst/>
          </a:prstGeom>
          <a:solidFill>
            <a:srgbClr val="FFFFFF"/>
          </a:solidFill>
        </p:spPr>
      </p:sp>
      <p:grpSp>
        <p:nvGrpSpPr>
          <p:cNvPr name="Group 3" id="3"/>
          <p:cNvGrpSpPr/>
          <p:nvPr/>
        </p:nvGrpSpPr>
        <p:grpSpPr>
          <a:xfrm rot="0">
            <a:off x="0" y="0"/>
            <a:ext cx="12192000" cy="6858000"/>
            <a:chOff x="0" y="0"/>
            <a:chExt cx="16256000" cy="9144000"/>
          </a:xfrm>
        </p:grpSpPr>
        <p:sp>
          <p:nvSpPr>
            <p:cNvPr name="Freeform 4" id="4"/>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3"/>
              <a:stretch>
                <a:fillRect l="0" t="0" r="0" b="0"/>
              </a:stretch>
            </a:blipFill>
          </p:spPr>
        </p:sp>
      </p:grpSp>
      <p:grpSp>
        <p:nvGrpSpPr>
          <p:cNvPr name="Group 5" id="5"/>
          <p:cNvGrpSpPr/>
          <p:nvPr/>
        </p:nvGrpSpPr>
        <p:grpSpPr>
          <a:xfrm rot="0">
            <a:off x="0" y="0"/>
            <a:ext cx="12192000" cy="6858000"/>
            <a:chOff x="0" y="0"/>
            <a:chExt cx="16256000" cy="9144000"/>
          </a:xfrm>
        </p:grpSpPr>
        <p:sp>
          <p:nvSpPr>
            <p:cNvPr name="Freeform 6" id="6"/>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887200" y="0"/>
              <a:ext cx="3556000" cy="803656"/>
            </a:xfrm>
            <a:custGeom>
              <a:avLst/>
              <a:gdLst/>
              <a:ahLst/>
              <a:cxnLst/>
              <a:rect r="r" b="b" t="t" l="l"/>
              <a:pathLst>
                <a:path h="803656" w="3556000">
                  <a:moveTo>
                    <a:pt x="0" y="0"/>
                  </a:moveTo>
                  <a:lnTo>
                    <a:pt x="3556000" y="0"/>
                  </a:lnTo>
                  <a:lnTo>
                    <a:pt x="3556000" y="803656"/>
                  </a:lnTo>
                  <a:lnTo>
                    <a:pt x="0" y="803656"/>
                  </a:lnTo>
                  <a:lnTo>
                    <a:pt x="0" y="0"/>
                  </a:lnTo>
                  <a:close/>
                </a:path>
              </a:pathLst>
            </a:custGeom>
            <a:blipFill>
              <a:blip r:embed="rId6"/>
              <a:stretch>
                <a:fillRect l="0" t="0" r="0" b="0"/>
              </a:stretch>
            </a:blipFill>
          </p:spPr>
        </p:sp>
      </p:grpSp>
      <p:sp>
        <p:nvSpPr>
          <p:cNvPr name="TextBox 8" id="8"/>
          <p:cNvSpPr txBox="true"/>
          <p:nvPr/>
        </p:nvSpPr>
        <p:spPr>
          <a:xfrm rot="0">
            <a:off x="11239500" y="6353175"/>
            <a:ext cx="428625" cy="168592"/>
          </a:xfrm>
          <a:prstGeom prst="rect">
            <a:avLst/>
          </a:prstGeom>
        </p:spPr>
        <p:txBody>
          <a:bodyPr anchor="t" rtlCol="false" tIns="0" lIns="0" bIns="0" rIns="0">
            <a:spAutoFit/>
          </a:bodyPr>
          <a:lstStyle/>
          <a:p>
            <a:pPr algn="l" marL="0" indent="0" lvl="0">
              <a:lnSpc>
                <a:spcPts val="1372"/>
              </a:lnSpc>
              <a:spcBef>
                <a:spcPct val="0"/>
              </a:spcBef>
            </a:pPr>
            <a:r>
              <a:rPr lang="en-US" sz="1125" strike="noStrike" u="none">
                <a:solidFill>
                  <a:srgbClr val="0A2A66"/>
                </a:solidFill>
                <a:latin typeface="DM Sans"/>
                <a:ea typeface="DM Sans"/>
                <a:cs typeface="DM Sans"/>
                <a:sym typeface="DM Sans"/>
              </a:rPr>
              <a:t>12</a:t>
            </a:r>
          </a:p>
        </p:txBody>
      </p:sp>
      <p:sp>
        <p:nvSpPr>
          <p:cNvPr name="TextBox 9" id="9"/>
          <p:cNvSpPr txBox="true"/>
          <p:nvPr/>
        </p:nvSpPr>
        <p:spPr>
          <a:xfrm rot="0">
            <a:off x="609600" y="866775"/>
            <a:ext cx="10972800" cy="487299"/>
          </a:xfrm>
          <a:prstGeom prst="rect">
            <a:avLst/>
          </a:prstGeom>
        </p:spPr>
        <p:txBody>
          <a:bodyPr anchor="t" rtlCol="false" tIns="0" lIns="0" bIns="0" rIns="0">
            <a:spAutoFit/>
          </a:bodyPr>
          <a:lstStyle/>
          <a:p>
            <a:pPr algn="l" marL="0" indent="0" lvl="0">
              <a:lnSpc>
                <a:spcPts val="3843"/>
              </a:lnSpc>
              <a:spcBef>
                <a:spcPct val="0"/>
              </a:spcBef>
            </a:pPr>
            <a:r>
              <a:rPr lang="en-US" b="true" sz="3150" strike="noStrike" u="none">
                <a:solidFill>
                  <a:srgbClr val="0A2A66"/>
                </a:solidFill>
                <a:latin typeface="DM Sans Bold"/>
                <a:ea typeface="DM Sans Bold"/>
                <a:cs typeface="DM Sans Bold"/>
                <a:sym typeface="DM Sans Bold"/>
              </a:rPr>
              <a:t>A practical launch and growth plan</a:t>
            </a:r>
          </a:p>
        </p:txBody>
      </p:sp>
      <p:sp>
        <p:nvSpPr>
          <p:cNvPr name="AutoShape 10" id="10"/>
          <p:cNvSpPr/>
          <p:nvPr/>
        </p:nvSpPr>
        <p:spPr>
          <a:xfrm rot="0">
            <a:off x="609600" y="2333625"/>
            <a:ext cx="3200400" cy="885825"/>
          </a:xfrm>
          <a:prstGeom prst="rect">
            <a:avLst/>
          </a:prstGeom>
          <a:solidFill>
            <a:srgbClr val="D9F2EA"/>
          </a:solidFill>
        </p:spPr>
      </p:sp>
      <p:sp>
        <p:nvSpPr>
          <p:cNvPr name="TextBox 11" id="11"/>
          <p:cNvSpPr txBox="true"/>
          <p:nvPr/>
        </p:nvSpPr>
        <p:spPr>
          <a:xfrm rot="0">
            <a:off x="762000" y="2371725"/>
            <a:ext cx="2895600" cy="824103"/>
          </a:xfrm>
          <a:prstGeom prst="rect">
            <a:avLst/>
          </a:prstGeom>
        </p:spPr>
        <p:txBody>
          <a:bodyPr anchor="t" rtlCol="false" tIns="0" lIns="0" bIns="0" rIns="0">
            <a:spAutoFit/>
          </a:bodyPr>
          <a:lstStyle/>
          <a:p>
            <a:pPr algn="ctr" marL="0" indent="0" lvl="0">
              <a:lnSpc>
                <a:spcPts val="2196"/>
              </a:lnSpc>
              <a:spcBef>
                <a:spcPct val="0"/>
              </a:spcBef>
            </a:pPr>
            <a:r>
              <a:rPr lang="en-US" sz="1800" strike="noStrike" u="none">
                <a:solidFill>
                  <a:srgbClr val="0A2A66"/>
                </a:solidFill>
                <a:latin typeface="DM Sans"/>
                <a:ea typeface="DM Sans"/>
                <a:cs typeface="DM Sans"/>
                <a:sym typeface="DM Sans"/>
              </a:rPr>
              <a:t>NOV 2026</a:t>
            </a:r>
          </a:p>
          <a:p>
            <a:pPr algn="ctr" marL="0" indent="0" lvl="0">
              <a:lnSpc>
                <a:spcPts val="2196"/>
              </a:lnSpc>
              <a:spcBef>
                <a:spcPct val="0"/>
              </a:spcBef>
            </a:pPr>
            <a:r>
              <a:rPr lang="en-US" sz="1800" strike="noStrike" u="none">
                <a:solidFill>
                  <a:srgbClr val="0A2A66"/>
                </a:solidFill>
                <a:latin typeface="DM Sans"/>
                <a:ea typeface="DM Sans"/>
                <a:cs typeface="DM Sans"/>
                <a:sym typeface="DM Sans"/>
              </a:rPr>
              <a:t>Review content</a:t>
            </a:r>
          </a:p>
          <a:p>
            <a:pPr algn="ctr" marL="0" indent="0" lvl="0">
              <a:lnSpc>
                <a:spcPts val="2196"/>
              </a:lnSpc>
              <a:spcBef>
                <a:spcPct val="0"/>
              </a:spcBef>
            </a:pPr>
            <a:r>
              <a:rPr lang="en-US" sz="1800" strike="noStrike" u="none">
                <a:solidFill>
                  <a:srgbClr val="0A2A66"/>
                </a:solidFill>
                <a:latin typeface="DM Sans"/>
                <a:ea typeface="DM Sans"/>
                <a:cs typeface="DM Sans"/>
                <a:sym typeface="DM Sans"/>
              </a:rPr>
              <a:t>and launch publicly</a:t>
            </a:r>
          </a:p>
        </p:txBody>
      </p:sp>
      <p:sp>
        <p:nvSpPr>
          <p:cNvPr name="AutoShape 12" id="12"/>
          <p:cNvSpPr/>
          <p:nvPr/>
        </p:nvSpPr>
        <p:spPr>
          <a:xfrm rot="0">
            <a:off x="4495800" y="2333625"/>
            <a:ext cx="3200400" cy="885825"/>
          </a:xfrm>
          <a:prstGeom prst="rect">
            <a:avLst/>
          </a:prstGeom>
          <a:solidFill>
            <a:srgbClr val="F0EFFF"/>
          </a:solidFill>
        </p:spPr>
      </p:sp>
      <p:sp>
        <p:nvSpPr>
          <p:cNvPr name="TextBox 13" id="13"/>
          <p:cNvSpPr txBox="true"/>
          <p:nvPr/>
        </p:nvSpPr>
        <p:spPr>
          <a:xfrm rot="0">
            <a:off x="4362450" y="2371725"/>
            <a:ext cx="3467100" cy="824103"/>
          </a:xfrm>
          <a:prstGeom prst="rect">
            <a:avLst/>
          </a:prstGeom>
        </p:spPr>
        <p:txBody>
          <a:bodyPr anchor="t" rtlCol="false" tIns="0" lIns="0" bIns="0" rIns="0">
            <a:spAutoFit/>
          </a:bodyPr>
          <a:lstStyle/>
          <a:p>
            <a:pPr algn="ctr" marL="0" indent="0" lvl="0">
              <a:lnSpc>
                <a:spcPts val="2196"/>
              </a:lnSpc>
              <a:spcBef>
                <a:spcPct val="0"/>
              </a:spcBef>
            </a:pPr>
            <a:r>
              <a:rPr lang="en-US" sz="1800" strike="noStrike" u="none">
                <a:solidFill>
                  <a:srgbClr val="0A2A66"/>
                </a:solidFill>
                <a:latin typeface="DM Sans"/>
                <a:ea typeface="DM Sans"/>
                <a:cs typeface="DM Sans"/>
                <a:sym typeface="DM Sans"/>
              </a:rPr>
              <a:t>DEC 2026–FEB 2027</a:t>
            </a:r>
          </a:p>
          <a:p>
            <a:pPr algn="ctr" marL="0" indent="0" lvl="0">
              <a:lnSpc>
                <a:spcPts val="2196"/>
              </a:lnSpc>
              <a:spcBef>
                <a:spcPct val="0"/>
              </a:spcBef>
            </a:pPr>
            <a:r>
              <a:rPr lang="en-US" sz="1800" strike="noStrike" u="none">
                <a:solidFill>
                  <a:srgbClr val="0A2A66"/>
                </a:solidFill>
                <a:latin typeface="DM Sans"/>
                <a:ea typeface="DM Sans"/>
                <a:cs typeface="DM Sans"/>
                <a:sym typeface="DM Sans"/>
              </a:rPr>
              <a:t>Gather feedback</a:t>
            </a:r>
          </a:p>
          <a:p>
            <a:pPr algn="ctr" marL="0" indent="0" lvl="0">
              <a:lnSpc>
                <a:spcPts val="2196"/>
              </a:lnSpc>
              <a:spcBef>
                <a:spcPct val="0"/>
              </a:spcBef>
            </a:pPr>
            <a:r>
              <a:rPr lang="en-US" sz="1800" strike="noStrike" u="none">
                <a:solidFill>
                  <a:srgbClr val="0A2A66"/>
                </a:solidFill>
                <a:latin typeface="DM Sans"/>
                <a:ea typeface="DM Sans"/>
                <a:cs typeface="DM Sans"/>
                <a:sym typeface="DM Sans"/>
              </a:rPr>
              <a:t>and refine the flow</a:t>
            </a:r>
          </a:p>
        </p:txBody>
      </p:sp>
      <p:sp>
        <p:nvSpPr>
          <p:cNvPr name="AutoShape 14" id="14"/>
          <p:cNvSpPr/>
          <p:nvPr/>
        </p:nvSpPr>
        <p:spPr>
          <a:xfrm rot="0">
            <a:off x="8382000" y="2333625"/>
            <a:ext cx="3200400" cy="885825"/>
          </a:xfrm>
          <a:prstGeom prst="rect">
            <a:avLst/>
          </a:prstGeom>
          <a:solidFill>
            <a:srgbClr val="D9F2EA"/>
          </a:solidFill>
        </p:spPr>
      </p:sp>
      <p:sp>
        <p:nvSpPr>
          <p:cNvPr name="TextBox 15" id="15"/>
          <p:cNvSpPr txBox="true"/>
          <p:nvPr/>
        </p:nvSpPr>
        <p:spPr>
          <a:xfrm rot="0">
            <a:off x="8248650" y="2371725"/>
            <a:ext cx="3467100" cy="824103"/>
          </a:xfrm>
          <a:prstGeom prst="rect">
            <a:avLst/>
          </a:prstGeom>
        </p:spPr>
        <p:txBody>
          <a:bodyPr anchor="t" rtlCol="false" tIns="0" lIns="0" bIns="0" rIns="0">
            <a:spAutoFit/>
          </a:bodyPr>
          <a:lstStyle/>
          <a:p>
            <a:pPr algn="ctr" marL="0" indent="0" lvl="0">
              <a:lnSpc>
                <a:spcPts val="2196"/>
              </a:lnSpc>
              <a:spcBef>
                <a:spcPct val="0"/>
              </a:spcBef>
            </a:pPr>
            <a:r>
              <a:rPr lang="en-US" sz="1800" strike="noStrike" u="none">
                <a:solidFill>
                  <a:srgbClr val="0A2A66"/>
                </a:solidFill>
                <a:latin typeface="DM Sans"/>
                <a:ea typeface="DM Sans"/>
                <a:cs typeface="DM Sans"/>
                <a:sym typeface="DM Sans"/>
              </a:rPr>
              <a:t>MAR 2027</a:t>
            </a:r>
          </a:p>
          <a:p>
            <a:pPr algn="ctr" marL="0" indent="0" lvl="0">
              <a:lnSpc>
                <a:spcPts val="2196"/>
              </a:lnSpc>
              <a:spcBef>
                <a:spcPct val="0"/>
              </a:spcBef>
            </a:pPr>
            <a:r>
              <a:rPr lang="en-US" sz="1800" strike="noStrike" u="none">
                <a:solidFill>
                  <a:srgbClr val="0A2A66"/>
                </a:solidFill>
                <a:latin typeface="DM Sans"/>
                <a:ea typeface="DM Sans"/>
                <a:cs typeface="DM Sans"/>
                <a:sym typeface="DM Sans"/>
              </a:rPr>
              <a:t>Evaluate use</a:t>
            </a:r>
          </a:p>
          <a:p>
            <a:pPr algn="ctr" marL="0" indent="0" lvl="0">
              <a:lnSpc>
                <a:spcPts val="2196"/>
              </a:lnSpc>
              <a:spcBef>
                <a:spcPct val="0"/>
              </a:spcBef>
            </a:pPr>
            <a:r>
              <a:rPr lang="en-US" sz="1800" strike="noStrike" u="none">
                <a:solidFill>
                  <a:srgbClr val="0A2A66"/>
                </a:solidFill>
                <a:latin typeface="DM Sans"/>
                <a:ea typeface="DM Sans"/>
                <a:cs typeface="DM Sans"/>
                <a:sym typeface="DM Sans"/>
              </a:rPr>
              <a:t>and plan continuation</a:t>
            </a:r>
          </a:p>
        </p:txBody>
      </p:sp>
      <p:sp>
        <p:nvSpPr>
          <p:cNvPr name="TextBox 16" id="16"/>
          <p:cNvSpPr txBox="true"/>
          <p:nvPr/>
        </p:nvSpPr>
        <p:spPr>
          <a:xfrm rot="0">
            <a:off x="609600" y="3905250"/>
            <a:ext cx="10972800" cy="374904"/>
          </a:xfrm>
          <a:prstGeom prst="rect">
            <a:avLst/>
          </a:prstGeom>
        </p:spPr>
        <p:txBody>
          <a:bodyPr anchor="t" rtlCol="false" tIns="0" lIns="0" bIns="0" rIns="0">
            <a:spAutoFit/>
          </a:bodyPr>
          <a:lstStyle/>
          <a:p>
            <a:pPr algn="ctr" marL="0" indent="0" lvl="0">
              <a:lnSpc>
                <a:spcPts val="2928"/>
              </a:lnSpc>
              <a:spcBef>
                <a:spcPct val="0"/>
              </a:spcBef>
            </a:pPr>
            <a:r>
              <a:rPr lang="en-US" sz="2400" strike="noStrike" u="none">
                <a:solidFill>
                  <a:srgbClr val="0A2A66"/>
                </a:solidFill>
                <a:latin typeface="DM Sans"/>
                <a:ea typeface="DM Sans"/>
                <a:cs typeface="DM Sans"/>
                <a:sym typeface="DM Sans"/>
              </a:rPr>
              <a:t>Expand through reviewed learning sequences</a:t>
            </a:r>
          </a:p>
        </p:txBody>
      </p:sp>
      <p:sp>
        <p:nvSpPr>
          <p:cNvPr name="TextBox 17" id="17"/>
          <p:cNvSpPr txBox="true"/>
          <p:nvPr/>
        </p:nvSpPr>
        <p:spPr>
          <a:xfrm rot="0">
            <a:off x="609600" y="4467225"/>
            <a:ext cx="10972800" cy="576072"/>
          </a:xfrm>
          <a:prstGeom prst="rect">
            <a:avLst/>
          </a:prstGeom>
        </p:spPr>
        <p:txBody>
          <a:bodyPr anchor="t" rtlCol="false" tIns="0" lIns="0" bIns="0" rIns="0">
            <a:spAutoFit/>
          </a:bodyPr>
          <a:lstStyle/>
          <a:p>
            <a:pPr algn="ctr" marL="0" indent="0" lvl="0">
              <a:lnSpc>
                <a:spcPts val="2379"/>
              </a:lnSpc>
              <a:spcBef>
                <a:spcPct val="0"/>
              </a:spcBef>
            </a:pPr>
            <a:r>
              <a:rPr lang="en-US" sz="1950" strike="noStrike" u="none">
                <a:solidFill>
                  <a:srgbClr val="0A2A66"/>
                </a:solidFill>
                <a:latin typeface="DM Sans"/>
                <a:ea typeface="DM Sans"/>
                <a:cs typeface="DM Sans"/>
                <a:sym typeface="DM Sans"/>
              </a:rPr>
              <a:t>Each new topic will include an interactive or clip, a matching Khan activity,</a:t>
            </a:r>
          </a:p>
          <a:p>
            <a:pPr algn="ctr" marL="0" indent="0" lvl="0">
              <a:lnSpc>
                <a:spcPts val="2379"/>
              </a:lnSpc>
              <a:spcBef>
                <a:spcPct val="0"/>
              </a:spcBef>
            </a:pPr>
            <a:r>
              <a:rPr lang="en-US" sz="1950" strike="noStrike" u="none">
                <a:solidFill>
                  <a:srgbClr val="0A2A66"/>
                </a:solidFill>
                <a:latin typeface="DM Sans"/>
                <a:ea typeface="DM Sans"/>
                <a:cs typeface="DM Sans"/>
                <a:sym typeface="DM Sans"/>
              </a:rPr>
              <a:t>worked support and fresh questions.</a:t>
            </a:r>
          </a:p>
        </p:txBody>
      </p:sp>
      <p:sp>
        <p:nvSpPr>
          <p:cNvPr name="TextBox 18" id="18"/>
          <p:cNvSpPr txBox="true"/>
          <p:nvPr/>
        </p:nvSpPr>
        <p:spPr>
          <a:xfrm rot="0">
            <a:off x="609600" y="5286375"/>
            <a:ext cx="10972800" cy="280988"/>
          </a:xfrm>
          <a:prstGeom prst="rect">
            <a:avLst/>
          </a:prstGeom>
        </p:spPr>
        <p:txBody>
          <a:bodyPr anchor="t" rtlCol="false" tIns="0" lIns="0" bIns="0" rIns="0">
            <a:spAutoFit/>
          </a:bodyPr>
          <a:lstStyle/>
          <a:p>
            <a:pPr algn="ctr" marL="0" indent="0" lvl="0">
              <a:lnSpc>
                <a:spcPts val="2287"/>
              </a:lnSpc>
              <a:spcBef>
                <a:spcPct val="0"/>
              </a:spcBef>
            </a:pPr>
            <a:r>
              <a:rPr lang="en-US" sz="1875" strike="noStrike" u="none">
                <a:solidFill>
                  <a:srgbClr val="0A2A66"/>
                </a:solidFill>
                <a:latin typeface="DM Sans"/>
                <a:ea typeface="DM Sans"/>
                <a:cs typeface="DM Sans"/>
                <a:sym typeface="DM Sans"/>
              </a:rPr>
              <a:t>Track which ideas learners open, where they stop and how fresh answers change.</a:t>
            </a:r>
          </a:p>
        </p:txBody>
      </p:sp>
      <p:sp>
        <p:nvSpPr>
          <p:cNvPr name="TextBox 19" id="19"/>
          <p:cNvSpPr txBox="true"/>
          <p:nvPr/>
        </p:nvSpPr>
        <p:spPr>
          <a:xfrm rot="0">
            <a:off x="609600" y="6010275"/>
            <a:ext cx="10668000" cy="243649"/>
          </a:xfrm>
          <a:prstGeom prst="rect">
            <a:avLst/>
          </a:prstGeom>
        </p:spPr>
        <p:txBody>
          <a:bodyPr anchor="t" rtlCol="false" tIns="0" lIns="0" bIns="0" rIns="0">
            <a:spAutoFit/>
          </a:bodyPr>
          <a:lstStyle/>
          <a:p>
            <a:pPr algn="ctr" marL="0" indent="0" lvl="0">
              <a:lnSpc>
                <a:spcPts val="1921"/>
              </a:lnSpc>
              <a:spcBef>
                <a:spcPct val="0"/>
              </a:spcBef>
            </a:pPr>
            <a:r>
              <a:rPr lang="en-US" sz="1575" strike="noStrike" u="none">
                <a:solidFill>
                  <a:srgbClr val="0A2A66"/>
                </a:solidFill>
                <a:latin typeface="DM Sans"/>
                <a:ea typeface="DM Sans"/>
                <a:cs typeface="DM Sans"/>
                <a:sym typeface="DM Sans"/>
              </a:rPr>
              <a:t>Next extensions: more subjects, reviewed Filipino content and original offline mini-packs.</a:t>
            </a:r>
          </a:p>
        </p:txBody>
      </p:sp>
      <p:sp>
        <p:nvSpPr>
          <p:cNvPr name="AutoShape 20" id="20"/>
          <p:cNvSpPr/>
          <p:nvPr/>
        </p:nvSpPr>
        <p:spPr>
          <a:xfrm>
            <a:off x="609600" y="1381125"/>
            <a:ext cx="10972800" cy="0"/>
          </a:xfrm>
          <a:prstGeom prst="line">
            <a:avLst/>
          </a:prstGeom>
          <a:ln cap="flat" w="19050">
            <a:solidFill>
              <a:srgbClr val="CCD7E4"/>
            </a:solidFill>
            <a:prstDash val="solid"/>
            <a:headEnd type="none" len="sm" w="sm"/>
            <a:tailEnd type="none" len="sm" w="sm"/>
          </a:ln>
        </p:spPr>
      </p:sp>
      <p:sp>
        <p:nvSpPr>
          <p:cNvPr name="Freeform 21" id="21" descr="Dunlo"/>
          <p:cNvSpPr/>
          <p:nvPr/>
        </p:nvSpPr>
        <p:spPr>
          <a:xfrm flipH="false" flipV="false" rot="0">
            <a:off x="609600" y="38100"/>
            <a:ext cx="1571625" cy="521160"/>
          </a:xfrm>
          <a:custGeom>
            <a:avLst/>
            <a:gdLst/>
            <a:ahLst/>
            <a:cxnLst/>
            <a:rect r="r" b="b" t="t" l="l"/>
            <a:pathLst>
              <a:path h="521160" w="1571625">
                <a:moveTo>
                  <a:pt x="0" y="0"/>
                </a:moveTo>
                <a:lnTo>
                  <a:pt x="1571625" y="0"/>
                </a:lnTo>
                <a:lnTo>
                  <a:pt x="1571625" y="521160"/>
                </a:lnTo>
                <a:lnTo>
                  <a:pt x="0" y="5211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9429750" y="323850"/>
            <a:ext cx="2152650" cy="133350"/>
          </a:xfrm>
          <a:custGeom>
            <a:avLst/>
            <a:gdLst/>
            <a:ahLst/>
            <a:cxnLst/>
            <a:rect r="r" b="b" t="t" l="l"/>
            <a:pathLst>
              <a:path h="133350" w="2152650">
                <a:moveTo>
                  <a:pt x="0" y="0"/>
                </a:moveTo>
                <a:lnTo>
                  <a:pt x="2152650" y="0"/>
                </a:lnTo>
                <a:lnTo>
                  <a:pt x="2152650" y="133350"/>
                </a:lnTo>
                <a:lnTo>
                  <a:pt x="0" y="133350"/>
                </a:lnTo>
                <a:lnTo>
                  <a:pt x="0" y="0"/>
                </a:lnTo>
                <a:close/>
              </a:path>
            </a:pathLst>
          </a:custGeom>
          <a:blipFill>
            <a:blip r:embed="rId9">
              <a:extLst>
                <a:ext uri="{96DAC541-7B7A-43D3-8B79-37D633B846F1}">
                  <asvg:svgBlip xmlns:asvg="http://schemas.microsoft.com/office/drawing/2016/SVG/main" r:embed="rId10"/>
                </a:ext>
              </a:extLst>
            </a:blip>
            <a:stretch>
              <a:fillRect l="0" t="-1363" r="0" b="-1363"/>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2192000" cy="6858000"/>
          </a:xfrm>
          <a:prstGeom prst="rect">
            <a:avLst/>
          </a:prstGeom>
          <a:solidFill>
            <a:srgbClr val="FFFFFF"/>
          </a:solidFill>
        </p:spPr>
      </p:sp>
      <p:grpSp>
        <p:nvGrpSpPr>
          <p:cNvPr name="Group 3" id="3"/>
          <p:cNvGrpSpPr/>
          <p:nvPr/>
        </p:nvGrpSpPr>
        <p:grpSpPr>
          <a:xfrm rot="0">
            <a:off x="0" y="0"/>
            <a:ext cx="12192000" cy="6858000"/>
            <a:chOff x="0" y="0"/>
            <a:chExt cx="16256000" cy="9144000"/>
          </a:xfrm>
        </p:grpSpPr>
        <p:sp>
          <p:nvSpPr>
            <p:cNvPr name="Freeform 4" id="4"/>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3"/>
              <a:stretch>
                <a:fillRect l="0" t="0" r="0" b="0"/>
              </a:stretch>
            </a:blipFill>
          </p:spPr>
        </p:sp>
      </p:grpSp>
      <p:grpSp>
        <p:nvGrpSpPr>
          <p:cNvPr name="Group 5" id="5"/>
          <p:cNvGrpSpPr/>
          <p:nvPr/>
        </p:nvGrpSpPr>
        <p:grpSpPr>
          <a:xfrm rot="0">
            <a:off x="0" y="0"/>
            <a:ext cx="12192000" cy="6858000"/>
            <a:chOff x="0" y="0"/>
            <a:chExt cx="16256000" cy="9144000"/>
          </a:xfrm>
        </p:grpSpPr>
        <p:sp>
          <p:nvSpPr>
            <p:cNvPr name="Freeform 6" id="6"/>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887200" y="0"/>
              <a:ext cx="3556000" cy="803656"/>
            </a:xfrm>
            <a:custGeom>
              <a:avLst/>
              <a:gdLst/>
              <a:ahLst/>
              <a:cxnLst/>
              <a:rect r="r" b="b" t="t" l="l"/>
              <a:pathLst>
                <a:path h="803656" w="3556000">
                  <a:moveTo>
                    <a:pt x="0" y="0"/>
                  </a:moveTo>
                  <a:lnTo>
                    <a:pt x="3556000" y="0"/>
                  </a:lnTo>
                  <a:lnTo>
                    <a:pt x="3556000" y="803656"/>
                  </a:lnTo>
                  <a:lnTo>
                    <a:pt x="0" y="803656"/>
                  </a:lnTo>
                  <a:lnTo>
                    <a:pt x="0" y="0"/>
                  </a:lnTo>
                  <a:close/>
                </a:path>
              </a:pathLst>
            </a:custGeom>
            <a:blipFill>
              <a:blip r:embed="rId6"/>
              <a:stretch>
                <a:fillRect l="0" t="0" r="0" b="0"/>
              </a:stretch>
            </a:blipFill>
          </p:spPr>
        </p:sp>
      </p:grpSp>
      <p:sp>
        <p:nvSpPr>
          <p:cNvPr name="TextBox 8" id="8"/>
          <p:cNvSpPr txBox="true"/>
          <p:nvPr/>
        </p:nvSpPr>
        <p:spPr>
          <a:xfrm rot="0">
            <a:off x="11239500" y="6353175"/>
            <a:ext cx="428625" cy="168592"/>
          </a:xfrm>
          <a:prstGeom prst="rect">
            <a:avLst/>
          </a:prstGeom>
        </p:spPr>
        <p:txBody>
          <a:bodyPr anchor="t" rtlCol="false" tIns="0" lIns="0" bIns="0" rIns="0">
            <a:spAutoFit/>
          </a:bodyPr>
          <a:lstStyle/>
          <a:p>
            <a:pPr algn="l" marL="0" indent="0" lvl="0">
              <a:lnSpc>
                <a:spcPts val="1372"/>
              </a:lnSpc>
              <a:spcBef>
                <a:spcPct val="0"/>
              </a:spcBef>
            </a:pPr>
            <a:r>
              <a:rPr lang="en-US" sz="1125" strike="noStrike" u="none">
                <a:solidFill>
                  <a:srgbClr val="0A2A66"/>
                </a:solidFill>
                <a:latin typeface="DM Sans"/>
                <a:ea typeface="DM Sans"/>
                <a:cs typeface="DM Sans"/>
                <a:sym typeface="DM Sans"/>
              </a:rPr>
              <a:t>13</a:t>
            </a:r>
          </a:p>
        </p:txBody>
      </p:sp>
      <p:sp>
        <p:nvSpPr>
          <p:cNvPr name="TextBox 9" id="9"/>
          <p:cNvSpPr txBox="true"/>
          <p:nvPr/>
        </p:nvSpPr>
        <p:spPr>
          <a:xfrm rot="0">
            <a:off x="609600" y="866775"/>
            <a:ext cx="10972800" cy="459105"/>
          </a:xfrm>
          <a:prstGeom prst="rect">
            <a:avLst/>
          </a:prstGeom>
        </p:spPr>
        <p:txBody>
          <a:bodyPr anchor="t" rtlCol="false" tIns="0" lIns="0" bIns="0" rIns="0">
            <a:spAutoFit/>
          </a:bodyPr>
          <a:lstStyle/>
          <a:p>
            <a:pPr algn="l" marL="0" indent="0" lvl="0">
              <a:lnSpc>
                <a:spcPts val="3660"/>
              </a:lnSpc>
              <a:spcBef>
                <a:spcPct val="0"/>
              </a:spcBef>
            </a:pPr>
            <a:r>
              <a:rPr lang="en-US" b="true" sz="3000" strike="noStrike" u="none">
                <a:solidFill>
                  <a:srgbClr val="0A2A66"/>
                </a:solidFill>
                <a:latin typeface="DM Sans Bold"/>
                <a:ea typeface="DM Sans Bold"/>
                <a:cs typeface="DM Sans Bold"/>
                <a:sym typeface="DM Sans Bold"/>
              </a:rPr>
              <a:t>Free learning. A plan for continuity.</a:t>
            </a:r>
          </a:p>
        </p:txBody>
      </p:sp>
      <p:sp>
        <p:nvSpPr>
          <p:cNvPr name="TextBox 10" id="10"/>
          <p:cNvSpPr txBox="true"/>
          <p:nvPr/>
        </p:nvSpPr>
        <p:spPr>
          <a:xfrm rot="0">
            <a:off x="609600" y="2066925"/>
            <a:ext cx="5429250" cy="459105"/>
          </a:xfrm>
          <a:prstGeom prst="rect">
            <a:avLst/>
          </a:prstGeom>
        </p:spPr>
        <p:txBody>
          <a:bodyPr anchor="t" rtlCol="false" tIns="0" lIns="0" bIns="0" rIns="0">
            <a:spAutoFit/>
          </a:bodyPr>
          <a:lstStyle/>
          <a:p>
            <a:pPr algn="l" marL="0" indent="0" lvl="0">
              <a:lnSpc>
                <a:spcPts val="3660"/>
              </a:lnSpc>
              <a:spcBef>
                <a:spcPct val="0"/>
              </a:spcBef>
            </a:pPr>
            <a:r>
              <a:rPr lang="en-US" sz="3000" strike="noStrike" u="none">
                <a:solidFill>
                  <a:srgbClr val="0A2A66"/>
                </a:solidFill>
                <a:latin typeface="DM Sans"/>
                <a:ea typeface="DM Sans"/>
                <a:cs typeface="DM Sans"/>
                <a:sym typeface="DM Sans"/>
              </a:rPr>
              <a:t>PHP 100,000</a:t>
            </a:r>
          </a:p>
        </p:txBody>
      </p:sp>
      <p:sp>
        <p:nvSpPr>
          <p:cNvPr name="TextBox 11" id="11"/>
          <p:cNvSpPr txBox="true"/>
          <p:nvPr/>
        </p:nvSpPr>
        <p:spPr>
          <a:xfrm rot="0">
            <a:off x="609600" y="2933700"/>
            <a:ext cx="5334000" cy="787146"/>
          </a:xfrm>
          <a:prstGeom prst="rect">
            <a:avLst/>
          </a:prstGeom>
        </p:spPr>
        <p:txBody>
          <a:bodyPr anchor="t" rtlCol="false" tIns="0" lIns="0" bIns="0" rIns="0">
            <a:spAutoFit/>
          </a:bodyPr>
          <a:lstStyle/>
          <a:p>
            <a:pPr algn="l" marL="0" indent="0" lvl="0">
              <a:lnSpc>
                <a:spcPts val="6222"/>
              </a:lnSpc>
              <a:spcBef>
                <a:spcPct val="0"/>
              </a:spcBef>
            </a:pPr>
            <a:r>
              <a:rPr lang="en-US" b="true" sz="5100" strike="noStrike" u="none">
                <a:solidFill>
                  <a:srgbClr val="0A2A66"/>
                </a:solidFill>
                <a:latin typeface="DM Sans Bold"/>
                <a:ea typeface="DM Sans Bold"/>
                <a:cs typeface="DM Sans Bold"/>
                <a:sym typeface="DM Sans Bold"/>
              </a:rPr>
              <a:t>60%</a:t>
            </a:r>
          </a:p>
        </p:txBody>
      </p:sp>
      <p:sp>
        <p:nvSpPr>
          <p:cNvPr name="TextBox 12" id="12"/>
          <p:cNvSpPr txBox="true"/>
          <p:nvPr/>
        </p:nvSpPr>
        <p:spPr>
          <a:xfrm rot="0">
            <a:off x="609600" y="4200525"/>
            <a:ext cx="5105400" cy="651891"/>
          </a:xfrm>
          <a:prstGeom prst="rect">
            <a:avLst/>
          </a:prstGeom>
        </p:spPr>
        <p:txBody>
          <a:bodyPr anchor="t" rtlCol="false" tIns="0" lIns="0" bIns="0" rIns="0">
            <a:spAutoFit/>
          </a:bodyPr>
          <a:lstStyle/>
          <a:p>
            <a:pPr algn="l" marL="0" indent="0" lvl="0">
              <a:lnSpc>
                <a:spcPts val="2562"/>
              </a:lnSpc>
              <a:spcBef>
                <a:spcPct val="0"/>
              </a:spcBef>
            </a:pPr>
            <a:r>
              <a:rPr lang="en-US" sz="2100" strike="noStrike" u="none">
                <a:solidFill>
                  <a:srgbClr val="0A2A66"/>
                </a:solidFill>
                <a:latin typeface="DM Sans"/>
                <a:ea typeface="DM Sans"/>
                <a:cs typeface="DM Sans"/>
                <a:sym typeface="DM Sans"/>
              </a:rPr>
              <a:t>Content review,</a:t>
            </a:r>
          </a:p>
          <a:p>
            <a:pPr algn="l" marL="0" indent="0" lvl="0">
              <a:lnSpc>
                <a:spcPts val="2562"/>
              </a:lnSpc>
              <a:spcBef>
                <a:spcPct val="0"/>
              </a:spcBef>
            </a:pPr>
            <a:r>
              <a:rPr lang="en-US" sz="2100" strike="noStrike" u="none">
                <a:solidFill>
                  <a:srgbClr val="0A2A66"/>
                </a:solidFill>
                <a:latin typeface="DM Sans"/>
                <a:ea typeface="DM Sans"/>
                <a:cs typeface="DM Sans"/>
                <a:sym typeface="DM Sans"/>
              </a:rPr>
              <a:t>access and evaluation</a:t>
            </a:r>
          </a:p>
        </p:txBody>
      </p:sp>
      <p:sp>
        <p:nvSpPr>
          <p:cNvPr name="TextBox 13" id="13"/>
          <p:cNvSpPr txBox="true"/>
          <p:nvPr/>
        </p:nvSpPr>
        <p:spPr>
          <a:xfrm rot="0">
            <a:off x="609600" y="5676900"/>
            <a:ext cx="4953000" cy="234315"/>
          </a:xfrm>
          <a:prstGeom prst="rect">
            <a:avLst/>
          </a:prstGeom>
        </p:spPr>
        <p:txBody>
          <a:bodyPr anchor="t" rtlCol="false" tIns="0" lIns="0" bIns="0" rIns="0">
            <a:spAutoFit/>
          </a:bodyPr>
          <a:lstStyle/>
          <a:p>
            <a:pPr algn="l" marL="0" indent="0" lvl="0">
              <a:lnSpc>
                <a:spcPts val="1830"/>
              </a:lnSpc>
              <a:spcBef>
                <a:spcPct val="0"/>
              </a:spcBef>
            </a:pPr>
            <a:r>
              <a:rPr lang="en-US" sz="1500" strike="noStrike" u="none">
                <a:solidFill>
                  <a:srgbClr val="0A2A66"/>
                </a:solidFill>
                <a:latin typeface="DM Sans"/>
                <a:ea typeface="DM Sans"/>
                <a:cs typeface="DM Sans"/>
                <a:sym typeface="DM Sans"/>
              </a:rPr>
              <a:t>Seek support for free delivery and maintenance.</a:t>
            </a:r>
          </a:p>
        </p:txBody>
      </p:sp>
      <p:grpSp>
        <p:nvGrpSpPr>
          <p:cNvPr name="Group 14" id="14"/>
          <p:cNvGrpSpPr/>
          <p:nvPr/>
        </p:nvGrpSpPr>
        <p:grpSpPr>
          <a:xfrm rot="0">
            <a:off x="6338888" y="2043112"/>
            <a:ext cx="3581400" cy="467106"/>
            <a:chOff x="0" y="0"/>
            <a:chExt cx="4775200" cy="622808"/>
          </a:xfrm>
        </p:grpSpPr>
        <p:sp>
          <p:nvSpPr>
            <p:cNvPr name="Freeform 15" id="15"/>
            <p:cNvSpPr/>
            <p:nvPr/>
          </p:nvSpPr>
          <p:spPr>
            <a:xfrm flipH="false" flipV="false" rot="0">
              <a:off x="0" y="0"/>
              <a:ext cx="4775200" cy="622808"/>
            </a:xfrm>
            <a:custGeom>
              <a:avLst/>
              <a:gdLst/>
              <a:ahLst/>
              <a:cxnLst/>
              <a:rect r="r" b="b" t="t" l="l"/>
              <a:pathLst>
                <a:path h="622808" w="4775200">
                  <a:moveTo>
                    <a:pt x="0" y="0"/>
                  </a:moveTo>
                  <a:lnTo>
                    <a:pt x="4775200" y="0"/>
                  </a:lnTo>
                  <a:lnTo>
                    <a:pt x="4775200" y="622808"/>
                  </a:lnTo>
                  <a:lnTo>
                    <a:pt x="0" y="622808"/>
                  </a:lnTo>
                  <a:lnTo>
                    <a:pt x="0" y="0"/>
                  </a:lnTo>
                  <a:close/>
                </a:path>
              </a:pathLst>
            </a:custGeom>
            <a:solidFill>
              <a:srgbClr val="F0EFFF"/>
            </a:solidFill>
          </p:spPr>
        </p:sp>
        <p:sp>
          <p:nvSpPr>
            <p:cNvPr name="Freeform 16" id="16"/>
            <p:cNvSpPr/>
            <p:nvPr/>
          </p:nvSpPr>
          <p:spPr>
            <a:xfrm flipH="false" flipV="false" rot="0">
              <a:off x="0" y="0"/>
              <a:ext cx="4775200" cy="622808"/>
            </a:xfrm>
            <a:custGeom>
              <a:avLst/>
              <a:gdLst/>
              <a:ahLst/>
              <a:cxnLst/>
              <a:rect r="r" b="b" t="t" l="l"/>
              <a:pathLst>
                <a:path h="622808" w="4775200">
                  <a:moveTo>
                    <a:pt x="0" y="0"/>
                  </a:moveTo>
                  <a:lnTo>
                    <a:pt x="4775200" y="0"/>
                  </a:lnTo>
                  <a:lnTo>
                    <a:pt x="4775200" y="622808"/>
                  </a:lnTo>
                  <a:lnTo>
                    <a:pt x="0" y="622808"/>
                  </a:lnTo>
                  <a:lnTo>
                    <a:pt x="0" y="0"/>
                  </a:lnTo>
                  <a:close/>
                </a:path>
              </a:pathLst>
            </a:custGeom>
            <a:solidFill>
              <a:srgbClr val="000000">
                <a:alpha val="0"/>
              </a:srgbClr>
            </a:solidFill>
            <a:ln w="9525" cap="sq">
              <a:solidFill>
                <a:srgbClr val="CCD7E4"/>
              </a:solidFill>
              <a:prstDash val="solid"/>
              <a:miter/>
            </a:ln>
          </p:spPr>
        </p:sp>
        <p:sp>
          <p:nvSpPr>
            <p:cNvPr name="TextBox 17" id="17"/>
            <p:cNvSpPr txBox="true"/>
            <p:nvPr/>
          </p:nvSpPr>
          <p:spPr>
            <a:xfrm>
              <a:off x="0" y="-38100"/>
              <a:ext cx="4775200" cy="660908"/>
            </a:xfrm>
            <a:prstGeom prst="rect">
              <a:avLst/>
            </a:prstGeom>
          </p:spPr>
          <p:txBody>
            <a:bodyPr anchor="ctr" rtlCol="false" tIns="107950" lIns="107950" bIns="107950" rIns="107950"/>
            <a:lstStyle/>
            <a:p>
              <a:pPr algn="l" marL="0" indent="0" lvl="0">
                <a:lnSpc>
                  <a:spcPts val="2100"/>
                </a:lnSpc>
                <a:spcBef>
                  <a:spcPct val="0"/>
                </a:spcBef>
              </a:pPr>
              <a:r>
                <a:rPr lang="en-US" sz="1500" strike="noStrike" u="none">
                  <a:solidFill>
                    <a:srgbClr val="0A2A66"/>
                  </a:solidFill>
                  <a:latin typeface="DM Sans"/>
                  <a:ea typeface="DM Sans"/>
                  <a:cs typeface="DM Sans"/>
                  <a:sym typeface="DM Sans"/>
                </a:rPr>
                <a:t>Allocation</a:t>
              </a:r>
            </a:p>
          </p:txBody>
        </p:sp>
      </p:grpSp>
      <p:grpSp>
        <p:nvGrpSpPr>
          <p:cNvPr name="Group 18" id="18"/>
          <p:cNvGrpSpPr/>
          <p:nvPr/>
        </p:nvGrpSpPr>
        <p:grpSpPr>
          <a:xfrm rot="0">
            <a:off x="9920288" y="2043112"/>
            <a:ext cx="1600200" cy="467106"/>
            <a:chOff x="0" y="0"/>
            <a:chExt cx="2133600" cy="622808"/>
          </a:xfrm>
        </p:grpSpPr>
        <p:sp>
          <p:nvSpPr>
            <p:cNvPr name="Freeform 19" id="19"/>
            <p:cNvSpPr/>
            <p:nvPr/>
          </p:nvSpPr>
          <p:spPr>
            <a:xfrm flipH="false" flipV="false" rot="0">
              <a:off x="0" y="0"/>
              <a:ext cx="2133600" cy="622808"/>
            </a:xfrm>
            <a:custGeom>
              <a:avLst/>
              <a:gdLst/>
              <a:ahLst/>
              <a:cxnLst/>
              <a:rect r="r" b="b" t="t" l="l"/>
              <a:pathLst>
                <a:path h="622808" w="2133600">
                  <a:moveTo>
                    <a:pt x="0" y="0"/>
                  </a:moveTo>
                  <a:lnTo>
                    <a:pt x="2133600" y="0"/>
                  </a:lnTo>
                  <a:lnTo>
                    <a:pt x="2133600" y="622808"/>
                  </a:lnTo>
                  <a:lnTo>
                    <a:pt x="0" y="622808"/>
                  </a:lnTo>
                  <a:lnTo>
                    <a:pt x="0" y="0"/>
                  </a:lnTo>
                  <a:close/>
                </a:path>
              </a:pathLst>
            </a:custGeom>
            <a:solidFill>
              <a:srgbClr val="F0EFFF"/>
            </a:solidFill>
          </p:spPr>
        </p:sp>
        <p:sp>
          <p:nvSpPr>
            <p:cNvPr name="Freeform 20" id="20"/>
            <p:cNvSpPr/>
            <p:nvPr/>
          </p:nvSpPr>
          <p:spPr>
            <a:xfrm flipH="false" flipV="false" rot="0">
              <a:off x="0" y="0"/>
              <a:ext cx="2133600" cy="622808"/>
            </a:xfrm>
            <a:custGeom>
              <a:avLst/>
              <a:gdLst/>
              <a:ahLst/>
              <a:cxnLst/>
              <a:rect r="r" b="b" t="t" l="l"/>
              <a:pathLst>
                <a:path h="622808" w="2133600">
                  <a:moveTo>
                    <a:pt x="0" y="0"/>
                  </a:moveTo>
                  <a:lnTo>
                    <a:pt x="2133600" y="0"/>
                  </a:lnTo>
                  <a:lnTo>
                    <a:pt x="2133600" y="622808"/>
                  </a:lnTo>
                  <a:lnTo>
                    <a:pt x="0" y="622808"/>
                  </a:lnTo>
                  <a:lnTo>
                    <a:pt x="0" y="0"/>
                  </a:lnTo>
                  <a:close/>
                </a:path>
              </a:pathLst>
            </a:custGeom>
            <a:solidFill>
              <a:srgbClr val="000000">
                <a:alpha val="0"/>
              </a:srgbClr>
            </a:solidFill>
            <a:ln w="9525" cap="sq">
              <a:solidFill>
                <a:srgbClr val="CCD7E4"/>
              </a:solidFill>
              <a:prstDash val="solid"/>
              <a:miter/>
            </a:ln>
          </p:spPr>
        </p:sp>
        <p:sp>
          <p:nvSpPr>
            <p:cNvPr name="TextBox 21" id="21"/>
            <p:cNvSpPr txBox="true"/>
            <p:nvPr/>
          </p:nvSpPr>
          <p:spPr>
            <a:xfrm>
              <a:off x="0" y="-38100"/>
              <a:ext cx="2133600" cy="660908"/>
            </a:xfrm>
            <a:prstGeom prst="rect">
              <a:avLst/>
            </a:prstGeom>
          </p:spPr>
          <p:txBody>
            <a:bodyPr anchor="ctr" rtlCol="false" tIns="107950" lIns="107950" bIns="107950" rIns="107950"/>
            <a:lstStyle/>
            <a:p>
              <a:pPr algn="l" marL="0" indent="0" lvl="0">
                <a:lnSpc>
                  <a:spcPts val="2100"/>
                </a:lnSpc>
                <a:spcBef>
                  <a:spcPct val="0"/>
                </a:spcBef>
              </a:pPr>
              <a:r>
                <a:rPr lang="en-US" sz="1500" strike="noStrike" u="none">
                  <a:solidFill>
                    <a:srgbClr val="0A2A66"/>
                  </a:solidFill>
                  <a:latin typeface="DM Sans"/>
                  <a:ea typeface="DM Sans"/>
                  <a:cs typeface="DM Sans"/>
                  <a:sym typeface="DM Sans"/>
                </a:rPr>
                <a:t>PHP</a:t>
              </a:r>
            </a:p>
          </p:txBody>
        </p:sp>
      </p:grpSp>
      <p:grpSp>
        <p:nvGrpSpPr>
          <p:cNvPr name="Group 22" id="22"/>
          <p:cNvGrpSpPr/>
          <p:nvPr/>
        </p:nvGrpSpPr>
        <p:grpSpPr>
          <a:xfrm rot="0">
            <a:off x="6338888" y="2443162"/>
            <a:ext cx="3581400" cy="419481"/>
            <a:chOff x="0" y="0"/>
            <a:chExt cx="4775200" cy="559308"/>
          </a:xfrm>
        </p:grpSpPr>
        <p:sp>
          <p:nvSpPr>
            <p:cNvPr name="Freeform 23" id="23"/>
            <p:cNvSpPr/>
            <p:nvPr/>
          </p:nvSpPr>
          <p:spPr>
            <a:xfrm flipH="false" flipV="false" rot="0">
              <a:off x="0" y="0"/>
              <a:ext cx="4775200" cy="559308"/>
            </a:xfrm>
            <a:custGeom>
              <a:avLst/>
              <a:gdLst/>
              <a:ahLst/>
              <a:cxnLst/>
              <a:rect r="r" b="b" t="t" l="l"/>
              <a:pathLst>
                <a:path h="559308" w="4775200">
                  <a:moveTo>
                    <a:pt x="0" y="0"/>
                  </a:moveTo>
                  <a:lnTo>
                    <a:pt x="4775200" y="0"/>
                  </a:lnTo>
                  <a:lnTo>
                    <a:pt x="4775200" y="559308"/>
                  </a:lnTo>
                  <a:lnTo>
                    <a:pt x="0" y="559308"/>
                  </a:lnTo>
                  <a:lnTo>
                    <a:pt x="0" y="0"/>
                  </a:lnTo>
                  <a:close/>
                </a:path>
              </a:pathLst>
            </a:custGeom>
            <a:solidFill>
              <a:srgbClr val="FFFFFF"/>
            </a:solidFill>
          </p:spPr>
        </p:sp>
        <p:sp>
          <p:nvSpPr>
            <p:cNvPr name="Freeform 24" id="24"/>
            <p:cNvSpPr/>
            <p:nvPr/>
          </p:nvSpPr>
          <p:spPr>
            <a:xfrm flipH="false" flipV="false" rot="0">
              <a:off x="0" y="0"/>
              <a:ext cx="4775200" cy="559308"/>
            </a:xfrm>
            <a:custGeom>
              <a:avLst/>
              <a:gdLst/>
              <a:ahLst/>
              <a:cxnLst/>
              <a:rect r="r" b="b" t="t" l="l"/>
              <a:pathLst>
                <a:path h="559308" w="4775200">
                  <a:moveTo>
                    <a:pt x="0" y="0"/>
                  </a:moveTo>
                  <a:lnTo>
                    <a:pt x="4775200" y="0"/>
                  </a:lnTo>
                  <a:lnTo>
                    <a:pt x="4775200" y="559308"/>
                  </a:lnTo>
                  <a:lnTo>
                    <a:pt x="0" y="559308"/>
                  </a:lnTo>
                  <a:lnTo>
                    <a:pt x="0" y="0"/>
                  </a:lnTo>
                  <a:close/>
                </a:path>
              </a:pathLst>
            </a:custGeom>
            <a:solidFill>
              <a:srgbClr val="000000">
                <a:alpha val="0"/>
              </a:srgbClr>
            </a:solidFill>
            <a:ln w="9525" cap="sq">
              <a:solidFill>
                <a:srgbClr val="CCD7E4"/>
              </a:solidFill>
              <a:prstDash val="solid"/>
              <a:miter/>
            </a:ln>
          </p:spPr>
        </p:sp>
        <p:sp>
          <p:nvSpPr>
            <p:cNvPr name="TextBox 25" id="25"/>
            <p:cNvSpPr txBox="true"/>
            <p:nvPr/>
          </p:nvSpPr>
          <p:spPr>
            <a:xfrm>
              <a:off x="0" y="-38100"/>
              <a:ext cx="4775200" cy="597408"/>
            </a:xfrm>
            <a:prstGeom prst="rect">
              <a:avLst/>
            </a:prstGeom>
          </p:spPr>
          <p:txBody>
            <a:bodyPr anchor="ctr" rtlCol="false" tIns="76200" lIns="76200" bIns="76200" rIns="76200"/>
            <a:lstStyle/>
            <a:p>
              <a:pPr algn="l" marL="0" indent="0" lvl="0">
                <a:lnSpc>
                  <a:spcPts val="2100"/>
                </a:lnSpc>
                <a:spcBef>
                  <a:spcPct val="0"/>
                </a:spcBef>
              </a:pPr>
              <a:r>
                <a:rPr lang="en-US" sz="1500" strike="noStrike" u="none">
                  <a:solidFill>
                    <a:srgbClr val="0A2A66"/>
                  </a:solidFill>
                  <a:latin typeface="DM Sans"/>
                  <a:ea typeface="DM Sans"/>
                  <a:cs typeface="DM Sans"/>
                  <a:sym typeface="DM Sans"/>
                </a:rPr>
                <a:t>Content review</a:t>
              </a:r>
            </a:p>
          </p:txBody>
        </p:sp>
      </p:grpSp>
      <p:grpSp>
        <p:nvGrpSpPr>
          <p:cNvPr name="Group 26" id="26"/>
          <p:cNvGrpSpPr/>
          <p:nvPr/>
        </p:nvGrpSpPr>
        <p:grpSpPr>
          <a:xfrm rot="0">
            <a:off x="9920288" y="2443162"/>
            <a:ext cx="1600200" cy="419481"/>
            <a:chOff x="0" y="0"/>
            <a:chExt cx="2133600" cy="559308"/>
          </a:xfrm>
        </p:grpSpPr>
        <p:sp>
          <p:nvSpPr>
            <p:cNvPr name="Freeform 27" id="27"/>
            <p:cNvSpPr/>
            <p:nvPr/>
          </p:nvSpPr>
          <p:spPr>
            <a:xfrm flipH="false" flipV="false" rot="0">
              <a:off x="0" y="0"/>
              <a:ext cx="2133600" cy="559308"/>
            </a:xfrm>
            <a:custGeom>
              <a:avLst/>
              <a:gdLst/>
              <a:ahLst/>
              <a:cxnLst/>
              <a:rect r="r" b="b" t="t" l="l"/>
              <a:pathLst>
                <a:path h="559308" w="2133600">
                  <a:moveTo>
                    <a:pt x="0" y="0"/>
                  </a:moveTo>
                  <a:lnTo>
                    <a:pt x="2133600" y="0"/>
                  </a:lnTo>
                  <a:lnTo>
                    <a:pt x="2133600" y="559308"/>
                  </a:lnTo>
                  <a:lnTo>
                    <a:pt x="0" y="559308"/>
                  </a:lnTo>
                  <a:lnTo>
                    <a:pt x="0" y="0"/>
                  </a:lnTo>
                  <a:close/>
                </a:path>
              </a:pathLst>
            </a:custGeom>
            <a:solidFill>
              <a:srgbClr val="FFFFFF"/>
            </a:solidFill>
          </p:spPr>
        </p:sp>
        <p:sp>
          <p:nvSpPr>
            <p:cNvPr name="Freeform 28" id="28"/>
            <p:cNvSpPr/>
            <p:nvPr/>
          </p:nvSpPr>
          <p:spPr>
            <a:xfrm flipH="false" flipV="false" rot="0">
              <a:off x="0" y="0"/>
              <a:ext cx="2133600" cy="559308"/>
            </a:xfrm>
            <a:custGeom>
              <a:avLst/>
              <a:gdLst/>
              <a:ahLst/>
              <a:cxnLst/>
              <a:rect r="r" b="b" t="t" l="l"/>
              <a:pathLst>
                <a:path h="559308" w="2133600">
                  <a:moveTo>
                    <a:pt x="0" y="0"/>
                  </a:moveTo>
                  <a:lnTo>
                    <a:pt x="2133600" y="0"/>
                  </a:lnTo>
                  <a:lnTo>
                    <a:pt x="2133600" y="559308"/>
                  </a:lnTo>
                  <a:lnTo>
                    <a:pt x="0" y="559308"/>
                  </a:lnTo>
                  <a:lnTo>
                    <a:pt x="0" y="0"/>
                  </a:lnTo>
                  <a:close/>
                </a:path>
              </a:pathLst>
            </a:custGeom>
            <a:solidFill>
              <a:srgbClr val="000000">
                <a:alpha val="0"/>
              </a:srgbClr>
            </a:solidFill>
            <a:ln w="9525" cap="sq">
              <a:solidFill>
                <a:srgbClr val="CCD7E4"/>
              </a:solidFill>
              <a:prstDash val="solid"/>
              <a:miter/>
            </a:ln>
          </p:spPr>
        </p:sp>
        <p:sp>
          <p:nvSpPr>
            <p:cNvPr name="TextBox 29" id="29"/>
            <p:cNvSpPr txBox="true"/>
            <p:nvPr/>
          </p:nvSpPr>
          <p:spPr>
            <a:xfrm>
              <a:off x="0" y="-38100"/>
              <a:ext cx="2133600" cy="597408"/>
            </a:xfrm>
            <a:prstGeom prst="rect">
              <a:avLst/>
            </a:prstGeom>
          </p:spPr>
          <p:txBody>
            <a:bodyPr anchor="ctr" rtlCol="false" tIns="76200" lIns="76200" bIns="76200" rIns="76200"/>
            <a:lstStyle/>
            <a:p>
              <a:pPr algn="l" marL="0" indent="0" lvl="0">
                <a:lnSpc>
                  <a:spcPts val="2100"/>
                </a:lnSpc>
                <a:spcBef>
                  <a:spcPct val="0"/>
                </a:spcBef>
              </a:pPr>
              <a:r>
                <a:rPr lang="en-US" sz="1500" strike="noStrike" u="none">
                  <a:solidFill>
                    <a:srgbClr val="0A2A66"/>
                  </a:solidFill>
                  <a:latin typeface="DM Sans"/>
                  <a:ea typeface="DM Sans"/>
                  <a:cs typeface="DM Sans"/>
                  <a:sym typeface="DM Sans"/>
                </a:rPr>
                <a:t>30,000</a:t>
              </a:r>
            </a:p>
          </p:txBody>
        </p:sp>
      </p:grpSp>
      <p:grpSp>
        <p:nvGrpSpPr>
          <p:cNvPr name="Group 30" id="30"/>
          <p:cNvGrpSpPr/>
          <p:nvPr/>
        </p:nvGrpSpPr>
        <p:grpSpPr>
          <a:xfrm rot="0">
            <a:off x="6338888" y="2843212"/>
            <a:ext cx="3581400" cy="419481"/>
            <a:chOff x="0" y="0"/>
            <a:chExt cx="4775200" cy="559308"/>
          </a:xfrm>
        </p:grpSpPr>
        <p:sp>
          <p:nvSpPr>
            <p:cNvPr name="Freeform 31" id="31"/>
            <p:cNvSpPr/>
            <p:nvPr/>
          </p:nvSpPr>
          <p:spPr>
            <a:xfrm flipH="false" flipV="false" rot="0">
              <a:off x="0" y="0"/>
              <a:ext cx="4775200" cy="559308"/>
            </a:xfrm>
            <a:custGeom>
              <a:avLst/>
              <a:gdLst/>
              <a:ahLst/>
              <a:cxnLst/>
              <a:rect r="r" b="b" t="t" l="l"/>
              <a:pathLst>
                <a:path h="559308" w="4775200">
                  <a:moveTo>
                    <a:pt x="0" y="0"/>
                  </a:moveTo>
                  <a:lnTo>
                    <a:pt x="4775200" y="0"/>
                  </a:lnTo>
                  <a:lnTo>
                    <a:pt x="4775200" y="559308"/>
                  </a:lnTo>
                  <a:lnTo>
                    <a:pt x="0" y="559308"/>
                  </a:lnTo>
                  <a:lnTo>
                    <a:pt x="0" y="0"/>
                  </a:lnTo>
                  <a:close/>
                </a:path>
              </a:pathLst>
            </a:custGeom>
            <a:solidFill>
              <a:srgbClr val="FFFFFF"/>
            </a:solidFill>
          </p:spPr>
        </p:sp>
        <p:sp>
          <p:nvSpPr>
            <p:cNvPr name="Freeform 32" id="32"/>
            <p:cNvSpPr/>
            <p:nvPr/>
          </p:nvSpPr>
          <p:spPr>
            <a:xfrm flipH="false" flipV="false" rot="0">
              <a:off x="0" y="0"/>
              <a:ext cx="4775200" cy="559308"/>
            </a:xfrm>
            <a:custGeom>
              <a:avLst/>
              <a:gdLst/>
              <a:ahLst/>
              <a:cxnLst/>
              <a:rect r="r" b="b" t="t" l="l"/>
              <a:pathLst>
                <a:path h="559308" w="4775200">
                  <a:moveTo>
                    <a:pt x="0" y="0"/>
                  </a:moveTo>
                  <a:lnTo>
                    <a:pt x="4775200" y="0"/>
                  </a:lnTo>
                  <a:lnTo>
                    <a:pt x="4775200" y="559308"/>
                  </a:lnTo>
                  <a:lnTo>
                    <a:pt x="0" y="559308"/>
                  </a:lnTo>
                  <a:lnTo>
                    <a:pt x="0" y="0"/>
                  </a:lnTo>
                  <a:close/>
                </a:path>
              </a:pathLst>
            </a:custGeom>
            <a:solidFill>
              <a:srgbClr val="000000">
                <a:alpha val="0"/>
              </a:srgbClr>
            </a:solidFill>
            <a:ln w="9525" cap="sq">
              <a:solidFill>
                <a:srgbClr val="CCD7E4"/>
              </a:solidFill>
              <a:prstDash val="solid"/>
              <a:miter/>
            </a:ln>
          </p:spPr>
        </p:sp>
        <p:sp>
          <p:nvSpPr>
            <p:cNvPr name="TextBox 33" id="33"/>
            <p:cNvSpPr txBox="true"/>
            <p:nvPr/>
          </p:nvSpPr>
          <p:spPr>
            <a:xfrm>
              <a:off x="0" y="-38100"/>
              <a:ext cx="4775200" cy="597408"/>
            </a:xfrm>
            <a:prstGeom prst="rect">
              <a:avLst/>
            </a:prstGeom>
          </p:spPr>
          <p:txBody>
            <a:bodyPr anchor="ctr" rtlCol="false" tIns="76200" lIns="76200" bIns="76200" rIns="76200"/>
            <a:lstStyle/>
            <a:p>
              <a:pPr algn="l" marL="0" indent="0" lvl="0">
                <a:lnSpc>
                  <a:spcPts val="2100"/>
                </a:lnSpc>
                <a:spcBef>
                  <a:spcPct val="0"/>
                </a:spcBef>
              </a:pPr>
              <a:r>
                <a:rPr lang="en-US" sz="1500" strike="noStrike" u="none">
                  <a:solidFill>
                    <a:srgbClr val="0A2A66"/>
                  </a:solidFill>
                  <a:latin typeface="DM Sans"/>
                  <a:ea typeface="DM Sans"/>
                  <a:cs typeface="DM Sans"/>
                  <a:sym typeface="DM Sans"/>
                </a:rPr>
                <a:t>Access &amp; usability</a:t>
              </a:r>
            </a:p>
          </p:txBody>
        </p:sp>
      </p:grpSp>
      <p:grpSp>
        <p:nvGrpSpPr>
          <p:cNvPr name="Group 34" id="34"/>
          <p:cNvGrpSpPr/>
          <p:nvPr/>
        </p:nvGrpSpPr>
        <p:grpSpPr>
          <a:xfrm rot="0">
            <a:off x="9920288" y="2843212"/>
            <a:ext cx="1600200" cy="419481"/>
            <a:chOff x="0" y="0"/>
            <a:chExt cx="2133600" cy="559308"/>
          </a:xfrm>
        </p:grpSpPr>
        <p:sp>
          <p:nvSpPr>
            <p:cNvPr name="Freeform 35" id="35"/>
            <p:cNvSpPr/>
            <p:nvPr/>
          </p:nvSpPr>
          <p:spPr>
            <a:xfrm flipH="false" flipV="false" rot="0">
              <a:off x="0" y="0"/>
              <a:ext cx="2133600" cy="559308"/>
            </a:xfrm>
            <a:custGeom>
              <a:avLst/>
              <a:gdLst/>
              <a:ahLst/>
              <a:cxnLst/>
              <a:rect r="r" b="b" t="t" l="l"/>
              <a:pathLst>
                <a:path h="559308" w="2133600">
                  <a:moveTo>
                    <a:pt x="0" y="0"/>
                  </a:moveTo>
                  <a:lnTo>
                    <a:pt x="2133600" y="0"/>
                  </a:lnTo>
                  <a:lnTo>
                    <a:pt x="2133600" y="559308"/>
                  </a:lnTo>
                  <a:lnTo>
                    <a:pt x="0" y="559308"/>
                  </a:lnTo>
                  <a:lnTo>
                    <a:pt x="0" y="0"/>
                  </a:lnTo>
                  <a:close/>
                </a:path>
              </a:pathLst>
            </a:custGeom>
            <a:solidFill>
              <a:srgbClr val="FFFFFF"/>
            </a:solidFill>
          </p:spPr>
        </p:sp>
        <p:sp>
          <p:nvSpPr>
            <p:cNvPr name="Freeform 36" id="36"/>
            <p:cNvSpPr/>
            <p:nvPr/>
          </p:nvSpPr>
          <p:spPr>
            <a:xfrm flipH="false" flipV="false" rot="0">
              <a:off x="0" y="0"/>
              <a:ext cx="2133600" cy="559308"/>
            </a:xfrm>
            <a:custGeom>
              <a:avLst/>
              <a:gdLst/>
              <a:ahLst/>
              <a:cxnLst/>
              <a:rect r="r" b="b" t="t" l="l"/>
              <a:pathLst>
                <a:path h="559308" w="2133600">
                  <a:moveTo>
                    <a:pt x="0" y="0"/>
                  </a:moveTo>
                  <a:lnTo>
                    <a:pt x="2133600" y="0"/>
                  </a:lnTo>
                  <a:lnTo>
                    <a:pt x="2133600" y="559308"/>
                  </a:lnTo>
                  <a:lnTo>
                    <a:pt x="0" y="559308"/>
                  </a:lnTo>
                  <a:lnTo>
                    <a:pt x="0" y="0"/>
                  </a:lnTo>
                  <a:close/>
                </a:path>
              </a:pathLst>
            </a:custGeom>
            <a:solidFill>
              <a:srgbClr val="000000">
                <a:alpha val="0"/>
              </a:srgbClr>
            </a:solidFill>
            <a:ln w="9525" cap="sq">
              <a:solidFill>
                <a:srgbClr val="CCD7E4"/>
              </a:solidFill>
              <a:prstDash val="solid"/>
              <a:miter/>
            </a:ln>
          </p:spPr>
        </p:sp>
        <p:sp>
          <p:nvSpPr>
            <p:cNvPr name="TextBox 37" id="37"/>
            <p:cNvSpPr txBox="true"/>
            <p:nvPr/>
          </p:nvSpPr>
          <p:spPr>
            <a:xfrm>
              <a:off x="0" y="-38100"/>
              <a:ext cx="2133600" cy="597408"/>
            </a:xfrm>
            <a:prstGeom prst="rect">
              <a:avLst/>
            </a:prstGeom>
          </p:spPr>
          <p:txBody>
            <a:bodyPr anchor="ctr" rtlCol="false" tIns="76200" lIns="76200" bIns="76200" rIns="76200"/>
            <a:lstStyle/>
            <a:p>
              <a:pPr algn="l" marL="0" indent="0" lvl="0">
                <a:lnSpc>
                  <a:spcPts val="2100"/>
                </a:lnSpc>
                <a:spcBef>
                  <a:spcPct val="0"/>
                </a:spcBef>
              </a:pPr>
              <a:r>
                <a:rPr lang="en-US" sz="1500" strike="noStrike" u="none">
                  <a:solidFill>
                    <a:srgbClr val="0A2A66"/>
                  </a:solidFill>
                  <a:latin typeface="DM Sans"/>
                  <a:ea typeface="DM Sans"/>
                  <a:cs typeface="DM Sans"/>
                  <a:sym typeface="DM Sans"/>
                </a:rPr>
                <a:t>18,000</a:t>
              </a:r>
            </a:p>
          </p:txBody>
        </p:sp>
      </p:grpSp>
      <p:grpSp>
        <p:nvGrpSpPr>
          <p:cNvPr name="Group 38" id="38"/>
          <p:cNvGrpSpPr/>
          <p:nvPr/>
        </p:nvGrpSpPr>
        <p:grpSpPr>
          <a:xfrm rot="0">
            <a:off x="6338888" y="3243262"/>
            <a:ext cx="3581400" cy="419481"/>
            <a:chOff x="0" y="0"/>
            <a:chExt cx="4775200" cy="559308"/>
          </a:xfrm>
        </p:grpSpPr>
        <p:sp>
          <p:nvSpPr>
            <p:cNvPr name="Freeform 39" id="39"/>
            <p:cNvSpPr/>
            <p:nvPr/>
          </p:nvSpPr>
          <p:spPr>
            <a:xfrm flipH="false" flipV="false" rot="0">
              <a:off x="0" y="0"/>
              <a:ext cx="4775200" cy="559308"/>
            </a:xfrm>
            <a:custGeom>
              <a:avLst/>
              <a:gdLst/>
              <a:ahLst/>
              <a:cxnLst/>
              <a:rect r="r" b="b" t="t" l="l"/>
              <a:pathLst>
                <a:path h="559308" w="4775200">
                  <a:moveTo>
                    <a:pt x="0" y="0"/>
                  </a:moveTo>
                  <a:lnTo>
                    <a:pt x="4775200" y="0"/>
                  </a:lnTo>
                  <a:lnTo>
                    <a:pt x="4775200" y="559308"/>
                  </a:lnTo>
                  <a:lnTo>
                    <a:pt x="0" y="559308"/>
                  </a:lnTo>
                  <a:lnTo>
                    <a:pt x="0" y="0"/>
                  </a:lnTo>
                  <a:close/>
                </a:path>
              </a:pathLst>
            </a:custGeom>
            <a:solidFill>
              <a:srgbClr val="FFFFFF"/>
            </a:solidFill>
          </p:spPr>
        </p:sp>
        <p:sp>
          <p:nvSpPr>
            <p:cNvPr name="Freeform 40" id="40"/>
            <p:cNvSpPr/>
            <p:nvPr/>
          </p:nvSpPr>
          <p:spPr>
            <a:xfrm flipH="false" flipV="false" rot="0">
              <a:off x="0" y="0"/>
              <a:ext cx="4775200" cy="559308"/>
            </a:xfrm>
            <a:custGeom>
              <a:avLst/>
              <a:gdLst/>
              <a:ahLst/>
              <a:cxnLst/>
              <a:rect r="r" b="b" t="t" l="l"/>
              <a:pathLst>
                <a:path h="559308" w="4775200">
                  <a:moveTo>
                    <a:pt x="0" y="0"/>
                  </a:moveTo>
                  <a:lnTo>
                    <a:pt x="4775200" y="0"/>
                  </a:lnTo>
                  <a:lnTo>
                    <a:pt x="4775200" y="559308"/>
                  </a:lnTo>
                  <a:lnTo>
                    <a:pt x="0" y="559308"/>
                  </a:lnTo>
                  <a:lnTo>
                    <a:pt x="0" y="0"/>
                  </a:lnTo>
                  <a:close/>
                </a:path>
              </a:pathLst>
            </a:custGeom>
            <a:solidFill>
              <a:srgbClr val="000000">
                <a:alpha val="0"/>
              </a:srgbClr>
            </a:solidFill>
            <a:ln w="9525" cap="sq">
              <a:solidFill>
                <a:srgbClr val="CCD7E4"/>
              </a:solidFill>
              <a:prstDash val="solid"/>
              <a:miter/>
            </a:ln>
          </p:spPr>
        </p:sp>
        <p:sp>
          <p:nvSpPr>
            <p:cNvPr name="TextBox 41" id="41"/>
            <p:cNvSpPr txBox="true"/>
            <p:nvPr/>
          </p:nvSpPr>
          <p:spPr>
            <a:xfrm>
              <a:off x="0" y="-38100"/>
              <a:ext cx="4775200" cy="597408"/>
            </a:xfrm>
            <a:prstGeom prst="rect">
              <a:avLst/>
            </a:prstGeom>
          </p:spPr>
          <p:txBody>
            <a:bodyPr anchor="ctr" rtlCol="false" tIns="76200" lIns="76200" bIns="76200" rIns="76200"/>
            <a:lstStyle/>
            <a:p>
              <a:pPr algn="l" marL="0" indent="0" lvl="0">
                <a:lnSpc>
                  <a:spcPts val="2100"/>
                </a:lnSpc>
                <a:spcBef>
                  <a:spcPct val="0"/>
                </a:spcBef>
              </a:pPr>
              <a:r>
                <a:rPr lang="en-US" sz="1500" strike="noStrike" u="none">
                  <a:solidFill>
                    <a:srgbClr val="0A2A66"/>
                  </a:solidFill>
                  <a:latin typeface="DM Sans"/>
                  <a:ea typeface="DM Sans"/>
                  <a:cs typeface="DM Sans"/>
                  <a:sym typeface="DM Sans"/>
                </a:rPr>
                <a:t>Evaluation</a:t>
              </a:r>
            </a:p>
          </p:txBody>
        </p:sp>
      </p:grpSp>
      <p:grpSp>
        <p:nvGrpSpPr>
          <p:cNvPr name="Group 42" id="42"/>
          <p:cNvGrpSpPr/>
          <p:nvPr/>
        </p:nvGrpSpPr>
        <p:grpSpPr>
          <a:xfrm rot="0">
            <a:off x="9920288" y="3243262"/>
            <a:ext cx="1600200" cy="419481"/>
            <a:chOff x="0" y="0"/>
            <a:chExt cx="2133600" cy="559308"/>
          </a:xfrm>
        </p:grpSpPr>
        <p:sp>
          <p:nvSpPr>
            <p:cNvPr name="Freeform 43" id="43"/>
            <p:cNvSpPr/>
            <p:nvPr/>
          </p:nvSpPr>
          <p:spPr>
            <a:xfrm flipH="false" flipV="false" rot="0">
              <a:off x="0" y="0"/>
              <a:ext cx="2133600" cy="559308"/>
            </a:xfrm>
            <a:custGeom>
              <a:avLst/>
              <a:gdLst/>
              <a:ahLst/>
              <a:cxnLst/>
              <a:rect r="r" b="b" t="t" l="l"/>
              <a:pathLst>
                <a:path h="559308" w="2133600">
                  <a:moveTo>
                    <a:pt x="0" y="0"/>
                  </a:moveTo>
                  <a:lnTo>
                    <a:pt x="2133600" y="0"/>
                  </a:lnTo>
                  <a:lnTo>
                    <a:pt x="2133600" y="559308"/>
                  </a:lnTo>
                  <a:lnTo>
                    <a:pt x="0" y="559308"/>
                  </a:lnTo>
                  <a:lnTo>
                    <a:pt x="0" y="0"/>
                  </a:lnTo>
                  <a:close/>
                </a:path>
              </a:pathLst>
            </a:custGeom>
            <a:solidFill>
              <a:srgbClr val="FFFFFF"/>
            </a:solidFill>
          </p:spPr>
        </p:sp>
        <p:sp>
          <p:nvSpPr>
            <p:cNvPr name="Freeform 44" id="44"/>
            <p:cNvSpPr/>
            <p:nvPr/>
          </p:nvSpPr>
          <p:spPr>
            <a:xfrm flipH="false" flipV="false" rot="0">
              <a:off x="0" y="0"/>
              <a:ext cx="2133600" cy="559308"/>
            </a:xfrm>
            <a:custGeom>
              <a:avLst/>
              <a:gdLst/>
              <a:ahLst/>
              <a:cxnLst/>
              <a:rect r="r" b="b" t="t" l="l"/>
              <a:pathLst>
                <a:path h="559308" w="2133600">
                  <a:moveTo>
                    <a:pt x="0" y="0"/>
                  </a:moveTo>
                  <a:lnTo>
                    <a:pt x="2133600" y="0"/>
                  </a:lnTo>
                  <a:lnTo>
                    <a:pt x="2133600" y="559308"/>
                  </a:lnTo>
                  <a:lnTo>
                    <a:pt x="0" y="559308"/>
                  </a:lnTo>
                  <a:lnTo>
                    <a:pt x="0" y="0"/>
                  </a:lnTo>
                  <a:close/>
                </a:path>
              </a:pathLst>
            </a:custGeom>
            <a:solidFill>
              <a:srgbClr val="000000">
                <a:alpha val="0"/>
              </a:srgbClr>
            </a:solidFill>
            <a:ln w="9525" cap="sq">
              <a:solidFill>
                <a:srgbClr val="CCD7E4"/>
              </a:solidFill>
              <a:prstDash val="solid"/>
              <a:miter/>
            </a:ln>
          </p:spPr>
        </p:sp>
        <p:sp>
          <p:nvSpPr>
            <p:cNvPr name="TextBox 45" id="45"/>
            <p:cNvSpPr txBox="true"/>
            <p:nvPr/>
          </p:nvSpPr>
          <p:spPr>
            <a:xfrm>
              <a:off x="0" y="-38100"/>
              <a:ext cx="2133600" cy="597408"/>
            </a:xfrm>
            <a:prstGeom prst="rect">
              <a:avLst/>
            </a:prstGeom>
          </p:spPr>
          <p:txBody>
            <a:bodyPr anchor="ctr" rtlCol="false" tIns="76200" lIns="76200" bIns="76200" rIns="76200"/>
            <a:lstStyle/>
            <a:p>
              <a:pPr algn="l" marL="0" indent="0" lvl="0">
                <a:lnSpc>
                  <a:spcPts val="2100"/>
                </a:lnSpc>
                <a:spcBef>
                  <a:spcPct val="0"/>
                </a:spcBef>
              </a:pPr>
              <a:r>
                <a:rPr lang="en-US" sz="1500" strike="noStrike" u="none">
                  <a:solidFill>
                    <a:srgbClr val="0A2A66"/>
                  </a:solidFill>
                  <a:latin typeface="DM Sans"/>
                  <a:ea typeface="DM Sans"/>
                  <a:cs typeface="DM Sans"/>
                  <a:sym typeface="DM Sans"/>
                </a:rPr>
                <a:t>12,000</a:t>
              </a:r>
            </a:p>
          </p:txBody>
        </p:sp>
      </p:grpSp>
      <p:grpSp>
        <p:nvGrpSpPr>
          <p:cNvPr name="Group 46" id="46"/>
          <p:cNvGrpSpPr/>
          <p:nvPr/>
        </p:nvGrpSpPr>
        <p:grpSpPr>
          <a:xfrm rot="0">
            <a:off x="6338888" y="3643312"/>
            <a:ext cx="3581400" cy="419481"/>
            <a:chOff x="0" y="0"/>
            <a:chExt cx="4775200" cy="559308"/>
          </a:xfrm>
        </p:grpSpPr>
        <p:sp>
          <p:nvSpPr>
            <p:cNvPr name="Freeform 47" id="47"/>
            <p:cNvSpPr/>
            <p:nvPr/>
          </p:nvSpPr>
          <p:spPr>
            <a:xfrm flipH="false" flipV="false" rot="0">
              <a:off x="0" y="0"/>
              <a:ext cx="4775200" cy="559308"/>
            </a:xfrm>
            <a:custGeom>
              <a:avLst/>
              <a:gdLst/>
              <a:ahLst/>
              <a:cxnLst/>
              <a:rect r="r" b="b" t="t" l="l"/>
              <a:pathLst>
                <a:path h="559308" w="4775200">
                  <a:moveTo>
                    <a:pt x="0" y="0"/>
                  </a:moveTo>
                  <a:lnTo>
                    <a:pt x="4775200" y="0"/>
                  </a:lnTo>
                  <a:lnTo>
                    <a:pt x="4775200" y="559308"/>
                  </a:lnTo>
                  <a:lnTo>
                    <a:pt x="0" y="559308"/>
                  </a:lnTo>
                  <a:lnTo>
                    <a:pt x="0" y="0"/>
                  </a:lnTo>
                  <a:close/>
                </a:path>
              </a:pathLst>
            </a:custGeom>
            <a:solidFill>
              <a:srgbClr val="FFFFFF"/>
            </a:solidFill>
          </p:spPr>
        </p:sp>
        <p:sp>
          <p:nvSpPr>
            <p:cNvPr name="Freeform 48" id="48"/>
            <p:cNvSpPr/>
            <p:nvPr/>
          </p:nvSpPr>
          <p:spPr>
            <a:xfrm flipH="false" flipV="false" rot="0">
              <a:off x="0" y="0"/>
              <a:ext cx="4775200" cy="559308"/>
            </a:xfrm>
            <a:custGeom>
              <a:avLst/>
              <a:gdLst/>
              <a:ahLst/>
              <a:cxnLst/>
              <a:rect r="r" b="b" t="t" l="l"/>
              <a:pathLst>
                <a:path h="559308" w="4775200">
                  <a:moveTo>
                    <a:pt x="0" y="0"/>
                  </a:moveTo>
                  <a:lnTo>
                    <a:pt x="4775200" y="0"/>
                  </a:lnTo>
                  <a:lnTo>
                    <a:pt x="4775200" y="559308"/>
                  </a:lnTo>
                  <a:lnTo>
                    <a:pt x="0" y="559308"/>
                  </a:lnTo>
                  <a:lnTo>
                    <a:pt x="0" y="0"/>
                  </a:lnTo>
                  <a:close/>
                </a:path>
              </a:pathLst>
            </a:custGeom>
            <a:solidFill>
              <a:srgbClr val="000000">
                <a:alpha val="0"/>
              </a:srgbClr>
            </a:solidFill>
            <a:ln w="9525" cap="sq">
              <a:solidFill>
                <a:srgbClr val="CCD7E4"/>
              </a:solidFill>
              <a:prstDash val="solid"/>
              <a:miter/>
            </a:ln>
          </p:spPr>
        </p:sp>
        <p:sp>
          <p:nvSpPr>
            <p:cNvPr name="TextBox 49" id="49"/>
            <p:cNvSpPr txBox="true"/>
            <p:nvPr/>
          </p:nvSpPr>
          <p:spPr>
            <a:xfrm>
              <a:off x="0" y="-38100"/>
              <a:ext cx="4775200" cy="597408"/>
            </a:xfrm>
            <a:prstGeom prst="rect">
              <a:avLst/>
            </a:prstGeom>
          </p:spPr>
          <p:txBody>
            <a:bodyPr anchor="ctr" rtlCol="false" tIns="76200" lIns="76200" bIns="76200" rIns="76200"/>
            <a:lstStyle/>
            <a:p>
              <a:pPr algn="l" marL="0" indent="0" lvl="0">
                <a:lnSpc>
                  <a:spcPts val="2100"/>
                </a:lnSpc>
                <a:spcBef>
                  <a:spcPct val="0"/>
                </a:spcBef>
              </a:pPr>
              <a:r>
                <a:rPr lang="en-US" sz="1500" strike="noStrike" u="none">
                  <a:solidFill>
                    <a:srgbClr val="0A2A66"/>
                  </a:solidFill>
                  <a:latin typeface="DM Sans"/>
                  <a:ea typeface="DM Sans"/>
                  <a:cs typeface="DM Sans"/>
                  <a:sym typeface="DM Sans"/>
                </a:rPr>
                <a:t>Operations &amp; hosting</a:t>
              </a:r>
            </a:p>
          </p:txBody>
        </p:sp>
      </p:grpSp>
      <p:grpSp>
        <p:nvGrpSpPr>
          <p:cNvPr name="Group 50" id="50"/>
          <p:cNvGrpSpPr/>
          <p:nvPr/>
        </p:nvGrpSpPr>
        <p:grpSpPr>
          <a:xfrm rot="0">
            <a:off x="9920288" y="3643312"/>
            <a:ext cx="1600200" cy="419481"/>
            <a:chOff x="0" y="0"/>
            <a:chExt cx="2133600" cy="559308"/>
          </a:xfrm>
        </p:grpSpPr>
        <p:sp>
          <p:nvSpPr>
            <p:cNvPr name="Freeform 51" id="51"/>
            <p:cNvSpPr/>
            <p:nvPr/>
          </p:nvSpPr>
          <p:spPr>
            <a:xfrm flipH="false" flipV="false" rot="0">
              <a:off x="0" y="0"/>
              <a:ext cx="2133600" cy="559308"/>
            </a:xfrm>
            <a:custGeom>
              <a:avLst/>
              <a:gdLst/>
              <a:ahLst/>
              <a:cxnLst/>
              <a:rect r="r" b="b" t="t" l="l"/>
              <a:pathLst>
                <a:path h="559308" w="2133600">
                  <a:moveTo>
                    <a:pt x="0" y="0"/>
                  </a:moveTo>
                  <a:lnTo>
                    <a:pt x="2133600" y="0"/>
                  </a:lnTo>
                  <a:lnTo>
                    <a:pt x="2133600" y="559308"/>
                  </a:lnTo>
                  <a:lnTo>
                    <a:pt x="0" y="559308"/>
                  </a:lnTo>
                  <a:lnTo>
                    <a:pt x="0" y="0"/>
                  </a:lnTo>
                  <a:close/>
                </a:path>
              </a:pathLst>
            </a:custGeom>
            <a:solidFill>
              <a:srgbClr val="FFFFFF"/>
            </a:solidFill>
          </p:spPr>
        </p:sp>
        <p:sp>
          <p:nvSpPr>
            <p:cNvPr name="Freeform 52" id="52"/>
            <p:cNvSpPr/>
            <p:nvPr/>
          </p:nvSpPr>
          <p:spPr>
            <a:xfrm flipH="false" flipV="false" rot="0">
              <a:off x="0" y="0"/>
              <a:ext cx="2133600" cy="559308"/>
            </a:xfrm>
            <a:custGeom>
              <a:avLst/>
              <a:gdLst/>
              <a:ahLst/>
              <a:cxnLst/>
              <a:rect r="r" b="b" t="t" l="l"/>
              <a:pathLst>
                <a:path h="559308" w="2133600">
                  <a:moveTo>
                    <a:pt x="0" y="0"/>
                  </a:moveTo>
                  <a:lnTo>
                    <a:pt x="2133600" y="0"/>
                  </a:lnTo>
                  <a:lnTo>
                    <a:pt x="2133600" y="559308"/>
                  </a:lnTo>
                  <a:lnTo>
                    <a:pt x="0" y="559308"/>
                  </a:lnTo>
                  <a:lnTo>
                    <a:pt x="0" y="0"/>
                  </a:lnTo>
                  <a:close/>
                </a:path>
              </a:pathLst>
            </a:custGeom>
            <a:solidFill>
              <a:srgbClr val="000000">
                <a:alpha val="0"/>
              </a:srgbClr>
            </a:solidFill>
            <a:ln w="9525" cap="sq">
              <a:solidFill>
                <a:srgbClr val="CCD7E4"/>
              </a:solidFill>
              <a:prstDash val="solid"/>
              <a:miter/>
            </a:ln>
          </p:spPr>
        </p:sp>
        <p:sp>
          <p:nvSpPr>
            <p:cNvPr name="TextBox 53" id="53"/>
            <p:cNvSpPr txBox="true"/>
            <p:nvPr/>
          </p:nvSpPr>
          <p:spPr>
            <a:xfrm>
              <a:off x="0" y="-38100"/>
              <a:ext cx="2133600" cy="597408"/>
            </a:xfrm>
            <a:prstGeom prst="rect">
              <a:avLst/>
            </a:prstGeom>
          </p:spPr>
          <p:txBody>
            <a:bodyPr anchor="ctr" rtlCol="false" tIns="76200" lIns="76200" bIns="76200" rIns="76200"/>
            <a:lstStyle/>
            <a:p>
              <a:pPr algn="l" marL="0" indent="0" lvl="0">
                <a:lnSpc>
                  <a:spcPts val="2100"/>
                </a:lnSpc>
                <a:spcBef>
                  <a:spcPct val="0"/>
                </a:spcBef>
              </a:pPr>
              <a:r>
                <a:rPr lang="en-US" sz="1500" strike="noStrike" u="none">
                  <a:solidFill>
                    <a:srgbClr val="0A2A66"/>
                  </a:solidFill>
                  <a:latin typeface="DM Sans"/>
                  <a:ea typeface="DM Sans"/>
                  <a:cs typeface="DM Sans"/>
                  <a:sym typeface="DM Sans"/>
                </a:rPr>
                <a:t>12,000</a:t>
              </a:r>
            </a:p>
          </p:txBody>
        </p:sp>
      </p:grpSp>
      <p:grpSp>
        <p:nvGrpSpPr>
          <p:cNvPr name="Group 54" id="54"/>
          <p:cNvGrpSpPr/>
          <p:nvPr/>
        </p:nvGrpSpPr>
        <p:grpSpPr>
          <a:xfrm rot="0">
            <a:off x="6338888" y="4043362"/>
            <a:ext cx="3581400" cy="419481"/>
            <a:chOff x="0" y="0"/>
            <a:chExt cx="4775200" cy="559308"/>
          </a:xfrm>
        </p:grpSpPr>
        <p:sp>
          <p:nvSpPr>
            <p:cNvPr name="Freeform 55" id="55"/>
            <p:cNvSpPr/>
            <p:nvPr/>
          </p:nvSpPr>
          <p:spPr>
            <a:xfrm flipH="false" flipV="false" rot="0">
              <a:off x="0" y="0"/>
              <a:ext cx="4775200" cy="559308"/>
            </a:xfrm>
            <a:custGeom>
              <a:avLst/>
              <a:gdLst/>
              <a:ahLst/>
              <a:cxnLst/>
              <a:rect r="r" b="b" t="t" l="l"/>
              <a:pathLst>
                <a:path h="559308" w="4775200">
                  <a:moveTo>
                    <a:pt x="0" y="0"/>
                  </a:moveTo>
                  <a:lnTo>
                    <a:pt x="4775200" y="0"/>
                  </a:lnTo>
                  <a:lnTo>
                    <a:pt x="4775200" y="559308"/>
                  </a:lnTo>
                  <a:lnTo>
                    <a:pt x="0" y="559308"/>
                  </a:lnTo>
                  <a:lnTo>
                    <a:pt x="0" y="0"/>
                  </a:lnTo>
                  <a:close/>
                </a:path>
              </a:pathLst>
            </a:custGeom>
            <a:solidFill>
              <a:srgbClr val="FFFFFF"/>
            </a:solidFill>
          </p:spPr>
        </p:sp>
        <p:sp>
          <p:nvSpPr>
            <p:cNvPr name="Freeform 56" id="56"/>
            <p:cNvSpPr/>
            <p:nvPr/>
          </p:nvSpPr>
          <p:spPr>
            <a:xfrm flipH="false" flipV="false" rot="0">
              <a:off x="0" y="0"/>
              <a:ext cx="4775200" cy="559308"/>
            </a:xfrm>
            <a:custGeom>
              <a:avLst/>
              <a:gdLst/>
              <a:ahLst/>
              <a:cxnLst/>
              <a:rect r="r" b="b" t="t" l="l"/>
              <a:pathLst>
                <a:path h="559308" w="4775200">
                  <a:moveTo>
                    <a:pt x="0" y="0"/>
                  </a:moveTo>
                  <a:lnTo>
                    <a:pt x="4775200" y="0"/>
                  </a:lnTo>
                  <a:lnTo>
                    <a:pt x="4775200" y="559308"/>
                  </a:lnTo>
                  <a:lnTo>
                    <a:pt x="0" y="559308"/>
                  </a:lnTo>
                  <a:lnTo>
                    <a:pt x="0" y="0"/>
                  </a:lnTo>
                  <a:close/>
                </a:path>
              </a:pathLst>
            </a:custGeom>
            <a:solidFill>
              <a:srgbClr val="000000">
                <a:alpha val="0"/>
              </a:srgbClr>
            </a:solidFill>
            <a:ln w="9525" cap="sq">
              <a:solidFill>
                <a:srgbClr val="CCD7E4"/>
              </a:solidFill>
              <a:prstDash val="solid"/>
              <a:miter/>
            </a:ln>
          </p:spPr>
        </p:sp>
        <p:sp>
          <p:nvSpPr>
            <p:cNvPr name="TextBox 57" id="57"/>
            <p:cNvSpPr txBox="true"/>
            <p:nvPr/>
          </p:nvSpPr>
          <p:spPr>
            <a:xfrm>
              <a:off x="0" y="-38100"/>
              <a:ext cx="4775200" cy="597408"/>
            </a:xfrm>
            <a:prstGeom prst="rect">
              <a:avLst/>
            </a:prstGeom>
          </p:spPr>
          <p:txBody>
            <a:bodyPr anchor="ctr" rtlCol="false" tIns="76200" lIns="76200" bIns="76200" rIns="76200"/>
            <a:lstStyle/>
            <a:p>
              <a:pPr algn="l" marL="0" indent="0" lvl="0">
                <a:lnSpc>
                  <a:spcPts val="2100"/>
                </a:lnSpc>
                <a:spcBef>
                  <a:spcPct val="0"/>
                </a:spcBef>
              </a:pPr>
              <a:r>
                <a:rPr lang="en-US" sz="1500" strike="noStrike" u="none">
                  <a:solidFill>
                    <a:srgbClr val="0A2A66"/>
                  </a:solidFill>
                  <a:latin typeface="DM Sans"/>
                  <a:ea typeface="DM Sans"/>
                  <a:cs typeface="DM Sans"/>
                  <a:sym typeface="DM Sans"/>
                </a:rPr>
                <a:t>Interactive production</a:t>
              </a:r>
            </a:p>
          </p:txBody>
        </p:sp>
      </p:grpSp>
      <p:grpSp>
        <p:nvGrpSpPr>
          <p:cNvPr name="Group 58" id="58"/>
          <p:cNvGrpSpPr/>
          <p:nvPr/>
        </p:nvGrpSpPr>
        <p:grpSpPr>
          <a:xfrm rot="0">
            <a:off x="9920288" y="4043362"/>
            <a:ext cx="1600200" cy="419481"/>
            <a:chOff x="0" y="0"/>
            <a:chExt cx="2133600" cy="559308"/>
          </a:xfrm>
        </p:grpSpPr>
        <p:sp>
          <p:nvSpPr>
            <p:cNvPr name="Freeform 59" id="59"/>
            <p:cNvSpPr/>
            <p:nvPr/>
          </p:nvSpPr>
          <p:spPr>
            <a:xfrm flipH="false" flipV="false" rot="0">
              <a:off x="0" y="0"/>
              <a:ext cx="2133600" cy="559308"/>
            </a:xfrm>
            <a:custGeom>
              <a:avLst/>
              <a:gdLst/>
              <a:ahLst/>
              <a:cxnLst/>
              <a:rect r="r" b="b" t="t" l="l"/>
              <a:pathLst>
                <a:path h="559308" w="2133600">
                  <a:moveTo>
                    <a:pt x="0" y="0"/>
                  </a:moveTo>
                  <a:lnTo>
                    <a:pt x="2133600" y="0"/>
                  </a:lnTo>
                  <a:lnTo>
                    <a:pt x="2133600" y="559308"/>
                  </a:lnTo>
                  <a:lnTo>
                    <a:pt x="0" y="559308"/>
                  </a:lnTo>
                  <a:lnTo>
                    <a:pt x="0" y="0"/>
                  </a:lnTo>
                  <a:close/>
                </a:path>
              </a:pathLst>
            </a:custGeom>
            <a:solidFill>
              <a:srgbClr val="FFFFFF"/>
            </a:solidFill>
          </p:spPr>
        </p:sp>
        <p:sp>
          <p:nvSpPr>
            <p:cNvPr name="Freeform 60" id="60"/>
            <p:cNvSpPr/>
            <p:nvPr/>
          </p:nvSpPr>
          <p:spPr>
            <a:xfrm flipH="false" flipV="false" rot="0">
              <a:off x="0" y="0"/>
              <a:ext cx="2133600" cy="559308"/>
            </a:xfrm>
            <a:custGeom>
              <a:avLst/>
              <a:gdLst/>
              <a:ahLst/>
              <a:cxnLst/>
              <a:rect r="r" b="b" t="t" l="l"/>
              <a:pathLst>
                <a:path h="559308" w="2133600">
                  <a:moveTo>
                    <a:pt x="0" y="0"/>
                  </a:moveTo>
                  <a:lnTo>
                    <a:pt x="2133600" y="0"/>
                  </a:lnTo>
                  <a:lnTo>
                    <a:pt x="2133600" y="559308"/>
                  </a:lnTo>
                  <a:lnTo>
                    <a:pt x="0" y="559308"/>
                  </a:lnTo>
                  <a:lnTo>
                    <a:pt x="0" y="0"/>
                  </a:lnTo>
                  <a:close/>
                </a:path>
              </a:pathLst>
            </a:custGeom>
            <a:solidFill>
              <a:srgbClr val="000000">
                <a:alpha val="0"/>
              </a:srgbClr>
            </a:solidFill>
            <a:ln w="9525" cap="sq">
              <a:solidFill>
                <a:srgbClr val="CCD7E4"/>
              </a:solidFill>
              <a:prstDash val="solid"/>
              <a:miter/>
            </a:ln>
          </p:spPr>
        </p:sp>
        <p:sp>
          <p:nvSpPr>
            <p:cNvPr name="TextBox 61" id="61"/>
            <p:cNvSpPr txBox="true"/>
            <p:nvPr/>
          </p:nvSpPr>
          <p:spPr>
            <a:xfrm>
              <a:off x="0" y="-38100"/>
              <a:ext cx="2133600" cy="597408"/>
            </a:xfrm>
            <a:prstGeom prst="rect">
              <a:avLst/>
            </a:prstGeom>
          </p:spPr>
          <p:txBody>
            <a:bodyPr anchor="ctr" rtlCol="false" tIns="76200" lIns="76200" bIns="76200" rIns="76200"/>
            <a:lstStyle/>
            <a:p>
              <a:pPr algn="l" marL="0" indent="0" lvl="0">
                <a:lnSpc>
                  <a:spcPts val="2100"/>
                </a:lnSpc>
                <a:spcBef>
                  <a:spcPct val="0"/>
                </a:spcBef>
              </a:pPr>
              <a:r>
                <a:rPr lang="en-US" sz="1500" strike="noStrike" u="none">
                  <a:solidFill>
                    <a:srgbClr val="0A2A66"/>
                  </a:solidFill>
                  <a:latin typeface="DM Sans"/>
                  <a:ea typeface="DM Sans"/>
                  <a:cs typeface="DM Sans"/>
                  <a:sym typeface="DM Sans"/>
                </a:rPr>
                <a:t>12,000</a:t>
              </a:r>
            </a:p>
          </p:txBody>
        </p:sp>
      </p:grpSp>
      <p:grpSp>
        <p:nvGrpSpPr>
          <p:cNvPr name="Group 62" id="62"/>
          <p:cNvGrpSpPr/>
          <p:nvPr/>
        </p:nvGrpSpPr>
        <p:grpSpPr>
          <a:xfrm rot="0">
            <a:off x="6338888" y="4443412"/>
            <a:ext cx="3581400" cy="419481"/>
            <a:chOff x="0" y="0"/>
            <a:chExt cx="4775200" cy="559308"/>
          </a:xfrm>
        </p:grpSpPr>
        <p:sp>
          <p:nvSpPr>
            <p:cNvPr name="Freeform 63" id="63"/>
            <p:cNvSpPr/>
            <p:nvPr/>
          </p:nvSpPr>
          <p:spPr>
            <a:xfrm flipH="false" flipV="false" rot="0">
              <a:off x="0" y="0"/>
              <a:ext cx="4775200" cy="559308"/>
            </a:xfrm>
            <a:custGeom>
              <a:avLst/>
              <a:gdLst/>
              <a:ahLst/>
              <a:cxnLst/>
              <a:rect r="r" b="b" t="t" l="l"/>
              <a:pathLst>
                <a:path h="559308" w="4775200">
                  <a:moveTo>
                    <a:pt x="0" y="0"/>
                  </a:moveTo>
                  <a:lnTo>
                    <a:pt x="4775200" y="0"/>
                  </a:lnTo>
                  <a:lnTo>
                    <a:pt x="4775200" y="559308"/>
                  </a:lnTo>
                  <a:lnTo>
                    <a:pt x="0" y="559308"/>
                  </a:lnTo>
                  <a:lnTo>
                    <a:pt x="0" y="0"/>
                  </a:lnTo>
                  <a:close/>
                </a:path>
              </a:pathLst>
            </a:custGeom>
            <a:solidFill>
              <a:srgbClr val="FFFFFF"/>
            </a:solidFill>
          </p:spPr>
        </p:sp>
        <p:sp>
          <p:nvSpPr>
            <p:cNvPr name="Freeform 64" id="64"/>
            <p:cNvSpPr/>
            <p:nvPr/>
          </p:nvSpPr>
          <p:spPr>
            <a:xfrm flipH="false" flipV="false" rot="0">
              <a:off x="0" y="0"/>
              <a:ext cx="4775200" cy="559308"/>
            </a:xfrm>
            <a:custGeom>
              <a:avLst/>
              <a:gdLst/>
              <a:ahLst/>
              <a:cxnLst/>
              <a:rect r="r" b="b" t="t" l="l"/>
              <a:pathLst>
                <a:path h="559308" w="4775200">
                  <a:moveTo>
                    <a:pt x="0" y="0"/>
                  </a:moveTo>
                  <a:lnTo>
                    <a:pt x="4775200" y="0"/>
                  </a:lnTo>
                  <a:lnTo>
                    <a:pt x="4775200" y="559308"/>
                  </a:lnTo>
                  <a:lnTo>
                    <a:pt x="0" y="559308"/>
                  </a:lnTo>
                  <a:lnTo>
                    <a:pt x="0" y="0"/>
                  </a:lnTo>
                  <a:close/>
                </a:path>
              </a:pathLst>
            </a:custGeom>
            <a:solidFill>
              <a:srgbClr val="000000">
                <a:alpha val="0"/>
              </a:srgbClr>
            </a:solidFill>
            <a:ln w="9525" cap="sq">
              <a:solidFill>
                <a:srgbClr val="CCD7E4"/>
              </a:solidFill>
              <a:prstDash val="solid"/>
              <a:miter/>
            </a:ln>
          </p:spPr>
        </p:sp>
        <p:sp>
          <p:nvSpPr>
            <p:cNvPr name="TextBox 65" id="65"/>
            <p:cNvSpPr txBox="true"/>
            <p:nvPr/>
          </p:nvSpPr>
          <p:spPr>
            <a:xfrm>
              <a:off x="0" y="-38100"/>
              <a:ext cx="4775200" cy="597408"/>
            </a:xfrm>
            <a:prstGeom prst="rect">
              <a:avLst/>
            </a:prstGeom>
          </p:spPr>
          <p:txBody>
            <a:bodyPr anchor="ctr" rtlCol="false" tIns="76200" lIns="76200" bIns="76200" rIns="76200"/>
            <a:lstStyle/>
            <a:p>
              <a:pPr algn="l" marL="0" indent="0" lvl="0">
                <a:lnSpc>
                  <a:spcPts val="2100"/>
                </a:lnSpc>
                <a:spcBef>
                  <a:spcPct val="0"/>
                </a:spcBef>
              </a:pPr>
              <a:r>
                <a:rPr lang="en-US" sz="1500" strike="noStrike" u="none">
                  <a:solidFill>
                    <a:srgbClr val="0A2A66"/>
                  </a:solidFill>
                  <a:latin typeface="DM Sans"/>
                  <a:ea typeface="DM Sans"/>
                  <a:cs typeface="DM Sans"/>
                  <a:sym typeface="DM Sans"/>
                </a:rPr>
                <a:t>Localization review</a:t>
              </a:r>
            </a:p>
          </p:txBody>
        </p:sp>
      </p:grpSp>
      <p:grpSp>
        <p:nvGrpSpPr>
          <p:cNvPr name="Group 66" id="66"/>
          <p:cNvGrpSpPr/>
          <p:nvPr/>
        </p:nvGrpSpPr>
        <p:grpSpPr>
          <a:xfrm rot="0">
            <a:off x="9920288" y="4443412"/>
            <a:ext cx="1600200" cy="419481"/>
            <a:chOff x="0" y="0"/>
            <a:chExt cx="2133600" cy="559308"/>
          </a:xfrm>
        </p:grpSpPr>
        <p:sp>
          <p:nvSpPr>
            <p:cNvPr name="Freeform 67" id="67"/>
            <p:cNvSpPr/>
            <p:nvPr/>
          </p:nvSpPr>
          <p:spPr>
            <a:xfrm flipH="false" flipV="false" rot="0">
              <a:off x="0" y="0"/>
              <a:ext cx="2133600" cy="559308"/>
            </a:xfrm>
            <a:custGeom>
              <a:avLst/>
              <a:gdLst/>
              <a:ahLst/>
              <a:cxnLst/>
              <a:rect r="r" b="b" t="t" l="l"/>
              <a:pathLst>
                <a:path h="559308" w="2133600">
                  <a:moveTo>
                    <a:pt x="0" y="0"/>
                  </a:moveTo>
                  <a:lnTo>
                    <a:pt x="2133600" y="0"/>
                  </a:lnTo>
                  <a:lnTo>
                    <a:pt x="2133600" y="559308"/>
                  </a:lnTo>
                  <a:lnTo>
                    <a:pt x="0" y="559308"/>
                  </a:lnTo>
                  <a:lnTo>
                    <a:pt x="0" y="0"/>
                  </a:lnTo>
                  <a:close/>
                </a:path>
              </a:pathLst>
            </a:custGeom>
            <a:solidFill>
              <a:srgbClr val="FFFFFF"/>
            </a:solidFill>
          </p:spPr>
        </p:sp>
        <p:sp>
          <p:nvSpPr>
            <p:cNvPr name="Freeform 68" id="68"/>
            <p:cNvSpPr/>
            <p:nvPr/>
          </p:nvSpPr>
          <p:spPr>
            <a:xfrm flipH="false" flipV="false" rot="0">
              <a:off x="0" y="0"/>
              <a:ext cx="2133600" cy="559308"/>
            </a:xfrm>
            <a:custGeom>
              <a:avLst/>
              <a:gdLst/>
              <a:ahLst/>
              <a:cxnLst/>
              <a:rect r="r" b="b" t="t" l="l"/>
              <a:pathLst>
                <a:path h="559308" w="2133600">
                  <a:moveTo>
                    <a:pt x="0" y="0"/>
                  </a:moveTo>
                  <a:lnTo>
                    <a:pt x="2133600" y="0"/>
                  </a:lnTo>
                  <a:lnTo>
                    <a:pt x="2133600" y="559308"/>
                  </a:lnTo>
                  <a:lnTo>
                    <a:pt x="0" y="559308"/>
                  </a:lnTo>
                  <a:lnTo>
                    <a:pt x="0" y="0"/>
                  </a:lnTo>
                  <a:close/>
                </a:path>
              </a:pathLst>
            </a:custGeom>
            <a:solidFill>
              <a:srgbClr val="000000">
                <a:alpha val="0"/>
              </a:srgbClr>
            </a:solidFill>
            <a:ln w="9525" cap="sq">
              <a:solidFill>
                <a:srgbClr val="CCD7E4"/>
              </a:solidFill>
              <a:prstDash val="solid"/>
              <a:miter/>
            </a:ln>
          </p:spPr>
        </p:sp>
        <p:sp>
          <p:nvSpPr>
            <p:cNvPr name="TextBox 69" id="69"/>
            <p:cNvSpPr txBox="true"/>
            <p:nvPr/>
          </p:nvSpPr>
          <p:spPr>
            <a:xfrm>
              <a:off x="0" y="-38100"/>
              <a:ext cx="2133600" cy="597408"/>
            </a:xfrm>
            <a:prstGeom prst="rect">
              <a:avLst/>
            </a:prstGeom>
          </p:spPr>
          <p:txBody>
            <a:bodyPr anchor="ctr" rtlCol="false" tIns="76200" lIns="76200" bIns="76200" rIns="76200"/>
            <a:lstStyle/>
            <a:p>
              <a:pPr algn="l" marL="0" indent="0" lvl="0">
                <a:lnSpc>
                  <a:spcPts val="2100"/>
                </a:lnSpc>
                <a:spcBef>
                  <a:spcPct val="0"/>
                </a:spcBef>
              </a:pPr>
              <a:r>
                <a:rPr lang="en-US" sz="1500" strike="noStrike" u="none">
                  <a:solidFill>
                    <a:srgbClr val="0A2A66"/>
                  </a:solidFill>
                  <a:latin typeface="DM Sans"/>
                  <a:ea typeface="DM Sans"/>
                  <a:cs typeface="DM Sans"/>
                  <a:sym typeface="DM Sans"/>
                </a:rPr>
                <a:t>8,000</a:t>
              </a:r>
            </a:p>
          </p:txBody>
        </p:sp>
      </p:grpSp>
      <p:grpSp>
        <p:nvGrpSpPr>
          <p:cNvPr name="Group 70" id="70"/>
          <p:cNvGrpSpPr/>
          <p:nvPr/>
        </p:nvGrpSpPr>
        <p:grpSpPr>
          <a:xfrm rot="0">
            <a:off x="6338888" y="4843462"/>
            <a:ext cx="3581400" cy="419481"/>
            <a:chOff x="0" y="0"/>
            <a:chExt cx="4775200" cy="559308"/>
          </a:xfrm>
        </p:grpSpPr>
        <p:sp>
          <p:nvSpPr>
            <p:cNvPr name="Freeform 71" id="71"/>
            <p:cNvSpPr/>
            <p:nvPr/>
          </p:nvSpPr>
          <p:spPr>
            <a:xfrm flipH="false" flipV="false" rot="0">
              <a:off x="0" y="0"/>
              <a:ext cx="4775200" cy="559308"/>
            </a:xfrm>
            <a:custGeom>
              <a:avLst/>
              <a:gdLst/>
              <a:ahLst/>
              <a:cxnLst/>
              <a:rect r="r" b="b" t="t" l="l"/>
              <a:pathLst>
                <a:path h="559308" w="4775200">
                  <a:moveTo>
                    <a:pt x="0" y="0"/>
                  </a:moveTo>
                  <a:lnTo>
                    <a:pt x="4775200" y="0"/>
                  </a:lnTo>
                  <a:lnTo>
                    <a:pt x="4775200" y="559308"/>
                  </a:lnTo>
                  <a:lnTo>
                    <a:pt x="0" y="559308"/>
                  </a:lnTo>
                  <a:lnTo>
                    <a:pt x="0" y="0"/>
                  </a:lnTo>
                  <a:close/>
                </a:path>
              </a:pathLst>
            </a:custGeom>
            <a:solidFill>
              <a:srgbClr val="FFFFFF"/>
            </a:solidFill>
          </p:spPr>
        </p:sp>
        <p:sp>
          <p:nvSpPr>
            <p:cNvPr name="Freeform 72" id="72"/>
            <p:cNvSpPr/>
            <p:nvPr/>
          </p:nvSpPr>
          <p:spPr>
            <a:xfrm flipH="false" flipV="false" rot="0">
              <a:off x="0" y="0"/>
              <a:ext cx="4775200" cy="559308"/>
            </a:xfrm>
            <a:custGeom>
              <a:avLst/>
              <a:gdLst/>
              <a:ahLst/>
              <a:cxnLst/>
              <a:rect r="r" b="b" t="t" l="l"/>
              <a:pathLst>
                <a:path h="559308" w="4775200">
                  <a:moveTo>
                    <a:pt x="0" y="0"/>
                  </a:moveTo>
                  <a:lnTo>
                    <a:pt x="4775200" y="0"/>
                  </a:lnTo>
                  <a:lnTo>
                    <a:pt x="4775200" y="559308"/>
                  </a:lnTo>
                  <a:lnTo>
                    <a:pt x="0" y="559308"/>
                  </a:lnTo>
                  <a:lnTo>
                    <a:pt x="0" y="0"/>
                  </a:lnTo>
                  <a:close/>
                </a:path>
              </a:pathLst>
            </a:custGeom>
            <a:solidFill>
              <a:srgbClr val="000000">
                <a:alpha val="0"/>
              </a:srgbClr>
            </a:solidFill>
            <a:ln w="9525" cap="sq">
              <a:solidFill>
                <a:srgbClr val="CCD7E4"/>
              </a:solidFill>
              <a:prstDash val="solid"/>
              <a:miter/>
            </a:ln>
          </p:spPr>
        </p:sp>
        <p:sp>
          <p:nvSpPr>
            <p:cNvPr name="TextBox 73" id="73"/>
            <p:cNvSpPr txBox="true"/>
            <p:nvPr/>
          </p:nvSpPr>
          <p:spPr>
            <a:xfrm>
              <a:off x="0" y="-38100"/>
              <a:ext cx="4775200" cy="597408"/>
            </a:xfrm>
            <a:prstGeom prst="rect">
              <a:avLst/>
            </a:prstGeom>
          </p:spPr>
          <p:txBody>
            <a:bodyPr anchor="ctr" rtlCol="false" tIns="76200" lIns="76200" bIns="76200" rIns="76200"/>
            <a:lstStyle/>
            <a:p>
              <a:pPr algn="l" marL="0" indent="0" lvl="0">
                <a:lnSpc>
                  <a:spcPts val="2100"/>
                </a:lnSpc>
                <a:spcBef>
                  <a:spcPct val="0"/>
                </a:spcBef>
              </a:pPr>
              <a:r>
                <a:rPr lang="en-US" sz="1500" strike="noStrike" u="none">
                  <a:solidFill>
                    <a:srgbClr val="0A2A66"/>
                  </a:solidFill>
                  <a:latin typeface="DM Sans"/>
                  <a:ea typeface="DM Sans"/>
                  <a:cs typeface="DM Sans"/>
                  <a:sym typeface="DM Sans"/>
                </a:rPr>
                <a:t>Launch materials</a:t>
              </a:r>
            </a:p>
          </p:txBody>
        </p:sp>
      </p:grpSp>
      <p:grpSp>
        <p:nvGrpSpPr>
          <p:cNvPr name="Group 74" id="74"/>
          <p:cNvGrpSpPr/>
          <p:nvPr/>
        </p:nvGrpSpPr>
        <p:grpSpPr>
          <a:xfrm rot="0">
            <a:off x="9920288" y="4843462"/>
            <a:ext cx="1600200" cy="419481"/>
            <a:chOff x="0" y="0"/>
            <a:chExt cx="2133600" cy="559308"/>
          </a:xfrm>
        </p:grpSpPr>
        <p:sp>
          <p:nvSpPr>
            <p:cNvPr name="Freeform 75" id="75"/>
            <p:cNvSpPr/>
            <p:nvPr/>
          </p:nvSpPr>
          <p:spPr>
            <a:xfrm flipH="false" flipV="false" rot="0">
              <a:off x="0" y="0"/>
              <a:ext cx="2133600" cy="559308"/>
            </a:xfrm>
            <a:custGeom>
              <a:avLst/>
              <a:gdLst/>
              <a:ahLst/>
              <a:cxnLst/>
              <a:rect r="r" b="b" t="t" l="l"/>
              <a:pathLst>
                <a:path h="559308" w="2133600">
                  <a:moveTo>
                    <a:pt x="0" y="0"/>
                  </a:moveTo>
                  <a:lnTo>
                    <a:pt x="2133600" y="0"/>
                  </a:lnTo>
                  <a:lnTo>
                    <a:pt x="2133600" y="559308"/>
                  </a:lnTo>
                  <a:lnTo>
                    <a:pt x="0" y="559308"/>
                  </a:lnTo>
                  <a:lnTo>
                    <a:pt x="0" y="0"/>
                  </a:lnTo>
                  <a:close/>
                </a:path>
              </a:pathLst>
            </a:custGeom>
            <a:solidFill>
              <a:srgbClr val="FFFFFF"/>
            </a:solidFill>
          </p:spPr>
        </p:sp>
        <p:sp>
          <p:nvSpPr>
            <p:cNvPr name="Freeform 76" id="76"/>
            <p:cNvSpPr/>
            <p:nvPr/>
          </p:nvSpPr>
          <p:spPr>
            <a:xfrm flipH="false" flipV="false" rot="0">
              <a:off x="0" y="0"/>
              <a:ext cx="2133600" cy="559308"/>
            </a:xfrm>
            <a:custGeom>
              <a:avLst/>
              <a:gdLst/>
              <a:ahLst/>
              <a:cxnLst/>
              <a:rect r="r" b="b" t="t" l="l"/>
              <a:pathLst>
                <a:path h="559308" w="2133600">
                  <a:moveTo>
                    <a:pt x="0" y="0"/>
                  </a:moveTo>
                  <a:lnTo>
                    <a:pt x="2133600" y="0"/>
                  </a:lnTo>
                  <a:lnTo>
                    <a:pt x="2133600" y="559308"/>
                  </a:lnTo>
                  <a:lnTo>
                    <a:pt x="0" y="559308"/>
                  </a:lnTo>
                  <a:lnTo>
                    <a:pt x="0" y="0"/>
                  </a:lnTo>
                  <a:close/>
                </a:path>
              </a:pathLst>
            </a:custGeom>
            <a:solidFill>
              <a:srgbClr val="000000">
                <a:alpha val="0"/>
              </a:srgbClr>
            </a:solidFill>
            <a:ln w="9525" cap="sq">
              <a:solidFill>
                <a:srgbClr val="CCD7E4"/>
              </a:solidFill>
              <a:prstDash val="solid"/>
              <a:miter/>
            </a:ln>
          </p:spPr>
        </p:sp>
        <p:sp>
          <p:nvSpPr>
            <p:cNvPr name="TextBox 77" id="77"/>
            <p:cNvSpPr txBox="true"/>
            <p:nvPr/>
          </p:nvSpPr>
          <p:spPr>
            <a:xfrm>
              <a:off x="0" y="-38100"/>
              <a:ext cx="2133600" cy="597408"/>
            </a:xfrm>
            <a:prstGeom prst="rect">
              <a:avLst/>
            </a:prstGeom>
          </p:spPr>
          <p:txBody>
            <a:bodyPr anchor="ctr" rtlCol="false" tIns="76200" lIns="76200" bIns="76200" rIns="76200"/>
            <a:lstStyle/>
            <a:p>
              <a:pPr algn="l" marL="0" indent="0" lvl="0">
                <a:lnSpc>
                  <a:spcPts val="2100"/>
                </a:lnSpc>
                <a:spcBef>
                  <a:spcPct val="0"/>
                </a:spcBef>
              </a:pPr>
              <a:r>
                <a:rPr lang="en-US" sz="1500" strike="noStrike" u="none">
                  <a:solidFill>
                    <a:srgbClr val="0A2A66"/>
                  </a:solidFill>
                  <a:latin typeface="DM Sans"/>
                  <a:ea typeface="DM Sans"/>
                  <a:cs typeface="DM Sans"/>
                  <a:sym typeface="DM Sans"/>
                </a:rPr>
                <a:t>3,000</a:t>
              </a:r>
            </a:p>
          </p:txBody>
        </p:sp>
      </p:grpSp>
      <p:grpSp>
        <p:nvGrpSpPr>
          <p:cNvPr name="Group 78" id="78"/>
          <p:cNvGrpSpPr/>
          <p:nvPr/>
        </p:nvGrpSpPr>
        <p:grpSpPr>
          <a:xfrm rot="0">
            <a:off x="6338888" y="5243512"/>
            <a:ext cx="3581400" cy="419481"/>
            <a:chOff x="0" y="0"/>
            <a:chExt cx="4775200" cy="559308"/>
          </a:xfrm>
        </p:grpSpPr>
        <p:sp>
          <p:nvSpPr>
            <p:cNvPr name="Freeform 79" id="79"/>
            <p:cNvSpPr/>
            <p:nvPr/>
          </p:nvSpPr>
          <p:spPr>
            <a:xfrm flipH="false" flipV="false" rot="0">
              <a:off x="0" y="0"/>
              <a:ext cx="4775200" cy="559308"/>
            </a:xfrm>
            <a:custGeom>
              <a:avLst/>
              <a:gdLst/>
              <a:ahLst/>
              <a:cxnLst/>
              <a:rect r="r" b="b" t="t" l="l"/>
              <a:pathLst>
                <a:path h="559308" w="4775200">
                  <a:moveTo>
                    <a:pt x="0" y="0"/>
                  </a:moveTo>
                  <a:lnTo>
                    <a:pt x="4775200" y="0"/>
                  </a:lnTo>
                  <a:lnTo>
                    <a:pt x="4775200" y="559308"/>
                  </a:lnTo>
                  <a:lnTo>
                    <a:pt x="0" y="559308"/>
                  </a:lnTo>
                  <a:lnTo>
                    <a:pt x="0" y="0"/>
                  </a:lnTo>
                  <a:close/>
                </a:path>
              </a:pathLst>
            </a:custGeom>
            <a:solidFill>
              <a:srgbClr val="FFFFFF"/>
            </a:solidFill>
          </p:spPr>
        </p:sp>
        <p:sp>
          <p:nvSpPr>
            <p:cNvPr name="Freeform 80" id="80"/>
            <p:cNvSpPr/>
            <p:nvPr/>
          </p:nvSpPr>
          <p:spPr>
            <a:xfrm flipH="false" flipV="false" rot="0">
              <a:off x="0" y="0"/>
              <a:ext cx="4775200" cy="559308"/>
            </a:xfrm>
            <a:custGeom>
              <a:avLst/>
              <a:gdLst/>
              <a:ahLst/>
              <a:cxnLst/>
              <a:rect r="r" b="b" t="t" l="l"/>
              <a:pathLst>
                <a:path h="559308" w="4775200">
                  <a:moveTo>
                    <a:pt x="0" y="0"/>
                  </a:moveTo>
                  <a:lnTo>
                    <a:pt x="4775200" y="0"/>
                  </a:lnTo>
                  <a:lnTo>
                    <a:pt x="4775200" y="559308"/>
                  </a:lnTo>
                  <a:lnTo>
                    <a:pt x="0" y="559308"/>
                  </a:lnTo>
                  <a:lnTo>
                    <a:pt x="0" y="0"/>
                  </a:lnTo>
                  <a:close/>
                </a:path>
              </a:pathLst>
            </a:custGeom>
            <a:solidFill>
              <a:srgbClr val="000000">
                <a:alpha val="0"/>
              </a:srgbClr>
            </a:solidFill>
            <a:ln w="9525" cap="sq">
              <a:solidFill>
                <a:srgbClr val="CCD7E4"/>
              </a:solidFill>
              <a:prstDash val="solid"/>
              <a:miter/>
            </a:ln>
          </p:spPr>
        </p:sp>
        <p:sp>
          <p:nvSpPr>
            <p:cNvPr name="TextBox 81" id="81"/>
            <p:cNvSpPr txBox="true"/>
            <p:nvPr/>
          </p:nvSpPr>
          <p:spPr>
            <a:xfrm>
              <a:off x="0" y="-38100"/>
              <a:ext cx="4775200" cy="597408"/>
            </a:xfrm>
            <a:prstGeom prst="rect">
              <a:avLst/>
            </a:prstGeom>
          </p:spPr>
          <p:txBody>
            <a:bodyPr anchor="ctr" rtlCol="false" tIns="76200" lIns="76200" bIns="76200" rIns="76200"/>
            <a:lstStyle/>
            <a:p>
              <a:pPr algn="l" marL="0" indent="0" lvl="0">
                <a:lnSpc>
                  <a:spcPts val="2100"/>
                </a:lnSpc>
                <a:spcBef>
                  <a:spcPct val="0"/>
                </a:spcBef>
              </a:pPr>
              <a:r>
                <a:rPr lang="en-US" sz="1500" strike="noStrike" u="none">
                  <a:solidFill>
                    <a:srgbClr val="0A2A66"/>
                  </a:solidFill>
                  <a:latin typeface="DM Sans"/>
                  <a:ea typeface="DM Sans"/>
                  <a:cs typeface="DM Sans"/>
                  <a:sym typeface="DM Sans"/>
                </a:rPr>
                <a:t>Contingency</a:t>
              </a:r>
            </a:p>
          </p:txBody>
        </p:sp>
      </p:grpSp>
      <p:grpSp>
        <p:nvGrpSpPr>
          <p:cNvPr name="Group 82" id="82"/>
          <p:cNvGrpSpPr/>
          <p:nvPr/>
        </p:nvGrpSpPr>
        <p:grpSpPr>
          <a:xfrm rot="0">
            <a:off x="9920288" y="5243512"/>
            <a:ext cx="1600200" cy="419481"/>
            <a:chOff x="0" y="0"/>
            <a:chExt cx="2133600" cy="559308"/>
          </a:xfrm>
        </p:grpSpPr>
        <p:sp>
          <p:nvSpPr>
            <p:cNvPr name="Freeform 83" id="83"/>
            <p:cNvSpPr/>
            <p:nvPr/>
          </p:nvSpPr>
          <p:spPr>
            <a:xfrm flipH="false" flipV="false" rot="0">
              <a:off x="0" y="0"/>
              <a:ext cx="2133600" cy="559308"/>
            </a:xfrm>
            <a:custGeom>
              <a:avLst/>
              <a:gdLst/>
              <a:ahLst/>
              <a:cxnLst/>
              <a:rect r="r" b="b" t="t" l="l"/>
              <a:pathLst>
                <a:path h="559308" w="2133600">
                  <a:moveTo>
                    <a:pt x="0" y="0"/>
                  </a:moveTo>
                  <a:lnTo>
                    <a:pt x="2133600" y="0"/>
                  </a:lnTo>
                  <a:lnTo>
                    <a:pt x="2133600" y="559308"/>
                  </a:lnTo>
                  <a:lnTo>
                    <a:pt x="0" y="559308"/>
                  </a:lnTo>
                  <a:lnTo>
                    <a:pt x="0" y="0"/>
                  </a:lnTo>
                  <a:close/>
                </a:path>
              </a:pathLst>
            </a:custGeom>
            <a:solidFill>
              <a:srgbClr val="FFFFFF"/>
            </a:solidFill>
          </p:spPr>
        </p:sp>
        <p:sp>
          <p:nvSpPr>
            <p:cNvPr name="Freeform 84" id="84"/>
            <p:cNvSpPr/>
            <p:nvPr/>
          </p:nvSpPr>
          <p:spPr>
            <a:xfrm flipH="false" flipV="false" rot="0">
              <a:off x="0" y="0"/>
              <a:ext cx="2133600" cy="559308"/>
            </a:xfrm>
            <a:custGeom>
              <a:avLst/>
              <a:gdLst/>
              <a:ahLst/>
              <a:cxnLst/>
              <a:rect r="r" b="b" t="t" l="l"/>
              <a:pathLst>
                <a:path h="559308" w="2133600">
                  <a:moveTo>
                    <a:pt x="0" y="0"/>
                  </a:moveTo>
                  <a:lnTo>
                    <a:pt x="2133600" y="0"/>
                  </a:lnTo>
                  <a:lnTo>
                    <a:pt x="2133600" y="559308"/>
                  </a:lnTo>
                  <a:lnTo>
                    <a:pt x="0" y="559308"/>
                  </a:lnTo>
                  <a:lnTo>
                    <a:pt x="0" y="0"/>
                  </a:lnTo>
                  <a:close/>
                </a:path>
              </a:pathLst>
            </a:custGeom>
            <a:solidFill>
              <a:srgbClr val="000000">
                <a:alpha val="0"/>
              </a:srgbClr>
            </a:solidFill>
            <a:ln w="9525" cap="sq">
              <a:solidFill>
                <a:srgbClr val="CCD7E4"/>
              </a:solidFill>
              <a:prstDash val="solid"/>
              <a:miter/>
            </a:ln>
          </p:spPr>
        </p:sp>
        <p:sp>
          <p:nvSpPr>
            <p:cNvPr name="TextBox 85" id="85"/>
            <p:cNvSpPr txBox="true"/>
            <p:nvPr/>
          </p:nvSpPr>
          <p:spPr>
            <a:xfrm>
              <a:off x="0" y="-38100"/>
              <a:ext cx="2133600" cy="597408"/>
            </a:xfrm>
            <a:prstGeom prst="rect">
              <a:avLst/>
            </a:prstGeom>
          </p:spPr>
          <p:txBody>
            <a:bodyPr anchor="ctr" rtlCol="false" tIns="76200" lIns="76200" bIns="76200" rIns="76200"/>
            <a:lstStyle/>
            <a:p>
              <a:pPr algn="l" marL="0" indent="0" lvl="0">
                <a:lnSpc>
                  <a:spcPts val="2100"/>
                </a:lnSpc>
                <a:spcBef>
                  <a:spcPct val="0"/>
                </a:spcBef>
              </a:pPr>
              <a:r>
                <a:rPr lang="en-US" sz="1500" strike="noStrike" u="none">
                  <a:solidFill>
                    <a:srgbClr val="0A2A66"/>
                  </a:solidFill>
                  <a:latin typeface="DM Sans"/>
                  <a:ea typeface="DM Sans"/>
                  <a:cs typeface="DM Sans"/>
                  <a:sym typeface="DM Sans"/>
                </a:rPr>
                <a:t>5,000</a:t>
              </a:r>
            </a:p>
          </p:txBody>
        </p:sp>
      </p:grpSp>
      <p:grpSp>
        <p:nvGrpSpPr>
          <p:cNvPr name="Group 86" id="86"/>
          <p:cNvGrpSpPr/>
          <p:nvPr/>
        </p:nvGrpSpPr>
        <p:grpSpPr>
          <a:xfrm rot="0">
            <a:off x="6338888" y="5643562"/>
            <a:ext cx="3581400" cy="419481"/>
            <a:chOff x="0" y="0"/>
            <a:chExt cx="4775200" cy="559308"/>
          </a:xfrm>
        </p:grpSpPr>
        <p:sp>
          <p:nvSpPr>
            <p:cNvPr name="Freeform 87" id="87"/>
            <p:cNvSpPr/>
            <p:nvPr/>
          </p:nvSpPr>
          <p:spPr>
            <a:xfrm flipH="false" flipV="false" rot="0">
              <a:off x="0" y="0"/>
              <a:ext cx="4775200" cy="559308"/>
            </a:xfrm>
            <a:custGeom>
              <a:avLst/>
              <a:gdLst/>
              <a:ahLst/>
              <a:cxnLst/>
              <a:rect r="r" b="b" t="t" l="l"/>
              <a:pathLst>
                <a:path h="559308" w="4775200">
                  <a:moveTo>
                    <a:pt x="0" y="0"/>
                  </a:moveTo>
                  <a:lnTo>
                    <a:pt x="4775200" y="0"/>
                  </a:lnTo>
                  <a:lnTo>
                    <a:pt x="4775200" y="559308"/>
                  </a:lnTo>
                  <a:lnTo>
                    <a:pt x="0" y="559308"/>
                  </a:lnTo>
                  <a:lnTo>
                    <a:pt x="0" y="0"/>
                  </a:lnTo>
                  <a:close/>
                </a:path>
              </a:pathLst>
            </a:custGeom>
            <a:solidFill>
              <a:srgbClr val="F0EFFF"/>
            </a:solidFill>
          </p:spPr>
        </p:sp>
        <p:sp>
          <p:nvSpPr>
            <p:cNvPr name="Freeform 88" id="88"/>
            <p:cNvSpPr/>
            <p:nvPr/>
          </p:nvSpPr>
          <p:spPr>
            <a:xfrm flipH="false" flipV="false" rot="0">
              <a:off x="0" y="0"/>
              <a:ext cx="4775200" cy="559308"/>
            </a:xfrm>
            <a:custGeom>
              <a:avLst/>
              <a:gdLst/>
              <a:ahLst/>
              <a:cxnLst/>
              <a:rect r="r" b="b" t="t" l="l"/>
              <a:pathLst>
                <a:path h="559308" w="4775200">
                  <a:moveTo>
                    <a:pt x="0" y="0"/>
                  </a:moveTo>
                  <a:lnTo>
                    <a:pt x="4775200" y="0"/>
                  </a:lnTo>
                  <a:lnTo>
                    <a:pt x="4775200" y="559308"/>
                  </a:lnTo>
                  <a:lnTo>
                    <a:pt x="0" y="559308"/>
                  </a:lnTo>
                  <a:lnTo>
                    <a:pt x="0" y="0"/>
                  </a:lnTo>
                  <a:close/>
                </a:path>
              </a:pathLst>
            </a:custGeom>
            <a:solidFill>
              <a:srgbClr val="000000">
                <a:alpha val="0"/>
              </a:srgbClr>
            </a:solidFill>
            <a:ln w="9525" cap="sq">
              <a:solidFill>
                <a:srgbClr val="CCD7E4"/>
              </a:solidFill>
              <a:prstDash val="solid"/>
              <a:miter/>
            </a:ln>
          </p:spPr>
        </p:sp>
        <p:sp>
          <p:nvSpPr>
            <p:cNvPr name="TextBox 89" id="89"/>
            <p:cNvSpPr txBox="true"/>
            <p:nvPr/>
          </p:nvSpPr>
          <p:spPr>
            <a:xfrm>
              <a:off x="0" y="-38100"/>
              <a:ext cx="4775200" cy="597408"/>
            </a:xfrm>
            <a:prstGeom prst="rect">
              <a:avLst/>
            </a:prstGeom>
          </p:spPr>
          <p:txBody>
            <a:bodyPr anchor="ctr" rtlCol="false" tIns="76200" lIns="76200" bIns="76200" rIns="76200"/>
            <a:lstStyle/>
            <a:p>
              <a:pPr algn="l" marL="0" indent="0" lvl="0">
                <a:lnSpc>
                  <a:spcPts val="2100"/>
                </a:lnSpc>
                <a:spcBef>
                  <a:spcPct val="0"/>
                </a:spcBef>
              </a:pPr>
              <a:r>
                <a:rPr lang="en-US" sz="1500" strike="noStrike" u="none">
                  <a:solidFill>
                    <a:srgbClr val="0A2A66"/>
                  </a:solidFill>
                  <a:latin typeface="DM Sans"/>
                  <a:ea typeface="DM Sans"/>
                  <a:cs typeface="DM Sans"/>
                  <a:sym typeface="DM Sans"/>
                </a:rPr>
                <a:t>Total</a:t>
              </a:r>
            </a:p>
          </p:txBody>
        </p:sp>
      </p:grpSp>
      <p:grpSp>
        <p:nvGrpSpPr>
          <p:cNvPr name="Group 90" id="90"/>
          <p:cNvGrpSpPr/>
          <p:nvPr/>
        </p:nvGrpSpPr>
        <p:grpSpPr>
          <a:xfrm rot="0">
            <a:off x="9920288" y="5643562"/>
            <a:ext cx="1600200" cy="419481"/>
            <a:chOff x="0" y="0"/>
            <a:chExt cx="2133600" cy="559308"/>
          </a:xfrm>
        </p:grpSpPr>
        <p:sp>
          <p:nvSpPr>
            <p:cNvPr name="Freeform 91" id="91"/>
            <p:cNvSpPr/>
            <p:nvPr/>
          </p:nvSpPr>
          <p:spPr>
            <a:xfrm flipH="false" flipV="false" rot="0">
              <a:off x="0" y="0"/>
              <a:ext cx="2133600" cy="559308"/>
            </a:xfrm>
            <a:custGeom>
              <a:avLst/>
              <a:gdLst/>
              <a:ahLst/>
              <a:cxnLst/>
              <a:rect r="r" b="b" t="t" l="l"/>
              <a:pathLst>
                <a:path h="559308" w="2133600">
                  <a:moveTo>
                    <a:pt x="0" y="0"/>
                  </a:moveTo>
                  <a:lnTo>
                    <a:pt x="2133600" y="0"/>
                  </a:lnTo>
                  <a:lnTo>
                    <a:pt x="2133600" y="559308"/>
                  </a:lnTo>
                  <a:lnTo>
                    <a:pt x="0" y="559308"/>
                  </a:lnTo>
                  <a:lnTo>
                    <a:pt x="0" y="0"/>
                  </a:lnTo>
                  <a:close/>
                </a:path>
              </a:pathLst>
            </a:custGeom>
            <a:solidFill>
              <a:srgbClr val="F0EFFF"/>
            </a:solidFill>
          </p:spPr>
        </p:sp>
        <p:sp>
          <p:nvSpPr>
            <p:cNvPr name="Freeform 92" id="92"/>
            <p:cNvSpPr/>
            <p:nvPr/>
          </p:nvSpPr>
          <p:spPr>
            <a:xfrm flipH="false" flipV="false" rot="0">
              <a:off x="0" y="0"/>
              <a:ext cx="2133600" cy="559308"/>
            </a:xfrm>
            <a:custGeom>
              <a:avLst/>
              <a:gdLst/>
              <a:ahLst/>
              <a:cxnLst/>
              <a:rect r="r" b="b" t="t" l="l"/>
              <a:pathLst>
                <a:path h="559308" w="2133600">
                  <a:moveTo>
                    <a:pt x="0" y="0"/>
                  </a:moveTo>
                  <a:lnTo>
                    <a:pt x="2133600" y="0"/>
                  </a:lnTo>
                  <a:lnTo>
                    <a:pt x="2133600" y="559308"/>
                  </a:lnTo>
                  <a:lnTo>
                    <a:pt x="0" y="559308"/>
                  </a:lnTo>
                  <a:lnTo>
                    <a:pt x="0" y="0"/>
                  </a:lnTo>
                  <a:close/>
                </a:path>
              </a:pathLst>
            </a:custGeom>
            <a:solidFill>
              <a:srgbClr val="000000">
                <a:alpha val="0"/>
              </a:srgbClr>
            </a:solidFill>
            <a:ln w="9525" cap="sq">
              <a:solidFill>
                <a:srgbClr val="CCD7E4"/>
              </a:solidFill>
              <a:prstDash val="solid"/>
              <a:miter/>
            </a:ln>
          </p:spPr>
        </p:sp>
        <p:sp>
          <p:nvSpPr>
            <p:cNvPr name="TextBox 93" id="93"/>
            <p:cNvSpPr txBox="true"/>
            <p:nvPr/>
          </p:nvSpPr>
          <p:spPr>
            <a:xfrm>
              <a:off x="0" y="-38100"/>
              <a:ext cx="2133600" cy="597408"/>
            </a:xfrm>
            <a:prstGeom prst="rect">
              <a:avLst/>
            </a:prstGeom>
          </p:spPr>
          <p:txBody>
            <a:bodyPr anchor="ctr" rtlCol="false" tIns="76200" lIns="76200" bIns="76200" rIns="76200"/>
            <a:lstStyle/>
            <a:p>
              <a:pPr algn="l" marL="0" indent="0" lvl="0">
                <a:lnSpc>
                  <a:spcPts val="2100"/>
                </a:lnSpc>
                <a:spcBef>
                  <a:spcPct val="0"/>
                </a:spcBef>
              </a:pPr>
              <a:r>
                <a:rPr lang="en-US" sz="1500" strike="noStrike" u="none">
                  <a:solidFill>
                    <a:srgbClr val="0A2A66"/>
                  </a:solidFill>
                  <a:latin typeface="DM Sans"/>
                  <a:ea typeface="DM Sans"/>
                  <a:cs typeface="DM Sans"/>
                  <a:sym typeface="DM Sans"/>
                </a:rPr>
                <a:t>100,000</a:t>
              </a:r>
            </a:p>
          </p:txBody>
        </p:sp>
      </p:grpSp>
      <p:sp>
        <p:nvSpPr>
          <p:cNvPr name="TextBox 94" id="94"/>
          <p:cNvSpPr txBox="true"/>
          <p:nvPr/>
        </p:nvSpPr>
        <p:spPr>
          <a:xfrm rot="0">
            <a:off x="609600" y="6400800"/>
            <a:ext cx="10287000" cy="159258"/>
          </a:xfrm>
          <a:prstGeom prst="rect">
            <a:avLst/>
          </a:prstGeom>
        </p:spPr>
        <p:txBody>
          <a:bodyPr anchor="t" rtlCol="false" tIns="0" lIns="0" bIns="0" rIns="0">
            <a:spAutoFit/>
          </a:bodyPr>
          <a:lstStyle/>
          <a:p>
            <a:pPr algn="l" marL="0" indent="0" lvl="0">
              <a:lnSpc>
                <a:spcPts val="1281"/>
              </a:lnSpc>
              <a:spcBef>
                <a:spcPct val="0"/>
              </a:spcBef>
            </a:pPr>
            <a:r>
              <a:rPr lang="en-US" sz="1050" strike="noStrike" u="none">
                <a:solidFill>
                  <a:srgbClr val="0A2A66"/>
                </a:solidFill>
                <a:latin typeface="DM Sans"/>
                <a:ea typeface="DM Sans"/>
                <a:cs typeface="DM Sans"/>
                <a:sym typeface="DM Sans"/>
                <a:hlinkClick r:id="rId7" tooltip="https://github.com/KhanAcademy-Backtrack/KhanAcademy-Backtrack-Demo/blob/main/docs/BUSINESS_AND_SUSTAINABILITY.md"/>
              </a:rPr>
              <a:t>Implementation budget · Planning allocations; funding not secured</a:t>
            </a:r>
          </a:p>
        </p:txBody>
      </p:sp>
      <p:sp>
        <p:nvSpPr>
          <p:cNvPr name="AutoShape 95" id="95"/>
          <p:cNvSpPr/>
          <p:nvPr/>
        </p:nvSpPr>
        <p:spPr>
          <a:xfrm>
            <a:off x="609600" y="1381125"/>
            <a:ext cx="10972800" cy="0"/>
          </a:xfrm>
          <a:prstGeom prst="line">
            <a:avLst/>
          </a:prstGeom>
          <a:ln cap="flat" w="19050">
            <a:solidFill>
              <a:srgbClr val="CCD7E4"/>
            </a:solidFill>
            <a:prstDash val="solid"/>
            <a:headEnd type="none" len="sm" w="sm"/>
            <a:tailEnd type="none" len="sm" w="sm"/>
          </a:ln>
        </p:spPr>
      </p:sp>
      <p:sp>
        <p:nvSpPr>
          <p:cNvPr name="Freeform 96" id="96" descr="Dunlo"/>
          <p:cNvSpPr/>
          <p:nvPr/>
        </p:nvSpPr>
        <p:spPr>
          <a:xfrm flipH="false" flipV="false" rot="0">
            <a:off x="609600" y="38100"/>
            <a:ext cx="1571625" cy="521160"/>
          </a:xfrm>
          <a:custGeom>
            <a:avLst/>
            <a:gdLst/>
            <a:ahLst/>
            <a:cxnLst/>
            <a:rect r="r" b="b" t="t" l="l"/>
            <a:pathLst>
              <a:path h="521160" w="1571625">
                <a:moveTo>
                  <a:pt x="0" y="0"/>
                </a:moveTo>
                <a:lnTo>
                  <a:pt x="1571625" y="0"/>
                </a:lnTo>
                <a:lnTo>
                  <a:pt x="1571625" y="521160"/>
                </a:lnTo>
                <a:lnTo>
                  <a:pt x="0" y="5211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7" id="97"/>
          <p:cNvSpPr/>
          <p:nvPr/>
        </p:nvSpPr>
        <p:spPr>
          <a:xfrm flipH="false" flipV="false" rot="0">
            <a:off x="9429750" y="323850"/>
            <a:ext cx="2152650" cy="133350"/>
          </a:xfrm>
          <a:custGeom>
            <a:avLst/>
            <a:gdLst/>
            <a:ahLst/>
            <a:cxnLst/>
            <a:rect r="r" b="b" t="t" l="l"/>
            <a:pathLst>
              <a:path h="133350" w="2152650">
                <a:moveTo>
                  <a:pt x="0" y="0"/>
                </a:moveTo>
                <a:lnTo>
                  <a:pt x="2152650" y="0"/>
                </a:lnTo>
                <a:lnTo>
                  <a:pt x="2152650" y="133350"/>
                </a:lnTo>
                <a:lnTo>
                  <a:pt x="0" y="133350"/>
                </a:lnTo>
                <a:lnTo>
                  <a:pt x="0" y="0"/>
                </a:lnTo>
                <a:close/>
              </a:path>
            </a:pathLst>
          </a:custGeom>
          <a:blipFill>
            <a:blip r:embed="rId10">
              <a:extLst>
                <a:ext uri="{96DAC541-7B7A-43D3-8B79-37D633B846F1}">
                  <asvg:svgBlip xmlns:asvg="http://schemas.microsoft.com/office/drawing/2016/SVG/main" r:embed="rId11"/>
                </a:ext>
              </a:extLst>
            </a:blip>
            <a:stretch>
              <a:fillRect l="0" t="-1363" r="0" b="-1363"/>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2192000" cy="6858000"/>
          </a:xfrm>
          <a:prstGeom prst="rect">
            <a:avLst/>
          </a:prstGeom>
          <a:solidFill>
            <a:srgbClr val="FFFFFF"/>
          </a:solidFill>
        </p:spPr>
      </p:sp>
      <p:grpSp>
        <p:nvGrpSpPr>
          <p:cNvPr name="Group 3" id="3"/>
          <p:cNvGrpSpPr/>
          <p:nvPr/>
        </p:nvGrpSpPr>
        <p:grpSpPr>
          <a:xfrm rot="0">
            <a:off x="0" y="0"/>
            <a:ext cx="12192000" cy="6858000"/>
            <a:chOff x="0" y="0"/>
            <a:chExt cx="16256000" cy="9144000"/>
          </a:xfrm>
        </p:grpSpPr>
        <p:sp>
          <p:nvSpPr>
            <p:cNvPr name="Freeform 4" id="4"/>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3"/>
              <a:stretch>
                <a:fillRect l="0" t="0" r="0" b="0"/>
              </a:stretch>
            </a:blipFill>
          </p:spPr>
        </p:sp>
      </p:grpSp>
      <p:grpSp>
        <p:nvGrpSpPr>
          <p:cNvPr name="Group 5" id="5"/>
          <p:cNvGrpSpPr/>
          <p:nvPr/>
        </p:nvGrpSpPr>
        <p:grpSpPr>
          <a:xfrm rot="0">
            <a:off x="0" y="0"/>
            <a:ext cx="12192000" cy="6858000"/>
            <a:chOff x="0" y="0"/>
            <a:chExt cx="16256000" cy="9144000"/>
          </a:xfrm>
        </p:grpSpPr>
        <p:sp>
          <p:nvSpPr>
            <p:cNvPr name="Freeform 6" id="6"/>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887200" y="0"/>
              <a:ext cx="3556000" cy="803656"/>
            </a:xfrm>
            <a:custGeom>
              <a:avLst/>
              <a:gdLst/>
              <a:ahLst/>
              <a:cxnLst/>
              <a:rect r="r" b="b" t="t" l="l"/>
              <a:pathLst>
                <a:path h="803656" w="3556000">
                  <a:moveTo>
                    <a:pt x="0" y="0"/>
                  </a:moveTo>
                  <a:lnTo>
                    <a:pt x="3556000" y="0"/>
                  </a:lnTo>
                  <a:lnTo>
                    <a:pt x="3556000" y="803656"/>
                  </a:lnTo>
                  <a:lnTo>
                    <a:pt x="0" y="803656"/>
                  </a:lnTo>
                  <a:lnTo>
                    <a:pt x="0" y="0"/>
                  </a:lnTo>
                  <a:close/>
                </a:path>
              </a:pathLst>
            </a:custGeom>
            <a:blipFill>
              <a:blip r:embed="rId6"/>
              <a:stretch>
                <a:fillRect l="0" t="0" r="0" b="0"/>
              </a:stretch>
            </a:blipFill>
          </p:spPr>
        </p:sp>
      </p:grpSp>
      <p:sp>
        <p:nvSpPr>
          <p:cNvPr name="TextBox 8" id="8"/>
          <p:cNvSpPr txBox="true"/>
          <p:nvPr/>
        </p:nvSpPr>
        <p:spPr>
          <a:xfrm rot="0">
            <a:off x="11239500" y="6353175"/>
            <a:ext cx="428625" cy="168592"/>
          </a:xfrm>
          <a:prstGeom prst="rect">
            <a:avLst/>
          </a:prstGeom>
        </p:spPr>
        <p:txBody>
          <a:bodyPr anchor="t" rtlCol="false" tIns="0" lIns="0" bIns="0" rIns="0">
            <a:spAutoFit/>
          </a:bodyPr>
          <a:lstStyle/>
          <a:p>
            <a:pPr algn="l" marL="0" indent="0" lvl="0">
              <a:lnSpc>
                <a:spcPts val="1372"/>
              </a:lnSpc>
              <a:spcBef>
                <a:spcPct val="0"/>
              </a:spcBef>
            </a:pPr>
            <a:r>
              <a:rPr lang="en-US" sz="1125" strike="noStrike" u="none">
                <a:solidFill>
                  <a:srgbClr val="0A2A66"/>
                </a:solidFill>
                <a:latin typeface="DM Sans"/>
                <a:ea typeface="DM Sans"/>
                <a:cs typeface="DM Sans"/>
                <a:sym typeface="DM Sans"/>
              </a:rPr>
              <a:t>14</a:t>
            </a:r>
          </a:p>
        </p:txBody>
      </p:sp>
      <p:sp>
        <p:nvSpPr>
          <p:cNvPr name="TextBox 9" id="9"/>
          <p:cNvSpPr txBox="true"/>
          <p:nvPr/>
        </p:nvSpPr>
        <p:spPr>
          <a:xfrm rot="0">
            <a:off x="762000" y="1752600"/>
            <a:ext cx="10668000" cy="590169"/>
          </a:xfrm>
          <a:prstGeom prst="rect">
            <a:avLst/>
          </a:prstGeom>
        </p:spPr>
        <p:txBody>
          <a:bodyPr anchor="t" rtlCol="false" tIns="0" lIns="0" bIns="0" rIns="0">
            <a:spAutoFit/>
          </a:bodyPr>
          <a:lstStyle/>
          <a:p>
            <a:pPr algn="l" marL="0" indent="0" lvl="0">
              <a:lnSpc>
                <a:spcPts val="4758"/>
              </a:lnSpc>
              <a:spcBef>
                <a:spcPct val="0"/>
              </a:spcBef>
            </a:pPr>
            <a:r>
              <a:rPr lang="en-US" b="true" sz="3900" strike="noStrike" u="none">
                <a:solidFill>
                  <a:srgbClr val="0A2A66"/>
                </a:solidFill>
                <a:latin typeface="DM Sans Bold"/>
                <a:ea typeface="DM Sans Bold"/>
                <a:cs typeface="DM Sans Bold"/>
                <a:sym typeface="DM Sans Bold"/>
              </a:rPr>
              <a:t>Turn curiosity into progress.</a:t>
            </a:r>
          </a:p>
        </p:txBody>
      </p:sp>
      <p:sp>
        <p:nvSpPr>
          <p:cNvPr name="TextBox 10" id="10"/>
          <p:cNvSpPr txBox="true"/>
          <p:nvPr/>
        </p:nvSpPr>
        <p:spPr>
          <a:xfrm rot="0">
            <a:off x="762000" y="2828925"/>
            <a:ext cx="10477500" cy="670751"/>
          </a:xfrm>
          <a:prstGeom prst="rect">
            <a:avLst/>
          </a:prstGeom>
        </p:spPr>
        <p:txBody>
          <a:bodyPr anchor="t" rtlCol="false" tIns="0" lIns="0" bIns="0" rIns="0">
            <a:spAutoFit/>
          </a:bodyPr>
          <a:lstStyle/>
          <a:p>
            <a:pPr algn="l" marL="0" indent="0" lvl="0">
              <a:lnSpc>
                <a:spcPts val="2653"/>
              </a:lnSpc>
              <a:spcBef>
                <a:spcPct val="0"/>
              </a:spcBef>
            </a:pPr>
            <a:r>
              <a:rPr lang="en-US" sz="2175" strike="noStrike" u="none">
                <a:solidFill>
                  <a:srgbClr val="0A2A66"/>
                </a:solidFill>
                <a:latin typeface="DM Sans"/>
                <a:ea typeface="DM Sans"/>
                <a:cs typeface="DM Sans"/>
                <a:sym typeface="DM Sans"/>
              </a:rPr>
              <a:t>Dunlo uses short-form discovery to bring learners into Khan practice,</a:t>
            </a:r>
          </a:p>
          <a:p>
            <a:pPr algn="l" marL="0" indent="0" lvl="0">
              <a:lnSpc>
                <a:spcPts val="2653"/>
              </a:lnSpc>
              <a:spcBef>
                <a:spcPct val="0"/>
              </a:spcBef>
            </a:pPr>
            <a:r>
              <a:rPr lang="en-US" sz="2175" strike="noStrike" u="none">
                <a:solidFill>
                  <a:srgbClr val="0A2A66"/>
                </a:solidFill>
                <a:latin typeface="DM Sans"/>
                <a:ea typeface="DM Sans"/>
                <a:cs typeface="DM Sans"/>
                <a:sym typeface="DM Sans"/>
              </a:rPr>
              <a:t>then helps them apply the idea and return to it.</a:t>
            </a:r>
          </a:p>
        </p:txBody>
      </p:sp>
      <p:sp>
        <p:nvSpPr>
          <p:cNvPr name="TextBox 11" id="11"/>
          <p:cNvSpPr txBox="true"/>
          <p:nvPr/>
        </p:nvSpPr>
        <p:spPr>
          <a:xfrm rot="0">
            <a:off x="762000" y="4238625"/>
            <a:ext cx="10477500" cy="346520"/>
          </a:xfrm>
          <a:prstGeom prst="rect">
            <a:avLst/>
          </a:prstGeom>
        </p:spPr>
        <p:txBody>
          <a:bodyPr anchor="t" rtlCol="false" tIns="0" lIns="0" bIns="0" rIns="0">
            <a:spAutoFit/>
          </a:bodyPr>
          <a:lstStyle/>
          <a:p>
            <a:pPr algn="l" marL="0" indent="0" lvl="0">
              <a:lnSpc>
                <a:spcPts val="2836"/>
              </a:lnSpc>
              <a:spcBef>
                <a:spcPct val="0"/>
              </a:spcBef>
            </a:pPr>
            <a:r>
              <a:rPr lang="en-US" b="true" sz="2325" strike="noStrike" u="none">
                <a:solidFill>
                  <a:srgbClr val="0A2A66"/>
                </a:solidFill>
                <a:latin typeface="DM Sans Bold"/>
                <a:ea typeface="DM Sans Bold"/>
                <a:cs typeface="DM Sans Bold"/>
                <a:sym typeface="DM Sans Bold"/>
                <a:hlinkClick r:id="rId7" tooltip="https://dunlo.vercel.app"/>
              </a:rPr>
              <a:t>Explore Dunlo · dunlo.vercel.app</a:t>
            </a:r>
          </a:p>
        </p:txBody>
      </p:sp>
      <p:sp>
        <p:nvSpPr>
          <p:cNvPr name="TextBox 12" id="12"/>
          <p:cNvSpPr txBox="true"/>
          <p:nvPr/>
        </p:nvSpPr>
        <p:spPr>
          <a:xfrm rot="0">
            <a:off x="762000" y="5676900"/>
            <a:ext cx="10477500" cy="491109"/>
          </a:xfrm>
          <a:prstGeom prst="rect">
            <a:avLst/>
          </a:prstGeom>
        </p:spPr>
        <p:txBody>
          <a:bodyPr anchor="t" rtlCol="false" tIns="0" lIns="0" bIns="0" rIns="0">
            <a:spAutoFit/>
          </a:bodyPr>
          <a:lstStyle/>
          <a:p>
            <a:pPr algn="l" marL="0" indent="0" lvl="0">
              <a:lnSpc>
                <a:spcPts val="2013"/>
              </a:lnSpc>
              <a:spcBef>
                <a:spcPct val="0"/>
              </a:spcBef>
            </a:pPr>
            <a:r>
              <a:rPr lang="en-US" sz="1650" strike="noStrike" u="none">
                <a:solidFill>
                  <a:srgbClr val="0A2A66"/>
                </a:solidFill>
                <a:latin typeface="DM Sans"/>
                <a:ea typeface="DM Sans"/>
                <a:cs typeface="DM Sans"/>
                <a:sym typeface="DM Sans"/>
              </a:rPr>
              <a:t>Matthew Labrador · Paul Recio · Harry Gomez</a:t>
            </a:r>
          </a:p>
          <a:p>
            <a:pPr algn="l" marL="0" indent="0" lvl="0">
              <a:lnSpc>
                <a:spcPts val="2013"/>
              </a:lnSpc>
              <a:spcBef>
                <a:spcPct val="0"/>
              </a:spcBef>
            </a:pPr>
            <a:r>
              <a:rPr lang="en-US" sz="1650" strike="noStrike" u="none">
                <a:solidFill>
                  <a:srgbClr val="0A2A66"/>
                </a:solidFill>
                <a:latin typeface="DM Sans"/>
                <a:ea typeface="DM Sans"/>
                <a:cs typeface="DM Sans"/>
                <a:sym typeface="DM Sans"/>
              </a:rPr>
              <a:t>Coach: Justin Mesias · University of the Philippines Manila</a:t>
            </a:r>
          </a:p>
        </p:txBody>
      </p:sp>
      <p:sp>
        <p:nvSpPr>
          <p:cNvPr name="Freeform 13" id="13" descr="Dunlo"/>
          <p:cNvSpPr/>
          <p:nvPr/>
        </p:nvSpPr>
        <p:spPr>
          <a:xfrm flipH="false" flipV="false" rot="0">
            <a:off x="609600" y="38100"/>
            <a:ext cx="1571625" cy="521160"/>
          </a:xfrm>
          <a:custGeom>
            <a:avLst/>
            <a:gdLst/>
            <a:ahLst/>
            <a:cxnLst/>
            <a:rect r="r" b="b" t="t" l="l"/>
            <a:pathLst>
              <a:path h="521160" w="1571625">
                <a:moveTo>
                  <a:pt x="0" y="0"/>
                </a:moveTo>
                <a:lnTo>
                  <a:pt x="1571625" y="0"/>
                </a:lnTo>
                <a:lnTo>
                  <a:pt x="1571625" y="521160"/>
                </a:lnTo>
                <a:lnTo>
                  <a:pt x="0" y="5211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9429750" y="323850"/>
            <a:ext cx="2152650" cy="133350"/>
          </a:xfrm>
          <a:custGeom>
            <a:avLst/>
            <a:gdLst/>
            <a:ahLst/>
            <a:cxnLst/>
            <a:rect r="r" b="b" t="t" l="l"/>
            <a:pathLst>
              <a:path h="133350" w="2152650">
                <a:moveTo>
                  <a:pt x="0" y="0"/>
                </a:moveTo>
                <a:lnTo>
                  <a:pt x="2152650" y="0"/>
                </a:lnTo>
                <a:lnTo>
                  <a:pt x="2152650" y="133350"/>
                </a:lnTo>
                <a:lnTo>
                  <a:pt x="0" y="133350"/>
                </a:lnTo>
                <a:lnTo>
                  <a:pt x="0" y="0"/>
                </a:lnTo>
                <a:close/>
              </a:path>
            </a:pathLst>
          </a:custGeom>
          <a:blipFill>
            <a:blip r:embed="rId10">
              <a:extLst>
                <a:ext uri="{96DAC541-7B7A-43D3-8B79-37D633B846F1}">
                  <asvg:svgBlip xmlns:asvg="http://schemas.microsoft.com/office/drawing/2016/SVG/main" r:embed="rId11"/>
                </a:ext>
              </a:extLst>
            </a:blip>
            <a:stretch>
              <a:fillRect l="0" t="-1363" r="0" b="-1363"/>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2192000" cy="6858000"/>
          </a:xfrm>
          <a:prstGeom prst="rect">
            <a:avLst/>
          </a:prstGeom>
          <a:solidFill>
            <a:srgbClr val="FFFFFF"/>
          </a:solidFill>
        </p:spPr>
      </p:sp>
      <p:grpSp>
        <p:nvGrpSpPr>
          <p:cNvPr name="Group 3" id="3"/>
          <p:cNvGrpSpPr/>
          <p:nvPr/>
        </p:nvGrpSpPr>
        <p:grpSpPr>
          <a:xfrm rot="0">
            <a:off x="0" y="0"/>
            <a:ext cx="12192000" cy="6858000"/>
            <a:chOff x="0" y="0"/>
            <a:chExt cx="16256000" cy="9144000"/>
          </a:xfrm>
        </p:grpSpPr>
        <p:sp>
          <p:nvSpPr>
            <p:cNvPr name="Freeform 4" id="4"/>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3"/>
              <a:stretch>
                <a:fillRect l="0" t="0" r="0" b="0"/>
              </a:stretch>
            </a:blipFill>
          </p:spPr>
        </p:sp>
      </p:grpSp>
      <p:grpSp>
        <p:nvGrpSpPr>
          <p:cNvPr name="Group 5" id="5"/>
          <p:cNvGrpSpPr/>
          <p:nvPr/>
        </p:nvGrpSpPr>
        <p:grpSpPr>
          <a:xfrm rot="0">
            <a:off x="0" y="0"/>
            <a:ext cx="12192000" cy="6858000"/>
            <a:chOff x="0" y="0"/>
            <a:chExt cx="16256000" cy="9144000"/>
          </a:xfrm>
        </p:grpSpPr>
        <p:sp>
          <p:nvSpPr>
            <p:cNvPr name="Freeform 6" id="6"/>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887200" y="0"/>
              <a:ext cx="3556000" cy="803656"/>
            </a:xfrm>
            <a:custGeom>
              <a:avLst/>
              <a:gdLst/>
              <a:ahLst/>
              <a:cxnLst/>
              <a:rect r="r" b="b" t="t" l="l"/>
              <a:pathLst>
                <a:path h="803656" w="3556000">
                  <a:moveTo>
                    <a:pt x="0" y="0"/>
                  </a:moveTo>
                  <a:lnTo>
                    <a:pt x="3556000" y="0"/>
                  </a:lnTo>
                  <a:lnTo>
                    <a:pt x="3556000" y="803656"/>
                  </a:lnTo>
                  <a:lnTo>
                    <a:pt x="0" y="803656"/>
                  </a:lnTo>
                  <a:lnTo>
                    <a:pt x="0" y="0"/>
                  </a:lnTo>
                  <a:close/>
                </a:path>
              </a:pathLst>
            </a:custGeom>
            <a:blipFill>
              <a:blip r:embed="rId6"/>
              <a:stretch>
                <a:fillRect l="0" t="0" r="0" b="0"/>
              </a:stretch>
            </a:blipFill>
          </p:spPr>
        </p:sp>
      </p:grpSp>
      <p:sp>
        <p:nvSpPr>
          <p:cNvPr name="TextBox 8" id="8"/>
          <p:cNvSpPr txBox="true"/>
          <p:nvPr/>
        </p:nvSpPr>
        <p:spPr>
          <a:xfrm rot="0">
            <a:off x="11239500" y="6353175"/>
            <a:ext cx="428625" cy="168592"/>
          </a:xfrm>
          <a:prstGeom prst="rect">
            <a:avLst/>
          </a:prstGeom>
        </p:spPr>
        <p:txBody>
          <a:bodyPr anchor="t" rtlCol="false" tIns="0" lIns="0" bIns="0" rIns="0">
            <a:spAutoFit/>
          </a:bodyPr>
          <a:lstStyle/>
          <a:p>
            <a:pPr algn="l" marL="0" indent="0" lvl="0">
              <a:lnSpc>
                <a:spcPts val="1372"/>
              </a:lnSpc>
              <a:spcBef>
                <a:spcPct val="0"/>
              </a:spcBef>
            </a:pPr>
            <a:r>
              <a:rPr lang="en-US" sz="1125" strike="noStrike" u="none">
                <a:solidFill>
                  <a:srgbClr val="0A2A66"/>
                </a:solidFill>
                <a:latin typeface="DM Sans"/>
                <a:ea typeface="DM Sans"/>
                <a:cs typeface="DM Sans"/>
                <a:sym typeface="DM Sans"/>
              </a:rPr>
              <a:t>15</a:t>
            </a:r>
          </a:p>
        </p:txBody>
      </p:sp>
      <p:sp>
        <p:nvSpPr>
          <p:cNvPr name="TextBox 9" id="9"/>
          <p:cNvSpPr txBox="true"/>
          <p:nvPr/>
        </p:nvSpPr>
        <p:spPr>
          <a:xfrm rot="0">
            <a:off x="609600" y="866775"/>
            <a:ext cx="10972800" cy="487299"/>
          </a:xfrm>
          <a:prstGeom prst="rect">
            <a:avLst/>
          </a:prstGeom>
        </p:spPr>
        <p:txBody>
          <a:bodyPr anchor="t" rtlCol="false" tIns="0" lIns="0" bIns="0" rIns="0">
            <a:spAutoFit/>
          </a:bodyPr>
          <a:lstStyle/>
          <a:p>
            <a:pPr algn="l" marL="0" indent="0" lvl="0">
              <a:lnSpc>
                <a:spcPts val="3843"/>
              </a:lnSpc>
              <a:spcBef>
                <a:spcPct val="0"/>
              </a:spcBef>
            </a:pPr>
            <a:r>
              <a:rPr lang="en-US" b="true" sz="3150" strike="noStrike" u="none">
                <a:solidFill>
                  <a:srgbClr val="0A2A66"/>
                </a:solidFill>
                <a:latin typeface="DM Sans Bold"/>
                <a:ea typeface="DM Sans Bold"/>
                <a:cs typeface="DM Sans Bold"/>
                <a:sym typeface="DM Sans Bold"/>
              </a:rPr>
              <a:t>Research behind the learning design</a:t>
            </a:r>
          </a:p>
        </p:txBody>
      </p:sp>
      <p:sp>
        <p:nvSpPr>
          <p:cNvPr name="TextBox 10" id="10"/>
          <p:cNvSpPr txBox="true"/>
          <p:nvPr/>
        </p:nvSpPr>
        <p:spPr>
          <a:xfrm rot="0">
            <a:off x="609600" y="1847850"/>
            <a:ext cx="5095875" cy="738759"/>
          </a:xfrm>
          <a:prstGeom prst="rect">
            <a:avLst/>
          </a:prstGeom>
        </p:spPr>
        <p:txBody>
          <a:bodyPr anchor="t" rtlCol="false" tIns="0" lIns="0" bIns="0" rIns="0">
            <a:spAutoFit/>
          </a:bodyPr>
          <a:lstStyle/>
          <a:p>
            <a:pPr algn="l" marL="0" indent="0" lvl="0">
              <a:lnSpc>
                <a:spcPts val="2013"/>
              </a:lnSpc>
              <a:spcBef>
                <a:spcPct val="0"/>
              </a:spcBef>
            </a:pPr>
            <a:r>
              <a:rPr lang="en-US" sz="1650" strike="noStrike" u="none">
                <a:solidFill>
                  <a:srgbClr val="0A2A66"/>
                </a:solidFill>
                <a:latin typeface="DM Sans"/>
                <a:ea typeface="DM Sans"/>
                <a:cs typeface="DM Sans"/>
                <a:sym typeface="DM Sans"/>
                <a:hlinkClick r:id="rId7" tooltip="https://www.psychologicalscience.org/journals/pspi/1529100612453266/"/>
              </a:rPr>
              <a:t>Dunlosky et al. (2013)</a:t>
            </a:r>
          </a:p>
          <a:p>
            <a:pPr algn="l" marL="0" indent="0" lvl="0">
              <a:lnSpc>
                <a:spcPts val="2013"/>
              </a:lnSpc>
              <a:spcBef>
                <a:spcPct val="0"/>
              </a:spcBef>
            </a:pPr>
            <a:r>
              <a:rPr lang="en-US" sz="1650" strike="noStrike" u="none">
                <a:solidFill>
                  <a:srgbClr val="0A2A66"/>
                </a:solidFill>
                <a:latin typeface="DM Sans"/>
                <a:ea typeface="DM Sans"/>
                <a:cs typeface="DM Sans"/>
                <a:sym typeface="DM Sans"/>
                <a:hlinkClick r:id="rId8" tooltip="https://www.psychologicalscience.org/journals/pspi/1529100612453266/"/>
              </a:rPr>
              <a:t>Improving students’ learning with effective</a:t>
            </a:r>
          </a:p>
          <a:p>
            <a:pPr algn="l" marL="0" indent="0" lvl="0">
              <a:lnSpc>
                <a:spcPts val="2013"/>
              </a:lnSpc>
              <a:spcBef>
                <a:spcPct val="0"/>
              </a:spcBef>
            </a:pPr>
            <a:r>
              <a:rPr lang="en-US" sz="1650" strike="noStrike" u="none">
                <a:solidFill>
                  <a:srgbClr val="0A2A66"/>
                </a:solidFill>
                <a:latin typeface="DM Sans"/>
                <a:ea typeface="DM Sans"/>
                <a:cs typeface="DM Sans"/>
                <a:sym typeface="DM Sans"/>
                <a:hlinkClick r:id="rId9" tooltip="https://www.psychologicalscience.org/journals/pspi/1529100612453266/"/>
              </a:rPr>
              <a:t>learning techniques. PSPI, 14(1).</a:t>
            </a:r>
          </a:p>
        </p:txBody>
      </p:sp>
      <p:sp>
        <p:nvSpPr>
          <p:cNvPr name="TextBox 11" id="11"/>
          <p:cNvSpPr txBox="true"/>
          <p:nvPr/>
        </p:nvSpPr>
        <p:spPr>
          <a:xfrm rot="0">
            <a:off x="609600" y="3209925"/>
            <a:ext cx="5095875" cy="738759"/>
          </a:xfrm>
          <a:prstGeom prst="rect">
            <a:avLst/>
          </a:prstGeom>
        </p:spPr>
        <p:txBody>
          <a:bodyPr anchor="t" rtlCol="false" tIns="0" lIns="0" bIns="0" rIns="0">
            <a:spAutoFit/>
          </a:bodyPr>
          <a:lstStyle/>
          <a:p>
            <a:pPr algn="l" marL="0" indent="0" lvl="0">
              <a:lnSpc>
                <a:spcPts val="2013"/>
              </a:lnSpc>
              <a:spcBef>
                <a:spcPct val="0"/>
              </a:spcBef>
            </a:pPr>
            <a:r>
              <a:rPr lang="en-US" sz="1650" strike="noStrike" u="none">
                <a:solidFill>
                  <a:srgbClr val="0A2A66"/>
                </a:solidFill>
                <a:latin typeface="DM Sans"/>
                <a:ea typeface="DM Sans"/>
                <a:cs typeface="DM Sans"/>
                <a:sym typeface="DM Sans"/>
                <a:hlinkClick r:id="rId10" tooltip="https://doi.org/10.1038/s44159-022-00089-1"/>
              </a:rPr>
              <a:t>Carpenter, Pan &amp; Butler (2022)</a:t>
            </a:r>
          </a:p>
          <a:p>
            <a:pPr algn="l" marL="0" indent="0" lvl="0">
              <a:lnSpc>
                <a:spcPts val="2013"/>
              </a:lnSpc>
              <a:spcBef>
                <a:spcPct val="0"/>
              </a:spcBef>
            </a:pPr>
            <a:r>
              <a:rPr lang="en-US" sz="1650" strike="noStrike" u="none">
                <a:solidFill>
                  <a:srgbClr val="0A2A66"/>
                </a:solidFill>
                <a:latin typeface="DM Sans"/>
                <a:ea typeface="DM Sans"/>
                <a:cs typeface="DM Sans"/>
                <a:sym typeface="DM Sans"/>
                <a:hlinkClick r:id="rId11" tooltip="https://doi.org/10.1038/s44159-022-00089-1"/>
              </a:rPr>
              <a:t>The science of effective learning with spacing</a:t>
            </a:r>
          </a:p>
          <a:p>
            <a:pPr algn="l" marL="0" indent="0" lvl="0">
              <a:lnSpc>
                <a:spcPts val="2013"/>
              </a:lnSpc>
              <a:spcBef>
                <a:spcPct val="0"/>
              </a:spcBef>
            </a:pPr>
            <a:r>
              <a:rPr lang="en-US" sz="1650" strike="noStrike" u="none">
                <a:solidFill>
                  <a:srgbClr val="0A2A66"/>
                </a:solidFill>
                <a:latin typeface="DM Sans"/>
                <a:ea typeface="DM Sans"/>
                <a:cs typeface="DM Sans"/>
                <a:sym typeface="DM Sans"/>
                <a:hlinkClick r:id="rId12" tooltip="https://doi.org/10.1038/s44159-022-00089-1"/>
              </a:rPr>
              <a:t>and retrieval practice. Nature Reviews Psychology.</a:t>
            </a:r>
          </a:p>
        </p:txBody>
      </p:sp>
      <p:sp>
        <p:nvSpPr>
          <p:cNvPr name="TextBox 12" id="12"/>
          <p:cNvSpPr txBox="true"/>
          <p:nvPr/>
        </p:nvSpPr>
        <p:spPr>
          <a:xfrm rot="0">
            <a:off x="6429375" y="4572000"/>
            <a:ext cx="5095875" cy="986409"/>
          </a:xfrm>
          <a:prstGeom prst="rect">
            <a:avLst/>
          </a:prstGeom>
        </p:spPr>
        <p:txBody>
          <a:bodyPr anchor="t" rtlCol="false" tIns="0" lIns="0" bIns="0" rIns="0">
            <a:spAutoFit/>
          </a:bodyPr>
          <a:lstStyle/>
          <a:p>
            <a:pPr algn="l" marL="0" indent="0" lvl="0">
              <a:lnSpc>
                <a:spcPts val="2013"/>
              </a:lnSpc>
              <a:spcBef>
                <a:spcPct val="0"/>
              </a:spcBef>
            </a:pPr>
            <a:r>
              <a:rPr lang="en-US" sz="1650" strike="noStrike" u="none">
                <a:solidFill>
                  <a:srgbClr val="0A2A66"/>
                </a:solidFill>
                <a:latin typeface="DM Sans"/>
                <a:ea typeface="DM Sans"/>
                <a:cs typeface="DM Sans"/>
                <a:sym typeface="DM Sans"/>
                <a:hlinkClick r:id="rId13" tooltip="https://doi.org/10.1006/ijhc.2002.1017"/>
              </a:rPr>
              <a:t>Tversky, Morrison &amp; Bétrancourt (2002)</a:t>
            </a:r>
          </a:p>
          <a:p>
            <a:pPr algn="l" marL="0" indent="0" lvl="0">
              <a:lnSpc>
                <a:spcPts val="2013"/>
              </a:lnSpc>
              <a:spcBef>
                <a:spcPct val="0"/>
              </a:spcBef>
            </a:pPr>
            <a:r>
              <a:rPr lang="en-US" sz="1650" strike="noStrike" u="none">
                <a:solidFill>
                  <a:srgbClr val="0A2A66"/>
                </a:solidFill>
                <a:latin typeface="DM Sans"/>
                <a:ea typeface="DM Sans"/>
                <a:cs typeface="DM Sans"/>
                <a:sym typeface="DM Sans"/>
                <a:hlinkClick r:id="rId14" tooltip="https://doi.org/10.1006/ijhc.2002.1017"/>
              </a:rPr>
              <a:t>Animation: can it facilitate?</a:t>
            </a:r>
          </a:p>
          <a:p>
            <a:pPr algn="l" marL="0" indent="0" lvl="0">
              <a:lnSpc>
                <a:spcPts val="2013"/>
              </a:lnSpc>
              <a:spcBef>
                <a:spcPct val="0"/>
              </a:spcBef>
            </a:pPr>
            <a:r>
              <a:rPr lang="en-US" sz="1650" strike="noStrike" u="none">
                <a:solidFill>
                  <a:srgbClr val="0A2A66"/>
                </a:solidFill>
                <a:latin typeface="DM Sans"/>
                <a:ea typeface="DM Sans"/>
                <a:cs typeface="DM Sans"/>
                <a:sym typeface="DM Sans"/>
                <a:hlinkClick r:id="rId15" tooltip="https://doi.org/10.1006/ijhc.2002.1017"/>
              </a:rPr>
              <a:t>International Journal of</a:t>
            </a:r>
          </a:p>
          <a:p>
            <a:pPr algn="l" marL="0" indent="0" lvl="0">
              <a:lnSpc>
                <a:spcPts val="2013"/>
              </a:lnSpc>
              <a:spcBef>
                <a:spcPct val="0"/>
              </a:spcBef>
            </a:pPr>
            <a:r>
              <a:rPr lang="en-US" sz="1650" strike="noStrike" u="none">
                <a:solidFill>
                  <a:srgbClr val="0A2A66"/>
                </a:solidFill>
                <a:latin typeface="DM Sans"/>
                <a:ea typeface="DM Sans"/>
                <a:cs typeface="DM Sans"/>
                <a:sym typeface="DM Sans"/>
                <a:hlinkClick r:id="rId16" tooltip="https://doi.org/10.1006/ijhc.2002.1017"/>
              </a:rPr>
              <a:t>Human-Computer Studies, 57(4).</a:t>
            </a:r>
          </a:p>
        </p:txBody>
      </p:sp>
      <p:sp>
        <p:nvSpPr>
          <p:cNvPr name="TextBox 13" id="13"/>
          <p:cNvSpPr txBox="true"/>
          <p:nvPr/>
        </p:nvSpPr>
        <p:spPr>
          <a:xfrm rot="0">
            <a:off x="6429375" y="1847850"/>
            <a:ext cx="5095875" cy="986409"/>
          </a:xfrm>
          <a:prstGeom prst="rect">
            <a:avLst/>
          </a:prstGeom>
        </p:spPr>
        <p:txBody>
          <a:bodyPr anchor="t" rtlCol="false" tIns="0" lIns="0" bIns="0" rIns="0">
            <a:spAutoFit/>
          </a:bodyPr>
          <a:lstStyle/>
          <a:p>
            <a:pPr algn="l" marL="0" indent="0" lvl="0">
              <a:lnSpc>
                <a:spcPts val="2013"/>
              </a:lnSpc>
              <a:spcBef>
                <a:spcPct val="0"/>
              </a:spcBef>
            </a:pPr>
            <a:r>
              <a:rPr lang="en-US" sz="1650" strike="noStrike" u="none">
                <a:solidFill>
                  <a:srgbClr val="0A2A66"/>
                </a:solidFill>
                <a:latin typeface="DM Sans"/>
                <a:ea typeface="DM Sans"/>
                <a:cs typeface="DM Sans"/>
                <a:sym typeface="DM Sans"/>
                <a:hlinkClick r:id="rId17" tooltip="https://eric.ed.gov/?id=EJ678596"/>
              </a:rPr>
              <a:t>Atkinson, Renkl &amp; Merrill (2003)</a:t>
            </a:r>
          </a:p>
          <a:p>
            <a:pPr algn="l" marL="0" indent="0" lvl="0">
              <a:lnSpc>
                <a:spcPts val="2013"/>
              </a:lnSpc>
              <a:spcBef>
                <a:spcPct val="0"/>
              </a:spcBef>
            </a:pPr>
            <a:r>
              <a:rPr lang="en-US" sz="1650" strike="noStrike" u="none">
                <a:solidFill>
                  <a:srgbClr val="0A2A66"/>
                </a:solidFill>
                <a:latin typeface="DM Sans"/>
                <a:ea typeface="DM Sans"/>
                <a:cs typeface="DM Sans"/>
                <a:sym typeface="DM Sans"/>
                <a:hlinkClick r:id="rId18" tooltip="https://eric.ed.gov/?id=EJ678596"/>
              </a:rPr>
              <a:t>Transitioning from studying examples</a:t>
            </a:r>
          </a:p>
          <a:p>
            <a:pPr algn="l" marL="0" indent="0" lvl="0">
              <a:lnSpc>
                <a:spcPts val="2013"/>
              </a:lnSpc>
              <a:spcBef>
                <a:spcPct val="0"/>
              </a:spcBef>
            </a:pPr>
            <a:r>
              <a:rPr lang="en-US" sz="1650" strike="noStrike" u="none">
                <a:solidFill>
                  <a:srgbClr val="0A2A66"/>
                </a:solidFill>
                <a:latin typeface="DM Sans"/>
                <a:ea typeface="DM Sans"/>
                <a:cs typeface="DM Sans"/>
                <a:sym typeface="DM Sans"/>
                <a:hlinkClick r:id="rId19" tooltip="https://eric.ed.gov/?id=EJ678596"/>
              </a:rPr>
              <a:t>to solving problems.</a:t>
            </a:r>
          </a:p>
          <a:p>
            <a:pPr algn="l" marL="0" indent="0" lvl="0">
              <a:lnSpc>
                <a:spcPts val="2013"/>
              </a:lnSpc>
              <a:spcBef>
                <a:spcPct val="0"/>
              </a:spcBef>
            </a:pPr>
            <a:r>
              <a:rPr lang="en-US" sz="1650" strike="noStrike" u="none">
                <a:solidFill>
                  <a:srgbClr val="0A2A66"/>
                </a:solidFill>
                <a:latin typeface="DM Sans"/>
                <a:ea typeface="DM Sans"/>
                <a:cs typeface="DM Sans"/>
                <a:sym typeface="DM Sans"/>
                <a:hlinkClick r:id="rId20" tooltip="https://eric.ed.gov/?id=EJ678596"/>
              </a:rPr>
              <a:t>Journal of Educational Psychology, 95(4).</a:t>
            </a:r>
          </a:p>
        </p:txBody>
      </p:sp>
      <p:sp>
        <p:nvSpPr>
          <p:cNvPr name="TextBox 14" id="14"/>
          <p:cNvSpPr txBox="true"/>
          <p:nvPr/>
        </p:nvSpPr>
        <p:spPr>
          <a:xfrm rot="0">
            <a:off x="6429375" y="3209925"/>
            <a:ext cx="5095875" cy="986409"/>
          </a:xfrm>
          <a:prstGeom prst="rect">
            <a:avLst/>
          </a:prstGeom>
        </p:spPr>
        <p:txBody>
          <a:bodyPr anchor="t" rtlCol="false" tIns="0" lIns="0" bIns="0" rIns="0">
            <a:spAutoFit/>
          </a:bodyPr>
          <a:lstStyle/>
          <a:p>
            <a:pPr algn="l" marL="0" indent="0" lvl="0">
              <a:lnSpc>
                <a:spcPts val="2013"/>
              </a:lnSpc>
              <a:spcBef>
                <a:spcPct val="0"/>
              </a:spcBef>
            </a:pPr>
            <a:r>
              <a:rPr lang="en-US" sz="1650" strike="noStrike" u="none">
                <a:solidFill>
                  <a:srgbClr val="0A2A66"/>
                </a:solidFill>
                <a:latin typeface="DM Sans"/>
                <a:ea typeface="DM Sans"/>
                <a:cs typeface="DM Sans"/>
                <a:sym typeface="DM Sans"/>
                <a:hlinkClick r:id="rId21" tooltip="https://doi.org/10.1080/00461520.2014.965823"/>
              </a:rPr>
              <a:t>Chi &amp; Wylie (2014)</a:t>
            </a:r>
          </a:p>
          <a:p>
            <a:pPr algn="l" marL="0" indent="0" lvl="0">
              <a:lnSpc>
                <a:spcPts val="2013"/>
              </a:lnSpc>
              <a:spcBef>
                <a:spcPct val="0"/>
              </a:spcBef>
            </a:pPr>
            <a:r>
              <a:rPr lang="en-US" sz="1650" strike="noStrike" u="none">
                <a:solidFill>
                  <a:srgbClr val="0A2A66"/>
                </a:solidFill>
                <a:latin typeface="DM Sans"/>
                <a:ea typeface="DM Sans"/>
                <a:cs typeface="DM Sans"/>
                <a:sym typeface="DM Sans"/>
                <a:hlinkClick r:id="rId22" tooltip="https://doi.org/10.1080/00461520.2014.965823"/>
              </a:rPr>
              <a:t>The ICAP framework: linking cognitive</a:t>
            </a:r>
          </a:p>
          <a:p>
            <a:pPr algn="l" marL="0" indent="0" lvl="0">
              <a:lnSpc>
                <a:spcPts val="2013"/>
              </a:lnSpc>
              <a:spcBef>
                <a:spcPct val="0"/>
              </a:spcBef>
            </a:pPr>
            <a:r>
              <a:rPr lang="en-US" sz="1650" strike="noStrike" u="none">
                <a:solidFill>
                  <a:srgbClr val="0A2A66"/>
                </a:solidFill>
                <a:latin typeface="DM Sans"/>
                <a:ea typeface="DM Sans"/>
                <a:cs typeface="DM Sans"/>
                <a:sym typeface="DM Sans"/>
                <a:hlinkClick r:id="rId23" tooltip="https://doi.org/10.1080/00461520.2014.965823"/>
              </a:rPr>
              <a:t>engagement to active learning outcomes.</a:t>
            </a:r>
          </a:p>
          <a:p>
            <a:pPr algn="l" marL="0" indent="0" lvl="0">
              <a:lnSpc>
                <a:spcPts val="2013"/>
              </a:lnSpc>
              <a:spcBef>
                <a:spcPct val="0"/>
              </a:spcBef>
            </a:pPr>
            <a:r>
              <a:rPr lang="en-US" sz="1650" strike="noStrike" u="none">
                <a:solidFill>
                  <a:srgbClr val="0A2A66"/>
                </a:solidFill>
                <a:latin typeface="DM Sans"/>
                <a:ea typeface="DM Sans"/>
                <a:cs typeface="DM Sans"/>
                <a:sym typeface="DM Sans"/>
                <a:hlinkClick r:id="rId24" tooltip="https://doi.org/10.1080/00461520.2014.965823"/>
              </a:rPr>
              <a:t>Educational Psychologist, 49(4).</a:t>
            </a:r>
          </a:p>
        </p:txBody>
      </p:sp>
      <p:sp>
        <p:nvSpPr>
          <p:cNvPr name="TextBox 15" id="15"/>
          <p:cNvSpPr txBox="true"/>
          <p:nvPr/>
        </p:nvSpPr>
        <p:spPr>
          <a:xfrm rot="0">
            <a:off x="609600" y="4572000"/>
            <a:ext cx="5095875" cy="986409"/>
          </a:xfrm>
          <a:prstGeom prst="rect">
            <a:avLst/>
          </a:prstGeom>
        </p:spPr>
        <p:txBody>
          <a:bodyPr anchor="t" rtlCol="false" tIns="0" lIns="0" bIns="0" rIns="0">
            <a:spAutoFit/>
          </a:bodyPr>
          <a:lstStyle/>
          <a:p>
            <a:pPr algn="l" marL="0" indent="0" lvl="0">
              <a:lnSpc>
                <a:spcPts val="2013"/>
              </a:lnSpc>
              <a:spcBef>
                <a:spcPct val="0"/>
              </a:spcBef>
            </a:pPr>
            <a:r>
              <a:rPr lang="en-US" sz="1650" strike="noStrike" u="none">
                <a:solidFill>
                  <a:srgbClr val="0A2A66"/>
                </a:solidFill>
                <a:latin typeface="DM Sans"/>
                <a:ea typeface="DM Sans"/>
                <a:cs typeface="DM Sans"/>
                <a:sym typeface="DM Sans"/>
                <a:hlinkClick r:id="rId25" tooltip="https://pubmed.ncbi.nlm.nih.gov/33683913/"/>
              </a:rPr>
              <a:t>Yang et al. (2021)</a:t>
            </a:r>
          </a:p>
          <a:p>
            <a:pPr algn="l" marL="0" indent="0" lvl="0">
              <a:lnSpc>
                <a:spcPts val="2013"/>
              </a:lnSpc>
              <a:spcBef>
                <a:spcPct val="0"/>
              </a:spcBef>
            </a:pPr>
            <a:r>
              <a:rPr lang="en-US" sz="1650" strike="noStrike" u="none">
                <a:solidFill>
                  <a:srgbClr val="0A2A66"/>
                </a:solidFill>
                <a:latin typeface="DM Sans"/>
                <a:ea typeface="DM Sans"/>
                <a:cs typeface="DM Sans"/>
                <a:sym typeface="DM Sans"/>
                <a:hlinkClick r:id="rId26" tooltip="https://pubmed.ncbi.nlm.nih.gov/33683913/"/>
              </a:rPr>
              <a:t>Testing (quizzing) boosts classroom learning:</a:t>
            </a:r>
          </a:p>
          <a:p>
            <a:pPr algn="l" marL="0" indent="0" lvl="0">
              <a:lnSpc>
                <a:spcPts val="2013"/>
              </a:lnSpc>
              <a:spcBef>
                <a:spcPct val="0"/>
              </a:spcBef>
            </a:pPr>
            <a:r>
              <a:rPr lang="en-US" sz="1650" strike="noStrike" u="none">
                <a:solidFill>
                  <a:srgbClr val="0A2A66"/>
                </a:solidFill>
                <a:latin typeface="DM Sans"/>
                <a:ea typeface="DM Sans"/>
                <a:cs typeface="DM Sans"/>
                <a:sym typeface="DM Sans"/>
                <a:hlinkClick r:id="rId27" tooltip="https://pubmed.ncbi.nlm.nih.gov/33683913/"/>
              </a:rPr>
              <a:t>a systematic and meta-analytic review.</a:t>
            </a:r>
          </a:p>
          <a:p>
            <a:pPr algn="l" marL="0" indent="0" lvl="0">
              <a:lnSpc>
                <a:spcPts val="2013"/>
              </a:lnSpc>
              <a:spcBef>
                <a:spcPct val="0"/>
              </a:spcBef>
            </a:pPr>
            <a:r>
              <a:rPr lang="en-US" sz="1650" strike="noStrike" u="none">
                <a:solidFill>
                  <a:srgbClr val="0A2A66"/>
                </a:solidFill>
                <a:latin typeface="DM Sans"/>
                <a:ea typeface="DM Sans"/>
                <a:cs typeface="DM Sans"/>
                <a:sym typeface="DM Sans"/>
                <a:hlinkClick r:id="rId28" tooltip="https://pubmed.ncbi.nlm.nih.gov/33683913/"/>
              </a:rPr>
              <a:t>Psychological Bulletin, 147(4).</a:t>
            </a:r>
          </a:p>
        </p:txBody>
      </p:sp>
      <p:sp>
        <p:nvSpPr>
          <p:cNvPr name="TextBox 16" id="16"/>
          <p:cNvSpPr txBox="true"/>
          <p:nvPr/>
        </p:nvSpPr>
        <p:spPr>
          <a:xfrm rot="0">
            <a:off x="609600" y="6019800"/>
            <a:ext cx="10477500" cy="396621"/>
          </a:xfrm>
          <a:prstGeom prst="rect">
            <a:avLst/>
          </a:prstGeom>
        </p:spPr>
        <p:txBody>
          <a:bodyPr anchor="t" rtlCol="false" tIns="0" lIns="0" bIns="0" rIns="0">
            <a:spAutoFit/>
          </a:bodyPr>
          <a:lstStyle/>
          <a:p>
            <a:pPr algn="l" marL="0" indent="0" lvl="0">
              <a:lnSpc>
                <a:spcPts val="1647"/>
              </a:lnSpc>
              <a:spcBef>
                <a:spcPct val="0"/>
              </a:spcBef>
            </a:pPr>
            <a:r>
              <a:rPr lang="en-US" sz="1350" strike="noStrike" u="none">
                <a:solidFill>
                  <a:srgbClr val="0A2A66"/>
                </a:solidFill>
                <a:latin typeface="DM Sans"/>
                <a:ea typeface="DM Sans"/>
                <a:cs typeface="DM Sans"/>
                <a:sym typeface="DM Sans"/>
                <a:hlinkClick r:id="rId29" tooltip="https://pubmed.ncbi.nlm.nih.gov/23576743/"/>
              </a:rPr>
              <a:t>Szpunar, Khan &amp; Schacter (2013) · Interpolated memory tests reduce mind wandering</a:t>
            </a:r>
          </a:p>
          <a:p>
            <a:pPr algn="l" marL="0" indent="0" lvl="0">
              <a:lnSpc>
                <a:spcPts val="1647"/>
              </a:lnSpc>
              <a:spcBef>
                <a:spcPct val="0"/>
              </a:spcBef>
            </a:pPr>
            <a:r>
              <a:rPr lang="en-US" sz="1350" strike="noStrike" u="none">
                <a:solidFill>
                  <a:srgbClr val="0A2A66"/>
                </a:solidFill>
                <a:latin typeface="DM Sans"/>
                <a:ea typeface="DM Sans"/>
                <a:cs typeface="DM Sans"/>
                <a:sym typeface="DM Sans"/>
                <a:hlinkClick r:id="rId30" tooltip="https://pubmed.ncbi.nlm.nih.gov/23576743/"/>
              </a:rPr>
              <a:t>and improve learning of online lectures. PNAS, 110(16).</a:t>
            </a:r>
          </a:p>
        </p:txBody>
      </p:sp>
      <p:sp>
        <p:nvSpPr>
          <p:cNvPr name="AutoShape 17" id="17"/>
          <p:cNvSpPr/>
          <p:nvPr/>
        </p:nvSpPr>
        <p:spPr>
          <a:xfrm>
            <a:off x="609600" y="1381125"/>
            <a:ext cx="10972800" cy="0"/>
          </a:xfrm>
          <a:prstGeom prst="line">
            <a:avLst/>
          </a:prstGeom>
          <a:ln cap="flat" w="19050">
            <a:solidFill>
              <a:srgbClr val="CCD7E4"/>
            </a:solidFill>
            <a:prstDash val="solid"/>
            <a:headEnd type="none" len="sm" w="sm"/>
            <a:tailEnd type="none" len="sm" w="sm"/>
          </a:ln>
        </p:spPr>
      </p:sp>
      <p:sp>
        <p:nvSpPr>
          <p:cNvPr name="Freeform 18" id="18" descr="Dunlo"/>
          <p:cNvSpPr/>
          <p:nvPr/>
        </p:nvSpPr>
        <p:spPr>
          <a:xfrm flipH="false" flipV="false" rot="0">
            <a:off x="609600" y="38100"/>
            <a:ext cx="1571625" cy="521160"/>
          </a:xfrm>
          <a:custGeom>
            <a:avLst/>
            <a:gdLst/>
            <a:ahLst/>
            <a:cxnLst/>
            <a:rect r="r" b="b" t="t" l="l"/>
            <a:pathLst>
              <a:path h="521160" w="1571625">
                <a:moveTo>
                  <a:pt x="0" y="0"/>
                </a:moveTo>
                <a:lnTo>
                  <a:pt x="1571625" y="0"/>
                </a:lnTo>
                <a:lnTo>
                  <a:pt x="1571625" y="521160"/>
                </a:lnTo>
                <a:lnTo>
                  <a:pt x="0" y="521160"/>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Freeform 19" id="19"/>
          <p:cNvSpPr/>
          <p:nvPr/>
        </p:nvSpPr>
        <p:spPr>
          <a:xfrm flipH="false" flipV="false" rot="0">
            <a:off x="9429750" y="323850"/>
            <a:ext cx="2152650" cy="133350"/>
          </a:xfrm>
          <a:custGeom>
            <a:avLst/>
            <a:gdLst/>
            <a:ahLst/>
            <a:cxnLst/>
            <a:rect r="r" b="b" t="t" l="l"/>
            <a:pathLst>
              <a:path h="133350" w="2152650">
                <a:moveTo>
                  <a:pt x="0" y="0"/>
                </a:moveTo>
                <a:lnTo>
                  <a:pt x="2152650" y="0"/>
                </a:lnTo>
                <a:lnTo>
                  <a:pt x="2152650" y="133350"/>
                </a:lnTo>
                <a:lnTo>
                  <a:pt x="0" y="133350"/>
                </a:lnTo>
                <a:lnTo>
                  <a:pt x="0" y="0"/>
                </a:lnTo>
                <a:close/>
              </a:path>
            </a:pathLst>
          </a:custGeom>
          <a:blipFill>
            <a:blip r:embed="rId33">
              <a:extLst>
                <a:ext uri="{96DAC541-7B7A-43D3-8B79-37D633B846F1}">
                  <asvg:svgBlip xmlns:asvg="http://schemas.microsoft.com/office/drawing/2016/SVG/main" r:embed="rId34"/>
                </a:ext>
              </a:extLst>
            </a:blip>
            <a:stretch>
              <a:fillRect l="0" t="-1363" r="0" b="-1363"/>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DAHUwYwVdj0</dc:identifier>
  <dcterms:modified xsi:type="dcterms:W3CDTF">2011-08-01T06:04:30Z</dcterms:modified>
  <cp:revision>1</cp:revision>
  <dc:title>Dunlo - Explore, Learn and Return - KEIC 2026</dc:title>
</cp:coreProperties>
</file>