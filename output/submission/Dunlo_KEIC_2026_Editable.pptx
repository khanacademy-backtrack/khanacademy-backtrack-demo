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2192000" cy="6858000"/>
  <p:notesSz cx="6858000" cy="9144000"/>
  <p:embeddedFontLst>
    <p:embeddedFont>
      <p:font typeface="DM Sans" charset="1" panose="00000000000000000000"/>
      <p:regular r:id="rId24"/>
    </p:embeddedFont>
    <p:embeddedFont>
      <p:font typeface="DM Sans Bold" charset="1" panose="00000000000000000000"/>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notesMasters/notesMaster1.xml" Type="http://schemas.openxmlformats.org/officeDocument/2006/relationships/notesMaster"/><Relationship Id="rId22" Target="theme/theme2.xml" Type="http://schemas.openxmlformats.org/officeDocument/2006/relationships/theme"/><Relationship Id="rId23" Target="notesSlides/notesSlide1.xml" Type="http://schemas.openxmlformats.org/officeDocument/2006/relationships/notesSlide"/><Relationship Id="rId24" Target="fonts/font24.fntdata" Type="http://schemas.openxmlformats.org/officeDocument/2006/relationships/font"/><Relationship Id="rId25" Target="fonts/font25.fntdata" Type="http://schemas.openxmlformats.org/officeDocument/2006/relationships/font"/><Relationship Id="rId26" Target="notesSlides/notesSlide2.xml" Type="http://schemas.openxmlformats.org/officeDocument/2006/relationships/notesSlide"/><Relationship Id="rId27" Target="notesSlides/notesSlide3.xml" Type="http://schemas.openxmlformats.org/officeDocument/2006/relationships/notesSlide"/><Relationship Id="rId28" Target="notesSlides/notesSlide4.xml" Type="http://schemas.openxmlformats.org/officeDocument/2006/relationships/notesSlide"/><Relationship Id="rId29" Target="notesSlides/notesSlide5.xml" Type="http://schemas.openxmlformats.org/officeDocument/2006/relationships/notesSlide"/><Relationship Id="rId3" Target="viewProps.xml" Type="http://schemas.openxmlformats.org/officeDocument/2006/relationships/viewProps"/><Relationship Id="rId30" Target="notesSlides/notesSlide6.xml" Type="http://schemas.openxmlformats.org/officeDocument/2006/relationships/notesSlide"/><Relationship Id="rId31" Target="notesSlides/notesSlide7.xml" Type="http://schemas.openxmlformats.org/officeDocument/2006/relationships/notesSlide"/><Relationship Id="rId32" Target="notesSlides/notesSlide8.xml" Type="http://schemas.openxmlformats.org/officeDocument/2006/relationships/notesSlide"/><Relationship Id="rId33" Target="notesSlides/notesSlide9.xml" Type="http://schemas.openxmlformats.org/officeDocument/2006/relationships/notesSlide"/><Relationship Id="rId34" Target="notesSlides/notesSlide10.xml" Type="http://schemas.openxmlformats.org/officeDocument/2006/relationships/notesSlide"/><Relationship Id="rId35" Target="notesSlides/notesSlide11.xml" Type="http://schemas.openxmlformats.org/officeDocument/2006/relationships/notesSlide"/><Relationship Id="rId36" Target="notesSlides/notesSlide12.xml" Type="http://schemas.openxmlformats.org/officeDocument/2006/relationships/notesSlide"/><Relationship Id="rId37" Target="notesSlides/notesSlide13.xml" Type="http://schemas.openxmlformats.org/officeDocument/2006/relationships/notesSlide"/><Relationship Id="rId38" Target="notesSlides/notesSlide14.xml" Type="http://schemas.openxmlformats.org/officeDocument/2006/relationships/notesSlide"/><Relationship Id="rId39" Target="notesSlides/notesSlide15.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Problem: understanding an explanation does not always make the next independent question straightforward. Dunlo connects a short-form starting point with practice and a useful return.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Dunlo connects short-form interactive discovery to Khan Academy practice. The feed offers a familiar starting point for young learners used to mobile content, while each idea has a clear continuation into practice and review.</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four connected steps are choosing one short idea, making a prediction and seeing an explanation, practising the matching skill on Khan Academy, and answering a fresh question in Dunlo. Learning design source: https://ies.ed.gov/ncee/wwc/practiceguide/1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Dunlo offers a scrollable feed of original interactive models and focused, source-labelled Khan Academy video segments. Each item connects to a prediction, explanation, matching Khan exercise and later questions. Working feed: https://dunlo.vercel.app/explore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four positive areas are x squared, 3x, 4x and 12. Combining the middle terms gives 7x. The picture uses x = 5. The next assessment uses another example.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feed uses original Khan Academy video with a focused range, visible source and a link to the full lesson. The factoring example is 2:22–3:56. Source: https://www.khanacademy.org/math/algebra/x2f8bb11595b61c86:quadratics-multiplying-factoring/x2f8bb11595b61c86:factor-quadratics-intro/v/factoring-simple-quadratic-expression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 short check helps choose support. The learner works through the explanation and then tries another question. They can choose to learn first.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Invite the reader to the main Dunlo site at https://dunlo.vercel.app/. The QR pixels, QR image hyperlink, Try Dunlo button and readable URL all use the main site. From there they can open Explore or continue studying.</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Khan Academy has a visible role: explanation, relevant exercise and continuation. Resource opens, learner reports and fresh independent answers are distinct.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Saved ideas and the reviewer provide a reason to return. A later question uses a different situation. Retrieval research: https://pubmed.ncbi.nlm.nih.gov/23576743/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launch starts with direct public access and shared item links. Public demonstrations and topic pages introduce the experience. No school access is assumed.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November 2026: review content and launch publicly. December 2026 through February 2027: gather voluntary feedback, review where learners stop and refine the flow. March 2027: evaluate use and plan continuation. Future content sequences will include an interactive or clip, matching Khan activity, support and fresh questions. Expansion priorities are more subjects, reviewed Filipino content and original offline mini-packs.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implementation planning total is PHP 100,000. Content review, access/usability and evaluation total PHP 60,000. Funding has not been secured. Source: https://github.com/KhanAcademy-Backtrack/KhanAcademy-Backtrack-Demo/blob/main/docs/BUSINESS_AND_SUSTAINABILITY.md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Dunlo connects short-form discovery to Khan Academy practice, independent application and later review. Explore the working product at https://dunlo.vercel.app/. Team: Matthew Labrador, Paul Recio and Harry Gomez. Coach: Justin Mesias. University of the Philippines Manila.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Learning research references are linked directly from each visible entry. IES (2007) is also linked on slide 3. Khan Academy’s original lesson is credited on slide 6. These sources inform the learning design; no product-specific trial outcomes are claimed.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6.svg" Type="http://schemas.openxmlformats.org/officeDocument/2006/relationships/image"/><Relationship Id="rId2" Target="../notesSlides/notesSlide3.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ies.ed.gov/ncee/wwc/practiceguide/1" TargetMode="External" Type="http://schemas.openxmlformats.org/officeDocument/2006/relationships/hyperlink"/><Relationship Id="rId8" Target="https://ies.ed.gov/ncee/wwc/practiceguide/1" TargetMode="External" Type="http://schemas.openxmlformats.org/officeDocument/2006/relationships/hyperlink"/><Relationship Id="rId9" Target="../media/image5.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7.png" Type="http://schemas.openxmlformats.org/officeDocument/2006/relationships/image"/><Relationship Id="rId2" Target="../notesSlides/notesSlide4.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 Id="rId9" Target="https://dunlo.vercel.app/explore" TargetMode="External" Type="http://schemas.openxmlformats.org/officeDocument/2006/relationships/hyperlink"/></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png" Type="http://schemas.openxmlformats.org/officeDocument/2006/relationships/image"/><Relationship Id="rId2" Target="../notesSlides/notesSlide5.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doi.org/10.1080/00461520.2014.965823"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2" Target="../notesSlides/notesSlide6.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www.khanacademy.org/math/algebra/x2f8bb11595b61c86:quadratics-multiplying-factoring/x2f8bb11595b61c86:factor-quadratics-intro/v/factoring-simple-quadratic-expression"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dunlo.vercel.app/demo"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https://dunlo.vercel.app" TargetMode="External" Type="http://schemas.openxmlformats.org/officeDocument/2006/relationships/hyperlink"/><Relationship Id="rId11" Target="https://dunlo.vercel.app" TargetMode="External" Type="http://schemas.openxmlformats.org/officeDocument/2006/relationships/hyperlink"/><Relationship Id="rId12" Target="../media/image5.png" Type="http://schemas.openxmlformats.org/officeDocument/2006/relationships/image"/><Relationship Id="rId13" Target="../media/image6.svg" Type="http://schemas.openxmlformats.org/officeDocument/2006/relationships/image"/><Relationship Id="rId2" Target="../notesSlides/notesSlide8.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10.jpeg" Type="http://schemas.openxmlformats.org/officeDocument/2006/relationships/image"/><Relationship Id="rId8" Target="../media/image11.png" Type="http://schemas.openxmlformats.org/officeDocument/2006/relationships/image"/><Relationship Id="rId9" Target="https://dunlo.vercel.app" TargetMode="External" Type="http://schemas.openxmlformats.org/officeDocument/2006/relationships/hyperlink"/></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2.png" Type="http://schemas.openxmlformats.org/officeDocument/2006/relationships/image"/><Relationship Id="rId2" Target="../notesSlides/notesSlide9.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support.khanacademy.org/hc/en-us/articles/202262954-Can-I-use-Khan-Academy-s-videos-name-materials-links-in-my-project"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doi.org/10.1038/s44159-022-00089-1"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github.com/KhanAcademy-Backtrack/KhanAcademy-Backtrack-Demo/blob/main/docs/BUSINESS_AND_SUSTAINABILITY.md"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dunlo.vercel.app"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https://doi.org/10.1038/s44159-022-00089-1" TargetMode="External" Type="http://schemas.openxmlformats.org/officeDocument/2006/relationships/hyperlink"/><Relationship Id="rId11" Target="https://doi.org/10.1038/s44159-022-00089-1" TargetMode="External" Type="http://schemas.openxmlformats.org/officeDocument/2006/relationships/hyperlink"/><Relationship Id="rId12" Target="https://doi.org/10.1038/s44159-022-00089-1" TargetMode="External" Type="http://schemas.openxmlformats.org/officeDocument/2006/relationships/hyperlink"/><Relationship Id="rId13" Target="https://doi.org/10.1006/ijhc.2002.1017" TargetMode="External" Type="http://schemas.openxmlformats.org/officeDocument/2006/relationships/hyperlink"/><Relationship Id="rId14" Target="https://doi.org/10.1006/ijhc.2002.1017" TargetMode="External" Type="http://schemas.openxmlformats.org/officeDocument/2006/relationships/hyperlink"/><Relationship Id="rId15" Target="https://doi.org/10.1006/ijhc.2002.1017" TargetMode="External" Type="http://schemas.openxmlformats.org/officeDocument/2006/relationships/hyperlink"/><Relationship Id="rId16" Target="https://doi.org/10.1006/ijhc.2002.1017" TargetMode="External" Type="http://schemas.openxmlformats.org/officeDocument/2006/relationships/hyperlink"/><Relationship Id="rId17" Target="https://eric.ed.gov/?id=EJ678596" TargetMode="External" Type="http://schemas.openxmlformats.org/officeDocument/2006/relationships/hyperlink"/><Relationship Id="rId18" Target="https://eric.ed.gov/?id=EJ678596" TargetMode="External" Type="http://schemas.openxmlformats.org/officeDocument/2006/relationships/hyperlink"/><Relationship Id="rId19" Target="https://eric.ed.gov/?id=EJ678596" TargetMode="External" Type="http://schemas.openxmlformats.org/officeDocument/2006/relationships/hyperlink"/><Relationship Id="rId2" Target="../notesSlides/notesSlide15.xml" Type="http://schemas.openxmlformats.org/officeDocument/2006/relationships/notesSlide"/><Relationship Id="rId20" Target="https://eric.ed.gov/?id=EJ678596" TargetMode="External" Type="http://schemas.openxmlformats.org/officeDocument/2006/relationships/hyperlink"/><Relationship Id="rId21" Target="https://doi.org/10.1080/00461520.2014.965823" TargetMode="External" Type="http://schemas.openxmlformats.org/officeDocument/2006/relationships/hyperlink"/><Relationship Id="rId22" Target="https://doi.org/10.1080/00461520.2014.965823" TargetMode="External" Type="http://schemas.openxmlformats.org/officeDocument/2006/relationships/hyperlink"/><Relationship Id="rId23" Target="https://doi.org/10.1080/00461520.2014.965823" TargetMode="External" Type="http://schemas.openxmlformats.org/officeDocument/2006/relationships/hyperlink"/><Relationship Id="rId24" Target="https://doi.org/10.1080/00461520.2014.965823" TargetMode="External" Type="http://schemas.openxmlformats.org/officeDocument/2006/relationships/hyperlink"/><Relationship Id="rId25" Target="https://pubmed.ncbi.nlm.nih.gov/33683913/" TargetMode="External" Type="http://schemas.openxmlformats.org/officeDocument/2006/relationships/hyperlink"/><Relationship Id="rId26" Target="https://pubmed.ncbi.nlm.nih.gov/33683913/" TargetMode="External" Type="http://schemas.openxmlformats.org/officeDocument/2006/relationships/hyperlink"/><Relationship Id="rId27" Target="https://pubmed.ncbi.nlm.nih.gov/33683913/" TargetMode="External" Type="http://schemas.openxmlformats.org/officeDocument/2006/relationships/hyperlink"/><Relationship Id="rId28" Target="https://pubmed.ncbi.nlm.nih.gov/33683913/" TargetMode="External" Type="http://schemas.openxmlformats.org/officeDocument/2006/relationships/hyperlink"/><Relationship Id="rId29" Target="https://pubmed.ncbi.nlm.nih.gov/23576743/" TargetMode="External" Type="http://schemas.openxmlformats.org/officeDocument/2006/relationships/hyperlink"/><Relationship Id="rId3" Target="../media/image1.jpeg" Type="http://schemas.openxmlformats.org/officeDocument/2006/relationships/image"/><Relationship Id="rId30" Target="https://pubmed.ncbi.nlm.nih.gov/23576743/" TargetMode="External" Type="http://schemas.openxmlformats.org/officeDocument/2006/relationships/hyperlink"/><Relationship Id="rId31" Target="../media/image5.png" Type="http://schemas.openxmlformats.org/officeDocument/2006/relationships/image"/><Relationship Id="rId32" Target="../media/image6.sv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www.psychologicalscience.org/journals/pspi/1529100612453266/" TargetMode="External" Type="http://schemas.openxmlformats.org/officeDocument/2006/relationships/hyperlink"/><Relationship Id="rId8" Target="https://www.psychologicalscience.org/journals/pspi/1529100612453266/" TargetMode="External" Type="http://schemas.openxmlformats.org/officeDocument/2006/relationships/hyperlink"/><Relationship Id="rId9" Target="https://www.psychologicalscience.org/journals/pspi/1529100612453266/" TargetMode="External" Type="http://schemas.openxmlformats.org/officeDocument/2006/relationships/hyperlink"/></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01</a:t>
            </a:r>
          </a:p>
        </p:txBody>
      </p:sp>
      <p:sp>
        <p:nvSpPr>
          <p:cNvPr name="TextBox 9" id="9"/>
          <p:cNvSpPr txBox="true"/>
          <p:nvPr/>
        </p:nvSpPr>
        <p:spPr>
          <a:xfrm rot="0">
            <a:off x="762000" y="2352675"/>
            <a:ext cx="10668000" cy="618363"/>
          </a:xfrm>
          <a:prstGeom prst="rect">
            <a:avLst/>
          </a:prstGeom>
        </p:spPr>
        <p:txBody>
          <a:bodyPr anchor="t" rtlCol="false" tIns="0" lIns="0" bIns="0" rIns="0">
            <a:spAutoFit/>
          </a:bodyPr>
          <a:lstStyle/>
          <a:p>
            <a:pPr algn="l" marL="0" indent="0" lvl="0">
              <a:lnSpc>
                <a:spcPts val="4941"/>
              </a:lnSpc>
              <a:spcBef>
                <a:spcPct val="0"/>
              </a:spcBef>
            </a:pPr>
            <a:r>
              <a:rPr lang="en-US" b="true" sz="4050" strike="noStrike" u="none">
                <a:solidFill>
                  <a:srgbClr val="0A2A66"/>
                </a:solidFill>
                <a:latin typeface="DM Sans Bold"/>
                <a:ea typeface="DM Sans Bold"/>
                <a:cs typeface="DM Sans Bold"/>
                <a:sym typeface="DM Sans Bold"/>
              </a:rPr>
              <a:t>The lesson makes sense.</a:t>
            </a:r>
          </a:p>
        </p:txBody>
      </p:sp>
      <p:sp>
        <p:nvSpPr>
          <p:cNvPr name="TextBox 10" id="10"/>
          <p:cNvSpPr txBox="true"/>
          <p:nvPr/>
        </p:nvSpPr>
        <p:spPr>
          <a:xfrm rot="0">
            <a:off x="762000" y="3086100"/>
            <a:ext cx="10668000" cy="618363"/>
          </a:xfrm>
          <a:prstGeom prst="rect">
            <a:avLst/>
          </a:prstGeom>
        </p:spPr>
        <p:txBody>
          <a:bodyPr anchor="t" rtlCol="false" tIns="0" lIns="0" bIns="0" rIns="0">
            <a:spAutoFit/>
          </a:bodyPr>
          <a:lstStyle/>
          <a:p>
            <a:pPr algn="l" marL="0" indent="0" lvl="0">
              <a:lnSpc>
                <a:spcPts val="4941"/>
              </a:lnSpc>
              <a:spcBef>
                <a:spcPct val="0"/>
              </a:spcBef>
            </a:pPr>
            <a:r>
              <a:rPr lang="en-US" b="true" sz="4050" strike="noStrike" u="none">
                <a:solidFill>
                  <a:srgbClr val="0A2A66"/>
                </a:solidFill>
                <a:latin typeface="DM Sans Bold"/>
                <a:ea typeface="DM Sans Bold"/>
                <a:cs typeface="DM Sans Bold"/>
                <a:sym typeface="DM Sans Bold"/>
              </a:rPr>
              <a:t>The next question doesn’t.</a:t>
            </a:r>
          </a:p>
        </p:txBody>
      </p:sp>
      <p:sp>
        <p:nvSpPr>
          <p:cNvPr name="Freeform 11" id="11"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02</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Dunlo turns discovery into practice</a:t>
            </a:r>
          </a:p>
        </p:txBody>
      </p:sp>
      <p:sp>
        <p:nvSpPr>
          <p:cNvPr name="TextBox 10" id="10"/>
          <p:cNvSpPr txBox="true"/>
          <p:nvPr/>
        </p:nvSpPr>
        <p:spPr>
          <a:xfrm rot="0">
            <a:off x="609600" y="1895475"/>
            <a:ext cx="10972800" cy="328041"/>
          </a:xfrm>
          <a:prstGeom prst="rect">
            <a:avLst/>
          </a:prstGeom>
        </p:spPr>
        <p:txBody>
          <a:bodyPr anchor="t" rtlCol="false" tIns="0" lIns="0" bIns="0" rIns="0">
            <a:spAutoFit/>
          </a:bodyPr>
          <a:lstStyle/>
          <a:p>
            <a:pPr algn="ctr" marL="0" indent="0" lvl="0">
              <a:lnSpc>
                <a:spcPts val="2562"/>
              </a:lnSpc>
              <a:spcBef>
                <a:spcPct val="0"/>
              </a:spcBef>
            </a:pPr>
            <a:r>
              <a:rPr lang="en-US" sz="2100" strike="noStrike" u="none">
                <a:solidFill>
                  <a:srgbClr val="0A2A66"/>
                </a:solidFill>
                <a:latin typeface="DM Sans"/>
                <a:ea typeface="DM Sans"/>
                <a:cs typeface="DM Sans"/>
                <a:sym typeface="DM Sans"/>
              </a:rPr>
              <a:t>A short-form learning feed with a clear path into Khan Academy.</a:t>
            </a:r>
          </a:p>
        </p:txBody>
      </p:sp>
      <p:sp>
        <p:nvSpPr>
          <p:cNvPr name="AutoShape 11" id="11"/>
          <p:cNvSpPr/>
          <p:nvPr/>
        </p:nvSpPr>
        <p:spPr>
          <a:xfrm rot="0">
            <a:off x="609600" y="2714625"/>
            <a:ext cx="4648200" cy="2190750"/>
          </a:xfrm>
          <a:prstGeom prst="rect">
            <a:avLst/>
          </a:prstGeom>
          <a:solidFill>
            <a:srgbClr val="F0EFFF"/>
          </a:solidFill>
        </p:spPr>
      </p:sp>
      <p:sp>
        <p:nvSpPr>
          <p:cNvPr name="TextBox 12" id="12"/>
          <p:cNvSpPr txBox="true"/>
          <p:nvPr/>
        </p:nvSpPr>
        <p:spPr>
          <a:xfrm rot="0">
            <a:off x="838200" y="2867025"/>
            <a:ext cx="4191000" cy="393573"/>
          </a:xfrm>
          <a:prstGeom prst="rect">
            <a:avLst/>
          </a:prstGeom>
        </p:spPr>
        <p:txBody>
          <a:bodyPr anchor="t" rtlCol="false" tIns="0" lIns="0" bIns="0" rIns="0">
            <a:spAutoFit/>
          </a:bodyPr>
          <a:lstStyle/>
          <a:p>
            <a:pPr algn="ctr" marL="0" indent="0" lvl="0">
              <a:lnSpc>
                <a:spcPts val="3111"/>
              </a:lnSpc>
              <a:spcBef>
                <a:spcPct val="0"/>
              </a:spcBef>
            </a:pPr>
            <a:r>
              <a:rPr lang="en-US" sz="2550" strike="noStrike" u="none">
                <a:solidFill>
                  <a:srgbClr val="0A2A66"/>
                </a:solidFill>
                <a:latin typeface="DM Sans"/>
                <a:ea typeface="DM Sans"/>
                <a:cs typeface="DM Sans"/>
                <a:sym typeface="DM Sans"/>
              </a:rPr>
              <a:t>Easy to start</a:t>
            </a:r>
          </a:p>
        </p:txBody>
      </p:sp>
      <p:sp>
        <p:nvSpPr>
          <p:cNvPr name="TextBox 13" id="13"/>
          <p:cNvSpPr txBox="true"/>
          <p:nvPr/>
        </p:nvSpPr>
        <p:spPr>
          <a:xfrm rot="0">
            <a:off x="838200" y="3486150"/>
            <a:ext cx="4191000" cy="547878"/>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Young learners can start with one idea</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in a familiar, scrollable feed.</a:t>
            </a:r>
          </a:p>
        </p:txBody>
      </p:sp>
      <p:sp>
        <p:nvSpPr>
          <p:cNvPr name="TextBox 14" id="14"/>
          <p:cNvSpPr txBox="true"/>
          <p:nvPr/>
        </p:nvSpPr>
        <p:spPr>
          <a:xfrm rot="0">
            <a:off x="838200" y="4248150"/>
            <a:ext cx="4191000" cy="547878"/>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Try an interactive model or Khan clip.</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Make a prediction and see why.</a:t>
            </a:r>
          </a:p>
        </p:txBody>
      </p:sp>
      <p:sp>
        <p:nvSpPr>
          <p:cNvPr name="AutoShape 15" id="15"/>
          <p:cNvSpPr/>
          <p:nvPr/>
        </p:nvSpPr>
        <p:spPr>
          <a:xfrm rot="0">
            <a:off x="5562600" y="3800475"/>
            <a:ext cx="876300" cy="38100"/>
          </a:xfrm>
          <a:prstGeom prst="rect">
            <a:avLst/>
          </a:prstGeom>
          <a:solidFill>
            <a:srgbClr val="C96331"/>
          </a:solidFill>
        </p:spPr>
      </p:sp>
      <p:grpSp>
        <p:nvGrpSpPr>
          <p:cNvPr name="Group 16" id="16"/>
          <p:cNvGrpSpPr/>
          <p:nvPr/>
        </p:nvGrpSpPr>
        <p:grpSpPr>
          <a:xfrm rot="1840140">
            <a:off x="6381083" y="3764852"/>
            <a:ext cx="171450" cy="28575"/>
            <a:chOff x="0" y="0"/>
            <a:chExt cx="228600" cy="38100"/>
          </a:xfrm>
        </p:grpSpPr>
        <p:sp>
          <p:nvSpPr>
            <p:cNvPr name="Freeform 17" id="1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96331"/>
            </a:solidFill>
          </p:spPr>
        </p:sp>
      </p:grpSp>
      <p:grpSp>
        <p:nvGrpSpPr>
          <p:cNvPr name="Group 18" id="18"/>
          <p:cNvGrpSpPr/>
          <p:nvPr/>
        </p:nvGrpSpPr>
        <p:grpSpPr>
          <a:xfrm rot="8959860">
            <a:off x="6372987" y="3850576"/>
            <a:ext cx="171450" cy="28575"/>
            <a:chOff x="0" y="0"/>
            <a:chExt cx="228600" cy="38100"/>
          </a:xfrm>
        </p:grpSpPr>
        <p:sp>
          <p:nvSpPr>
            <p:cNvPr name="Freeform 19" id="19"/>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96331"/>
            </a:solidFill>
          </p:spPr>
        </p:sp>
      </p:grpSp>
      <p:sp>
        <p:nvSpPr>
          <p:cNvPr name="TextBox 20" id="20"/>
          <p:cNvSpPr txBox="true"/>
          <p:nvPr/>
        </p:nvSpPr>
        <p:spPr>
          <a:xfrm rot="0">
            <a:off x="609600" y="5676900"/>
            <a:ext cx="10972800" cy="2623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The familiar feed opens the door. Connected practice gives that curiosity somewhere to go.</a:t>
            </a:r>
          </a:p>
        </p:txBody>
      </p:sp>
      <p:sp>
        <p:nvSpPr>
          <p:cNvPr name="AutoShape 21" id="21"/>
          <p:cNvSpPr/>
          <p:nvPr/>
        </p:nvSpPr>
        <p:spPr>
          <a:xfrm rot="0">
            <a:off x="6934200" y="2714625"/>
            <a:ext cx="4648200" cy="2190750"/>
          </a:xfrm>
          <a:prstGeom prst="rect">
            <a:avLst/>
          </a:prstGeom>
          <a:solidFill>
            <a:srgbClr val="D9F2EA"/>
          </a:solidFill>
        </p:spPr>
      </p:sp>
      <p:sp>
        <p:nvSpPr>
          <p:cNvPr name="TextBox 22" id="22"/>
          <p:cNvSpPr txBox="true"/>
          <p:nvPr/>
        </p:nvSpPr>
        <p:spPr>
          <a:xfrm rot="0">
            <a:off x="7162800" y="2867025"/>
            <a:ext cx="4191000" cy="393573"/>
          </a:xfrm>
          <a:prstGeom prst="rect">
            <a:avLst/>
          </a:prstGeom>
        </p:spPr>
        <p:txBody>
          <a:bodyPr anchor="t" rtlCol="false" tIns="0" lIns="0" bIns="0" rIns="0">
            <a:spAutoFit/>
          </a:bodyPr>
          <a:lstStyle/>
          <a:p>
            <a:pPr algn="ctr" marL="0" indent="0" lvl="0">
              <a:lnSpc>
                <a:spcPts val="3111"/>
              </a:lnSpc>
              <a:spcBef>
                <a:spcPct val="0"/>
              </a:spcBef>
            </a:pPr>
            <a:r>
              <a:rPr lang="en-US" sz="2550" strike="noStrike" u="none">
                <a:solidFill>
                  <a:srgbClr val="0A2A66"/>
                </a:solidFill>
                <a:latin typeface="DM Sans"/>
                <a:ea typeface="DM Sans"/>
                <a:cs typeface="DM Sans"/>
                <a:sym typeface="DM Sans"/>
              </a:rPr>
              <a:t>Clear to continue</a:t>
            </a:r>
          </a:p>
        </p:txBody>
      </p:sp>
      <p:sp>
        <p:nvSpPr>
          <p:cNvPr name="TextBox 23" id="23"/>
          <p:cNvSpPr txBox="true"/>
          <p:nvPr/>
        </p:nvSpPr>
        <p:spPr>
          <a:xfrm rot="0">
            <a:off x="7162800" y="3486150"/>
            <a:ext cx="4191000" cy="547878"/>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Each idea points to a matching</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Khan Academy exercise.</a:t>
            </a:r>
          </a:p>
        </p:txBody>
      </p:sp>
      <p:sp>
        <p:nvSpPr>
          <p:cNvPr name="TextBox 24" id="24"/>
          <p:cNvSpPr txBox="true"/>
          <p:nvPr/>
        </p:nvSpPr>
        <p:spPr>
          <a:xfrm rot="0">
            <a:off x="7162800" y="4248150"/>
            <a:ext cx="4191000" cy="547878"/>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Return to Dunlo for a fresh question.</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Save the idea to revisit later.</a:t>
            </a:r>
          </a:p>
        </p:txBody>
      </p:sp>
      <p:sp>
        <p:nvSpPr>
          <p:cNvPr name="AutoShape 25" id="25"/>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26" id="26"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03</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How one discovery becomes a learning session</a:t>
            </a:r>
          </a:p>
        </p:txBody>
      </p:sp>
      <p:grpSp>
        <p:nvGrpSpPr>
          <p:cNvPr name="Group 10" id="10"/>
          <p:cNvGrpSpPr/>
          <p:nvPr/>
        </p:nvGrpSpPr>
        <p:grpSpPr>
          <a:xfrm rot="0">
            <a:off x="1476375" y="2876550"/>
            <a:ext cx="552450" cy="552450"/>
            <a:chOff x="0" y="0"/>
            <a:chExt cx="736600" cy="736600"/>
          </a:xfrm>
        </p:grpSpPr>
        <p:sp>
          <p:nvSpPr>
            <p:cNvPr name="Freeform 11" id="11"/>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0A2A66"/>
            </a:solidFill>
          </p:spPr>
        </p:sp>
      </p:grpSp>
      <p:sp>
        <p:nvSpPr>
          <p:cNvPr name="TextBox 12" id="12"/>
          <p:cNvSpPr txBox="true"/>
          <p:nvPr/>
        </p:nvSpPr>
        <p:spPr>
          <a:xfrm rot="0">
            <a:off x="1562100" y="297180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FFFFFF"/>
                </a:solidFill>
                <a:latin typeface="DM Sans"/>
                <a:ea typeface="DM Sans"/>
                <a:cs typeface="DM Sans"/>
                <a:sym typeface="DM Sans"/>
              </a:rPr>
              <a:t>1</a:t>
            </a:r>
          </a:p>
        </p:txBody>
      </p:sp>
      <p:sp>
        <p:nvSpPr>
          <p:cNvPr name="TextBox 13" id="13"/>
          <p:cNvSpPr txBox="true"/>
          <p:nvPr/>
        </p:nvSpPr>
        <p:spPr>
          <a:xfrm rot="0">
            <a:off x="609600" y="3648075"/>
            <a:ext cx="2286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Choose one</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short idea</a:t>
            </a:r>
          </a:p>
        </p:txBody>
      </p:sp>
      <p:sp>
        <p:nvSpPr>
          <p:cNvPr name="AutoShape 14" id="14"/>
          <p:cNvSpPr/>
          <p:nvPr/>
        </p:nvSpPr>
        <p:spPr>
          <a:xfrm rot="0">
            <a:off x="2419350" y="3133725"/>
            <a:ext cx="876300" cy="38100"/>
          </a:xfrm>
          <a:prstGeom prst="rect">
            <a:avLst/>
          </a:prstGeom>
          <a:solidFill>
            <a:srgbClr val="CCD7E4"/>
          </a:solidFill>
        </p:spPr>
      </p:sp>
      <p:grpSp>
        <p:nvGrpSpPr>
          <p:cNvPr name="Group 15" id="15"/>
          <p:cNvGrpSpPr/>
          <p:nvPr/>
        </p:nvGrpSpPr>
        <p:grpSpPr>
          <a:xfrm rot="1840140">
            <a:off x="3237833" y="3098102"/>
            <a:ext cx="171450" cy="28575"/>
            <a:chOff x="0" y="0"/>
            <a:chExt cx="228600" cy="38100"/>
          </a:xfrm>
        </p:grpSpPr>
        <p:sp>
          <p:nvSpPr>
            <p:cNvPr name="Freeform 16" id="16"/>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7" id="17"/>
          <p:cNvGrpSpPr/>
          <p:nvPr/>
        </p:nvGrpSpPr>
        <p:grpSpPr>
          <a:xfrm rot="8959860">
            <a:off x="3229737" y="3183826"/>
            <a:ext cx="171450" cy="28575"/>
            <a:chOff x="0" y="0"/>
            <a:chExt cx="228600" cy="38100"/>
          </a:xfrm>
        </p:grpSpPr>
        <p:sp>
          <p:nvSpPr>
            <p:cNvPr name="Freeform 18" id="18"/>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9" id="19"/>
          <p:cNvGrpSpPr/>
          <p:nvPr/>
        </p:nvGrpSpPr>
        <p:grpSpPr>
          <a:xfrm rot="0">
            <a:off x="4371975" y="2876550"/>
            <a:ext cx="552450" cy="552450"/>
            <a:chOff x="0" y="0"/>
            <a:chExt cx="736600" cy="736600"/>
          </a:xfrm>
        </p:grpSpPr>
        <p:sp>
          <p:nvSpPr>
            <p:cNvPr name="Freeform 20" id="20"/>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C96331"/>
            </a:solidFill>
          </p:spPr>
        </p:sp>
      </p:grpSp>
      <p:sp>
        <p:nvSpPr>
          <p:cNvPr name="TextBox 21" id="21"/>
          <p:cNvSpPr txBox="true"/>
          <p:nvPr/>
        </p:nvSpPr>
        <p:spPr>
          <a:xfrm rot="0">
            <a:off x="4457700" y="297180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2</a:t>
            </a:r>
          </a:p>
        </p:txBody>
      </p:sp>
      <p:sp>
        <p:nvSpPr>
          <p:cNvPr name="TextBox 22" id="22"/>
          <p:cNvSpPr txBox="true"/>
          <p:nvPr/>
        </p:nvSpPr>
        <p:spPr>
          <a:xfrm rot="0">
            <a:off x="3505200" y="3648075"/>
            <a:ext cx="2286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Predict, then</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see why</a:t>
            </a:r>
          </a:p>
        </p:txBody>
      </p:sp>
      <p:sp>
        <p:nvSpPr>
          <p:cNvPr name="AutoShape 23" id="23"/>
          <p:cNvSpPr/>
          <p:nvPr/>
        </p:nvSpPr>
        <p:spPr>
          <a:xfrm rot="0">
            <a:off x="5314950" y="3133725"/>
            <a:ext cx="876300" cy="38100"/>
          </a:xfrm>
          <a:prstGeom prst="rect">
            <a:avLst/>
          </a:prstGeom>
          <a:solidFill>
            <a:srgbClr val="CCD7E4"/>
          </a:solidFill>
        </p:spPr>
      </p:sp>
      <p:grpSp>
        <p:nvGrpSpPr>
          <p:cNvPr name="Group 24" id="24"/>
          <p:cNvGrpSpPr/>
          <p:nvPr/>
        </p:nvGrpSpPr>
        <p:grpSpPr>
          <a:xfrm rot="1840140">
            <a:off x="6133433" y="3098102"/>
            <a:ext cx="171450" cy="28575"/>
            <a:chOff x="0" y="0"/>
            <a:chExt cx="228600" cy="38100"/>
          </a:xfrm>
        </p:grpSpPr>
        <p:sp>
          <p:nvSpPr>
            <p:cNvPr name="Freeform 25" id="2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6" id="26"/>
          <p:cNvGrpSpPr/>
          <p:nvPr/>
        </p:nvGrpSpPr>
        <p:grpSpPr>
          <a:xfrm rot="8959860">
            <a:off x="6125337" y="3183826"/>
            <a:ext cx="171450" cy="28575"/>
            <a:chOff x="0" y="0"/>
            <a:chExt cx="228600" cy="38100"/>
          </a:xfrm>
        </p:grpSpPr>
        <p:sp>
          <p:nvSpPr>
            <p:cNvPr name="Freeform 27" id="2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8" id="28"/>
          <p:cNvGrpSpPr/>
          <p:nvPr/>
        </p:nvGrpSpPr>
        <p:grpSpPr>
          <a:xfrm rot="0">
            <a:off x="7267575" y="2876550"/>
            <a:ext cx="552450" cy="552450"/>
            <a:chOff x="0" y="0"/>
            <a:chExt cx="736600" cy="736600"/>
          </a:xfrm>
        </p:grpSpPr>
        <p:sp>
          <p:nvSpPr>
            <p:cNvPr name="Freeform 29" id="29"/>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0A2A66"/>
            </a:solidFill>
          </p:spPr>
        </p:sp>
      </p:grpSp>
      <p:sp>
        <p:nvSpPr>
          <p:cNvPr name="TextBox 30" id="30"/>
          <p:cNvSpPr txBox="true"/>
          <p:nvPr/>
        </p:nvSpPr>
        <p:spPr>
          <a:xfrm rot="0">
            <a:off x="7353300" y="297180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FFFFFF"/>
                </a:solidFill>
                <a:latin typeface="DM Sans"/>
                <a:ea typeface="DM Sans"/>
                <a:cs typeface="DM Sans"/>
                <a:sym typeface="DM Sans"/>
              </a:rPr>
              <a:t>3</a:t>
            </a:r>
          </a:p>
        </p:txBody>
      </p:sp>
      <p:sp>
        <p:nvSpPr>
          <p:cNvPr name="TextBox 31" id="31"/>
          <p:cNvSpPr txBox="true"/>
          <p:nvPr/>
        </p:nvSpPr>
        <p:spPr>
          <a:xfrm rot="0">
            <a:off x="6400800" y="3648075"/>
            <a:ext cx="2286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Practise with</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Khan Academy</a:t>
            </a:r>
          </a:p>
        </p:txBody>
      </p:sp>
      <p:sp>
        <p:nvSpPr>
          <p:cNvPr name="AutoShape 32" id="32"/>
          <p:cNvSpPr/>
          <p:nvPr/>
        </p:nvSpPr>
        <p:spPr>
          <a:xfrm rot="0">
            <a:off x="8210550" y="3133725"/>
            <a:ext cx="876300" cy="38100"/>
          </a:xfrm>
          <a:prstGeom prst="rect">
            <a:avLst/>
          </a:prstGeom>
          <a:solidFill>
            <a:srgbClr val="CCD7E4"/>
          </a:solidFill>
        </p:spPr>
      </p:sp>
      <p:grpSp>
        <p:nvGrpSpPr>
          <p:cNvPr name="Group 33" id="33"/>
          <p:cNvGrpSpPr/>
          <p:nvPr/>
        </p:nvGrpSpPr>
        <p:grpSpPr>
          <a:xfrm rot="1840140">
            <a:off x="9029033" y="3098102"/>
            <a:ext cx="171450" cy="28575"/>
            <a:chOff x="0" y="0"/>
            <a:chExt cx="228600" cy="38100"/>
          </a:xfrm>
        </p:grpSpPr>
        <p:sp>
          <p:nvSpPr>
            <p:cNvPr name="Freeform 34" id="34"/>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35" id="35"/>
          <p:cNvGrpSpPr/>
          <p:nvPr/>
        </p:nvGrpSpPr>
        <p:grpSpPr>
          <a:xfrm rot="8959860">
            <a:off x="9020937" y="3183826"/>
            <a:ext cx="171450" cy="28575"/>
            <a:chOff x="0" y="0"/>
            <a:chExt cx="228600" cy="38100"/>
          </a:xfrm>
        </p:grpSpPr>
        <p:sp>
          <p:nvSpPr>
            <p:cNvPr name="Freeform 36" id="36"/>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37" id="37"/>
          <p:cNvGrpSpPr/>
          <p:nvPr/>
        </p:nvGrpSpPr>
        <p:grpSpPr>
          <a:xfrm rot="0">
            <a:off x="10163175" y="2876550"/>
            <a:ext cx="552450" cy="552450"/>
            <a:chOff x="0" y="0"/>
            <a:chExt cx="736600" cy="736600"/>
          </a:xfrm>
        </p:grpSpPr>
        <p:sp>
          <p:nvSpPr>
            <p:cNvPr name="Freeform 38" id="38"/>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14BF96"/>
            </a:solidFill>
          </p:spPr>
        </p:sp>
      </p:grpSp>
      <p:sp>
        <p:nvSpPr>
          <p:cNvPr name="TextBox 39" id="39"/>
          <p:cNvSpPr txBox="true"/>
          <p:nvPr/>
        </p:nvSpPr>
        <p:spPr>
          <a:xfrm rot="0">
            <a:off x="10248900" y="297180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4</a:t>
            </a:r>
          </a:p>
        </p:txBody>
      </p:sp>
      <p:sp>
        <p:nvSpPr>
          <p:cNvPr name="TextBox 40" id="40"/>
          <p:cNvSpPr txBox="true"/>
          <p:nvPr/>
        </p:nvSpPr>
        <p:spPr>
          <a:xfrm rot="0">
            <a:off x="9296400" y="3648075"/>
            <a:ext cx="2286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Answer a fresh</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question in Dunlo</a:t>
            </a:r>
          </a:p>
        </p:txBody>
      </p:sp>
      <p:sp>
        <p:nvSpPr>
          <p:cNvPr name="TextBox 41" id="41"/>
          <p:cNvSpPr txBox="true"/>
          <p:nvPr/>
        </p:nvSpPr>
        <p:spPr>
          <a:xfrm rot="0">
            <a:off x="609600" y="5295900"/>
            <a:ext cx="10972800" cy="5290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hlinkClick r:id="rId7" tooltip="https://ies.ed.gov/ncee/wwc/practiceguide/1"/>
              </a:rPr>
              <a:t>One topic stays connected across the feed, Khan practice and later review.</a:t>
            </a:r>
          </a:p>
          <a:p>
            <a:pPr algn="ctr" marL="0" indent="0" lvl="0">
              <a:lnSpc>
                <a:spcPts val="2104"/>
              </a:lnSpc>
              <a:spcBef>
                <a:spcPct val="0"/>
              </a:spcBef>
            </a:pPr>
            <a:r>
              <a:rPr lang="en-US" sz="1725" strike="noStrike" u="none">
                <a:solidFill>
                  <a:srgbClr val="0A2A66"/>
                </a:solidFill>
                <a:latin typeface="DM Sans"/>
                <a:ea typeface="DM Sans"/>
                <a:cs typeface="DM Sans"/>
                <a:sym typeface="DM Sans"/>
                <a:hlinkClick r:id="rId8" tooltip="https://ies.ed.gov/ncee/wwc/practiceguide/1"/>
              </a:rPr>
              <a:t>Learning design: IES practice guide (2007).</a:t>
            </a:r>
          </a:p>
        </p:txBody>
      </p:sp>
      <p:sp>
        <p:nvSpPr>
          <p:cNvPr name="AutoShape 42" id="42"/>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43" id="43"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AutoShape 8" id="8"/>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9" id="9"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0" id="10"/>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Short-form content. Active learning.</a:t>
            </a:r>
          </a:p>
        </p:txBody>
      </p:sp>
      <p:sp>
        <p:nvSpPr>
          <p:cNvPr name="TextBox 11" id="11"/>
          <p:cNvSpPr txBox="true"/>
          <p:nvPr/>
        </p:nvSpPr>
        <p:spPr>
          <a:xfrm rot="0">
            <a:off x="609600" y="1790700"/>
            <a:ext cx="7000875" cy="604456"/>
          </a:xfrm>
          <a:prstGeom prst="rect">
            <a:avLst/>
          </a:prstGeom>
        </p:spPr>
        <p:txBody>
          <a:bodyPr anchor="t" rtlCol="false" tIns="0" lIns="0" bIns="0" rIns="0">
            <a:spAutoFit/>
          </a:bodyPr>
          <a:lstStyle/>
          <a:p>
            <a:pPr algn="l" marL="0" indent="0" lvl="0">
              <a:lnSpc>
                <a:spcPts val="2470"/>
              </a:lnSpc>
              <a:spcBef>
                <a:spcPct val="0"/>
              </a:spcBef>
            </a:pPr>
            <a:r>
              <a:rPr lang="en-US" sz="2025" strike="noStrike" u="none">
                <a:solidFill>
                  <a:srgbClr val="0A2A66"/>
                </a:solidFill>
                <a:latin typeface="DM Sans"/>
                <a:ea typeface="DM Sans"/>
                <a:cs typeface="DM Sans"/>
                <a:sym typeface="DM Sans"/>
              </a:rPr>
              <a:t>For learners used to mobile feeds,</a:t>
            </a:r>
          </a:p>
          <a:p>
            <a:pPr algn="l" marL="0" indent="0" lvl="0">
              <a:lnSpc>
                <a:spcPts val="2470"/>
              </a:lnSpc>
              <a:spcBef>
                <a:spcPct val="0"/>
              </a:spcBef>
            </a:pPr>
            <a:r>
              <a:rPr lang="en-US" sz="2025" strike="noStrike" u="none">
                <a:solidFill>
                  <a:srgbClr val="0A2A66"/>
                </a:solidFill>
                <a:latin typeface="DM Sans"/>
                <a:ea typeface="DM Sans"/>
                <a:cs typeface="DM Sans"/>
                <a:sym typeface="DM Sans"/>
              </a:rPr>
              <a:t>Dunlo makes one idea easy to start.</a:t>
            </a:r>
          </a:p>
        </p:txBody>
      </p:sp>
      <p:sp>
        <p:nvSpPr>
          <p:cNvPr name="TextBox 12" id="12"/>
          <p:cNvSpPr txBox="true"/>
          <p:nvPr/>
        </p:nvSpPr>
        <p:spPr>
          <a:xfrm rot="0">
            <a:off x="609600" y="2838450"/>
            <a:ext cx="7048500" cy="393573"/>
          </a:xfrm>
          <a:prstGeom prst="rect">
            <a:avLst/>
          </a:prstGeom>
        </p:spPr>
        <p:txBody>
          <a:bodyPr anchor="t" rtlCol="false" tIns="0" lIns="0" bIns="0" rIns="0">
            <a:spAutoFit/>
          </a:bodyPr>
          <a:lstStyle/>
          <a:p>
            <a:pPr algn="l" marL="0" indent="0" lvl="0">
              <a:lnSpc>
                <a:spcPts val="3111"/>
              </a:lnSpc>
              <a:spcBef>
                <a:spcPct val="0"/>
              </a:spcBef>
            </a:pPr>
            <a:r>
              <a:rPr lang="en-US" b="true" sz="2550" strike="noStrike" u="none">
                <a:solidFill>
                  <a:srgbClr val="0A2A66"/>
                </a:solidFill>
                <a:latin typeface="DM Sans Bold"/>
                <a:ea typeface="DM Sans Bold"/>
                <a:cs typeface="DM Sans Bold"/>
                <a:sym typeface="DM Sans Bold"/>
              </a:rPr>
              <a:t>Scroll. Try. Keep going.</a:t>
            </a:r>
          </a:p>
        </p:txBody>
      </p:sp>
      <p:sp>
        <p:nvSpPr>
          <p:cNvPr name="TextBox 13" id="13"/>
          <p:cNvSpPr txBox="true"/>
          <p:nvPr/>
        </p:nvSpPr>
        <p:spPr>
          <a:xfrm rot="0">
            <a:off x="609600" y="3448050"/>
            <a:ext cx="7048500" cy="604456"/>
          </a:xfrm>
          <a:prstGeom prst="rect">
            <a:avLst/>
          </a:prstGeom>
        </p:spPr>
        <p:txBody>
          <a:bodyPr anchor="t" rtlCol="false" tIns="0" lIns="0" bIns="0" rIns="0">
            <a:spAutoFit/>
          </a:bodyPr>
          <a:lstStyle/>
          <a:p>
            <a:pPr algn="l" marL="0" indent="0" lvl="0">
              <a:lnSpc>
                <a:spcPts val="2470"/>
              </a:lnSpc>
              <a:spcBef>
                <a:spcPct val="0"/>
              </a:spcBef>
            </a:pPr>
            <a:r>
              <a:rPr lang="en-US" sz="2025" strike="noStrike" u="none">
                <a:solidFill>
                  <a:srgbClr val="0A2A66"/>
                </a:solidFill>
                <a:latin typeface="DM Sans"/>
                <a:ea typeface="DM Sans"/>
                <a:cs typeface="DM Sans"/>
                <a:sym typeface="DM Sans"/>
              </a:rPr>
              <a:t>Move a slider or watch a focused Khan clip.</a:t>
            </a:r>
          </a:p>
          <a:p>
            <a:pPr algn="l" marL="0" indent="0" lvl="0">
              <a:lnSpc>
                <a:spcPts val="2470"/>
              </a:lnSpc>
              <a:spcBef>
                <a:spcPct val="0"/>
              </a:spcBef>
            </a:pPr>
            <a:r>
              <a:rPr lang="en-US" sz="2025" strike="noStrike" u="none">
                <a:solidFill>
                  <a:srgbClr val="0A2A66"/>
                </a:solidFill>
                <a:latin typeface="DM Sans"/>
                <a:ea typeface="DM Sans"/>
                <a:cs typeface="DM Sans"/>
                <a:sym typeface="DM Sans"/>
              </a:rPr>
              <a:t>Make a prediction and get an explanation.</a:t>
            </a:r>
          </a:p>
        </p:txBody>
      </p:sp>
      <p:sp>
        <p:nvSpPr>
          <p:cNvPr name="TextBox 14" id="14"/>
          <p:cNvSpPr txBox="true"/>
          <p:nvPr/>
        </p:nvSpPr>
        <p:spPr>
          <a:xfrm rot="0">
            <a:off x="609600" y="4686300"/>
            <a:ext cx="7334250" cy="604456"/>
          </a:xfrm>
          <a:prstGeom prst="rect">
            <a:avLst/>
          </a:prstGeom>
        </p:spPr>
        <p:txBody>
          <a:bodyPr anchor="t" rtlCol="false" tIns="0" lIns="0" bIns="0" rIns="0">
            <a:spAutoFit/>
          </a:bodyPr>
          <a:lstStyle/>
          <a:p>
            <a:pPr algn="l" marL="0" indent="0" lvl="0">
              <a:lnSpc>
                <a:spcPts val="2470"/>
              </a:lnSpc>
              <a:spcBef>
                <a:spcPct val="0"/>
              </a:spcBef>
            </a:pPr>
            <a:r>
              <a:rPr lang="en-US" sz="2025" strike="noStrike" u="none">
                <a:solidFill>
                  <a:srgbClr val="0A2A66"/>
                </a:solidFill>
                <a:latin typeface="DM Sans"/>
                <a:ea typeface="DM Sans"/>
                <a:cs typeface="DM Sans"/>
                <a:sym typeface="DM Sans"/>
              </a:rPr>
              <a:t>Follow the idea into a matching Khan exercise.</a:t>
            </a:r>
          </a:p>
          <a:p>
            <a:pPr algn="l" marL="0" indent="0" lvl="0">
              <a:lnSpc>
                <a:spcPts val="2470"/>
              </a:lnSpc>
              <a:spcBef>
                <a:spcPct val="0"/>
              </a:spcBef>
            </a:pPr>
            <a:r>
              <a:rPr lang="en-US" sz="2025" strike="noStrike" u="none">
                <a:solidFill>
                  <a:srgbClr val="0A2A66"/>
                </a:solidFill>
                <a:latin typeface="DM Sans"/>
                <a:ea typeface="DM Sans"/>
                <a:cs typeface="DM Sans"/>
                <a:sym typeface="DM Sans"/>
              </a:rPr>
              <a:t>Save it for a fresh question later.</a:t>
            </a:r>
          </a:p>
        </p:txBody>
      </p:sp>
      <p:sp>
        <p:nvSpPr>
          <p:cNvPr name="TextBox 15" id="15"/>
          <p:cNvSpPr txBox="true"/>
          <p:nvPr/>
        </p:nvSpPr>
        <p:spPr>
          <a:xfrm rot="0">
            <a:off x="609600" y="6134100"/>
            <a:ext cx="7620000" cy="196787"/>
          </a:xfrm>
          <a:prstGeom prst="rect">
            <a:avLst/>
          </a:prstGeom>
        </p:spPr>
        <p:txBody>
          <a:bodyPr anchor="t" rtlCol="false" tIns="0" lIns="0" bIns="0" rIns="0">
            <a:spAutoFit/>
          </a:bodyPr>
          <a:lstStyle/>
          <a:p>
            <a:pPr algn="l" marL="0" indent="0" lvl="0">
              <a:lnSpc>
                <a:spcPts val="1555"/>
              </a:lnSpc>
              <a:spcBef>
                <a:spcPct val="0"/>
              </a:spcBef>
            </a:pPr>
            <a:r>
              <a:rPr lang="en-US" sz="1275" strike="noStrike" u="none">
                <a:solidFill>
                  <a:srgbClr val="0A2A66"/>
                </a:solidFill>
                <a:latin typeface="DM Sans"/>
                <a:ea typeface="DM Sans"/>
                <a:cs typeface="DM Sans"/>
                <a:sym typeface="DM Sans"/>
                <a:hlinkClick r:id="rId9" tooltip="https://dunlo.vercel.app/explore"/>
              </a:rPr>
              <a:t>Explore the working feed · dunlo.vercel.app/explore</a:t>
            </a:r>
          </a:p>
        </p:txBody>
      </p:sp>
      <p:grpSp>
        <p:nvGrpSpPr>
          <p:cNvPr name="Group 16" id="16"/>
          <p:cNvGrpSpPr/>
          <p:nvPr/>
        </p:nvGrpSpPr>
        <p:grpSpPr>
          <a:xfrm rot="0">
            <a:off x="8477250" y="1495425"/>
            <a:ext cx="2343150" cy="4972050"/>
            <a:chOff x="0" y="0"/>
            <a:chExt cx="925689" cy="1964267"/>
          </a:xfrm>
        </p:grpSpPr>
        <p:sp>
          <p:nvSpPr>
            <p:cNvPr name="Freeform 17" id="17"/>
            <p:cNvSpPr/>
            <p:nvPr/>
          </p:nvSpPr>
          <p:spPr>
            <a:xfrm flipH="false" flipV="false" rot="0">
              <a:off x="0" y="0"/>
              <a:ext cx="925689" cy="1964267"/>
            </a:xfrm>
            <a:custGeom>
              <a:avLst/>
              <a:gdLst/>
              <a:ahLst/>
              <a:cxnLst/>
              <a:rect r="r" b="b" t="t" l="l"/>
              <a:pathLst>
                <a:path h="1964267" w="925689">
                  <a:moveTo>
                    <a:pt x="125554" y="0"/>
                  </a:moveTo>
                  <a:lnTo>
                    <a:pt x="800134" y="0"/>
                  </a:lnTo>
                  <a:cubicBezTo>
                    <a:pt x="833434" y="0"/>
                    <a:pt x="865369" y="13228"/>
                    <a:pt x="888915" y="36774"/>
                  </a:cubicBezTo>
                  <a:cubicBezTo>
                    <a:pt x="912461" y="60320"/>
                    <a:pt x="925689" y="92255"/>
                    <a:pt x="925689" y="125554"/>
                  </a:cubicBezTo>
                  <a:lnTo>
                    <a:pt x="925689" y="1838712"/>
                  </a:lnTo>
                  <a:cubicBezTo>
                    <a:pt x="925689" y="1908054"/>
                    <a:pt x="869476" y="1964267"/>
                    <a:pt x="800134" y="1964267"/>
                  </a:cubicBezTo>
                  <a:lnTo>
                    <a:pt x="125554" y="1964267"/>
                  </a:lnTo>
                  <a:cubicBezTo>
                    <a:pt x="92255" y="1964267"/>
                    <a:pt x="60320" y="1951039"/>
                    <a:pt x="36774" y="1927493"/>
                  </a:cubicBezTo>
                  <a:cubicBezTo>
                    <a:pt x="13228" y="1903947"/>
                    <a:pt x="0" y="1872011"/>
                    <a:pt x="0" y="1838712"/>
                  </a:cubicBezTo>
                  <a:lnTo>
                    <a:pt x="0" y="125554"/>
                  </a:lnTo>
                  <a:cubicBezTo>
                    <a:pt x="0" y="92255"/>
                    <a:pt x="13228" y="60320"/>
                    <a:pt x="36774" y="36774"/>
                  </a:cubicBezTo>
                  <a:cubicBezTo>
                    <a:pt x="60320" y="13228"/>
                    <a:pt x="92255" y="0"/>
                    <a:pt x="125554" y="0"/>
                  </a:cubicBezTo>
                  <a:close/>
                </a:path>
              </a:pathLst>
            </a:custGeom>
            <a:solidFill>
              <a:srgbClr val="15171B"/>
            </a:solidFill>
          </p:spPr>
        </p:sp>
        <p:sp>
          <p:nvSpPr>
            <p:cNvPr name="TextBox 18" id="18"/>
            <p:cNvSpPr txBox="true"/>
            <p:nvPr/>
          </p:nvSpPr>
          <p:spPr>
            <a:xfrm>
              <a:off x="0" y="0"/>
              <a:ext cx="925689" cy="1964267"/>
            </a:xfrm>
            <a:prstGeom prst="rect">
              <a:avLst/>
            </a:prstGeom>
          </p:spPr>
          <p:txBody>
            <a:bodyPr anchor="ctr" rtlCol="false" tIns="50800" lIns="50800" bIns="50800" rIns="50800"/>
            <a:lstStyle/>
            <a:p>
              <a:pPr algn="ctr">
                <a:lnSpc>
                  <a:spcPts val="1372"/>
                </a:lnSpc>
              </a:pPr>
            </a:p>
          </p:txBody>
        </p:sp>
      </p:grpSp>
      <p:grpSp>
        <p:nvGrpSpPr>
          <p:cNvPr name="Group 19" id="19"/>
          <p:cNvGrpSpPr/>
          <p:nvPr/>
        </p:nvGrpSpPr>
        <p:grpSpPr>
          <a:xfrm rot="0">
            <a:off x="9401175" y="1685925"/>
            <a:ext cx="495300" cy="47625"/>
            <a:chOff x="0" y="0"/>
            <a:chExt cx="195674" cy="18815"/>
          </a:xfrm>
        </p:grpSpPr>
        <p:sp>
          <p:nvSpPr>
            <p:cNvPr name="Freeform 20" id="20"/>
            <p:cNvSpPr/>
            <p:nvPr/>
          </p:nvSpPr>
          <p:spPr>
            <a:xfrm flipH="false" flipV="false" rot="0">
              <a:off x="0" y="0"/>
              <a:ext cx="195674" cy="18815"/>
            </a:xfrm>
            <a:custGeom>
              <a:avLst/>
              <a:gdLst/>
              <a:ahLst/>
              <a:cxnLst/>
              <a:rect r="r" b="b" t="t" l="l"/>
              <a:pathLst>
                <a:path h="18815" w="195674">
                  <a:moveTo>
                    <a:pt x="9407" y="0"/>
                  </a:moveTo>
                  <a:lnTo>
                    <a:pt x="186267" y="0"/>
                  </a:lnTo>
                  <a:cubicBezTo>
                    <a:pt x="191462" y="0"/>
                    <a:pt x="195674" y="4212"/>
                    <a:pt x="195674" y="9407"/>
                  </a:cubicBezTo>
                  <a:lnTo>
                    <a:pt x="195674" y="9407"/>
                  </a:lnTo>
                  <a:cubicBezTo>
                    <a:pt x="195674" y="14603"/>
                    <a:pt x="191462" y="18815"/>
                    <a:pt x="186267" y="18815"/>
                  </a:cubicBezTo>
                  <a:lnTo>
                    <a:pt x="9407" y="18815"/>
                  </a:lnTo>
                  <a:cubicBezTo>
                    <a:pt x="4212" y="18815"/>
                    <a:pt x="0" y="14603"/>
                    <a:pt x="0" y="9407"/>
                  </a:cubicBezTo>
                  <a:lnTo>
                    <a:pt x="0" y="9407"/>
                  </a:lnTo>
                  <a:cubicBezTo>
                    <a:pt x="0" y="4212"/>
                    <a:pt x="4212" y="0"/>
                    <a:pt x="9407" y="0"/>
                  </a:cubicBezTo>
                  <a:close/>
                </a:path>
              </a:pathLst>
            </a:custGeom>
            <a:solidFill>
              <a:srgbClr val="555555"/>
            </a:solidFill>
          </p:spPr>
        </p:sp>
        <p:sp>
          <p:nvSpPr>
            <p:cNvPr name="TextBox 21" id="21"/>
            <p:cNvSpPr txBox="true"/>
            <p:nvPr/>
          </p:nvSpPr>
          <p:spPr>
            <a:xfrm>
              <a:off x="0" y="0"/>
              <a:ext cx="195674" cy="18815"/>
            </a:xfrm>
            <a:prstGeom prst="rect">
              <a:avLst/>
            </a:prstGeom>
          </p:spPr>
          <p:txBody>
            <a:bodyPr anchor="ctr" rtlCol="false" tIns="50800" lIns="50800" bIns="50800" rIns="50800"/>
            <a:lstStyle/>
            <a:p>
              <a:pPr algn="ctr">
                <a:lnSpc>
                  <a:spcPts val="1372"/>
                </a:lnSpc>
              </a:pPr>
            </a:p>
          </p:txBody>
        </p:sp>
      </p:grpSp>
      <p:sp>
        <p:nvSpPr>
          <p:cNvPr name="TextBox 22" id="22"/>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04</a:t>
            </a:r>
          </a:p>
        </p:txBody>
      </p:sp>
      <p:sp>
        <p:nvSpPr>
          <p:cNvPr name="Freeform 23" id="23" descr="Actual Dunlo mobile Explore screen, fully visible inside a phone mockup."/>
          <p:cNvSpPr/>
          <p:nvPr/>
        </p:nvSpPr>
        <p:spPr>
          <a:xfrm flipH="false" flipV="false" rot="0">
            <a:off x="8648700" y="1885950"/>
            <a:ext cx="2000250" cy="4336675"/>
          </a:xfrm>
          <a:custGeom>
            <a:avLst/>
            <a:gdLst/>
            <a:ahLst/>
            <a:cxnLst/>
            <a:rect r="r" b="b" t="t" l="l"/>
            <a:pathLst>
              <a:path h="4336675" w="2000250">
                <a:moveTo>
                  <a:pt x="0" y="0"/>
                </a:moveTo>
                <a:lnTo>
                  <a:pt x="2000250" y="0"/>
                </a:lnTo>
                <a:lnTo>
                  <a:pt x="2000250" y="4336675"/>
                </a:lnTo>
                <a:lnTo>
                  <a:pt x="0" y="4336675"/>
                </a:lnTo>
                <a:lnTo>
                  <a:pt x="0" y="0"/>
                </a:lnTo>
                <a:close/>
              </a:path>
            </a:pathLst>
          </a:custGeom>
          <a:blipFill>
            <a:blip r:embed="rId10"/>
            <a:stretch>
              <a:fillRect l="-1" t="0" r="-1" b="0"/>
            </a:stretch>
          </a:blipFill>
        </p:spPr>
      </p:sp>
      <p:grpSp>
        <p:nvGrpSpPr>
          <p:cNvPr name="Group 24" id="24"/>
          <p:cNvGrpSpPr/>
          <p:nvPr/>
        </p:nvGrpSpPr>
        <p:grpSpPr>
          <a:xfrm rot="0">
            <a:off x="9401175" y="6334125"/>
            <a:ext cx="495300" cy="47625"/>
            <a:chOff x="0" y="0"/>
            <a:chExt cx="195674" cy="18815"/>
          </a:xfrm>
        </p:grpSpPr>
        <p:sp>
          <p:nvSpPr>
            <p:cNvPr name="Freeform 25" id="25"/>
            <p:cNvSpPr/>
            <p:nvPr/>
          </p:nvSpPr>
          <p:spPr>
            <a:xfrm flipH="false" flipV="false" rot="0">
              <a:off x="0" y="0"/>
              <a:ext cx="195674" cy="18815"/>
            </a:xfrm>
            <a:custGeom>
              <a:avLst/>
              <a:gdLst/>
              <a:ahLst/>
              <a:cxnLst/>
              <a:rect r="r" b="b" t="t" l="l"/>
              <a:pathLst>
                <a:path h="18815" w="195674">
                  <a:moveTo>
                    <a:pt x="9407" y="0"/>
                  </a:moveTo>
                  <a:lnTo>
                    <a:pt x="186267" y="0"/>
                  </a:lnTo>
                  <a:cubicBezTo>
                    <a:pt x="191462" y="0"/>
                    <a:pt x="195674" y="4212"/>
                    <a:pt x="195674" y="9407"/>
                  </a:cubicBezTo>
                  <a:lnTo>
                    <a:pt x="195674" y="9407"/>
                  </a:lnTo>
                  <a:cubicBezTo>
                    <a:pt x="195674" y="14603"/>
                    <a:pt x="191462" y="18815"/>
                    <a:pt x="186267" y="18815"/>
                  </a:cubicBezTo>
                  <a:lnTo>
                    <a:pt x="9407" y="18815"/>
                  </a:lnTo>
                  <a:cubicBezTo>
                    <a:pt x="4212" y="18815"/>
                    <a:pt x="0" y="14603"/>
                    <a:pt x="0" y="9407"/>
                  </a:cubicBezTo>
                  <a:lnTo>
                    <a:pt x="0" y="9407"/>
                  </a:lnTo>
                  <a:cubicBezTo>
                    <a:pt x="0" y="4212"/>
                    <a:pt x="4212" y="0"/>
                    <a:pt x="9407" y="0"/>
                  </a:cubicBezTo>
                  <a:close/>
                </a:path>
              </a:pathLst>
            </a:custGeom>
            <a:solidFill>
              <a:srgbClr val="555555"/>
            </a:solidFill>
          </p:spPr>
        </p:sp>
        <p:sp>
          <p:nvSpPr>
            <p:cNvPr name="TextBox 26" id="26"/>
            <p:cNvSpPr txBox="true"/>
            <p:nvPr/>
          </p:nvSpPr>
          <p:spPr>
            <a:xfrm>
              <a:off x="0" y="0"/>
              <a:ext cx="195674" cy="18815"/>
            </a:xfrm>
            <a:prstGeom prst="rect">
              <a:avLst/>
            </a:prstGeom>
          </p:spPr>
          <p:txBody>
            <a:bodyPr anchor="ctr" rtlCol="false" tIns="50800" lIns="50800" bIns="50800" rIns="50800"/>
            <a:lstStyle/>
            <a:p>
              <a:pPr algn="ctr">
                <a:lnSpc>
                  <a:spcPts val="1372"/>
                </a:lnSpc>
              </a:pP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690065"/>
            </a:xfrm>
            <a:custGeom>
              <a:avLst/>
              <a:gdLst/>
              <a:ahLst/>
              <a:cxnLst/>
              <a:rect r="r" b="b" t="t" l="l"/>
              <a:pathLst>
                <a:path h="690065" w="3556000">
                  <a:moveTo>
                    <a:pt x="0" y="0"/>
                  </a:moveTo>
                  <a:lnTo>
                    <a:pt x="3556000" y="0"/>
                  </a:lnTo>
                  <a:lnTo>
                    <a:pt x="3556000" y="690065"/>
                  </a:lnTo>
                  <a:lnTo>
                    <a:pt x="0" y="690065"/>
                  </a:lnTo>
                  <a:lnTo>
                    <a:pt x="0" y="0"/>
                  </a:lnTo>
                  <a:close/>
                </a:path>
              </a:pathLst>
            </a:custGeom>
            <a:blipFill>
              <a:blip r:embed="rId6"/>
              <a:stretch>
                <a:fillRect l="0" t="0" r="0" b="-1646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05</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Make the relationship visible</a:t>
            </a:r>
          </a:p>
        </p:txBody>
      </p:sp>
      <p:sp>
        <p:nvSpPr>
          <p:cNvPr name="TextBox 10" id="10"/>
          <p:cNvSpPr txBox="true"/>
          <p:nvPr/>
        </p:nvSpPr>
        <p:spPr>
          <a:xfrm rot="0">
            <a:off x="6667500" y="2209800"/>
            <a:ext cx="4572000" cy="159258"/>
          </a:xfrm>
          <a:prstGeom prst="rect">
            <a:avLst/>
          </a:prstGeom>
        </p:spPr>
        <p:txBody>
          <a:bodyPr anchor="t" rtlCol="false" tIns="0" lIns="0" bIns="0" rIns="0">
            <a:spAutoFit/>
          </a:bodyPr>
          <a:lstStyle/>
          <a:p>
            <a:pPr algn="l" marL="0" indent="0" lvl="0">
              <a:lnSpc>
                <a:spcPts val="1281"/>
              </a:lnSpc>
              <a:spcBef>
                <a:spcPct val="0"/>
              </a:spcBef>
            </a:pPr>
            <a:r>
              <a:rPr lang="en-US" sz="1050" strike="noStrike" u="none">
                <a:solidFill>
                  <a:srgbClr val="0A2A66"/>
                </a:solidFill>
                <a:latin typeface="DM Sans"/>
                <a:ea typeface="DM Sans"/>
                <a:cs typeface="DM Sans"/>
                <a:sym typeface="DM Sans"/>
              </a:rPr>
              <a:t>FOUR AREAS</a:t>
            </a:r>
          </a:p>
        </p:txBody>
      </p:sp>
      <p:sp>
        <p:nvSpPr>
          <p:cNvPr name="TextBox 11" id="11"/>
          <p:cNvSpPr txBox="true"/>
          <p:nvPr/>
        </p:nvSpPr>
        <p:spPr>
          <a:xfrm rot="0">
            <a:off x="6667500" y="2533650"/>
            <a:ext cx="4572000" cy="346710"/>
          </a:xfrm>
          <a:prstGeom prst="rect">
            <a:avLst/>
          </a:prstGeom>
        </p:spPr>
        <p:txBody>
          <a:bodyPr anchor="t" rtlCol="false" tIns="0" lIns="0" bIns="0" rIns="0">
            <a:spAutoFit/>
          </a:bodyPr>
          <a:lstStyle/>
          <a:p>
            <a:pPr algn="l" marL="0" indent="0" lvl="0">
              <a:lnSpc>
                <a:spcPts val="2745"/>
              </a:lnSpc>
              <a:spcBef>
                <a:spcPct val="0"/>
              </a:spcBef>
            </a:pPr>
            <a:r>
              <a:rPr lang="en-US" sz="2250" strike="noStrike" u="none">
                <a:solidFill>
                  <a:srgbClr val="0A2A66"/>
                </a:solidFill>
                <a:latin typeface="DM Sans"/>
                <a:ea typeface="DM Sans"/>
                <a:cs typeface="DM Sans"/>
                <a:sym typeface="DM Sans"/>
              </a:rPr>
              <a:t>x² + 3x + 4x + 12</a:t>
            </a:r>
          </a:p>
        </p:txBody>
      </p:sp>
      <p:sp>
        <p:nvSpPr>
          <p:cNvPr name="TextBox 12" id="12"/>
          <p:cNvSpPr txBox="true"/>
          <p:nvPr/>
        </p:nvSpPr>
        <p:spPr>
          <a:xfrm rot="0">
            <a:off x="6667500" y="2952750"/>
            <a:ext cx="4572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Each part keeps its meaning.</a:t>
            </a:r>
          </a:p>
        </p:txBody>
      </p:sp>
      <p:sp>
        <p:nvSpPr>
          <p:cNvPr name="AutoShape 13" id="13"/>
          <p:cNvSpPr/>
          <p:nvPr/>
        </p:nvSpPr>
        <p:spPr>
          <a:xfrm rot="0">
            <a:off x="3990975" y="3838575"/>
            <a:ext cx="238125" cy="38100"/>
          </a:xfrm>
          <a:prstGeom prst="rect">
            <a:avLst/>
          </a:prstGeom>
          <a:solidFill>
            <a:srgbClr val="CCD7E4"/>
          </a:solidFill>
        </p:spPr>
      </p:sp>
      <p:grpSp>
        <p:nvGrpSpPr>
          <p:cNvPr name="Group 14" id="14"/>
          <p:cNvGrpSpPr/>
          <p:nvPr/>
        </p:nvGrpSpPr>
        <p:grpSpPr>
          <a:xfrm rot="1840140">
            <a:off x="4171283" y="3802952"/>
            <a:ext cx="171450" cy="28575"/>
            <a:chOff x="0" y="0"/>
            <a:chExt cx="228600" cy="38100"/>
          </a:xfrm>
        </p:grpSpPr>
        <p:sp>
          <p:nvSpPr>
            <p:cNvPr name="Freeform 15" id="1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6" id="16"/>
          <p:cNvGrpSpPr/>
          <p:nvPr/>
        </p:nvGrpSpPr>
        <p:grpSpPr>
          <a:xfrm rot="8959860">
            <a:off x="4163187" y="3888676"/>
            <a:ext cx="171450" cy="28575"/>
            <a:chOff x="0" y="0"/>
            <a:chExt cx="228600" cy="38100"/>
          </a:xfrm>
        </p:grpSpPr>
        <p:sp>
          <p:nvSpPr>
            <p:cNvPr name="Freeform 17" id="1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sp>
        <p:nvSpPr>
          <p:cNvPr name="TextBox 18" id="18"/>
          <p:cNvSpPr txBox="true"/>
          <p:nvPr/>
        </p:nvSpPr>
        <p:spPr>
          <a:xfrm rot="0">
            <a:off x="6667500" y="3562350"/>
            <a:ext cx="4572000" cy="159258"/>
          </a:xfrm>
          <a:prstGeom prst="rect">
            <a:avLst/>
          </a:prstGeom>
        </p:spPr>
        <p:txBody>
          <a:bodyPr anchor="t" rtlCol="false" tIns="0" lIns="0" bIns="0" rIns="0">
            <a:spAutoFit/>
          </a:bodyPr>
          <a:lstStyle/>
          <a:p>
            <a:pPr algn="l" marL="0" indent="0" lvl="0">
              <a:lnSpc>
                <a:spcPts val="1281"/>
              </a:lnSpc>
              <a:spcBef>
                <a:spcPct val="0"/>
              </a:spcBef>
            </a:pPr>
            <a:r>
              <a:rPr lang="en-US" sz="1050" strike="noStrike" u="none">
                <a:solidFill>
                  <a:srgbClr val="0A2A66"/>
                </a:solidFill>
                <a:latin typeface="DM Sans"/>
                <a:ea typeface="DM Sans"/>
                <a:cs typeface="DM Sans"/>
                <a:sym typeface="DM Sans"/>
              </a:rPr>
              <a:t>COMBINE</a:t>
            </a:r>
          </a:p>
        </p:txBody>
      </p:sp>
      <p:sp>
        <p:nvSpPr>
          <p:cNvPr name="TextBox 19" id="19"/>
          <p:cNvSpPr txBox="true"/>
          <p:nvPr/>
        </p:nvSpPr>
        <p:spPr>
          <a:xfrm rot="0">
            <a:off x="6667500" y="3886200"/>
            <a:ext cx="4572000" cy="346710"/>
          </a:xfrm>
          <a:prstGeom prst="rect">
            <a:avLst/>
          </a:prstGeom>
        </p:spPr>
        <p:txBody>
          <a:bodyPr anchor="t" rtlCol="false" tIns="0" lIns="0" bIns="0" rIns="0">
            <a:spAutoFit/>
          </a:bodyPr>
          <a:lstStyle/>
          <a:p>
            <a:pPr algn="l" marL="0" indent="0" lvl="0">
              <a:lnSpc>
                <a:spcPts val="2745"/>
              </a:lnSpc>
              <a:spcBef>
                <a:spcPct val="0"/>
              </a:spcBef>
            </a:pPr>
            <a:r>
              <a:rPr lang="en-US" sz="2250" strike="noStrike" u="none">
                <a:solidFill>
                  <a:srgbClr val="0A2A66"/>
                </a:solidFill>
                <a:latin typeface="DM Sans"/>
                <a:ea typeface="DM Sans"/>
                <a:cs typeface="DM Sans"/>
                <a:sym typeface="DM Sans"/>
              </a:rPr>
              <a:t>3x + 4x = 7x</a:t>
            </a:r>
          </a:p>
        </p:txBody>
      </p:sp>
      <p:sp>
        <p:nvSpPr>
          <p:cNvPr name="TextBox 20" id="20"/>
          <p:cNvSpPr txBox="true"/>
          <p:nvPr/>
        </p:nvSpPr>
        <p:spPr>
          <a:xfrm rot="0">
            <a:off x="6667500" y="4286250"/>
            <a:ext cx="4572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The middle terms belong together.</a:t>
            </a:r>
          </a:p>
        </p:txBody>
      </p:sp>
      <p:grpSp>
        <p:nvGrpSpPr>
          <p:cNvPr name="Group 21" id="21"/>
          <p:cNvGrpSpPr/>
          <p:nvPr/>
        </p:nvGrpSpPr>
        <p:grpSpPr>
          <a:xfrm rot="1840140">
            <a:off x="8057483" y="3802952"/>
            <a:ext cx="171450" cy="28575"/>
            <a:chOff x="0" y="0"/>
            <a:chExt cx="228600" cy="38100"/>
          </a:xfrm>
        </p:grpSpPr>
        <p:sp>
          <p:nvSpPr>
            <p:cNvPr name="Freeform 22" id="22"/>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3" id="23"/>
          <p:cNvGrpSpPr/>
          <p:nvPr/>
        </p:nvGrpSpPr>
        <p:grpSpPr>
          <a:xfrm rot="8959860">
            <a:off x="8049387" y="3888676"/>
            <a:ext cx="171450" cy="28575"/>
            <a:chOff x="0" y="0"/>
            <a:chExt cx="228600" cy="38100"/>
          </a:xfrm>
        </p:grpSpPr>
        <p:sp>
          <p:nvSpPr>
            <p:cNvPr name="Freeform 24" id="24"/>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sp>
        <p:nvSpPr>
          <p:cNvPr name="TextBox 25" id="25"/>
          <p:cNvSpPr txBox="true"/>
          <p:nvPr/>
        </p:nvSpPr>
        <p:spPr>
          <a:xfrm rot="0">
            <a:off x="6667500" y="4895850"/>
            <a:ext cx="4572000" cy="159258"/>
          </a:xfrm>
          <a:prstGeom prst="rect">
            <a:avLst/>
          </a:prstGeom>
        </p:spPr>
        <p:txBody>
          <a:bodyPr anchor="t" rtlCol="false" tIns="0" lIns="0" bIns="0" rIns="0">
            <a:spAutoFit/>
          </a:bodyPr>
          <a:lstStyle/>
          <a:p>
            <a:pPr algn="l" marL="0" indent="0" lvl="0">
              <a:lnSpc>
                <a:spcPts val="1281"/>
              </a:lnSpc>
              <a:spcBef>
                <a:spcPct val="0"/>
              </a:spcBef>
            </a:pPr>
            <a:r>
              <a:rPr lang="en-US" sz="1050" strike="noStrike" u="none">
                <a:solidFill>
                  <a:srgbClr val="0A2A66"/>
                </a:solidFill>
                <a:latin typeface="DM Sans"/>
                <a:ea typeface="DM Sans"/>
                <a:cs typeface="DM Sans"/>
                <a:sym typeface="DM Sans"/>
              </a:rPr>
              <a:t>RESULT</a:t>
            </a:r>
          </a:p>
        </p:txBody>
      </p:sp>
      <p:sp>
        <p:nvSpPr>
          <p:cNvPr name="TextBox 26" id="26"/>
          <p:cNvSpPr txBox="true"/>
          <p:nvPr/>
        </p:nvSpPr>
        <p:spPr>
          <a:xfrm rot="0">
            <a:off x="6667500" y="5219700"/>
            <a:ext cx="4572000" cy="346710"/>
          </a:xfrm>
          <a:prstGeom prst="rect">
            <a:avLst/>
          </a:prstGeom>
        </p:spPr>
        <p:txBody>
          <a:bodyPr anchor="t" rtlCol="false" tIns="0" lIns="0" bIns="0" rIns="0">
            <a:spAutoFit/>
          </a:bodyPr>
          <a:lstStyle/>
          <a:p>
            <a:pPr algn="l" marL="0" indent="0" lvl="0">
              <a:lnSpc>
                <a:spcPts val="2745"/>
              </a:lnSpc>
              <a:spcBef>
                <a:spcPct val="0"/>
              </a:spcBef>
            </a:pPr>
            <a:r>
              <a:rPr lang="en-US" sz="2250" strike="noStrike" u="none">
                <a:solidFill>
                  <a:srgbClr val="0A2A66"/>
                </a:solidFill>
                <a:latin typeface="DM Sans"/>
                <a:ea typeface="DM Sans"/>
                <a:cs typeface="DM Sans"/>
                <a:sym typeface="DM Sans"/>
              </a:rPr>
              <a:t>x² + 7x + 12</a:t>
            </a:r>
          </a:p>
        </p:txBody>
      </p:sp>
      <p:sp>
        <p:nvSpPr>
          <p:cNvPr name="TextBox 27" id="27"/>
          <p:cNvSpPr txBox="true"/>
          <p:nvPr/>
        </p:nvSpPr>
        <p:spPr>
          <a:xfrm rot="0">
            <a:off x="6667500" y="5610225"/>
            <a:ext cx="4572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Then try a different question.</a:t>
            </a:r>
          </a:p>
        </p:txBody>
      </p:sp>
      <p:sp>
        <p:nvSpPr>
          <p:cNvPr name="TextBox 28" id="28"/>
          <p:cNvSpPr txBox="true"/>
          <p:nvPr/>
        </p:nvSpPr>
        <p:spPr>
          <a:xfrm rot="0">
            <a:off x="609600" y="6191250"/>
            <a:ext cx="9906000" cy="196596"/>
          </a:xfrm>
          <a:prstGeom prst="rect">
            <a:avLst/>
          </a:prstGeom>
        </p:spPr>
        <p:txBody>
          <a:bodyPr anchor="t" rtlCol="false" tIns="0" lIns="0" bIns="0" rIns="0">
            <a:spAutoFit/>
          </a:bodyPr>
          <a:lstStyle/>
          <a:p>
            <a:pPr algn="ctr" marL="0" indent="0" lvl="0">
              <a:lnSpc>
                <a:spcPts val="1647"/>
              </a:lnSpc>
              <a:spcBef>
                <a:spcPct val="0"/>
              </a:spcBef>
            </a:pPr>
            <a:r>
              <a:rPr lang="en-US" sz="1350" strike="noStrike" u="none">
                <a:solidFill>
                  <a:srgbClr val="0A2A66"/>
                </a:solidFill>
                <a:latin typeface="DM Sans"/>
                <a:ea typeface="DM Sans"/>
                <a:cs typeface="DM Sans"/>
                <a:sym typeface="DM Sans"/>
                <a:hlinkClick r:id="rId7" tooltip="https://doi.org/10.1080/00461520.2014.965823"/>
              </a:rPr>
              <a:t>Original Dunlo interactive · Learning design: Chi &amp; Wylie (2014), ICAP framework</a:t>
            </a:r>
          </a:p>
        </p:txBody>
      </p:sp>
      <p:sp>
        <p:nvSpPr>
          <p:cNvPr name="TextBox 29" id="29"/>
          <p:cNvSpPr txBox="true"/>
          <p:nvPr/>
        </p:nvSpPr>
        <p:spPr>
          <a:xfrm rot="0">
            <a:off x="609600" y="1600200"/>
            <a:ext cx="10972800" cy="299656"/>
          </a:xfrm>
          <a:prstGeom prst="rect">
            <a:avLst/>
          </a:prstGeom>
        </p:spPr>
        <p:txBody>
          <a:bodyPr anchor="t" rtlCol="false" tIns="0" lIns="0" bIns="0" rIns="0">
            <a:spAutoFit/>
          </a:bodyPr>
          <a:lstStyle/>
          <a:p>
            <a:pPr algn="l" marL="0" indent="0" lvl="0">
              <a:lnSpc>
                <a:spcPts val="2470"/>
              </a:lnSpc>
              <a:spcBef>
                <a:spcPct val="0"/>
              </a:spcBef>
            </a:pPr>
            <a:r>
              <a:rPr lang="en-US" sz="2025" strike="noStrike" u="none">
                <a:solidFill>
                  <a:srgbClr val="0A2A66"/>
                </a:solidFill>
                <a:latin typeface="DM Sans"/>
                <a:ea typeface="DM Sans"/>
                <a:cs typeface="DM Sans"/>
                <a:sym typeface="DM Sans"/>
              </a:rPr>
              <a:t>Example: move the four areas to see why the middle terms combine.</a:t>
            </a:r>
          </a:p>
        </p:txBody>
      </p:sp>
      <p:sp>
        <p:nvSpPr>
          <p:cNvPr name="AutoShape 30" id="30"/>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1" id="31"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2" id="32" descr="Original Dunlo factor model: four areas x squared, 3x, 4x and 12, with the middle terms combined."/>
          <p:cNvSpPr/>
          <p:nvPr/>
        </p:nvSpPr>
        <p:spPr>
          <a:xfrm flipH="false" flipV="false" rot="0">
            <a:off x="838200" y="2000250"/>
            <a:ext cx="3905250" cy="3813851"/>
          </a:xfrm>
          <a:custGeom>
            <a:avLst/>
            <a:gdLst/>
            <a:ahLst/>
            <a:cxnLst/>
            <a:rect r="r" b="b" t="t" l="l"/>
            <a:pathLst>
              <a:path h="3813851" w="3905250">
                <a:moveTo>
                  <a:pt x="0" y="0"/>
                </a:moveTo>
                <a:lnTo>
                  <a:pt x="3905250" y="0"/>
                </a:lnTo>
                <a:lnTo>
                  <a:pt x="3905250" y="3813851"/>
                </a:lnTo>
                <a:lnTo>
                  <a:pt x="0" y="3813851"/>
                </a:lnTo>
                <a:lnTo>
                  <a:pt x="0" y="0"/>
                </a:lnTo>
                <a:close/>
              </a:path>
            </a:pathLst>
          </a:custGeom>
          <a:blipFill>
            <a:blip r:embed="rId10"/>
            <a:stretch>
              <a:fillRect l="-35" t="0" r="-35"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06</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Khan Academy, right in the feed</a:t>
            </a:r>
          </a:p>
        </p:txBody>
      </p:sp>
      <p:sp>
        <p:nvSpPr>
          <p:cNvPr name="TextBox 10" id="10"/>
          <p:cNvSpPr txBox="true"/>
          <p:nvPr/>
        </p:nvSpPr>
        <p:spPr>
          <a:xfrm rot="0">
            <a:off x="609600" y="2143125"/>
            <a:ext cx="5619750" cy="196787"/>
          </a:xfrm>
          <a:prstGeom prst="rect">
            <a:avLst/>
          </a:prstGeom>
        </p:spPr>
        <p:txBody>
          <a:bodyPr anchor="t" rtlCol="false" tIns="0" lIns="0" bIns="0" rIns="0">
            <a:spAutoFit/>
          </a:bodyPr>
          <a:lstStyle/>
          <a:p>
            <a:pPr algn="ctr" marL="0" indent="0" lvl="0">
              <a:lnSpc>
                <a:spcPts val="1555"/>
              </a:lnSpc>
              <a:spcBef>
                <a:spcPct val="0"/>
              </a:spcBef>
            </a:pPr>
            <a:r>
              <a:rPr lang="en-US" sz="1275" strike="noStrike" u="none">
                <a:solidFill>
                  <a:srgbClr val="0A2A66"/>
                </a:solidFill>
                <a:latin typeface="DM Sans"/>
                <a:ea typeface="DM Sans"/>
                <a:cs typeface="DM Sans"/>
                <a:sym typeface="DM Sans"/>
              </a:rPr>
              <a:t>FACTORING · 1 MIN 34 SEC</a:t>
            </a:r>
          </a:p>
        </p:txBody>
      </p:sp>
      <p:sp>
        <p:nvSpPr>
          <p:cNvPr name="TextBox 11" id="11"/>
          <p:cNvSpPr txBox="true"/>
          <p:nvPr/>
        </p:nvSpPr>
        <p:spPr>
          <a:xfrm rot="0">
            <a:off x="609600" y="2781300"/>
            <a:ext cx="5048250" cy="973074"/>
          </a:xfrm>
          <a:prstGeom prst="rect">
            <a:avLst/>
          </a:prstGeom>
        </p:spPr>
        <p:txBody>
          <a:bodyPr anchor="t" rtlCol="false" tIns="0" lIns="0" bIns="0" rIns="0">
            <a:spAutoFit/>
          </a:bodyPr>
          <a:lstStyle/>
          <a:p>
            <a:pPr algn="ctr" marL="0" indent="0" lvl="0">
              <a:lnSpc>
                <a:spcPts val="3843"/>
              </a:lnSpc>
              <a:spcBef>
                <a:spcPct val="0"/>
              </a:spcBef>
            </a:pPr>
            <a:r>
              <a:rPr lang="en-US" sz="3150" strike="noStrike" u="none">
                <a:solidFill>
                  <a:srgbClr val="0A2A66"/>
                </a:solidFill>
                <a:latin typeface="DM Sans"/>
                <a:ea typeface="DM Sans"/>
                <a:cs typeface="DM Sans"/>
                <a:sym typeface="DM Sans"/>
              </a:rPr>
              <a:t>One focused clip.</a:t>
            </a:r>
          </a:p>
          <a:p>
            <a:pPr algn="ctr" marL="0" indent="0" lvl="0">
              <a:lnSpc>
                <a:spcPts val="3843"/>
              </a:lnSpc>
              <a:spcBef>
                <a:spcPct val="0"/>
              </a:spcBef>
            </a:pPr>
            <a:r>
              <a:rPr lang="en-US" sz="3150" strike="noStrike" u="none">
                <a:solidFill>
                  <a:srgbClr val="0A2A66"/>
                </a:solidFill>
                <a:latin typeface="DM Sans"/>
                <a:ea typeface="DM Sans"/>
                <a:cs typeface="DM Sans"/>
                <a:sym typeface="DM Sans"/>
              </a:rPr>
              <a:t>A clear next step.</a:t>
            </a:r>
          </a:p>
        </p:txBody>
      </p:sp>
      <p:sp>
        <p:nvSpPr>
          <p:cNvPr name="TextBox 12" id="12"/>
          <p:cNvSpPr txBox="true"/>
          <p:nvPr/>
        </p:nvSpPr>
        <p:spPr>
          <a:xfrm rot="0">
            <a:off x="609600" y="4105275"/>
            <a:ext cx="5381625" cy="909256"/>
          </a:xfrm>
          <a:prstGeom prst="rect">
            <a:avLst/>
          </a:prstGeom>
        </p:spPr>
        <p:txBody>
          <a:bodyPr anchor="t" rtlCol="false" tIns="0" lIns="0" bIns="0" rIns="0">
            <a:spAutoFit/>
          </a:bodyPr>
          <a:lstStyle/>
          <a:p>
            <a:pPr algn="ctr" marL="0" indent="0" lvl="0">
              <a:lnSpc>
                <a:spcPts val="2470"/>
              </a:lnSpc>
              <a:spcBef>
                <a:spcPct val="0"/>
              </a:spcBef>
            </a:pPr>
            <a:r>
              <a:rPr lang="en-US" sz="2025" strike="noStrike" u="none">
                <a:solidFill>
                  <a:srgbClr val="0A2A66"/>
                </a:solidFill>
                <a:latin typeface="DM Sans"/>
                <a:ea typeface="DM Sans"/>
                <a:cs typeface="DM Sans"/>
                <a:sym typeface="DM Sans"/>
              </a:rPr>
              <a:t>The original Khan video plays in the feed.</a:t>
            </a:r>
          </a:p>
          <a:p>
            <a:pPr algn="ctr" marL="0" indent="0" lvl="0">
              <a:lnSpc>
                <a:spcPts val="2470"/>
              </a:lnSpc>
              <a:spcBef>
                <a:spcPct val="0"/>
              </a:spcBef>
            </a:pPr>
            <a:r>
              <a:rPr lang="en-US" sz="2025" strike="noStrike" u="none">
                <a:solidFill>
                  <a:srgbClr val="0A2A66"/>
                </a:solidFill>
                <a:latin typeface="DM Sans"/>
                <a:ea typeface="DM Sans"/>
                <a:cs typeface="DM Sans"/>
                <a:sym typeface="DM Sans"/>
              </a:rPr>
              <a:t>Learners can open the full lesson,</a:t>
            </a:r>
          </a:p>
          <a:p>
            <a:pPr algn="ctr" marL="0" indent="0" lvl="0">
              <a:lnSpc>
                <a:spcPts val="2470"/>
              </a:lnSpc>
              <a:spcBef>
                <a:spcPct val="0"/>
              </a:spcBef>
            </a:pPr>
            <a:r>
              <a:rPr lang="en-US" sz="2025" strike="noStrike" u="none">
                <a:solidFill>
                  <a:srgbClr val="0A2A66"/>
                </a:solidFill>
                <a:latin typeface="DM Sans"/>
                <a:ea typeface="DM Sans"/>
                <a:cs typeface="DM Sans"/>
                <a:sym typeface="DM Sans"/>
              </a:rPr>
              <a:t>then practise the same skill on Khan.</a:t>
            </a:r>
          </a:p>
        </p:txBody>
      </p:sp>
      <p:sp>
        <p:nvSpPr>
          <p:cNvPr name="TextBox 13" id="13"/>
          <p:cNvSpPr txBox="true"/>
          <p:nvPr/>
        </p:nvSpPr>
        <p:spPr>
          <a:xfrm rot="0">
            <a:off x="609600" y="6134100"/>
            <a:ext cx="10477500" cy="187452"/>
          </a:xfrm>
          <a:prstGeom prst="rect">
            <a:avLst/>
          </a:prstGeom>
        </p:spPr>
        <p:txBody>
          <a:bodyPr anchor="t" rtlCol="false" tIns="0" lIns="0" bIns="0" rIns="0">
            <a:spAutoFit/>
          </a:bodyPr>
          <a:lstStyle/>
          <a:p>
            <a:pPr algn="ctr" marL="0" indent="0" lvl="0">
              <a:lnSpc>
                <a:spcPts val="1464"/>
              </a:lnSpc>
              <a:spcBef>
                <a:spcPct val="0"/>
              </a:spcBef>
            </a:pPr>
            <a:r>
              <a:rPr lang="en-US" sz="1200" strike="noStrike" u="none">
                <a:solidFill>
                  <a:srgbClr val="0A2A66"/>
                </a:solidFill>
                <a:latin typeface="DM Sans"/>
                <a:ea typeface="DM Sans"/>
                <a:cs typeface="DM Sans"/>
                <a:sym typeface="DM Sans"/>
                <a:hlinkClick r:id="rId7" tooltip="https://www.khanacademy.org/math/algebra/x2f8bb11595b61c86:quadratics-multiplying-factoring/x2f8bb11595b61c86:factor-quadratics-intro/v/factoring-simple-quadratic-expression"/>
              </a:rPr>
              <a:t>Source: Khan Academy · Factoring quadratics · 2:22–3:56</a:t>
            </a:r>
          </a:p>
        </p:txBody>
      </p:sp>
      <p:sp>
        <p:nvSpPr>
          <p:cNvPr name="AutoShape 14" id="14"/>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15" id="15"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6" id="16" descr="Khan Academy factoring segment with Play, the original time range and full lesson link."/>
          <p:cNvSpPr/>
          <p:nvPr/>
        </p:nvSpPr>
        <p:spPr>
          <a:xfrm flipH="false" flipV="false" rot="0">
            <a:off x="6591300" y="2038350"/>
            <a:ext cx="4286250" cy="4038600"/>
          </a:xfrm>
          <a:custGeom>
            <a:avLst/>
            <a:gdLst/>
            <a:ahLst/>
            <a:cxnLst/>
            <a:rect r="r" b="b" t="t" l="l"/>
            <a:pathLst>
              <a:path h="4038600" w="4286250">
                <a:moveTo>
                  <a:pt x="0" y="0"/>
                </a:moveTo>
                <a:lnTo>
                  <a:pt x="4286250" y="0"/>
                </a:lnTo>
                <a:lnTo>
                  <a:pt x="4286250" y="4038600"/>
                </a:lnTo>
                <a:lnTo>
                  <a:pt x="0" y="4038600"/>
                </a:lnTo>
                <a:lnTo>
                  <a:pt x="0" y="0"/>
                </a:lnTo>
                <a:close/>
              </a:path>
            </a:pathLst>
          </a:custGeom>
          <a:blipFill>
            <a:blip r:embed="rId10"/>
            <a:stretch>
              <a:fillRect l="0" t="-29" r="0" b="-29"/>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07</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Useful help when a step is difficult</a:t>
            </a:r>
          </a:p>
        </p:txBody>
      </p:sp>
      <p:grpSp>
        <p:nvGrpSpPr>
          <p:cNvPr name="Group 10" id="10"/>
          <p:cNvGrpSpPr/>
          <p:nvPr/>
        </p:nvGrpSpPr>
        <p:grpSpPr>
          <a:xfrm rot="0">
            <a:off x="1619250" y="2705100"/>
            <a:ext cx="552450" cy="552450"/>
            <a:chOff x="0" y="0"/>
            <a:chExt cx="736600" cy="736600"/>
          </a:xfrm>
        </p:grpSpPr>
        <p:sp>
          <p:nvSpPr>
            <p:cNvPr name="Freeform 11" id="11"/>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C96331"/>
            </a:solidFill>
          </p:spPr>
        </p:sp>
      </p:grpSp>
      <p:sp>
        <p:nvSpPr>
          <p:cNvPr name="TextBox 12" id="12"/>
          <p:cNvSpPr txBox="true"/>
          <p:nvPr/>
        </p:nvSpPr>
        <p:spPr>
          <a:xfrm rot="0">
            <a:off x="1704975" y="280035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1</a:t>
            </a:r>
          </a:p>
        </p:txBody>
      </p:sp>
      <p:sp>
        <p:nvSpPr>
          <p:cNvPr name="TextBox 13" id="13"/>
          <p:cNvSpPr txBox="true"/>
          <p:nvPr/>
        </p:nvSpPr>
        <p:spPr>
          <a:xfrm rot="0">
            <a:off x="609600" y="3467100"/>
            <a:ext cx="2571750" cy="909256"/>
          </a:xfrm>
          <a:prstGeom prst="rect">
            <a:avLst/>
          </a:prstGeom>
        </p:spPr>
        <p:txBody>
          <a:bodyPr anchor="t" rtlCol="false" tIns="0" lIns="0" bIns="0" rIns="0">
            <a:spAutoFit/>
          </a:bodyPr>
          <a:lstStyle/>
          <a:p>
            <a:pPr algn="ctr" marL="0" indent="0" lvl="0">
              <a:lnSpc>
                <a:spcPts val="2470"/>
              </a:lnSpc>
              <a:spcBef>
                <a:spcPct val="0"/>
              </a:spcBef>
            </a:pPr>
            <a:r>
              <a:rPr lang="en-US" sz="2025" strike="noStrike" u="none">
                <a:solidFill>
                  <a:srgbClr val="0A2A66"/>
                </a:solidFill>
                <a:latin typeface="DM Sans"/>
                <a:ea typeface="DM Sans"/>
                <a:cs typeface="DM Sans"/>
                <a:sym typeface="DM Sans"/>
              </a:rPr>
              <a:t>A short question</a:t>
            </a:r>
          </a:p>
          <a:p>
            <a:pPr algn="ctr" marL="0" indent="0" lvl="0">
              <a:lnSpc>
                <a:spcPts val="2470"/>
              </a:lnSpc>
              <a:spcBef>
                <a:spcPct val="0"/>
              </a:spcBef>
            </a:pPr>
            <a:r>
              <a:rPr lang="en-US" sz="2025" strike="noStrike" u="none">
                <a:solidFill>
                  <a:srgbClr val="0A2A66"/>
                </a:solidFill>
                <a:latin typeface="DM Sans"/>
                <a:ea typeface="DM Sans"/>
                <a:cs typeface="DM Sans"/>
                <a:sym typeface="DM Sans"/>
              </a:rPr>
              <a:t>finds the missing step</a:t>
            </a:r>
          </a:p>
        </p:txBody>
      </p:sp>
      <p:sp>
        <p:nvSpPr>
          <p:cNvPr name="AutoShape 14" id="14"/>
          <p:cNvSpPr/>
          <p:nvPr/>
        </p:nvSpPr>
        <p:spPr>
          <a:xfrm rot="0">
            <a:off x="2838450" y="2962275"/>
            <a:ext cx="838200" cy="38100"/>
          </a:xfrm>
          <a:prstGeom prst="rect">
            <a:avLst/>
          </a:prstGeom>
          <a:solidFill>
            <a:srgbClr val="CCD7E4"/>
          </a:solidFill>
        </p:spPr>
      </p:sp>
      <p:grpSp>
        <p:nvGrpSpPr>
          <p:cNvPr name="Group 15" id="15"/>
          <p:cNvGrpSpPr/>
          <p:nvPr/>
        </p:nvGrpSpPr>
        <p:grpSpPr>
          <a:xfrm rot="1840140">
            <a:off x="3618833" y="2926652"/>
            <a:ext cx="171450" cy="28575"/>
            <a:chOff x="0" y="0"/>
            <a:chExt cx="228600" cy="38100"/>
          </a:xfrm>
        </p:grpSpPr>
        <p:sp>
          <p:nvSpPr>
            <p:cNvPr name="Freeform 16" id="16"/>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7" id="17"/>
          <p:cNvGrpSpPr/>
          <p:nvPr/>
        </p:nvGrpSpPr>
        <p:grpSpPr>
          <a:xfrm rot="8959860">
            <a:off x="3610737" y="3012376"/>
            <a:ext cx="171450" cy="28575"/>
            <a:chOff x="0" y="0"/>
            <a:chExt cx="228600" cy="38100"/>
          </a:xfrm>
        </p:grpSpPr>
        <p:sp>
          <p:nvSpPr>
            <p:cNvPr name="Freeform 18" id="18"/>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9" id="19"/>
          <p:cNvGrpSpPr/>
          <p:nvPr/>
        </p:nvGrpSpPr>
        <p:grpSpPr>
          <a:xfrm rot="0">
            <a:off x="5505450" y="2705100"/>
            <a:ext cx="552450" cy="552450"/>
            <a:chOff x="0" y="0"/>
            <a:chExt cx="736600" cy="736600"/>
          </a:xfrm>
        </p:grpSpPr>
        <p:sp>
          <p:nvSpPr>
            <p:cNvPr name="Freeform 20" id="20"/>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0A2A66"/>
            </a:solidFill>
          </p:spPr>
        </p:sp>
      </p:grpSp>
      <p:sp>
        <p:nvSpPr>
          <p:cNvPr name="TextBox 21" id="21"/>
          <p:cNvSpPr txBox="true"/>
          <p:nvPr/>
        </p:nvSpPr>
        <p:spPr>
          <a:xfrm rot="0">
            <a:off x="5591175" y="280035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FFFFFF"/>
                </a:solidFill>
                <a:latin typeface="DM Sans"/>
                <a:ea typeface="DM Sans"/>
                <a:cs typeface="DM Sans"/>
                <a:sym typeface="DM Sans"/>
              </a:rPr>
              <a:t>2</a:t>
            </a:r>
          </a:p>
        </p:txBody>
      </p:sp>
      <p:sp>
        <p:nvSpPr>
          <p:cNvPr name="TextBox 22" id="22"/>
          <p:cNvSpPr txBox="true"/>
          <p:nvPr/>
        </p:nvSpPr>
        <p:spPr>
          <a:xfrm rot="0">
            <a:off x="4495800" y="3467100"/>
            <a:ext cx="2571750" cy="604456"/>
          </a:xfrm>
          <a:prstGeom prst="rect">
            <a:avLst/>
          </a:prstGeom>
        </p:spPr>
        <p:txBody>
          <a:bodyPr anchor="t" rtlCol="false" tIns="0" lIns="0" bIns="0" rIns="0">
            <a:spAutoFit/>
          </a:bodyPr>
          <a:lstStyle/>
          <a:p>
            <a:pPr algn="ctr" marL="0" indent="0" lvl="0">
              <a:lnSpc>
                <a:spcPts val="2470"/>
              </a:lnSpc>
              <a:spcBef>
                <a:spcPct val="0"/>
              </a:spcBef>
            </a:pPr>
            <a:r>
              <a:rPr lang="en-US" sz="2025" strike="noStrike" u="none">
                <a:solidFill>
                  <a:srgbClr val="0A2A66"/>
                </a:solidFill>
                <a:latin typeface="DM Sans"/>
                <a:ea typeface="DM Sans"/>
                <a:cs typeface="DM Sans"/>
                <a:sym typeface="DM Sans"/>
              </a:rPr>
              <a:t>A worked example</a:t>
            </a:r>
          </a:p>
          <a:p>
            <a:pPr algn="ctr" marL="0" indent="0" lvl="0">
              <a:lnSpc>
                <a:spcPts val="2470"/>
              </a:lnSpc>
              <a:spcBef>
                <a:spcPct val="0"/>
              </a:spcBef>
            </a:pPr>
            <a:r>
              <a:rPr lang="en-US" sz="2025" strike="noStrike" u="none">
                <a:solidFill>
                  <a:srgbClr val="0A2A66"/>
                </a:solidFill>
                <a:latin typeface="DM Sans"/>
                <a:ea typeface="DM Sans"/>
                <a:cs typeface="DM Sans"/>
                <a:sym typeface="DM Sans"/>
              </a:rPr>
              <a:t>explains that step</a:t>
            </a:r>
          </a:p>
        </p:txBody>
      </p:sp>
      <p:sp>
        <p:nvSpPr>
          <p:cNvPr name="AutoShape 23" id="23"/>
          <p:cNvSpPr/>
          <p:nvPr/>
        </p:nvSpPr>
        <p:spPr>
          <a:xfrm rot="0">
            <a:off x="6724650" y="2962275"/>
            <a:ext cx="838200" cy="38100"/>
          </a:xfrm>
          <a:prstGeom prst="rect">
            <a:avLst/>
          </a:prstGeom>
          <a:solidFill>
            <a:srgbClr val="CCD7E4"/>
          </a:solidFill>
        </p:spPr>
      </p:sp>
      <p:grpSp>
        <p:nvGrpSpPr>
          <p:cNvPr name="Group 24" id="24"/>
          <p:cNvGrpSpPr/>
          <p:nvPr/>
        </p:nvGrpSpPr>
        <p:grpSpPr>
          <a:xfrm rot="1840140">
            <a:off x="7505033" y="2926652"/>
            <a:ext cx="171450" cy="28575"/>
            <a:chOff x="0" y="0"/>
            <a:chExt cx="228600" cy="38100"/>
          </a:xfrm>
        </p:grpSpPr>
        <p:sp>
          <p:nvSpPr>
            <p:cNvPr name="Freeform 25" id="2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6" id="26"/>
          <p:cNvGrpSpPr/>
          <p:nvPr/>
        </p:nvGrpSpPr>
        <p:grpSpPr>
          <a:xfrm rot="8959860">
            <a:off x="7496937" y="3012376"/>
            <a:ext cx="171450" cy="28575"/>
            <a:chOff x="0" y="0"/>
            <a:chExt cx="228600" cy="38100"/>
          </a:xfrm>
        </p:grpSpPr>
        <p:sp>
          <p:nvSpPr>
            <p:cNvPr name="Freeform 27" id="2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8" id="28"/>
          <p:cNvGrpSpPr/>
          <p:nvPr/>
        </p:nvGrpSpPr>
        <p:grpSpPr>
          <a:xfrm rot="0">
            <a:off x="9391650" y="2705100"/>
            <a:ext cx="552450" cy="552450"/>
            <a:chOff x="0" y="0"/>
            <a:chExt cx="736600" cy="736600"/>
          </a:xfrm>
        </p:grpSpPr>
        <p:sp>
          <p:nvSpPr>
            <p:cNvPr name="Freeform 29" id="29"/>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14BF96"/>
            </a:solidFill>
          </p:spPr>
        </p:sp>
      </p:grpSp>
      <p:sp>
        <p:nvSpPr>
          <p:cNvPr name="TextBox 30" id="30"/>
          <p:cNvSpPr txBox="true"/>
          <p:nvPr/>
        </p:nvSpPr>
        <p:spPr>
          <a:xfrm rot="0">
            <a:off x="9477375" y="280035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3</a:t>
            </a:r>
          </a:p>
        </p:txBody>
      </p:sp>
      <p:sp>
        <p:nvSpPr>
          <p:cNvPr name="TextBox 31" id="31"/>
          <p:cNvSpPr txBox="true"/>
          <p:nvPr/>
        </p:nvSpPr>
        <p:spPr>
          <a:xfrm rot="0">
            <a:off x="8382000" y="3467100"/>
            <a:ext cx="2571750" cy="909256"/>
          </a:xfrm>
          <a:prstGeom prst="rect">
            <a:avLst/>
          </a:prstGeom>
        </p:spPr>
        <p:txBody>
          <a:bodyPr anchor="t" rtlCol="false" tIns="0" lIns="0" bIns="0" rIns="0">
            <a:spAutoFit/>
          </a:bodyPr>
          <a:lstStyle/>
          <a:p>
            <a:pPr algn="ctr" marL="0" indent="0" lvl="0">
              <a:lnSpc>
                <a:spcPts val="2470"/>
              </a:lnSpc>
              <a:spcBef>
                <a:spcPct val="0"/>
              </a:spcBef>
            </a:pPr>
            <a:r>
              <a:rPr lang="en-US" sz="2025" strike="noStrike" u="none">
                <a:solidFill>
                  <a:srgbClr val="0A2A66"/>
                </a:solidFill>
                <a:latin typeface="DM Sans"/>
                <a:ea typeface="DM Sans"/>
                <a:cs typeface="DM Sans"/>
                <a:sym typeface="DM Sans"/>
              </a:rPr>
              <a:t>A new question</a:t>
            </a:r>
          </a:p>
          <a:p>
            <a:pPr algn="ctr" marL="0" indent="0" lvl="0">
              <a:lnSpc>
                <a:spcPts val="2470"/>
              </a:lnSpc>
              <a:spcBef>
                <a:spcPct val="0"/>
              </a:spcBef>
            </a:pPr>
            <a:r>
              <a:rPr lang="en-US" sz="2025" strike="noStrike" u="none">
                <a:solidFill>
                  <a:srgbClr val="0A2A66"/>
                </a:solidFill>
                <a:latin typeface="DM Sans"/>
                <a:ea typeface="DM Sans"/>
                <a:cs typeface="DM Sans"/>
                <a:sym typeface="DM Sans"/>
              </a:rPr>
              <a:t>checks independent use</a:t>
            </a:r>
          </a:p>
        </p:txBody>
      </p:sp>
      <p:sp>
        <p:nvSpPr>
          <p:cNvPr name="TextBox 32" id="32"/>
          <p:cNvSpPr txBox="true"/>
          <p:nvPr/>
        </p:nvSpPr>
        <p:spPr>
          <a:xfrm rot="0">
            <a:off x="609600" y="5010150"/>
            <a:ext cx="109728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Learners can choose “learn first” or check what they already know.</a:t>
            </a:r>
          </a:p>
        </p:txBody>
      </p:sp>
      <p:sp>
        <p:nvSpPr>
          <p:cNvPr name="TextBox 33" id="33"/>
          <p:cNvSpPr txBox="true"/>
          <p:nvPr/>
        </p:nvSpPr>
        <p:spPr>
          <a:xfrm rot="0">
            <a:off x="609600" y="5467350"/>
            <a:ext cx="10972800" cy="2623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Worked examples guide the attempt; a different question checks what the learner can do next.</a:t>
            </a:r>
          </a:p>
        </p:txBody>
      </p:sp>
      <p:sp>
        <p:nvSpPr>
          <p:cNvPr name="TextBox 34" id="34"/>
          <p:cNvSpPr txBox="true"/>
          <p:nvPr/>
        </p:nvSpPr>
        <p:spPr>
          <a:xfrm rot="0">
            <a:off x="609600" y="6067425"/>
            <a:ext cx="4667250" cy="196787"/>
          </a:xfrm>
          <a:prstGeom prst="rect">
            <a:avLst/>
          </a:prstGeom>
        </p:spPr>
        <p:txBody>
          <a:bodyPr anchor="t" rtlCol="false" tIns="0" lIns="0" bIns="0" rIns="0">
            <a:spAutoFit/>
          </a:bodyPr>
          <a:lstStyle/>
          <a:p>
            <a:pPr algn="l" marL="0" indent="0" lvl="0">
              <a:lnSpc>
                <a:spcPts val="1555"/>
              </a:lnSpc>
              <a:spcBef>
                <a:spcPct val="0"/>
              </a:spcBef>
            </a:pPr>
            <a:r>
              <a:rPr lang="en-US" sz="1275" strike="noStrike" u="none">
                <a:solidFill>
                  <a:srgbClr val="0A2A66"/>
                </a:solidFill>
                <a:latin typeface="DM Sans"/>
                <a:ea typeface="DM Sans"/>
                <a:cs typeface="DM Sans"/>
                <a:sym typeface="DM Sans"/>
                <a:hlinkClick r:id="rId7" tooltip="https://dunlo.vercel.app/demo"/>
              </a:rPr>
              <a:t>See the recovery example</a:t>
            </a:r>
          </a:p>
        </p:txBody>
      </p:sp>
      <p:sp>
        <p:nvSpPr>
          <p:cNvPr name="AutoShape 35" id="35"/>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6" id="36"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grpSp>
        <p:nvGrpSpPr>
          <p:cNvPr name="Group 8" id="8"/>
          <p:cNvGrpSpPr/>
          <p:nvPr/>
        </p:nvGrpSpPr>
        <p:grpSpPr>
          <a:xfrm rot="0">
            <a:off x="609600" y="3648075"/>
            <a:ext cx="7029450" cy="1066800"/>
            <a:chOff x="0" y="0"/>
            <a:chExt cx="9372600" cy="1422400"/>
          </a:xfrm>
        </p:grpSpPr>
        <p:sp>
          <p:nvSpPr>
            <p:cNvPr name="Freeform 9" id="9"/>
            <p:cNvSpPr/>
            <p:nvPr/>
          </p:nvSpPr>
          <p:spPr>
            <a:xfrm flipH="false" flipV="false" rot="0">
              <a:off x="0" y="0"/>
              <a:ext cx="9372600" cy="1422400"/>
            </a:xfrm>
            <a:custGeom>
              <a:avLst/>
              <a:gdLst/>
              <a:ahLst/>
              <a:cxnLst/>
              <a:rect r="r" b="b" t="t" l="l"/>
              <a:pathLst>
                <a:path h="1422400" w="9372600">
                  <a:moveTo>
                    <a:pt x="127000" y="0"/>
                  </a:moveTo>
                  <a:lnTo>
                    <a:pt x="9245600" y="0"/>
                  </a:lnTo>
                  <a:cubicBezTo>
                    <a:pt x="9315704" y="0"/>
                    <a:pt x="9372600" y="56896"/>
                    <a:pt x="9372600" y="127000"/>
                  </a:cubicBezTo>
                  <a:lnTo>
                    <a:pt x="9372600" y="1295400"/>
                  </a:lnTo>
                  <a:cubicBezTo>
                    <a:pt x="9372600" y="1365504"/>
                    <a:pt x="9315704" y="1422400"/>
                    <a:pt x="9245600" y="1422400"/>
                  </a:cubicBezTo>
                  <a:lnTo>
                    <a:pt x="127000" y="1422400"/>
                  </a:lnTo>
                  <a:cubicBezTo>
                    <a:pt x="56896" y="1422400"/>
                    <a:pt x="0" y="1365504"/>
                    <a:pt x="0" y="1295400"/>
                  </a:cubicBezTo>
                  <a:lnTo>
                    <a:pt x="0" y="127000"/>
                  </a:lnTo>
                  <a:cubicBezTo>
                    <a:pt x="0" y="56896"/>
                    <a:pt x="56896" y="0"/>
                    <a:pt x="127000" y="0"/>
                  </a:cubicBezTo>
                  <a:close/>
                </a:path>
              </a:pathLst>
            </a:custGeom>
            <a:solidFill>
              <a:srgbClr val="14BF96"/>
            </a:solidFill>
          </p:spPr>
        </p:sp>
      </p:grpSp>
      <p:grpSp>
        <p:nvGrpSpPr>
          <p:cNvPr name="Group 10" id="10"/>
          <p:cNvGrpSpPr/>
          <p:nvPr/>
        </p:nvGrpSpPr>
        <p:grpSpPr>
          <a:xfrm rot="0">
            <a:off x="9039225" y="2990850"/>
            <a:ext cx="2238375" cy="2238375"/>
            <a:chOff x="0" y="0"/>
            <a:chExt cx="2984500" cy="2984500"/>
          </a:xfrm>
        </p:grpSpPr>
        <p:sp>
          <p:nvSpPr>
            <p:cNvPr name="Freeform 11" id="11"/>
            <p:cNvSpPr/>
            <p:nvPr/>
          </p:nvSpPr>
          <p:spPr>
            <a:xfrm flipH="false" flipV="false" rot="0">
              <a:off x="0" y="0"/>
              <a:ext cx="2984500" cy="2984500"/>
            </a:xfrm>
            <a:custGeom>
              <a:avLst/>
              <a:gdLst/>
              <a:ahLst/>
              <a:cxnLst/>
              <a:rect r="r" b="b" t="t" l="l"/>
              <a:pathLst>
                <a:path h="2984500" w="2984500">
                  <a:moveTo>
                    <a:pt x="0" y="0"/>
                  </a:moveTo>
                  <a:lnTo>
                    <a:pt x="2984500" y="0"/>
                  </a:lnTo>
                  <a:lnTo>
                    <a:pt x="2984500" y="2984500"/>
                  </a:lnTo>
                  <a:lnTo>
                    <a:pt x="0" y="2984500"/>
                  </a:lnTo>
                  <a:lnTo>
                    <a:pt x="0" y="0"/>
                  </a:lnTo>
                  <a:close/>
                </a:path>
              </a:pathLst>
            </a:custGeom>
            <a:blipFill>
              <a:blip r:embed="rId7"/>
              <a:stretch>
                <a:fillRect l="-78303" t="0" r="-78303" b="0"/>
              </a:stretch>
            </a:blipFill>
          </p:spPr>
        </p:sp>
      </p:grpSp>
      <p:sp>
        <p:nvSpPr>
          <p:cNvPr name="AutoShape 12" id="12"/>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13" id="13" descr="Scan to open Dunlo at https://dunlo.vercel.app/">
            <a:hlinkClick r:id="rId9" tooltip="https://dunlo.vercel.app"/>
          </p:cNvPr>
          <p:cNvSpPr/>
          <p:nvPr/>
        </p:nvSpPr>
        <p:spPr>
          <a:xfrm flipH="false" flipV="false" rot="0">
            <a:off x="9039225" y="2990850"/>
            <a:ext cx="2238375" cy="2238375"/>
          </a:xfrm>
          <a:custGeom>
            <a:avLst/>
            <a:gdLst/>
            <a:ahLst/>
            <a:cxnLst/>
            <a:rect r="r" b="b" t="t" l="l"/>
            <a:pathLst>
              <a:path h="2238375" w="2238375">
                <a:moveTo>
                  <a:pt x="0" y="0"/>
                </a:moveTo>
                <a:lnTo>
                  <a:pt x="2238375" y="0"/>
                </a:lnTo>
                <a:lnTo>
                  <a:pt x="2238375" y="2238375"/>
                </a:lnTo>
                <a:lnTo>
                  <a:pt x="0" y="2238375"/>
                </a:lnTo>
                <a:lnTo>
                  <a:pt x="0" y="0"/>
                </a:lnTo>
                <a:close/>
              </a:path>
            </a:pathLst>
          </a:custGeom>
          <a:blipFill>
            <a:blip r:embed="rId8"/>
            <a:stretch>
              <a:fillRect l="-4824" t="-4824" r="-4824" b="-4824"/>
            </a:stretch>
          </a:blipFill>
        </p:spPr>
      </p:sp>
      <p:sp>
        <p:nvSpPr>
          <p:cNvPr name="TextBox 14" id="14"/>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08</a:t>
            </a:r>
          </a:p>
        </p:txBody>
      </p:sp>
      <p:sp>
        <p:nvSpPr>
          <p:cNvPr name="TextBox 15" id="15"/>
          <p:cNvSpPr txBox="true"/>
          <p:nvPr/>
        </p:nvSpPr>
        <p:spPr>
          <a:xfrm rot="0">
            <a:off x="609600" y="866775"/>
            <a:ext cx="10972800" cy="505968"/>
          </a:xfrm>
          <a:prstGeom prst="rect">
            <a:avLst/>
          </a:prstGeom>
        </p:spPr>
        <p:txBody>
          <a:bodyPr anchor="t" rtlCol="false" tIns="0" lIns="0" bIns="0" rIns="0">
            <a:spAutoFit/>
          </a:bodyPr>
          <a:lstStyle/>
          <a:p>
            <a:pPr algn="l" marL="0" indent="0" lvl="0">
              <a:lnSpc>
                <a:spcPts val="4026"/>
              </a:lnSpc>
              <a:spcBef>
                <a:spcPct val="0"/>
              </a:spcBef>
            </a:pPr>
            <a:r>
              <a:rPr lang="en-US" b="true" sz="3300" strike="noStrike" u="none">
                <a:solidFill>
                  <a:srgbClr val="0A2A66"/>
                </a:solidFill>
                <a:latin typeface="DM Sans Bold"/>
                <a:ea typeface="DM Sans Bold"/>
                <a:cs typeface="DM Sans Bold"/>
                <a:sym typeface="DM Sans Bold"/>
              </a:rPr>
              <a:t>Try the complete journey</a:t>
            </a:r>
          </a:p>
        </p:txBody>
      </p:sp>
      <p:sp>
        <p:nvSpPr>
          <p:cNvPr name="TextBox 16" id="16"/>
          <p:cNvSpPr txBox="true"/>
          <p:nvPr/>
        </p:nvSpPr>
        <p:spPr>
          <a:xfrm rot="0">
            <a:off x="609600" y="2228850"/>
            <a:ext cx="6858000" cy="651891"/>
          </a:xfrm>
          <a:prstGeom prst="rect">
            <a:avLst/>
          </a:prstGeom>
        </p:spPr>
        <p:txBody>
          <a:bodyPr anchor="t" rtlCol="false" tIns="0" lIns="0" bIns="0" rIns="0">
            <a:spAutoFit/>
          </a:bodyPr>
          <a:lstStyle/>
          <a:p>
            <a:pPr algn="l" marL="0" indent="0" lvl="0">
              <a:lnSpc>
                <a:spcPts val="2562"/>
              </a:lnSpc>
              <a:spcBef>
                <a:spcPct val="0"/>
              </a:spcBef>
            </a:pPr>
            <a:r>
              <a:rPr lang="en-US" sz="2100" strike="noStrike" u="none">
                <a:solidFill>
                  <a:srgbClr val="0A2A66"/>
                </a:solidFill>
                <a:latin typeface="DM Sans"/>
                <a:ea typeface="DM Sans"/>
                <a:cs typeface="DM Sans"/>
                <a:sym typeface="DM Sans"/>
              </a:rPr>
              <a:t>Explore an idea, open Khan practice,</a:t>
            </a:r>
          </a:p>
          <a:p>
            <a:pPr algn="l" marL="0" indent="0" lvl="0">
              <a:lnSpc>
                <a:spcPts val="2562"/>
              </a:lnSpc>
              <a:spcBef>
                <a:spcPct val="0"/>
              </a:spcBef>
            </a:pPr>
            <a:r>
              <a:rPr lang="en-US" sz="2100" strike="noStrike" u="none">
                <a:solidFill>
                  <a:srgbClr val="0A2A66"/>
                </a:solidFill>
                <a:latin typeface="DM Sans"/>
                <a:ea typeface="DM Sans"/>
                <a:cs typeface="DM Sans"/>
                <a:sym typeface="DM Sans"/>
              </a:rPr>
              <a:t>and return for a fresh question.</a:t>
            </a:r>
          </a:p>
        </p:txBody>
      </p:sp>
      <p:sp>
        <p:nvSpPr>
          <p:cNvPr name="TextBox 17" id="17"/>
          <p:cNvSpPr txBox="true"/>
          <p:nvPr/>
        </p:nvSpPr>
        <p:spPr>
          <a:xfrm rot="0">
            <a:off x="819150" y="3857625"/>
            <a:ext cx="6610350" cy="487299"/>
          </a:xfrm>
          <a:prstGeom prst="rect">
            <a:avLst/>
          </a:prstGeom>
        </p:spPr>
        <p:txBody>
          <a:bodyPr anchor="t" rtlCol="false" tIns="0" lIns="0" bIns="0" rIns="0">
            <a:spAutoFit/>
          </a:bodyPr>
          <a:lstStyle/>
          <a:p>
            <a:pPr algn="ctr"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hlinkClick r:id="rId10" tooltip="https://dunlo.vercel.app"/>
              </a:rPr>
              <a:t>Try Dunlo</a:t>
            </a:r>
          </a:p>
        </p:txBody>
      </p:sp>
      <p:sp>
        <p:nvSpPr>
          <p:cNvPr name="TextBox 18" id="18"/>
          <p:cNvSpPr txBox="true"/>
          <p:nvPr/>
        </p:nvSpPr>
        <p:spPr>
          <a:xfrm rot="0">
            <a:off x="609600" y="5048250"/>
            <a:ext cx="7029450" cy="271653"/>
          </a:xfrm>
          <a:prstGeom prst="rect">
            <a:avLst/>
          </a:prstGeom>
        </p:spPr>
        <p:txBody>
          <a:bodyPr anchor="t" rtlCol="false" tIns="0" lIns="0" bIns="0" rIns="0">
            <a:spAutoFit/>
          </a:bodyPr>
          <a:lstStyle/>
          <a:p>
            <a:pPr algn="ctr" marL="0" indent="0" lvl="0">
              <a:lnSpc>
                <a:spcPts val="2196"/>
              </a:lnSpc>
              <a:spcBef>
                <a:spcPct val="0"/>
              </a:spcBef>
            </a:pPr>
            <a:r>
              <a:rPr lang="en-US" sz="1800" strike="noStrike" u="sng">
                <a:solidFill>
                  <a:srgbClr val="0A2A66"/>
                </a:solidFill>
                <a:latin typeface="DM Sans"/>
                <a:ea typeface="DM Sans"/>
                <a:cs typeface="DM Sans"/>
                <a:sym typeface="DM Sans"/>
                <a:hlinkClick r:id="rId11" tooltip="https://dunlo.vercel.app"/>
              </a:rPr>
              <a:t>dunlo.vercel.app</a:t>
            </a:r>
          </a:p>
        </p:txBody>
      </p:sp>
      <p:sp>
        <p:nvSpPr>
          <p:cNvPr name="TextBox 19" id="19"/>
          <p:cNvSpPr txBox="true"/>
          <p:nvPr/>
        </p:nvSpPr>
        <p:spPr>
          <a:xfrm rot="0">
            <a:off x="8743950" y="5438775"/>
            <a:ext cx="2828925"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Scan to explore</a:t>
            </a:r>
          </a:p>
        </p:txBody>
      </p:sp>
      <p:sp>
        <p:nvSpPr>
          <p:cNvPr name="TextBox 20" id="20"/>
          <p:cNvSpPr txBox="true"/>
          <p:nvPr/>
        </p:nvSpPr>
        <p:spPr>
          <a:xfrm rot="0">
            <a:off x="609600" y="5867400"/>
            <a:ext cx="7620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Explore freely, or bring your current learning goal.</a:t>
            </a:r>
          </a:p>
        </p:txBody>
      </p:sp>
      <p:sp>
        <p:nvSpPr>
          <p:cNvPr name="Freeform 21" id="21"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09</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Khan learning has a clear continuation</a:t>
            </a:r>
          </a:p>
        </p:txBody>
      </p:sp>
      <p:sp>
        <p:nvSpPr>
          <p:cNvPr name="TextBox 10" id="10"/>
          <p:cNvSpPr txBox="true"/>
          <p:nvPr/>
        </p:nvSpPr>
        <p:spPr>
          <a:xfrm rot="0">
            <a:off x="609600" y="1676400"/>
            <a:ext cx="10972800" cy="280797"/>
          </a:xfrm>
          <a:prstGeom prst="rect">
            <a:avLst/>
          </a:prstGeom>
        </p:spPr>
        <p:txBody>
          <a:bodyPr anchor="t" rtlCol="false" tIns="0" lIns="0" bIns="0" rIns="0">
            <a:spAutoFit/>
          </a:bodyPr>
          <a:lstStyle/>
          <a:p>
            <a:pPr algn="l" marL="0" indent="0" lvl="0">
              <a:lnSpc>
                <a:spcPts val="2379"/>
              </a:lnSpc>
              <a:spcBef>
                <a:spcPct val="0"/>
              </a:spcBef>
            </a:pPr>
            <a:r>
              <a:rPr lang="en-US" sz="1950" strike="noStrike" u="none">
                <a:solidFill>
                  <a:srgbClr val="0A2A66"/>
                </a:solidFill>
                <a:latin typeface="DM Sans"/>
                <a:ea typeface="DM Sans"/>
                <a:cs typeface="DM Sans"/>
                <a:sym typeface="DM Sans"/>
              </a:rPr>
              <a:t>The same idea connects discovery, practice and review.</a:t>
            </a:r>
          </a:p>
        </p:txBody>
      </p:sp>
      <p:sp>
        <p:nvSpPr>
          <p:cNvPr name="AutoShape 11" id="11"/>
          <p:cNvSpPr/>
          <p:nvPr/>
        </p:nvSpPr>
        <p:spPr>
          <a:xfrm rot="0">
            <a:off x="1409700" y="3209925"/>
            <a:ext cx="9172575" cy="38100"/>
          </a:xfrm>
          <a:prstGeom prst="rect">
            <a:avLst/>
          </a:prstGeom>
          <a:solidFill>
            <a:srgbClr val="CCD7E4"/>
          </a:solidFill>
        </p:spPr>
      </p:sp>
      <p:grpSp>
        <p:nvGrpSpPr>
          <p:cNvPr name="Group 12" id="12"/>
          <p:cNvGrpSpPr/>
          <p:nvPr/>
        </p:nvGrpSpPr>
        <p:grpSpPr>
          <a:xfrm rot="0">
            <a:off x="1066800" y="2828925"/>
            <a:ext cx="800100" cy="800100"/>
            <a:chOff x="0" y="0"/>
            <a:chExt cx="1066800" cy="1066800"/>
          </a:xfrm>
        </p:grpSpPr>
        <p:sp>
          <p:nvSpPr>
            <p:cNvPr name="Freeform 13" id="13"/>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D9F2EA"/>
            </a:solidFill>
          </p:spPr>
        </p:sp>
      </p:grpSp>
      <p:sp>
        <p:nvSpPr>
          <p:cNvPr name="TextBox 14" id="14"/>
          <p:cNvSpPr txBox="true"/>
          <p:nvPr/>
        </p:nvSpPr>
        <p:spPr>
          <a:xfrm rot="0">
            <a:off x="962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IDEA</a:t>
            </a:r>
          </a:p>
        </p:txBody>
      </p:sp>
      <p:sp>
        <p:nvSpPr>
          <p:cNvPr name="TextBox 15" id="15"/>
          <p:cNvSpPr txBox="true"/>
          <p:nvPr/>
        </p:nvSpPr>
        <p:spPr>
          <a:xfrm rot="0">
            <a:off x="609600" y="4067175"/>
            <a:ext cx="2000250" cy="5290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Discover or bring</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a learning goal</a:t>
            </a:r>
          </a:p>
        </p:txBody>
      </p:sp>
      <p:grpSp>
        <p:nvGrpSpPr>
          <p:cNvPr name="Group 16" id="16"/>
          <p:cNvGrpSpPr/>
          <p:nvPr/>
        </p:nvGrpSpPr>
        <p:grpSpPr>
          <a:xfrm rot="0">
            <a:off x="3352800" y="2828925"/>
            <a:ext cx="800100" cy="800100"/>
            <a:chOff x="0" y="0"/>
            <a:chExt cx="1066800" cy="1066800"/>
          </a:xfrm>
        </p:grpSpPr>
        <p:sp>
          <p:nvSpPr>
            <p:cNvPr name="Freeform 17" id="17"/>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F0EFFF"/>
            </a:solidFill>
          </p:spPr>
        </p:sp>
      </p:grpSp>
      <p:sp>
        <p:nvSpPr>
          <p:cNvPr name="TextBox 18" id="18"/>
          <p:cNvSpPr txBox="true"/>
          <p:nvPr/>
        </p:nvSpPr>
        <p:spPr>
          <a:xfrm rot="0">
            <a:off x="3248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LEARN</a:t>
            </a:r>
          </a:p>
        </p:txBody>
      </p:sp>
      <p:sp>
        <p:nvSpPr>
          <p:cNvPr name="TextBox 19" id="19"/>
          <p:cNvSpPr txBox="true"/>
          <p:nvPr/>
        </p:nvSpPr>
        <p:spPr>
          <a:xfrm rot="0">
            <a:off x="2895600" y="4067175"/>
            <a:ext cx="2000250" cy="5290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Open a Khan clip</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or explanation</a:t>
            </a:r>
          </a:p>
        </p:txBody>
      </p:sp>
      <p:grpSp>
        <p:nvGrpSpPr>
          <p:cNvPr name="Group 20" id="20"/>
          <p:cNvGrpSpPr/>
          <p:nvPr/>
        </p:nvGrpSpPr>
        <p:grpSpPr>
          <a:xfrm rot="0">
            <a:off x="5638800" y="2828925"/>
            <a:ext cx="800100" cy="800100"/>
            <a:chOff x="0" y="0"/>
            <a:chExt cx="1066800" cy="1066800"/>
          </a:xfrm>
        </p:grpSpPr>
        <p:sp>
          <p:nvSpPr>
            <p:cNvPr name="Freeform 21" id="21"/>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D9F2EA"/>
            </a:solidFill>
          </p:spPr>
        </p:sp>
      </p:grpSp>
      <p:sp>
        <p:nvSpPr>
          <p:cNvPr name="TextBox 22" id="22"/>
          <p:cNvSpPr txBox="true"/>
          <p:nvPr/>
        </p:nvSpPr>
        <p:spPr>
          <a:xfrm rot="0">
            <a:off x="5534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KHAN</a:t>
            </a:r>
          </a:p>
        </p:txBody>
      </p:sp>
      <p:sp>
        <p:nvSpPr>
          <p:cNvPr name="TextBox 23" id="23"/>
          <p:cNvSpPr txBox="true"/>
          <p:nvPr/>
        </p:nvSpPr>
        <p:spPr>
          <a:xfrm rot="0">
            <a:off x="5181600" y="4067175"/>
            <a:ext cx="2000250" cy="5290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Practise the</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relevant exercise</a:t>
            </a:r>
          </a:p>
        </p:txBody>
      </p:sp>
      <p:grpSp>
        <p:nvGrpSpPr>
          <p:cNvPr name="Group 24" id="24"/>
          <p:cNvGrpSpPr/>
          <p:nvPr/>
        </p:nvGrpSpPr>
        <p:grpSpPr>
          <a:xfrm rot="0">
            <a:off x="7924800" y="2828925"/>
            <a:ext cx="800100" cy="800100"/>
            <a:chOff x="0" y="0"/>
            <a:chExt cx="1066800" cy="1066800"/>
          </a:xfrm>
        </p:grpSpPr>
        <p:sp>
          <p:nvSpPr>
            <p:cNvPr name="Freeform 25" id="25"/>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F0EFFF"/>
            </a:solidFill>
          </p:spPr>
        </p:sp>
      </p:grpSp>
      <p:sp>
        <p:nvSpPr>
          <p:cNvPr name="TextBox 26" id="26"/>
          <p:cNvSpPr txBox="true"/>
          <p:nvPr/>
        </p:nvSpPr>
        <p:spPr>
          <a:xfrm rot="0">
            <a:off x="7820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TRY</a:t>
            </a:r>
          </a:p>
        </p:txBody>
      </p:sp>
      <p:sp>
        <p:nvSpPr>
          <p:cNvPr name="TextBox 27" id="27"/>
          <p:cNvSpPr txBox="true"/>
          <p:nvPr/>
        </p:nvSpPr>
        <p:spPr>
          <a:xfrm rot="0">
            <a:off x="7467600" y="4067175"/>
            <a:ext cx="2000250" cy="7957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Return to a fresh</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independent question</a:t>
            </a:r>
          </a:p>
        </p:txBody>
      </p:sp>
      <p:grpSp>
        <p:nvGrpSpPr>
          <p:cNvPr name="Group 28" id="28"/>
          <p:cNvGrpSpPr/>
          <p:nvPr/>
        </p:nvGrpSpPr>
        <p:grpSpPr>
          <a:xfrm rot="0">
            <a:off x="10210800" y="2828925"/>
            <a:ext cx="800100" cy="800100"/>
            <a:chOff x="0" y="0"/>
            <a:chExt cx="1066800" cy="1066800"/>
          </a:xfrm>
        </p:grpSpPr>
        <p:sp>
          <p:nvSpPr>
            <p:cNvPr name="Freeform 29" id="29"/>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D9F2EA"/>
            </a:solidFill>
          </p:spPr>
        </p:sp>
      </p:grpSp>
      <p:sp>
        <p:nvSpPr>
          <p:cNvPr name="TextBox 30" id="30"/>
          <p:cNvSpPr txBox="true"/>
          <p:nvPr/>
        </p:nvSpPr>
        <p:spPr>
          <a:xfrm rot="0">
            <a:off x="10106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REVISIT</a:t>
            </a:r>
          </a:p>
        </p:txBody>
      </p:sp>
      <p:sp>
        <p:nvSpPr>
          <p:cNvPr name="TextBox 31" id="31"/>
          <p:cNvSpPr txBox="true"/>
          <p:nvPr/>
        </p:nvSpPr>
        <p:spPr>
          <a:xfrm rot="0">
            <a:off x="9753600" y="4067175"/>
            <a:ext cx="2000250" cy="5290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Keep the idea for</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a later session</a:t>
            </a:r>
          </a:p>
        </p:txBody>
      </p:sp>
      <p:sp>
        <p:nvSpPr>
          <p:cNvPr name="TextBox 32" id="32"/>
          <p:cNvSpPr txBox="true"/>
          <p:nvPr/>
        </p:nvSpPr>
        <p:spPr>
          <a:xfrm rot="0">
            <a:off x="609600" y="5553075"/>
            <a:ext cx="10972800" cy="280988"/>
          </a:xfrm>
          <a:prstGeom prst="rect">
            <a:avLst/>
          </a:prstGeom>
        </p:spPr>
        <p:txBody>
          <a:bodyPr anchor="t" rtlCol="false" tIns="0" lIns="0" bIns="0" rIns="0">
            <a:spAutoFit/>
          </a:bodyPr>
          <a:lstStyle/>
          <a:p>
            <a:pPr algn="l" marL="0" indent="0" lvl="0">
              <a:lnSpc>
                <a:spcPts val="2287"/>
              </a:lnSpc>
              <a:spcBef>
                <a:spcPct val="0"/>
              </a:spcBef>
            </a:pPr>
            <a:r>
              <a:rPr lang="en-US" sz="1875" strike="noStrike" u="none">
                <a:solidFill>
                  <a:srgbClr val="0A2A66"/>
                </a:solidFill>
                <a:latin typeface="DM Sans"/>
                <a:ea typeface="DM Sans"/>
                <a:cs typeface="DM Sans"/>
                <a:sym typeface="DM Sans"/>
              </a:rPr>
              <a:t>Your place is saved when you open Khan practice.</a:t>
            </a:r>
          </a:p>
        </p:txBody>
      </p:sp>
      <p:sp>
        <p:nvSpPr>
          <p:cNvPr name="TextBox 33" id="33"/>
          <p:cNvSpPr txBox="true"/>
          <p:nvPr/>
        </p:nvSpPr>
        <p:spPr>
          <a:xfrm rot="0">
            <a:off x="609600" y="6105525"/>
            <a:ext cx="10572750" cy="187452"/>
          </a:xfrm>
          <a:prstGeom prst="rect">
            <a:avLst/>
          </a:prstGeom>
        </p:spPr>
        <p:txBody>
          <a:bodyPr anchor="t" rtlCol="false" tIns="0" lIns="0" bIns="0" rIns="0">
            <a:spAutoFit/>
          </a:bodyPr>
          <a:lstStyle/>
          <a:p>
            <a:pPr algn="l" marL="0" indent="0" lvl="0">
              <a:lnSpc>
                <a:spcPts val="1464"/>
              </a:lnSpc>
              <a:spcBef>
                <a:spcPct val="0"/>
              </a:spcBef>
            </a:pPr>
            <a:r>
              <a:rPr lang="en-US" sz="1200" strike="noStrike" u="none">
                <a:solidFill>
                  <a:srgbClr val="0A2A66"/>
                </a:solidFill>
                <a:latin typeface="DM Sans"/>
                <a:ea typeface="DM Sans"/>
                <a:cs typeface="DM Sans"/>
                <a:sym typeface="DM Sans"/>
                <a:hlinkClick r:id="rId7" tooltip="https://support.khanacademy.org/hc/en-us/articles/202262954-Can-I-use-Khan-Academy-s-videos-name-materials-links-in-my-project"/>
              </a:rPr>
              <a:t>Khan sources are labelled. Completion reports and fresh answers stay separate.</a:t>
            </a:r>
          </a:p>
        </p:txBody>
      </p:sp>
      <p:sp>
        <p:nvSpPr>
          <p:cNvPr name="AutoShape 34" id="34"/>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5" id="35"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6" id="36" descr="Khan Academy learning and practice"/>
          <p:cNvSpPr/>
          <p:nvPr/>
        </p:nvSpPr>
        <p:spPr>
          <a:xfrm flipH="false" flipV="false" rot="0">
            <a:off x="4429125" y="2305050"/>
            <a:ext cx="3333750" cy="530352"/>
          </a:xfrm>
          <a:custGeom>
            <a:avLst/>
            <a:gdLst/>
            <a:ahLst/>
            <a:cxnLst/>
            <a:rect r="r" b="b" t="t" l="l"/>
            <a:pathLst>
              <a:path h="530352" w="3333750">
                <a:moveTo>
                  <a:pt x="0" y="0"/>
                </a:moveTo>
                <a:lnTo>
                  <a:pt x="3333750" y="0"/>
                </a:lnTo>
                <a:lnTo>
                  <a:pt x="3333750" y="530352"/>
                </a:lnTo>
                <a:lnTo>
                  <a:pt x="0" y="530352"/>
                </a:lnTo>
                <a:lnTo>
                  <a:pt x="0" y="0"/>
                </a:lnTo>
                <a:close/>
              </a:path>
            </a:pathLst>
          </a:custGeom>
          <a:blipFill>
            <a:blip r:embed="rId10"/>
            <a:stretch>
              <a:fillRect l="0" t="-1" r="0" b="-1"/>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10</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A useful reason to return</a:t>
            </a:r>
          </a:p>
        </p:txBody>
      </p:sp>
      <p:sp>
        <p:nvSpPr>
          <p:cNvPr name="AutoShape 10" id="10"/>
          <p:cNvSpPr/>
          <p:nvPr/>
        </p:nvSpPr>
        <p:spPr>
          <a:xfrm rot="0">
            <a:off x="609600" y="2457450"/>
            <a:ext cx="5172075" cy="1447800"/>
          </a:xfrm>
          <a:prstGeom prst="rect">
            <a:avLst/>
          </a:prstGeom>
          <a:solidFill>
            <a:srgbClr val="D9F2EA"/>
          </a:solidFill>
        </p:spPr>
      </p:sp>
      <p:sp>
        <p:nvSpPr>
          <p:cNvPr name="AutoShape 11" id="11"/>
          <p:cNvSpPr/>
          <p:nvPr/>
        </p:nvSpPr>
        <p:spPr>
          <a:xfrm rot="0">
            <a:off x="6153150" y="2457450"/>
            <a:ext cx="5429250" cy="1447800"/>
          </a:xfrm>
          <a:prstGeom prst="rect">
            <a:avLst/>
          </a:prstGeom>
          <a:solidFill>
            <a:srgbClr val="F0EFFF"/>
          </a:solidFill>
        </p:spPr>
      </p:sp>
      <p:sp>
        <p:nvSpPr>
          <p:cNvPr name="TextBox 12" id="12"/>
          <p:cNvSpPr txBox="true"/>
          <p:nvPr/>
        </p:nvSpPr>
        <p:spPr>
          <a:xfrm rot="0">
            <a:off x="838200" y="2676525"/>
            <a:ext cx="4714875" cy="393573"/>
          </a:xfrm>
          <a:prstGeom prst="rect">
            <a:avLst/>
          </a:prstGeom>
        </p:spPr>
        <p:txBody>
          <a:bodyPr anchor="t" rtlCol="false" tIns="0" lIns="0" bIns="0" rIns="0">
            <a:spAutoFit/>
          </a:bodyPr>
          <a:lstStyle/>
          <a:p>
            <a:pPr algn="ctr" marL="0" indent="0" lvl="0">
              <a:lnSpc>
                <a:spcPts val="3111"/>
              </a:lnSpc>
              <a:spcBef>
                <a:spcPct val="0"/>
              </a:spcBef>
            </a:pPr>
            <a:r>
              <a:rPr lang="en-US" sz="2550" strike="noStrike" u="none">
                <a:solidFill>
                  <a:srgbClr val="0A2A66"/>
                </a:solidFill>
                <a:latin typeface="DM Sans"/>
                <a:ea typeface="DM Sans"/>
                <a:cs typeface="DM Sans"/>
                <a:sym typeface="DM Sans"/>
              </a:rPr>
              <a:t>Today</a:t>
            </a:r>
          </a:p>
        </p:txBody>
      </p:sp>
      <p:sp>
        <p:nvSpPr>
          <p:cNvPr name="TextBox 13" id="13"/>
          <p:cNvSpPr txBox="true"/>
          <p:nvPr/>
        </p:nvSpPr>
        <p:spPr>
          <a:xfrm rot="0">
            <a:off x="838200" y="3352800"/>
            <a:ext cx="4714875" cy="651891"/>
          </a:xfrm>
          <a:prstGeom prst="rect">
            <a:avLst/>
          </a:prstGeom>
        </p:spPr>
        <p:txBody>
          <a:bodyPr anchor="t" rtlCol="false" tIns="0" lIns="0" bIns="0" rIns="0">
            <a:spAutoFit/>
          </a:bodyPr>
          <a:lstStyle/>
          <a:p>
            <a:pPr algn="ctr" marL="0" indent="0" lvl="0">
              <a:lnSpc>
                <a:spcPts val="2562"/>
              </a:lnSpc>
              <a:spcBef>
                <a:spcPct val="0"/>
              </a:spcBef>
            </a:pPr>
            <a:r>
              <a:rPr lang="en-US" sz="2100" strike="noStrike" u="none">
                <a:solidFill>
                  <a:srgbClr val="0A2A66"/>
                </a:solidFill>
                <a:latin typeface="DM Sans"/>
                <a:ea typeface="DM Sans"/>
                <a:cs typeface="DM Sans"/>
                <a:sym typeface="DM Sans"/>
              </a:rPr>
              <a:t>Save a discovery.</a:t>
            </a:r>
          </a:p>
          <a:p>
            <a:pPr algn="ctr" marL="0" indent="0" lvl="0">
              <a:lnSpc>
                <a:spcPts val="2562"/>
              </a:lnSpc>
              <a:spcBef>
                <a:spcPct val="0"/>
              </a:spcBef>
            </a:pPr>
            <a:r>
              <a:rPr lang="en-US" sz="2100" strike="noStrike" u="none">
                <a:solidFill>
                  <a:srgbClr val="0A2A66"/>
                </a:solidFill>
                <a:latin typeface="DM Sans"/>
                <a:ea typeface="DM Sans"/>
                <a:cs typeface="DM Sans"/>
                <a:sym typeface="DM Sans"/>
              </a:rPr>
              <a:t>Use it on a fresh question.</a:t>
            </a:r>
          </a:p>
        </p:txBody>
      </p:sp>
      <p:sp>
        <p:nvSpPr>
          <p:cNvPr name="TextBox 14" id="14"/>
          <p:cNvSpPr txBox="true"/>
          <p:nvPr/>
        </p:nvSpPr>
        <p:spPr>
          <a:xfrm rot="0">
            <a:off x="6381750" y="2676525"/>
            <a:ext cx="4972050" cy="393573"/>
          </a:xfrm>
          <a:prstGeom prst="rect">
            <a:avLst/>
          </a:prstGeom>
        </p:spPr>
        <p:txBody>
          <a:bodyPr anchor="t" rtlCol="false" tIns="0" lIns="0" bIns="0" rIns="0">
            <a:spAutoFit/>
          </a:bodyPr>
          <a:lstStyle/>
          <a:p>
            <a:pPr algn="ctr" marL="0" indent="0" lvl="0">
              <a:lnSpc>
                <a:spcPts val="3111"/>
              </a:lnSpc>
              <a:spcBef>
                <a:spcPct val="0"/>
              </a:spcBef>
            </a:pPr>
            <a:r>
              <a:rPr lang="en-US" sz="2550" strike="noStrike" u="none">
                <a:solidFill>
                  <a:srgbClr val="0A2A66"/>
                </a:solidFill>
                <a:latin typeface="DM Sans"/>
                <a:ea typeface="DM Sans"/>
                <a:cs typeface="DM Sans"/>
                <a:sym typeface="DM Sans"/>
              </a:rPr>
              <a:t>Later</a:t>
            </a:r>
          </a:p>
        </p:txBody>
      </p:sp>
      <p:sp>
        <p:nvSpPr>
          <p:cNvPr name="TextBox 15" id="15"/>
          <p:cNvSpPr txBox="true"/>
          <p:nvPr/>
        </p:nvSpPr>
        <p:spPr>
          <a:xfrm rot="0">
            <a:off x="6381750" y="3352800"/>
            <a:ext cx="4972050" cy="651891"/>
          </a:xfrm>
          <a:prstGeom prst="rect">
            <a:avLst/>
          </a:prstGeom>
        </p:spPr>
        <p:txBody>
          <a:bodyPr anchor="t" rtlCol="false" tIns="0" lIns="0" bIns="0" rIns="0">
            <a:spAutoFit/>
          </a:bodyPr>
          <a:lstStyle/>
          <a:p>
            <a:pPr algn="ctr" marL="0" indent="0" lvl="0">
              <a:lnSpc>
                <a:spcPts val="2562"/>
              </a:lnSpc>
              <a:spcBef>
                <a:spcPct val="0"/>
              </a:spcBef>
            </a:pPr>
            <a:r>
              <a:rPr lang="en-US" sz="2100" strike="noStrike" u="none">
                <a:solidFill>
                  <a:srgbClr val="0A2A66"/>
                </a:solidFill>
                <a:latin typeface="DM Sans"/>
                <a:ea typeface="DM Sans"/>
                <a:cs typeface="DM Sans"/>
                <a:sym typeface="DM Sans"/>
              </a:rPr>
              <a:t>Revisit the idea.</a:t>
            </a:r>
          </a:p>
          <a:p>
            <a:pPr algn="ctr" marL="0" indent="0" lvl="0">
              <a:lnSpc>
                <a:spcPts val="2562"/>
              </a:lnSpc>
              <a:spcBef>
                <a:spcPct val="0"/>
              </a:spcBef>
            </a:pPr>
            <a:r>
              <a:rPr lang="en-US" sz="2100" strike="noStrike" u="none">
                <a:solidFill>
                  <a:srgbClr val="0A2A66"/>
                </a:solidFill>
                <a:latin typeface="DM Sans"/>
                <a:ea typeface="DM Sans"/>
                <a:cs typeface="DM Sans"/>
                <a:sym typeface="DM Sans"/>
              </a:rPr>
              <a:t>Try it in another situation.</a:t>
            </a:r>
          </a:p>
        </p:txBody>
      </p:sp>
      <p:grpSp>
        <p:nvGrpSpPr>
          <p:cNvPr name="Group 16" id="16"/>
          <p:cNvGrpSpPr/>
          <p:nvPr/>
        </p:nvGrpSpPr>
        <p:grpSpPr>
          <a:xfrm rot="5400000">
            <a:off x="2876550" y="4200525"/>
            <a:ext cx="628650" cy="38100"/>
            <a:chOff x="0" y="0"/>
            <a:chExt cx="838200" cy="50800"/>
          </a:xfrm>
        </p:grpSpPr>
        <p:sp>
          <p:nvSpPr>
            <p:cNvPr name="Freeform 17" id="17"/>
            <p:cNvSpPr/>
            <p:nvPr/>
          </p:nvSpPr>
          <p:spPr>
            <a:xfrm flipH="false" flipV="false" rot="0">
              <a:off x="0" y="0"/>
              <a:ext cx="838200" cy="50800"/>
            </a:xfrm>
            <a:custGeom>
              <a:avLst/>
              <a:gdLst/>
              <a:ahLst/>
              <a:cxnLst/>
              <a:rect r="r" b="b" t="t" l="l"/>
              <a:pathLst>
                <a:path h="50800" w="838200">
                  <a:moveTo>
                    <a:pt x="25400" y="0"/>
                  </a:moveTo>
                  <a:lnTo>
                    <a:pt x="812800" y="0"/>
                  </a:lnTo>
                  <a:cubicBezTo>
                    <a:pt x="826770" y="0"/>
                    <a:pt x="838200" y="11430"/>
                    <a:pt x="838200" y="25400"/>
                  </a:cubicBezTo>
                  <a:cubicBezTo>
                    <a:pt x="838200" y="39370"/>
                    <a:pt x="826770" y="50800"/>
                    <a:pt x="812800" y="50800"/>
                  </a:cubicBezTo>
                  <a:lnTo>
                    <a:pt x="25400" y="50800"/>
                  </a:lnTo>
                  <a:cubicBezTo>
                    <a:pt x="11430" y="50800"/>
                    <a:pt x="0" y="39370"/>
                    <a:pt x="0" y="25400"/>
                  </a:cubicBezTo>
                  <a:cubicBezTo>
                    <a:pt x="0" y="11430"/>
                    <a:pt x="11430" y="0"/>
                    <a:pt x="25400" y="0"/>
                  </a:cubicBezTo>
                  <a:close/>
                </a:path>
              </a:pathLst>
            </a:custGeom>
            <a:solidFill>
              <a:srgbClr val="0A2A66"/>
            </a:solidFill>
          </p:spPr>
        </p:sp>
      </p:grpSp>
      <p:grpSp>
        <p:nvGrpSpPr>
          <p:cNvPr name="Group 18" id="18"/>
          <p:cNvGrpSpPr/>
          <p:nvPr/>
        </p:nvGrpSpPr>
        <p:grpSpPr>
          <a:xfrm rot="0">
            <a:off x="3190875" y="4505325"/>
            <a:ext cx="2914650" cy="38100"/>
            <a:chOff x="0" y="0"/>
            <a:chExt cx="3886200" cy="50800"/>
          </a:xfrm>
        </p:grpSpPr>
        <p:sp>
          <p:nvSpPr>
            <p:cNvPr name="Freeform 19" id="19"/>
            <p:cNvSpPr/>
            <p:nvPr/>
          </p:nvSpPr>
          <p:spPr>
            <a:xfrm flipH="false" flipV="false" rot="0">
              <a:off x="0" y="0"/>
              <a:ext cx="3886200" cy="50800"/>
            </a:xfrm>
            <a:custGeom>
              <a:avLst/>
              <a:gdLst/>
              <a:ahLst/>
              <a:cxnLst/>
              <a:rect r="r" b="b" t="t" l="l"/>
              <a:pathLst>
                <a:path h="50800" w="3886200">
                  <a:moveTo>
                    <a:pt x="25400" y="0"/>
                  </a:moveTo>
                  <a:lnTo>
                    <a:pt x="3860800" y="0"/>
                  </a:lnTo>
                  <a:cubicBezTo>
                    <a:pt x="3874770" y="0"/>
                    <a:pt x="3886200" y="11430"/>
                    <a:pt x="3886200" y="25400"/>
                  </a:cubicBezTo>
                  <a:cubicBezTo>
                    <a:pt x="3886200" y="39370"/>
                    <a:pt x="3874770" y="50800"/>
                    <a:pt x="3860800" y="50800"/>
                  </a:cubicBezTo>
                  <a:lnTo>
                    <a:pt x="25400" y="50800"/>
                  </a:lnTo>
                  <a:cubicBezTo>
                    <a:pt x="11430" y="50800"/>
                    <a:pt x="0" y="39370"/>
                    <a:pt x="0" y="25400"/>
                  </a:cubicBezTo>
                  <a:cubicBezTo>
                    <a:pt x="0" y="11430"/>
                    <a:pt x="11430" y="0"/>
                    <a:pt x="25400" y="0"/>
                  </a:cubicBezTo>
                  <a:close/>
                </a:path>
              </a:pathLst>
            </a:custGeom>
            <a:solidFill>
              <a:srgbClr val="0A2A66"/>
            </a:solidFill>
          </p:spPr>
        </p:sp>
      </p:grpSp>
      <p:grpSp>
        <p:nvGrpSpPr>
          <p:cNvPr name="Group 20" id="20"/>
          <p:cNvGrpSpPr/>
          <p:nvPr/>
        </p:nvGrpSpPr>
        <p:grpSpPr>
          <a:xfrm rot="5400000">
            <a:off x="5872162" y="4729162"/>
            <a:ext cx="447675" cy="38100"/>
            <a:chOff x="0" y="0"/>
            <a:chExt cx="596900" cy="50800"/>
          </a:xfrm>
        </p:grpSpPr>
        <p:sp>
          <p:nvSpPr>
            <p:cNvPr name="Freeform 21" id="21"/>
            <p:cNvSpPr/>
            <p:nvPr/>
          </p:nvSpPr>
          <p:spPr>
            <a:xfrm flipH="false" flipV="false" rot="0">
              <a:off x="0" y="0"/>
              <a:ext cx="596900" cy="50800"/>
            </a:xfrm>
            <a:custGeom>
              <a:avLst/>
              <a:gdLst/>
              <a:ahLst/>
              <a:cxnLst/>
              <a:rect r="r" b="b" t="t" l="l"/>
              <a:pathLst>
                <a:path h="50800" w="596900">
                  <a:moveTo>
                    <a:pt x="25400" y="0"/>
                  </a:moveTo>
                  <a:lnTo>
                    <a:pt x="571500" y="0"/>
                  </a:lnTo>
                  <a:cubicBezTo>
                    <a:pt x="585470" y="0"/>
                    <a:pt x="596900" y="11430"/>
                    <a:pt x="596900" y="25400"/>
                  </a:cubicBezTo>
                  <a:cubicBezTo>
                    <a:pt x="596900" y="39370"/>
                    <a:pt x="585470" y="50800"/>
                    <a:pt x="571500" y="50800"/>
                  </a:cubicBezTo>
                  <a:lnTo>
                    <a:pt x="25400" y="50800"/>
                  </a:lnTo>
                  <a:cubicBezTo>
                    <a:pt x="11430" y="50800"/>
                    <a:pt x="0" y="39370"/>
                    <a:pt x="0" y="25400"/>
                  </a:cubicBezTo>
                  <a:cubicBezTo>
                    <a:pt x="0" y="11430"/>
                    <a:pt x="11430" y="0"/>
                    <a:pt x="25400" y="0"/>
                  </a:cubicBezTo>
                  <a:close/>
                </a:path>
              </a:pathLst>
            </a:custGeom>
            <a:solidFill>
              <a:srgbClr val="0A2A66"/>
            </a:solidFill>
          </p:spPr>
        </p:sp>
      </p:grpSp>
      <p:grpSp>
        <p:nvGrpSpPr>
          <p:cNvPr name="Group 22" id="22"/>
          <p:cNvGrpSpPr/>
          <p:nvPr/>
        </p:nvGrpSpPr>
        <p:grpSpPr>
          <a:xfrm rot="5400000">
            <a:off x="8543925" y="4200525"/>
            <a:ext cx="628650" cy="38100"/>
            <a:chOff x="0" y="0"/>
            <a:chExt cx="838200" cy="50800"/>
          </a:xfrm>
        </p:grpSpPr>
        <p:sp>
          <p:nvSpPr>
            <p:cNvPr name="Freeform 23" id="23"/>
            <p:cNvSpPr/>
            <p:nvPr/>
          </p:nvSpPr>
          <p:spPr>
            <a:xfrm flipH="false" flipV="false" rot="0">
              <a:off x="0" y="0"/>
              <a:ext cx="838200" cy="50800"/>
            </a:xfrm>
            <a:custGeom>
              <a:avLst/>
              <a:gdLst/>
              <a:ahLst/>
              <a:cxnLst/>
              <a:rect r="r" b="b" t="t" l="l"/>
              <a:pathLst>
                <a:path h="50800" w="838200">
                  <a:moveTo>
                    <a:pt x="25400" y="0"/>
                  </a:moveTo>
                  <a:lnTo>
                    <a:pt x="812800" y="0"/>
                  </a:lnTo>
                  <a:cubicBezTo>
                    <a:pt x="826770" y="0"/>
                    <a:pt x="838200" y="11430"/>
                    <a:pt x="838200" y="25400"/>
                  </a:cubicBezTo>
                  <a:cubicBezTo>
                    <a:pt x="838200" y="39370"/>
                    <a:pt x="826770" y="50800"/>
                    <a:pt x="812800" y="50800"/>
                  </a:cubicBezTo>
                  <a:lnTo>
                    <a:pt x="25400" y="50800"/>
                  </a:lnTo>
                  <a:cubicBezTo>
                    <a:pt x="11430" y="50800"/>
                    <a:pt x="0" y="39370"/>
                    <a:pt x="0" y="25400"/>
                  </a:cubicBezTo>
                  <a:cubicBezTo>
                    <a:pt x="0" y="11430"/>
                    <a:pt x="11430" y="0"/>
                    <a:pt x="25400" y="0"/>
                  </a:cubicBezTo>
                  <a:close/>
                </a:path>
              </a:pathLst>
            </a:custGeom>
            <a:solidFill>
              <a:srgbClr val="14BF96"/>
            </a:solidFill>
          </p:spPr>
        </p:sp>
      </p:grpSp>
      <p:grpSp>
        <p:nvGrpSpPr>
          <p:cNvPr name="Group 24" id="24"/>
          <p:cNvGrpSpPr/>
          <p:nvPr/>
        </p:nvGrpSpPr>
        <p:grpSpPr>
          <a:xfrm rot="-10800000">
            <a:off x="6086475" y="4505325"/>
            <a:ext cx="2771775" cy="38100"/>
            <a:chOff x="0" y="0"/>
            <a:chExt cx="3695700" cy="50800"/>
          </a:xfrm>
        </p:grpSpPr>
        <p:sp>
          <p:nvSpPr>
            <p:cNvPr name="Freeform 25" id="25"/>
            <p:cNvSpPr/>
            <p:nvPr/>
          </p:nvSpPr>
          <p:spPr>
            <a:xfrm flipH="false" flipV="false" rot="0">
              <a:off x="0" y="0"/>
              <a:ext cx="3695700" cy="50800"/>
            </a:xfrm>
            <a:custGeom>
              <a:avLst/>
              <a:gdLst/>
              <a:ahLst/>
              <a:cxnLst/>
              <a:rect r="r" b="b" t="t" l="l"/>
              <a:pathLst>
                <a:path h="50800" w="3695700">
                  <a:moveTo>
                    <a:pt x="25400" y="0"/>
                  </a:moveTo>
                  <a:lnTo>
                    <a:pt x="3670300" y="0"/>
                  </a:lnTo>
                  <a:cubicBezTo>
                    <a:pt x="3684270" y="0"/>
                    <a:pt x="3695700" y="11430"/>
                    <a:pt x="3695700" y="25400"/>
                  </a:cubicBezTo>
                  <a:cubicBezTo>
                    <a:pt x="3695700" y="39370"/>
                    <a:pt x="3684270" y="50800"/>
                    <a:pt x="3670300" y="50800"/>
                  </a:cubicBezTo>
                  <a:lnTo>
                    <a:pt x="25400" y="50800"/>
                  </a:lnTo>
                  <a:cubicBezTo>
                    <a:pt x="11430" y="50800"/>
                    <a:pt x="0" y="39370"/>
                    <a:pt x="0" y="25400"/>
                  </a:cubicBezTo>
                  <a:cubicBezTo>
                    <a:pt x="0" y="11430"/>
                    <a:pt x="11430" y="0"/>
                    <a:pt x="25400" y="0"/>
                  </a:cubicBezTo>
                  <a:close/>
                </a:path>
              </a:pathLst>
            </a:custGeom>
            <a:solidFill>
              <a:srgbClr val="14BF96"/>
            </a:solidFill>
          </p:spPr>
        </p:sp>
      </p:grpSp>
      <p:sp>
        <p:nvSpPr>
          <p:cNvPr name="AutoShape 26" id="26"/>
          <p:cNvSpPr/>
          <p:nvPr/>
        </p:nvSpPr>
        <p:spPr>
          <a:xfrm rot="0">
            <a:off x="1809750" y="4962525"/>
            <a:ext cx="8572500" cy="819150"/>
          </a:xfrm>
          <a:prstGeom prst="rect">
            <a:avLst/>
          </a:prstGeom>
          <a:solidFill>
            <a:srgbClr val="0A2A66"/>
          </a:solidFill>
        </p:spPr>
      </p:sp>
      <p:sp>
        <p:nvSpPr>
          <p:cNvPr name="TextBox 27" id="27"/>
          <p:cNvSpPr txBox="true"/>
          <p:nvPr/>
        </p:nvSpPr>
        <p:spPr>
          <a:xfrm rot="0">
            <a:off x="609600" y="5067300"/>
            <a:ext cx="10972800" cy="299656"/>
          </a:xfrm>
          <a:prstGeom prst="rect">
            <a:avLst/>
          </a:prstGeom>
        </p:spPr>
        <p:txBody>
          <a:bodyPr anchor="t" rtlCol="false" tIns="0" lIns="0" bIns="0" rIns="0">
            <a:spAutoFit/>
          </a:bodyPr>
          <a:lstStyle/>
          <a:p>
            <a:pPr algn="ctr" marL="0" indent="0" lvl="0">
              <a:lnSpc>
                <a:spcPts val="2470"/>
              </a:lnSpc>
              <a:spcBef>
                <a:spcPct val="0"/>
              </a:spcBef>
            </a:pPr>
            <a:r>
              <a:rPr lang="en-US" sz="2025" strike="noStrike" u="none">
                <a:solidFill>
                  <a:srgbClr val="FFFFFF"/>
                </a:solidFill>
                <a:latin typeface="DM Sans"/>
                <a:ea typeface="DM Sans"/>
                <a:cs typeface="DM Sans"/>
                <a:sym typeface="DM Sans"/>
              </a:rPr>
              <a:t>Saved ideas and later questions turn a quick visit into a path back.</a:t>
            </a:r>
          </a:p>
        </p:txBody>
      </p:sp>
      <p:sp>
        <p:nvSpPr>
          <p:cNvPr name="TextBox 28" id="28"/>
          <p:cNvSpPr txBox="true"/>
          <p:nvPr/>
        </p:nvSpPr>
        <p:spPr>
          <a:xfrm rot="0">
            <a:off x="609600" y="6067425"/>
            <a:ext cx="10972800" cy="215456"/>
          </a:xfrm>
          <a:prstGeom prst="rect">
            <a:avLst/>
          </a:prstGeom>
        </p:spPr>
        <p:txBody>
          <a:bodyPr anchor="t" rtlCol="false" tIns="0" lIns="0" bIns="0" rIns="0">
            <a:spAutoFit/>
          </a:bodyPr>
          <a:lstStyle/>
          <a:p>
            <a:pPr algn="ctr" marL="0" indent="0" lvl="0">
              <a:lnSpc>
                <a:spcPts val="1738"/>
              </a:lnSpc>
              <a:spcBef>
                <a:spcPct val="0"/>
              </a:spcBef>
            </a:pPr>
            <a:r>
              <a:rPr lang="en-US" sz="1425" strike="noStrike" u="none">
                <a:solidFill>
                  <a:srgbClr val="0A2A66"/>
                </a:solidFill>
                <a:latin typeface="DM Sans"/>
                <a:ea typeface="DM Sans"/>
                <a:cs typeface="DM Sans"/>
                <a:sym typeface="DM Sans"/>
                <a:hlinkClick r:id="rId7" tooltip="https://doi.org/10.1038/s44159-022-00089-1"/>
              </a:rPr>
              <a:t>Learning design: recalling an idea and spacing practice · Carpenter, Pan &amp; Butler (2022)</a:t>
            </a:r>
          </a:p>
        </p:txBody>
      </p:sp>
      <p:sp>
        <p:nvSpPr>
          <p:cNvPr name="AutoShape 29" id="29"/>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0" id="30"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11</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Start with public access</a:t>
            </a:r>
          </a:p>
        </p:txBody>
      </p:sp>
      <p:sp>
        <p:nvSpPr>
          <p:cNvPr name="TextBox 10" id="10"/>
          <p:cNvSpPr txBox="true"/>
          <p:nvPr/>
        </p:nvSpPr>
        <p:spPr>
          <a:xfrm rot="0">
            <a:off x="609600" y="2114550"/>
            <a:ext cx="4095750" cy="187452"/>
          </a:xfrm>
          <a:prstGeom prst="rect">
            <a:avLst/>
          </a:prstGeom>
        </p:spPr>
        <p:txBody>
          <a:bodyPr anchor="t" rtlCol="false" tIns="0" lIns="0" bIns="0" rIns="0">
            <a:spAutoFit/>
          </a:bodyPr>
          <a:lstStyle/>
          <a:p>
            <a:pPr algn="l" marL="0" indent="0" lvl="0">
              <a:lnSpc>
                <a:spcPts val="1464"/>
              </a:lnSpc>
              <a:spcBef>
                <a:spcPct val="0"/>
              </a:spcBef>
            </a:pPr>
            <a:r>
              <a:rPr lang="en-US" sz="1200" strike="noStrike" u="none">
                <a:solidFill>
                  <a:srgbClr val="0A2A66"/>
                </a:solidFill>
                <a:latin typeface="DM Sans"/>
                <a:ea typeface="DM Sans"/>
                <a:cs typeface="DM Sans"/>
                <a:sym typeface="DM Sans"/>
              </a:rPr>
              <a:t>PUBLIC LAUNCH</a:t>
            </a:r>
          </a:p>
        </p:txBody>
      </p:sp>
      <p:sp>
        <p:nvSpPr>
          <p:cNvPr name="TextBox 11" id="11"/>
          <p:cNvSpPr txBox="true"/>
          <p:nvPr/>
        </p:nvSpPr>
        <p:spPr>
          <a:xfrm rot="0">
            <a:off x="6610350" y="2114550"/>
            <a:ext cx="4953000" cy="187452"/>
          </a:xfrm>
          <a:prstGeom prst="rect">
            <a:avLst/>
          </a:prstGeom>
        </p:spPr>
        <p:txBody>
          <a:bodyPr anchor="t" rtlCol="false" tIns="0" lIns="0" bIns="0" rIns="0">
            <a:spAutoFit/>
          </a:bodyPr>
          <a:lstStyle/>
          <a:p>
            <a:pPr algn="l" marL="0" indent="0" lvl="0">
              <a:lnSpc>
                <a:spcPts val="1464"/>
              </a:lnSpc>
              <a:spcBef>
                <a:spcPct val="0"/>
              </a:spcBef>
            </a:pPr>
            <a:r>
              <a:rPr lang="en-US" sz="1200" strike="noStrike" u="none">
                <a:solidFill>
                  <a:srgbClr val="0A2A66"/>
                </a:solidFill>
                <a:latin typeface="DM Sans"/>
                <a:ea typeface="DM Sans"/>
                <a:cs typeface="DM Sans"/>
                <a:sym typeface="DM Sans"/>
              </a:rPr>
              <a:t>NO DUNLO ACCOUNT NEEDED</a:t>
            </a:r>
          </a:p>
        </p:txBody>
      </p:sp>
      <p:sp>
        <p:nvSpPr>
          <p:cNvPr name="TextBox 12" id="12"/>
          <p:cNvSpPr txBox="true"/>
          <p:nvPr/>
        </p:nvSpPr>
        <p:spPr>
          <a:xfrm rot="0">
            <a:off x="609600" y="2895600"/>
            <a:ext cx="4191000" cy="430911"/>
          </a:xfrm>
          <a:prstGeom prst="rect">
            <a:avLst/>
          </a:prstGeom>
        </p:spPr>
        <p:txBody>
          <a:bodyPr anchor="t" rtlCol="false" tIns="0" lIns="0" bIns="0" rIns="0">
            <a:spAutoFit/>
          </a:bodyPr>
          <a:lstStyle/>
          <a:p>
            <a:pPr algn="ctr" marL="0" indent="0" lvl="0">
              <a:lnSpc>
                <a:spcPts val="3476"/>
              </a:lnSpc>
              <a:spcBef>
                <a:spcPct val="0"/>
              </a:spcBef>
            </a:pPr>
            <a:r>
              <a:rPr lang="en-US" sz="2850" strike="noStrike" u="none">
                <a:solidFill>
                  <a:srgbClr val="0A2A66"/>
                </a:solidFill>
                <a:latin typeface="DM Sans"/>
                <a:ea typeface="DM Sans"/>
                <a:cs typeface="DM Sans"/>
                <a:sym typeface="DM Sans"/>
              </a:rPr>
              <a:t>Open an idea</a:t>
            </a:r>
          </a:p>
        </p:txBody>
      </p:sp>
      <p:sp>
        <p:nvSpPr>
          <p:cNvPr name="AutoShape 13" id="13"/>
          <p:cNvSpPr/>
          <p:nvPr/>
        </p:nvSpPr>
        <p:spPr>
          <a:xfrm rot="0">
            <a:off x="4981575" y="3105150"/>
            <a:ext cx="981075" cy="38100"/>
          </a:xfrm>
          <a:prstGeom prst="rect">
            <a:avLst/>
          </a:prstGeom>
          <a:solidFill>
            <a:srgbClr val="0A2A66"/>
          </a:solidFill>
        </p:spPr>
      </p:sp>
      <p:grpSp>
        <p:nvGrpSpPr>
          <p:cNvPr name="Group 14" id="14"/>
          <p:cNvGrpSpPr/>
          <p:nvPr/>
        </p:nvGrpSpPr>
        <p:grpSpPr>
          <a:xfrm rot="1840140">
            <a:off x="5904833" y="3069526"/>
            <a:ext cx="171450" cy="28575"/>
            <a:chOff x="0" y="0"/>
            <a:chExt cx="228600" cy="38100"/>
          </a:xfrm>
        </p:grpSpPr>
        <p:sp>
          <p:nvSpPr>
            <p:cNvPr name="Freeform 15" id="1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0A2A66"/>
            </a:solidFill>
          </p:spPr>
        </p:sp>
      </p:grpSp>
      <p:grpSp>
        <p:nvGrpSpPr>
          <p:cNvPr name="Group 16" id="16"/>
          <p:cNvGrpSpPr/>
          <p:nvPr/>
        </p:nvGrpSpPr>
        <p:grpSpPr>
          <a:xfrm rot="8959860">
            <a:off x="5896737" y="3155252"/>
            <a:ext cx="171450" cy="28575"/>
            <a:chOff x="0" y="0"/>
            <a:chExt cx="228600" cy="38100"/>
          </a:xfrm>
        </p:grpSpPr>
        <p:sp>
          <p:nvSpPr>
            <p:cNvPr name="Freeform 17" id="1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0A2A66"/>
            </a:solidFill>
          </p:spPr>
        </p:sp>
      </p:grpSp>
      <p:sp>
        <p:nvSpPr>
          <p:cNvPr name="TextBox 18" id="18"/>
          <p:cNvSpPr txBox="true"/>
          <p:nvPr/>
        </p:nvSpPr>
        <p:spPr>
          <a:xfrm rot="0">
            <a:off x="6610350" y="2895600"/>
            <a:ext cx="4972050" cy="430911"/>
          </a:xfrm>
          <a:prstGeom prst="rect">
            <a:avLst/>
          </a:prstGeom>
        </p:spPr>
        <p:txBody>
          <a:bodyPr anchor="t" rtlCol="false" tIns="0" lIns="0" bIns="0" rIns="0">
            <a:spAutoFit/>
          </a:bodyPr>
          <a:lstStyle/>
          <a:p>
            <a:pPr algn="ctr" marL="0" indent="0" lvl="0">
              <a:lnSpc>
                <a:spcPts val="3476"/>
              </a:lnSpc>
              <a:spcBef>
                <a:spcPct val="0"/>
              </a:spcBef>
            </a:pPr>
            <a:r>
              <a:rPr lang="en-US" sz="2850" strike="noStrike" u="none">
                <a:solidFill>
                  <a:srgbClr val="0A2A66"/>
                </a:solidFill>
                <a:latin typeface="DM Sans"/>
                <a:ea typeface="DM Sans"/>
                <a:cs typeface="DM Sans"/>
                <a:sym typeface="DM Sans"/>
              </a:rPr>
              <a:t>Share an idea</a:t>
            </a:r>
          </a:p>
        </p:txBody>
      </p:sp>
      <p:sp>
        <p:nvSpPr>
          <p:cNvPr name="AutoShape 19" id="19"/>
          <p:cNvSpPr/>
          <p:nvPr/>
        </p:nvSpPr>
        <p:spPr>
          <a:xfrm rot="0">
            <a:off x="609600" y="3686175"/>
            <a:ext cx="10972800" cy="9525"/>
          </a:xfrm>
          <a:prstGeom prst="rect">
            <a:avLst/>
          </a:prstGeom>
          <a:solidFill>
            <a:srgbClr val="CCD7E4"/>
          </a:solidFill>
        </p:spPr>
      </p:sp>
      <p:sp>
        <p:nvSpPr>
          <p:cNvPr name="TextBox 20" id="20"/>
          <p:cNvSpPr txBox="true"/>
          <p:nvPr/>
        </p:nvSpPr>
        <p:spPr>
          <a:xfrm rot="0">
            <a:off x="609600" y="3857625"/>
            <a:ext cx="5000625" cy="566738"/>
          </a:xfrm>
          <a:prstGeom prst="rect">
            <a:avLst/>
          </a:prstGeom>
        </p:spPr>
        <p:txBody>
          <a:bodyPr anchor="t" rtlCol="false" tIns="0" lIns="0" bIns="0" rIns="0">
            <a:spAutoFit/>
          </a:bodyPr>
          <a:lstStyle/>
          <a:p>
            <a:pPr algn="ctr" marL="0" indent="0" lvl="0">
              <a:lnSpc>
                <a:spcPts val="2287"/>
              </a:lnSpc>
              <a:spcBef>
                <a:spcPct val="0"/>
              </a:spcBef>
            </a:pPr>
            <a:r>
              <a:rPr lang="en-US" sz="1875" strike="noStrike" u="none">
                <a:solidFill>
                  <a:srgbClr val="0A2A66"/>
                </a:solidFill>
                <a:latin typeface="DM Sans"/>
                <a:ea typeface="DM Sans"/>
                <a:cs typeface="DM Sans"/>
                <a:sym typeface="DM Sans"/>
              </a:rPr>
              <a:t>Public topic links will let learners</a:t>
            </a:r>
          </a:p>
          <a:p>
            <a:pPr algn="ctr" marL="0" indent="0" lvl="0">
              <a:lnSpc>
                <a:spcPts val="2287"/>
              </a:lnSpc>
              <a:spcBef>
                <a:spcPct val="0"/>
              </a:spcBef>
            </a:pPr>
            <a:r>
              <a:rPr lang="en-US" sz="1875" strike="noStrike" u="none">
                <a:solidFill>
                  <a:srgbClr val="0A2A66"/>
                </a:solidFill>
                <a:latin typeface="DM Sans"/>
                <a:ea typeface="DM Sans"/>
                <a:cs typeface="DM Sans"/>
                <a:sym typeface="DM Sans"/>
              </a:rPr>
              <a:t>open an idea without a Dunlo account.</a:t>
            </a:r>
          </a:p>
        </p:txBody>
      </p:sp>
      <p:sp>
        <p:nvSpPr>
          <p:cNvPr name="AutoShape 21" id="21"/>
          <p:cNvSpPr/>
          <p:nvPr/>
        </p:nvSpPr>
        <p:spPr>
          <a:xfrm rot="0">
            <a:off x="4981575" y="4191000"/>
            <a:ext cx="981075" cy="38100"/>
          </a:xfrm>
          <a:prstGeom prst="rect">
            <a:avLst/>
          </a:prstGeom>
          <a:solidFill>
            <a:srgbClr val="C96331"/>
          </a:solidFill>
        </p:spPr>
      </p:sp>
      <p:grpSp>
        <p:nvGrpSpPr>
          <p:cNvPr name="Group 22" id="22"/>
          <p:cNvGrpSpPr/>
          <p:nvPr/>
        </p:nvGrpSpPr>
        <p:grpSpPr>
          <a:xfrm rot="1840140">
            <a:off x="5904833" y="4155376"/>
            <a:ext cx="171450" cy="28575"/>
            <a:chOff x="0" y="0"/>
            <a:chExt cx="228600" cy="38100"/>
          </a:xfrm>
        </p:grpSpPr>
        <p:sp>
          <p:nvSpPr>
            <p:cNvPr name="Freeform 23" id="23"/>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96331"/>
            </a:solidFill>
          </p:spPr>
        </p:sp>
      </p:grpSp>
      <p:grpSp>
        <p:nvGrpSpPr>
          <p:cNvPr name="Group 24" id="24"/>
          <p:cNvGrpSpPr/>
          <p:nvPr/>
        </p:nvGrpSpPr>
        <p:grpSpPr>
          <a:xfrm rot="8959860">
            <a:off x="5896737" y="4241102"/>
            <a:ext cx="171450" cy="28575"/>
            <a:chOff x="0" y="0"/>
            <a:chExt cx="228600" cy="38100"/>
          </a:xfrm>
        </p:grpSpPr>
        <p:sp>
          <p:nvSpPr>
            <p:cNvPr name="Freeform 25" id="2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96331"/>
            </a:solidFill>
          </p:spPr>
        </p:sp>
      </p:grpSp>
      <p:sp>
        <p:nvSpPr>
          <p:cNvPr name="TextBox 26" id="26"/>
          <p:cNvSpPr txBox="true"/>
          <p:nvPr/>
        </p:nvSpPr>
        <p:spPr>
          <a:xfrm rot="0">
            <a:off x="6610350" y="3857625"/>
            <a:ext cx="4972050" cy="566738"/>
          </a:xfrm>
          <a:prstGeom prst="rect">
            <a:avLst/>
          </a:prstGeom>
        </p:spPr>
        <p:txBody>
          <a:bodyPr anchor="t" rtlCol="false" tIns="0" lIns="0" bIns="0" rIns="0">
            <a:spAutoFit/>
          </a:bodyPr>
          <a:lstStyle/>
          <a:p>
            <a:pPr algn="ctr" marL="0" indent="0" lvl="0">
              <a:lnSpc>
                <a:spcPts val="2287"/>
              </a:lnSpc>
              <a:spcBef>
                <a:spcPct val="0"/>
              </a:spcBef>
            </a:pPr>
            <a:r>
              <a:rPr lang="en-US" sz="1875" strike="noStrike" u="none">
                <a:solidFill>
                  <a:srgbClr val="0A2A66"/>
                </a:solidFill>
                <a:latin typeface="DM Sans"/>
                <a:ea typeface="DM Sans"/>
                <a:cs typeface="DM Sans"/>
                <a:sym typeface="DM Sans"/>
              </a:rPr>
              <a:t>Save and share a specific challenge</a:t>
            </a:r>
          </a:p>
          <a:p>
            <a:pPr algn="ctr" marL="0" indent="0" lvl="0">
              <a:lnSpc>
                <a:spcPts val="2287"/>
              </a:lnSpc>
              <a:spcBef>
                <a:spcPct val="0"/>
              </a:spcBef>
            </a:pPr>
            <a:r>
              <a:rPr lang="en-US" sz="1875" strike="noStrike" u="none">
                <a:solidFill>
                  <a:srgbClr val="0A2A66"/>
                </a:solidFill>
                <a:latin typeface="DM Sans"/>
                <a:ea typeface="DM Sans"/>
                <a:cs typeface="DM Sans"/>
                <a:sym typeface="DM Sans"/>
              </a:rPr>
              <a:t>to give someone a useful starting point.</a:t>
            </a:r>
          </a:p>
        </p:txBody>
      </p:sp>
      <p:sp>
        <p:nvSpPr>
          <p:cNvPr name="AutoShape 27" id="27"/>
          <p:cNvSpPr/>
          <p:nvPr/>
        </p:nvSpPr>
        <p:spPr>
          <a:xfrm rot="0">
            <a:off x="609600" y="4772025"/>
            <a:ext cx="10972800" cy="9525"/>
          </a:xfrm>
          <a:prstGeom prst="rect">
            <a:avLst/>
          </a:prstGeom>
          <a:solidFill>
            <a:srgbClr val="CCD7E4"/>
          </a:solidFill>
        </p:spPr>
      </p:sp>
      <p:sp>
        <p:nvSpPr>
          <p:cNvPr name="TextBox 28" id="28"/>
          <p:cNvSpPr txBox="true"/>
          <p:nvPr/>
        </p:nvSpPr>
        <p:spPr>
          <a:xfrm rot="0">
            <a:off x="609600" y="5076825"/>
            <a:ext cx="419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Launch with short demo posts</a:t>
            </a:r>
          </a:p>
        </p:txBody>
      </p:sp>
      <p:sp>
        <p:nvSpPr>
          <p:cNvPr name="AutoShape 29" id="29"/>
          <p:cNvSpPr/>
          <p:nvPr/>
        </p:nvSpPr>
        <p:spPr>
          <a:xfrm rot="0">
            <a:off x="4981575" y="5276850"/>
            <a:ext cx="981075" cy="38100"/>
          </a:xfrm>
          <a:prstGeom prst="rect">
            <a:avLst/>
          </a:prstGeom>
          <a:solidFill>
            <a:srgbClr val="14BF96"/>
          </a:solidFill>
        </p:spPr>
      </p:sp>
      <p:grpSp>
        <p:nvGrpSpPr>
          <p:cNvPr name="Group 30" id="30"/>
          <p:cNvGrpSpPr/>
          <p:nvPr/>
        </p:nvGrpSpPr>
        <p:grpSpPr>
          <a:xfrm rot="1840140">
            <a:off x="5904833" y="5241226"/>
            <a:ext cx="171450" cy="28575"/>
            <a:chOff x="0" y="0"/>
            <a:chExt cx="228600" cy="38100"/>
          </a:xfrm>
        </p:grpSpPr>
        <p:sp>
          <p:nvSpPr>
            <p:cNvPr name="Freeform 31" id="31"/>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14BF96"/>
            </a:solidFill>
          </p:spPr>
        </p:sp>
      </p:grpSp>
      <p:grpSp>
        <p:nvGrpSpPr>
          <p:cNvPr name="Group 32" id="32"/>
          <p:cNvGrpSpPr/>
          <p:nvPr/>
        </p:nvGrpSpPr>
        <p:grpSpPr>
          <a:xfrm rot="8959860">
            <a:off x="5896737" y="5326952"/>
            <a:ext cx="171450" cy="28575"/>
            <a:chOff x="0" y="0"/>
            <a:chExt cx="228600" cy="38100"/>
          </a:xfrm>
        </p:grpSpPr>
        <p:sp>
          <p:nvSpPr>
            <p:cNvPr name="Freeform 33" id="33"/>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14BF96"/>
            </a:solidFill>
          </p:spPr>
        </p:sp>
      </p:grpSp>
      <p:sp>
        <p:nvSpPr>
          <p:cNvPr name="TextBox 34" id="34"/>
          <p:cNvSpPr txBox="true"/>
          <p:nvPr/>
        </p:nvSpPr>
        <p:spPr>
          <a:xfrm rot="0">
            <a:off x="6610350" y="5076825"/>
            <a:ext cx="497205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Link each post to the matching idea</a:t>
            </a:r>
          </a:p>
        </p:txBody>
      </p:sp>
      <p:sp>
        <p:nvSpPr>
          <p:cNvPr name="TextBox 35" id="35"/>
          <p:cNvSpPr txBox="true"/>
          <p:nvPr/>
        </p:nvSpPr>
        <p:spPr>
          <a:xfrm rot="0">
            <a:off x="609600" y="6191250"/>
            <a:ext cx="1057275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Start online through public sharing; future school or community use can extend this model.</a:t>
            </a:r>
          </a:p>
        </p:txBody>
      </p:sp>
      <p:sp>
        <p:nvSpPr>
          <p:cNvPr name="AutoShape 36" id="36"/>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7" id="37"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12</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A practical launch and growth plan</a:t>
            </a:r>
          </a:p>
        </p:txBody>
      </p:sp>
      <p:sp>
        <p:nvSpPr>
          <p:cNvPr name="AutoShape 10" id="10"/>
          <p:cNvSpPr/>
          <p:nvPr/>
        </p:nvSpPr>
        <p:spPr>
          <a:xfrm rot="0">
            <a:off x="609600" y="2333625"/>
            <a:ext cx="3200400" cy="885825"/>
          </a:xfrm>
          <a:prstGeom prst="rect">
            <a:avLst/>
          </a:prstGeom>
          <a:solidFill>
            <a:srgbClr val="D9F2EA"/>
          </a:solidFill>
        </p:spPr>
      </p:sp>
      <p:sp>
        <p:nvSpPr>
          <p:cNvPr name="TextBox 11" id="11"/>
          <p:cNvSpPr txBox="true"/>
          <p:nvPr/>
        </p:nvSpPr>
        <p:spPr>
          <a:xfrm rot="0">
            <a:off x="762000" y="2371725"/>
            <a:ext cx="2895600" cy="824103"/>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NOV 2026</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Review content</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and launch publicly</a:t>
            </a:r>
          </a:p>
        </p:txBody>
      </p:sp>
      <p:sp>
        <p:nvSpPr>
          <p:cNvPr name="AutoShape 12" id="12"/>
          <p:cNvSpPr/>
          <p:nvPr/>
        </p:nvSpPr>
        <p:spPr>
          <a:xfrm rot="0">
            <a:off x="4495800" y="2333625"/>
            <a:ext cx="3200400" cy="885825"/>
          </a:xfrm>
          <a:prstGeom prst="rect">
            <a:avLst/>
          </a:prstGeom>
          <a:solidFill>
            <a:srgbClr val="F0EFFF"/>
          </a:solidFill>
        </p:spPr>
      </p:sp>
      <p:sp>
        <p:nvSpPr>
          <p:cNvPr name="TextBox 13" id="13"/>
          <p:cNvSpPr txBox="true"/>
          <p:nvPr/>
        </p:nvSpPr>
        <p:spPr>
          <a:xfrm rot="0">
            <a:off x="4362450" y="2371725"/>
            <a:ext cx="3467100" cy="824103"/>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DEC 2026–FEB 2027</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Gather feedback</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and refine the flow</a:t>
            </a:r>
          </a:p>
        </p:txBody>
      </p:sp>
      <p:sp>
        <p:nvSpPr>
          <p:cNvPr name="AutoShape 14" id="14"/>
          <p:cNvSpPr/>
          <p:nvPr/>
        </p:nvSpPr>
        <p:spPr>
          <a:xfrm rot="0">
            <a:off x="8382000" y="2333625"/>
            <a:ext cx="3200400" cy="885825"/>
          </a:xfrm>
          <a:prstGeom prst="rect">
            <a:avLst/>
          </a:prstGeom>
          <a:solidFill>
            <a:srgbClr val="D9F2EA"/>
          </a:solidFill>
        </p:spPr>
      </p:sp>
      <p:sp>
        <p:nvSpPr>
          <p:cNvPr name="TextBox 15" id="15"/>
          <p:cNvSpPr txBox="true"/>
          <p:nvPr/>
        </p:nvSpPr>
        <p:spPr>
          <a:xfrm rot="0">
            <a:off x="8248650" y="2371725"/>
            <a:ext cx="3467100" cy="824103"/>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MAR 2027</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Evaluate use</a:t>
            </a:r>
          </a:p>
          <a:p>
            <a:pPr algn="ctr" marL="0" indent="0" lvl="0">
              <a:lnSpc>
                <a:spcPts val="2196"/>
              </a:lnSpc>
              <a:spcBef>
                <a:spcPct val="0"/>
              </a:spcBef>
            </a:pPr>
            <a:r>
              <a:rPr lang="en-US" sz="1800" strike="noStrike" u="none">
                <a:solidFill>
                  <a:srgbClr val="0A2A66"/>
                </a:solidFill>
                <a:latin typeface="DM Sans"/>
                <a:ea typeface="DM Sans"/>
                <a:cs typeface="DM Sans"/>
                <a:sym typeface="DM Sans"/>
              </a:rPr>
              <a:t>and plan continuation</a:t>
            </a:r>
          </a:p>
        </p:txBody>
      </p:sp>
      <p:sp>
        <p:nvSpPr>
          <p:cNvPr name="TextBox 16" id="16"/>
          <p:cNvSpPr txBox="true"/>
          <p:nvPr/>
        </p:nvSpPr>
        <p:spPr>
          <a:xfrm rot="0">
            <a:off x="609600" y="3905250"/>
            <a:ext cx="10972800" cy="374904"/>
          </a:xfrm>
          <a:prstGeom prst="rect">
            <a:avLst/>
          </a:prstGeom>
        </p:spPr>
        <p:txBody>
          <a:bodyPr anchor="t" rtlCol="false" tIns="0" lIns="0" bIns="0" rIns="0">
            <a:spAutoFit/>
          </a:bodyPr>
          <a:lstStyle/>
          <a:p>
            <a:pPr algn="ctr" marL="0" indent="0" lvl="0">
              <a:lnSpc>
                <a:spcPts val="2928"/>
              </a:lnSpc>
              <a:spcBef>
                <a:spcPct val="0"/>
              </a:spcBef>
            </a:pPr>
            <a:r>
              <a:rPr lang="en-US" sz="2400" strike="noStrike" u="none">
                <a:solidFill>
                  <a:srgbClr val="0A2A66"/>
                </a:solidFill>
                <a:latin typeface="DM Sans"/>
                <a:ea typeface="DM Sans"/>
                <a:cs typeface="DM Sans"/>
                <a:sym typeface="DM Sans"/>
              </a:rPr>
              <a:t>Expand through reviewed learning sequences</a:t>
            </a:r>
          </a:p>
        </p:txBody>
      </p:sp>
      <p:sp>
        <p:nvSpPr>
          <p:cNvPr name="TextBox 17" id="17"/>
          <p:cNvSpPr txBox="true"/>
          <p:nvPr/>
        </p:nvSpPr>
        <p:spPr>
          <a:xfrm rot="0">
            <a:off x="609600" y="4467225"/>
            <a:ext cx="109728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Each new topic will include an interactive or clip, a matching Khan activity,</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worked support and fresh questions.</a:t>
            </a:r>
          </a:p>
        </p:txBody>
      </p:sp>
      <p:sp>
        <p:nvSpPr>
          <p:cNvPr name="TextBox 18" id="18"/>
          <p:cNvSpPr txBox="true"/>
          <p:nvPr/>
        </p:nvSpPr>
        <p:spPr>
          <a:xfrm rot="0">
            <a:off x="609600" y="5286375"/>
            <a:ext cx="10972800" cy="280988"/>
          </a:xfrm>
          <a:prstGeom prst="rect">
            <a:avLst/>
          </a:prstGeom>
        </p:spPr>
        <p:txBody>
          <a:bodyPr anchor="t" rtlCol="false" tIns="0" lIns="0" bIns="0" rIns="0">
            <a:spAutoFit/>
          </a:bodyPr>
          <a:lstStyle/>
          <a:p>
            <a:pPr algn="ctr" marL="0" indent="0" lvl="0">
              <a:lnSpc>
                <a:spcPts val="2287"/>
              </a:lnSpc>
              <a:spcBef>
                <a:spcPct val="0"/>
              </a:spcBef>
            </a:pPr>
            <a:r>
              <a:rPr lang="en-US" sz="1875" strike="noStrike" u="none">
                <a:solidFill>
                  <a:srgbClr val="0A2A66"/>
                </a:solidFill>
                <a:latin typeface="DM Sans"/>
                <a:ea typeface="DM Sans"/>
                <a:cs typeface="DM Sans"/>
                <a:sym typeface="DM Sans"/>
              </a:rPr>
              <a:t>Track which ideas learners open, where they stop and how fresh answers change.</a:t>
            </a:r>
          </a:p>
        </p:txBody>
      </p:sp>
      <p:sp>
        <p:nvSpPr>
          <p:cNvPr name="TextBox 19" id="19"/>
          <p:cNvSpPr txBox="true"/>
          <p:nvPr/>
        </p:nvSpPr>
        <p:spPr>
          <a:xfrm rot="0">
            <a:off x="609600" y="6010275"/>
            <a:ext cx="10668000" cy="243649"/>
          </a:xfrm>
          <a:prstGeom prst="rect">
            <a:avLst/>
          </a:prstGeom>
        </p:spPr>
        <p:txBody>
          <a:bodyPr anchor="t" rtlCol="false" tIns="0" lIns="0" bIns="0" rIns="0">
            <a:spAutoFit/>
          </a:bodyPr>
          <a:lstStyle/>
          <a:p>
            <a:pPr algn="ctr" marL="0" indent="0" lvl="0">
              <a:lnSpc>
                <a:spcPts val="1921"/>
              </a:lnSpc>
              <a:spcBef>
                <a:spcPct val="0"/>
              </a:spcBef>
            </a:pPr>
            <a:r>
              <a:rPr lang="en-US" sz="1575" strike="noStrike" u="none">
                <a:solidFill>
                  <a:srgbClr val="0A2A66"/>
                </a:solidFill>
                <a:latin typeface="DM Sans"/>
                <a:ea typeface="DM Sans"/>
                <a:cs typeface="DM Sans"/>
                <a:sym typeface="DM Sans"/>
              </a:rPr>
              <a:t>Next extensions: more subjects, reviewed Filipino content and original offline mini-packs.</a:t>
            </a:r>
          </a:p>
        </p:txBody>
      </p:sp>
      <p:sp>
        <p:nvSpPr>
          <p:cNvPr name="AutoShape 20" id="20"/>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21" id="21"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13</a:t>
            </a:r>
          </a:p>
        </p:txBody>
      </p:sp>
      <p:sp>
        <p:nvSpPr>
          <p:cNvPr name="TextBox 9" id="9"/>
          <p:cNvSpPr txBox="true"/>
          <p:nvPr/>
        </p:nvSpPr>
        <p:spPr>
          <a:xfrm rot="0">
            <a:off x="609600" y="866775"/>
            <a:ext cx="10972800" cy="459105"/>
          </a:xfrm>
          <a:prstGeom prst="rect">
            <a:avLst/>
          </a:prstGeom>
        </p:spPr>
        <p:txBody>
          <a:bodyPr anchor="t" rtlCol="false" tIns="0" lIns="0" bIns="0" rIns="0">
            <a:spAutoFit/>
          </a:bodyPr>
          <a:lstStyle/>
          <a:p>
            <a:pPr algn="l" marL="0" indent="0" lvl="0">
              <a:lnSpc>
                <a:spcPts val="3660"/>
              </a:lnSpc>
              <a:spcBef>
                <a:spcPct val="0"/>
              </a:spcBef>
            </a:pPr>
            <a:r>
              <a:rPr lang="en-US" b="true" sz="3000" strike="noStrike" u="none">
                <a:solidFill>
                  <a:srgbClr val="0A2A66"/>
                </a:solidFill>
                <a:latin typeface="DM Sans Bold"/>
                <a:ea typeface="DM Sans Bold"/>
                <a:cs typeface="DM Sans Bold"/>
                <a:sym typeface="DM Sans Bold"/>
              </a:rPr>
              <a:t>Free learning. A plan for continuity.</a:t>
            </a:r>
          </a:p>
        </p:txBody>
      </p:sp>
      <p:sp>
        <p:nvSpPr>
          <p:cNvPr name="TextBox 10" id="10"/>
          <p:cNvSpPr txBox="true"/>
          <p:nvPr/>
        </p:nvSpPr>
        <p:spPr>
          <a:xfrm rot="0">
            <a:off x="609600" y="2066925"/>
            <a:ext cx="5429250" cy="459105"/>
          </a:xfrm>
          <a:prstGeom prst="rect">
            <a:avLst/>
          </a:prstGeom>
        </p:spPr>
        <p:txBody>
          <a:bodyPr anchor="t" rtlCol="false" tIns="0" lIns="0" bIns="0" rIns="0">
            <a:spAutoFit/>
          </a:bodyPr>
          <a:lstStyle/>
          <a:p>
            <a:pPr algn="l" marL="0" indent="0" lvl="0">
              <a:lnSpc>
                <a:spcPts val="3660"/>
              </a:lnSpc>
              <a:spcBef>
                <a:spcPct val="0"/>
              </a:spcBef>
            </a:pPr>
            <a:r>
              <a:rPr lang="en-US" sz="3000" strike="noStrike" u="none">
                <a:solidFill>
                  <a:srgbClr val="0A2A66"/>
                </a:solidFill>
                <a:latin typeface="DM Sans"/>
                <a:ea typeface="DM Sans"/>
                <a:cs typeface="DM Sans"/>
                <a:sym typeface="DM Sans"/>
              </a:rPr>
              <a:t>PHP 100,000</a:t>
            </a:r>
          </a:p>
        </p:txBody>
      </p:sp>
      <p:sp>
        <p:nvSpPr>
          <p:cNvPr name="TextBox 11" id="11"/>
          <p:cNvSpPr txBox="true"/>
          <p:nvPr/>
        </p:nvSpPr>
        <p:spPr>
          <a:xfrm rot="0">
            <a:off x="609600" y="2933700"/>
            <a:ext cx="5334000" cy="787146"/>
          </a:xfrm>
          <a:prstGeom prst="rect">
            <a:avLst/>
          </a:prstGeom>
        </p:spPr>
        <p:txBody>
          <a:bodyPr anchor="t" rtlCol="false" tIns="0" lIns="0" bIns="0" rIns="0">
            <a:spAutoFit/>
          </a:bodyPr>
          <a:lstStyle/>
          <a:p>
            <a:pPr algn="l" marL="0" indent="0" lvl="0">
              <a:lnSpc>
                <a:spcPts val="6222"/>
              </a:lnSpc>
              <a:spcBef>
                <a:spcPct val="0"/>
              </a:spcBef>
            </a:pPr>
            <a:r>
              <a:rPr lang="en-US" b="true" sz="5100" strike="noStrike" u="none">
                <a:solidFill>
                  <a:srgbClr val="0A2A66"/>
                </a:solidFill>
                <a:latin typeface="DM Sans Bold"/>
                <a:ea typeface="DM Sans Bold"/>
                <a:cs typeface="DM Sans Bold"/>
                <a:sym typeface="DM Sans Bold"/>
              </a:rPr>
              <a:t>60%</a:t>
            </a:r>
          </a:p>
        </p:txBody>
      </p:sp>
      <p:sp>
        <p:nvSpPr>
          <p:cNvPr name="TextBox 12" id="12"/>
          <p:cNvSpPr txBox="true"/>
          <p:nvPr/>
        </p:nvSpPr>
        <p:spPr>
          <a:xfrm rot="0">
            <a:off x="609600" y="4200525"/>
            <a:ext cx="5105400" cy="651891"/>
          </a:xfrm>
          <a:prstGeom prst="rect">
            <a:avLst/>
          </a:prstGeom>
        </p:spPr>
        <p:txBody>
          <a:bodyPr anchor="t" rtlCol="false" tIns="0" lIns="0" bIns="0" rIns="0">
            <a:spAutoFit/>
          </a:bodyPr>
          <a:lstStyle/>
          <a:p>
            <a:pPr algn="l" marL="0" indent="0" lvl="0">
              <a:lnSpc>
                <a:spcPts val="2562"/>
              </a:lnSpc>
              <a:spcBef>
                <a:spcPct val="0"/>
              </a:spcBef>
            </a:pPr>
            <a:r>
              <a:rPr lang="en-US" sz="2100" strike="noStrike" u="none">
                <a:solidFill>
                  <a:srgbClr val="0A2A66"/>
                </a:solidFill>
                <a:latin typeface="DM Sans"/>
                <a:ea typeface="DM Sans"/>
                <a:cs typeface="DM Sans"/>
                <a:sym typeface="DM Sans"/>
              </a:rPr>
              <a:t>Content review,</a:t>
            </a:r>
          </a:p>
          <a:p>
            <a:pPr algn="l" marL="0" indent="0" lvl="0">
              <a:lnSpc>
                <a:spcPts val="2562"/>
              </a:lnSpc>
              <a:spcBef>
                <a:spcPct val="0"/>
              </a:spcBef>
            </a:pPr>
            <a:r>
              <a:rPr lang="en-US" sz="2100" strike="noStrike" u="none">
                <a:solidFill>
                  <a:srgbClr val="0A2A66"/>
                </a:solidFill>
                <a:latin typeface="DM Sans"/>
                <a:ea typeface="DM Sans"/>
                <a:cs typeface="DM Sans"/>
                <a:sym typeface="DM Sans"/>
              </a:rPr>
              <a:t>access and evaluation</a:t>
            </a:r>
          </a:p>
        </p:txBody>
      </p:sp>
      <p:sp>
        <p:nvSpPr>
          <p:cNvPr name="TextBox 13" id="13"/>
          <p:cNvSpPr txBox="true"/>
          <p:nvPr/>
        </p:nvSpPr>
        <p:spPr>
          <a:xfrm rot="0">
            <a:off x="609600" y="5676900"/>
            <a:ext cx="4953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Seek support for free delivery and maintenance.</a:t>
            </a:r>
          </a:p>
        </p:txBody>
      </p:sp>
      <p:grpSp>
        <p:nvGrpSpPr>
          <p:cNvPr name="Group 14" id="14"/>
          <p:cNvGrpSpPr/>
          <p:nvPr/>
        </p:nvGrpSpPr>
        <p:grpSpPr>
          <a:xfrm rot="0">
            <a:off x="6338888" y="2043112"/>
            <a:ext cx="3581400" cy="467106"/>
            <a:chOff x="0" y="0"/>
            <a:chExt cx="4775200" cy="622808"/>
          </a:xfrm>
        </p:grpSpPr>
        <p:sp>
          <p:nvSpPr>
            <p:cNvPr name="Freeform 15" id="15"/>
            <p:cNvSpPr/>
            <p:nvPr/>
          </p:nvSpPr>
          <p:spPr>
            <a:xfrm flipH="false" flipV="false" rot="0">
              <a:off x="0" y="0"/>
              <a:ext cx="4775200" cy="622808"/>
            </a:xfrm>
            <a:custGeom>
              <a:avLst/>
              <a:gdLst/>
              <a:ahLst/>
              <a:cxnLst/>
              <a:rect r="r" b="b" t="t" l="l"/>
              <a:pathLst>
                <a:path h="622808" w="4775200">
                  <a:moveTo>
                    <a:pt x="0" y="0"/>
                  </a:moveTo>
                  <a:lnTo>
                    <a:pt x="4775200" y="0"/>
                  </a:lnTo>
                  <a:lnTo>
                    <a:pt x="4775200" y="622808"/>
                  </a:lnTo>
                  <a:lnTo>
                    <a:pt x="0" y="622808"/>
                  </a:lnTo>
                  <a:lnTo>
                    <a:pt x="0" y="0"/>
                  </a:lnTo>
                  <a:close/>
                </a:path>
              </a:pathLst>
            </a:custGeom>
            <a:solidFill>
              <a:srgbClr val="F0EFFF"/>
            </a:solidFill>
          </p:spPr>
        </p:sp>
        <p:sp>
          <p:nvSpPr>
            <p:cNvPr name="Freeform 16" id="16"/>
            <p:cNvSpPr/>
            <p:nvPr/>
          </p:nvSpPr>
          <p:spPr>
            <a:xfrm flipH="false" flipV="false" rot="0">
              <a:off x="0" y="0"/>
              <a:ext cx="4775200" cy="622808"/>
            </a:xfrm>
            <a:custGeom>
              <a:avLst/>
              <a:gdLst/>
              <a:ahLst/>
              <a:cxnLst/>
              <a:rect r="r" b="b" t="t" l="l"/>
              <a:pathLst>
                <a:path h="622808" w="4775200">
                  <a:moveTo>
                    <a:pt x="0" y="0"/>
                  </a:moveTo>
                  <a:lnTo>
                    <a:pt x="4775200" y="0"/>
                  </a:lnTo>
                  <a:lnTo>
                    <a:pt x="4775200" y="622808"/>
                  </a:lnTo>
                  <a:lnTo>
                    <a:pt x="0" y="622808"/>
                  </a:lnTo>
                  <a:lnTo>
                    <a:pt x="0" y="0"/>
                  </a:lnTo>
                  <a:close/>
                </a:path>
              </a:pathLst>
            </a:custGeom>
            <a:solidFill>
              <a:srgbClr val="000000">
                <a:alpha val="0"/>
              </a:srgbClr>
            </a:solidFill>
            <a:ln w="9525" cap="sq">
              <a:solidFill>
                <a:srgbClr val="CCD7E4"/>
              </a:solidFill>
              <a:prstDash val="solid"/>
              <a:miter/>
            </a:ln>
          </p:spPr>
        </p:sp>
        <p:sp>
          <p:nvSpPr>
            <p:cNvPr name="TextBox 17" id="17"/>
            <p:cNvSpPr txBox="true"/>
            <p:nvPr/>
          </p:nvSpPr>
          <p:spPr>
            <a:xfrm>
              <a:off x="0" y="-38100"/>
              <a:ext cx="4775200" cy="660908"/>
            </a:xfrm>
            <a:prstGeom prst="rect">
              <a:avLst/>
            </a:prstGeom>
          </p:spPr>
          <p:txBody>
            <a:bodyPr anchor="ctr" rtlCol="false" tIns="107950" lIns="107950" bIns="107950" rIns="10795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Allocation</a:t>
              </a:r>
            </a:p>
          </p:txBody>
        </p:sp>
      </p:grpSp>
      <p:grpSp>
        <p:nvGrpSpPr>
          <p:cNvPr name="Group 18" id="18"/>
          <p:cNvGrpSpPr/>
          <p:nvPr/>
        </p:nvGrpSpPr>
        <p:grpSpPr>
          <a:xfrm rot="0">
            <a:off x="9920288" y="2043112"/>
            <a:ext cx="1600200" cy="467106"/>
            <a:chOff x="0" y="0"/>
            <a:chExt cx="2133600" cy="622808"/>
          </a:xfrm>
        </p:grpSpPr>
        <p:sp>
          <p:nvSpPr>
            <p:cNvPr name="Freeform 19" id="19"/>
            <p:cNvSpPr/>
            <p:nvPr/>
          </p:nvSpPr>
          <p:spPr>
            <a:xfrm flipH="false" flipV="false" rot="0">
              <a:off x="0" y="0"/>
              <a:ext cx="2133600" cy="622808"/>
            </a:xfrm>
            <a:custGeom>
              <a:avLst/>
              <a:gdLst/>
              <a:ahLst/>
              <a:cxnLst/>
              <a:rect r="r" b="b" t="t" l="l"/>
              <a:pathLst>
                <a:path h="622808" w="2133600">
                  <a:moveTo>
                    <a:pt x="0" y="0"/>
                  </a:moveTo>
                  <a:lnTo>
                    <a:pt x="2133600" y="0"/>
                  </a:lnTo>
                  <a:lnTo>
                    <a:pt x="2133600" y="622808"/>
                  </a:lnTo>
                  <a:lnTo>
                    <a:pt x="0" y="622808"/>
                  </a:lnTo>
                  <a:lnTo>
                    <a:pt x="0" y="0"/>
                  </a:lnTo>
                  <a:close/>
                </a:path>
              </a:pathLst>
            </a:custGeom>
            <a:solidFill>
              <a:srgbClr val="F0EFFF"/>
            </a:solidFill>
          </p:spPr>
        </p:sp>
        <p:sp>
          <p:nvSpPr>
            <p:cNvPr name="Freeform 20" id="20"/>
            <p:cNvSpPr/>
            <p:nvPr/>
          </p:nvSpPr>
          <p:spPr>
            <a:xfrm flipH="false" flipV="false" rot="0">
              <a:off x="0" y="0"/>
              <a:ext cx="2133600" cy="622808"/>
            </a:xfrm>
            <a:custGeom>
              <a:avLst/>
              <a:gdLst/>
              <a:ahLst/>
              <a:cxnLst/>
              <a:rect r="r" b="b" t="t" l="l"/>
              <a:pathLst>
                <a:path h="622808" w="2133600">
                  <a:moveTo>
                    <a:pt x="0" y="0"/>
                  </a:moveTo>
                  <a:lnTo>
                    <a:pt x="2133600" y="0"/>
                  </a:lnTo>
                  <a:lnTo>
                    <a:pt x="2133600" y="622808"/>
                  </a:lnTo>
                  <a:lnTo>
                    <a:pt x="0" y="622808"/>
                  </a:lnTo>
                  <a:lnTo>
                    <a:pt x="0" y="0"/>
                  </a:lnTo>
                  <a:close/>
                </a:path>
              </a:pathLst>
            </a:custGeom>
            <a:solidFill>
              <a:srgbClr val="000000">
                <a:alpha val="0"/>
              </a:srgbClr>
            </a:solidFill>
            <a:ln w="9525" cap="sq">
              <a:solidFill>
                <a:srgbClr val="CCD7E4"/>
              </a:solidFill>
              <a:prstDash val="solid"/>
              <a:miter/>
            </a:ln>
          </p:spPr>
        </p:sp>
        <p:sp>
          <p:nvSpPr>
            <p:cNvPr name="TextBox 21" id="21"/>
            <p:cNvSpPr txBox="true"/>
            <p:nvPr/>
          </p:nvSpPr>
          <p:spPr>
            <a:xfrm>
              <a:off x="0" y="-38100"/>
              <a:ext cx="2133600" cy="660908"/>
            </a:xfrm>
            <a:prstGeom prst="rect">
              <a:avLst/>
            </a:prstGeom>
          </p:spPr>
          <p:txBody>
            <a:bodyPr anchor="ctr" rtlCol="false" tIns="107950" lIns="107950" bIns="107950" rIns="10795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PHP</a:t>
              </a:r>
            </a:p>
          </p:txBody>
        </p:sp>
      </p:grpSp>
      <p:grpSp>
        <p:nvGrpSpPr>
          <p:cNvPr name="Group 22" id="22"/>
          <p:cNvGrpSpPr/>
          <p:nvPr/>
        </p:nvGrpSpPr>
        <p:grpSpPr>
          <a:xfrm rot="0">
            <a:off x="6338888" y="2443162"/>
            <a:ext cx="3581400" cy="419481"/>
            <a:chOff x="0" y="0"/>
            <a:chExt cx="4775200" cy="559308"/>
          </a:xfrm>
        </p:grpSpPr>
        <p:sp>
          <p:nvSpPr>
            <p:cNvPr name="Freeform 23" id="23"/>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24" id="24"/>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25" id="25"/>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Content review</a:t>
              </a:r>
            </a:p>
          </p:txBody>
        </p:sp>
      </p:grpSp>
      <p:grpSp>
        <p:nvGrpSpPr>
          <p:cNvPr name="Group 26" id="26"/>
          <p:cNvGrpSpPr/>
          <p:nvPr/>
        </p:nvGrpSpPr>
        <p:grpSpPr>
          <a:xfrm rot="0">
            <a:off x="9920288" y="2443162"/>
            <a:ext cx="1600200" cy="419481"/>
            <a:chOff x="0" y="0"/>
            <a:chExt cx="2133600" cy="559308"/>
          </a:xfrm>
        </p:grpSpPr>
        <p:sp>
          <p:nvSpPr>
            <p:cNvPr name="Freeform 27" id="27"/>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28" id="28"/>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29" id="29"/>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30,000</a:t>
              </a:r>
            </a:p>
          </p:txBody>
        </p:sp>
      </p:grpSp>
      <p:grpSp>
        <p:nvGrpSpPr>
          <p:cNvPr name="Group 30" id="30"/>
          <p:cNvGrpSpPr/>
          <p:nvPr/>
        </p:nvGrpSpPr>
        <p:grpSpPr>
          <a:xfrm rot="0">
            <a:off x="6338888" y="2843212"/>
            <a:ext cx="3581400" cy="419481"/>
            <a:chOff x="0" y="0"/>
            <a:chExt cx="4775200" cy="559308"/>
          </a:xfrm>
        </p:grpSpPr>
        <p:sp>
          <p:nvSpPr>
            <p:cNvPr name="Freeform 31" id="31"/>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32" id="32"/>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33" id="33"/>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Access &amp; usability</a:t>
              </a:r>
            </a:p>
          </p:txBody>
        </p:sp>
      </p:grpSp>
      <p:grpSp>
        <p:nvGrpSpPr>
          <p:cNvPr name="Group 34" id="34"/>
          <p:cNvGrpSpPr/>
          <p:nvPr/>
        </p:nvGrpSpPr>
        <p:grpSpPr>
          <a:xfrm rot="0">
            <a:off x="9920288" y="2843212"/>
            <a:ext cx="1600200" cy="419481"/>
            <a:chOff x="0" y="0"/>
            <a:chExt cx="2133600" cy="559308"/>
          </a:xfrm>
        </p:grpSpPr>
        <p:sp>
          <p:nvSpPr>
            <p:cNvPr name="Freeform 35" id="35"/>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36" id="36"/>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37" id="37"/>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18,000</a:t>
              </a:r>
            </a:p>
          </p:txBody>
        </p:sp>
      </p:grpSp>
      <p:grpSp>
        <p:nvGrpSpPr>
          <p:cNvPr name="Group 38" id="38"/>
          <p:cNvGrpSpPr/>
          <p:nvPr/>
        </p:nvGrpSpPr>
        <p:grpSpPr>
          <a:xfrm rot="0">
            <a:off x="6338888" y="3243262"/>
            <a:ext cx="3581400" cy="419481"/>
            <a:chOff x="0" y="0"/>
            <a:chExt cx="4775200" cy="559308"/>
          </a:xfrm>
        </p:grpSpPr>
        <p:sp>
          <p:nvSpPr>
            <p:cNvPr name="Freeform 39" id="39"/>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40" id="40"/>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41" id="41"/>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Evaluation</a:t>
              </a:r>
            </a:p>
          </p:txBody>
        </p:sp>
      </p:grpSp>
      <p:grpSp>
        <p:nvGrpSpPr>
          <p:cNvPr name="Group 42" id="42"/>
          <p:cNvGrpSpPr/>
          <p:nvPr/>
        </p:nvGrpSpPr>
        <p:grpSpPr>
          <a:xfrm rot="0">
            <a:off x="9920288" y="3243262"/>
            <a:ext cx="1600200" cy="419481"/>
            <a:chOff x="0" y="0"/>
            <a:chExt cx="2133600" cy="559308"/>
          </a:xfrm>
        </p:grpSpPr>
        <p:sp>
          <p:nvSpPr>
            <p:cNvPr name="Freeform 43" id="43"/>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44" id="44"/>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45" id="45"/>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12,000</a:t>
              </a:r>
            </a:p>
          </p:txBody>
        </p:sp>
      </p:grpSp>
      <p:grpSp>
        <p:nvGrpSpPr>
          <p:cNvPr name="Group 46" id="46"/>
          <p:cNvGrpSpPr/>
          <p:nvPr/>
        </p:nvGrpSpPr>
        <p:grpSpPr>
          <a:xfrm rot="0">
            <a:off x="6338888" y="3643312"/>
            <a:ext cx="3581400" cy="419481"/>
            <a:chOff x="0" y="0"/>
            <a:chExt cx="4775200" cy="559308"/>
          </a:xfrm>
        </p:grpSpPr>
        <p:sp>
          <p:nvSpPr>
            <p:cNvPr name="Freeform 47" id="47"/>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48" id="48"/>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49" id="49"/>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Operations &amp; hosting</a:t>
              </a:r>
            </a:p>
          </p:txBody>
        </p:sp>
      </p:grpSp>
      <p:grpSp>
        <p:nvGrpSpPr>
          <p:cNvPr name="Group 50" id="50"/>
          <p:cNvGrpSpPr/>
          <p:nvPr/>
        </p:nvGrpSpPr>
        <p:grpSpPr>
          <a:xfrm rot="0">
            <a:off x="9920288" y="3643312"/>
            <a:ext cx="1600200" cy="419481"/>
            <a:chOff x="0" y="0"/>
            <a:chExt cx="2133600" cy="559308"/>
          </a:xfrm>
        </p:grpSpPr>
        <p:sp>
          <p:nvSpPr>
            <p:cNvPr name="Freeform 51" id="51"/>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52" id="52"/>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53" id="53"/>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12,000</a:t>
              </a:r>
            </a:p>
          </p:txBody>
        </p:sp>
      </p:grpSp>
      <p:grpSp>
        <p:nvGrpSpPr>
          <p:cNvPr name="Group 54" id="54"/>
          <p:cNvGrpSpPr/>
          <p:nvPr/>
        </p:nvGrpSpPr>
        <p:grpSpPr>
          <a:xfrm rot="0">
            <a:off x="6338888" y="4043362"/>
            <a:ext cx="3581400" cy="419481"/>
            <a:chOff x="0" y="0"/>
            <a:chExt cx="4775200" cy="559308"/>
          </a:xfrm>
        </p:grpSpPr>
        <p:sp>
          <p:nvSpPr>
            <p:cNvPr name="Freeform 55" id="55"/>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56" id="56"/>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57" id="57"/>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Interactive production</a:t>
              </a:r>
            </a:p>
          </p:txBody>
        </p:sp>
      </p:grpSp>
      <p:grpSp>
        <p:nvGrpSpPr>
          <p:cNvPr name="Group 58" id="58"/>
          <p:cNvGrpSpPr/>
          <p:nvPr/>
        </p:nvGrpSpPr>
        <p:grpSpPr>
          <a:xfrm rot="0">
            <a:off x="9920288" y="4043362"/>
            <a:ext cx="1600200" cy="419481"/>
            <a:chOff x="0" y="0"/>
            <a:chExt cx="2133600" cy="559308"/>
          </a:xfrm>
        </p:grpSpPr>
        <p:sp>
          <p:nvSpPr>
            <p:cNvPr name="Freeform 59" id="59"/>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60" id="60"/>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61" id="61"/>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12,000</a:t>
              </a:r>
            </a:p>
          </p:txBody>
        </p:sp>
      </p:grpSp>
      <p:grpSp>
        <p:nvGrpSpPr>
          <p:cNvPr name="Group 62" id="62"/>
          <p:cNvGrpSpPr/>
          <p:nvPr/>
        </p:nvGrpSpPr>
        <p:grpSpPr>
          <a:xfrm rot="0">
            <a:off x="6338888" y="4443412"/>
            <a:ext cx="3581400" cy="419481"/>
            <a:chOff x="0" y="0"/>
            <a:chExt cx="4775200" cy="559308"/>
          </a:xfrm>
        </p:grpSpPr>
        <p:sp>
          <p:nvSpPr>
            <p:cNvPr name="Freeform 63" id="63"/>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64" id="64"/>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65" id="65"/>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Localization review</a:t>
              </a:r>
            </a:p>
          </p:txBody>
        </p:sp>
      </p:grpSp>
      <p:grpSp>
        <p:nvGrpSpPr>
          <p:cNvPr name="Group 66" id="66"/>
          <p:cNvGrpSpPr/>
          <p:nvPr/>
        </p:nvGrpSpPr>
        <p:grpSpPr>
          <a:xfrm rot="0">
            <a:off x="9920288" y="4443412"/>
            <a:ext cx="1600200" cy="419481"/>
            <a:chOff x="0" y="0"/>
            <a:chExt cx="2133600" cy="559308"/>
          </a:xfrm>
        </p:grpSpPr>
        <p:sp>
          <p:nvSpPr>
            <p:cNvPr name="Freeform 67" id="67"/>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68" id="68"/>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69" id="69"/>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8,000</a:t>
              </a:r>
            </a:p>
          </p:txBody>
        </p:sp>
      </p:grpSp>
      <p:grpSp>
        <p:nvGrpSpPr>
          <p:cNvPr name="Group 70" id="70"/>
          <p:cNvGrpSpPr/>
          <p:nvPr/>
        </p:nvGrpSpPr>
        <p:grpSpPr>
          <a:xfrm rot="0">
            <a:off x="6338888" y="4843462"/>
            <a:ext cx="3581400" cy="419481"/>
            <a:chOff x="0" y="0"/>
            <a:chExt cx="4775200" cy="559308"/>
          </a:xfrm>
        </p:grpSpPr>
        <p:sp>
          <p:nvSpPr>
            <p:cNvPr name="Freeform 71" id="71"/>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72" id="72"/>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73" id="73"/>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Launch materials</a:t>
              </a:r>
            </a:p>
          </p:txBody>
        </p:sp>
      </p:grpSp>
      <p:grpSp>
        <p:nvGrpSpPr>
          <p:cNvPr name="Group 74" id="74"/>
          <p:cNvGrpSpPr/>
          <p:nvPr/>
        </p:nvGrpSpPr>
        <p:grpSpPr>
          <a:xfrm rot="0">
            <a:off x="9920288" y="4843462"/>
            <a:ext cx="1600200" cy="419481"/>
            <a:chOff x="0" y="0"/>
            <a:chExt cx="2133600" cy="559308"/>
          </a:xfrm>
        </p:grpSpPr>
        <p:sp>
          <p:nvSpPr>
            <p:cNvPr name="Freeform 75" id="75"/>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76" id="76"/>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77" id="77"/>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3,000</a:t>
              </a:r>
            </a:p>
          </p:txBody>
        </p:sp>
      </p:grpSp>
      <p:grpSp>
        <p:nvGrpSpPr>
          <p:cNvPr name="Group 78" id="78"/>
          <p:cNvGrpSpPr/>
          <p:nvPr/>
        </p:nvGrpSpPr>
        <p:grpSpPr>
          <a:xfrm rot="0">
            <a:off x="6338888" y="5243512"/>
            <a:ext cx="3581400" cy="419481"/>
            <a:chOff x="0" y="0"/>
            <a:chExt cx="4775200" cy="559308"/>
          </a:xfrm>
        </p:grpSpPr>
        <p:sp>
          <p:nvSpPr>
            <p:cNvPr name="Freeform 79" id="79"/>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80" id="80"/>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81" id="81"/>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Contingency</a:t>
              </a:r>
            </a:p>
          </p:txBody>
        </p:sp>
      </p:grpSp>
      <p:grpSp>
        <p:nvGrpSpPr>
          <p:cNvPr name="Group 82" id="82"/>
          <p:cNvGrpSpPr/>
          <p:nvPr/>
        </p:nvGrpSpPr>
        <p:grpSpPr>
          <a:xfrm rot="0">
            <a:off x="9920288" y="5243512"/>
            <a:ext cx="1600200" cy="419481"/>
            <a:chOff x="0" y="0"/>
            <a:chExt cx="2133600" cy="559308"/>
          </a:xfrm>
        </p:grpSpPr>
        <p:sp>
          <p:nvSpPr>
            <p:cNvPr name="Freeform 83" id="83"/>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84" id="84"/>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85" id="85"/>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5,000</a:t>
              </a:r>
            </a:p>
          </p:txBody>
        </p:sp>
      </p:grpSp>
      <p:grpSp>
        <p:nvGrpSpPr>
          <p:cNvPr name="Group 86" id="86"/>
          <p:cNvGrpSpPr/>
          <p:nvPr/>
        </p:nvGrpSpPr>
        <p:grpSpPr>
          <a:xfrm rot="0">
            <a:off x="6338888" y="5643562"/>
            <a:ext cx="3581400" cy="419481"/>
            <a:chOff x="0" y="0"/>
            <a:chExt cx="4775200" cy="559308"/>
          </a:xfrm>
        </p:grpSpPr>
        <p:sp>
          <p:nvSpPr>
            <p:cNvPr name="Freeform 87" id="87"/>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0EFFF"/>
            </a:solidFill>
          </p:spPr>
        </p:sp>
        <p:sp>
          <p:nvSpPr>
            <p:cNvPr name="Freeform 88" id="88"/>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89" id="89"/>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Total</a:t>
              </a:r>
            </a:p>
          </p:txBody>
        </p:sp>
      </p:grpSp>
      <p:grpSp>
        <p:nvGrpSpPr>
          <p:cNvPr name="Group 90" id="90"/>
          <p:cNvGrpSpPr/>
          <p:nvPr/>
        </p:nvGrpSpPr>
        <p:grpSpPr>
          <a:xfrm rot="0">
            <a:off x="9920288" y="5643562"/>
            <a:ext cx="1600200" cy="419481"/>
            <a:chOff x="0" y="0"/>
            <a:chExt cx="2133600" cy="559308"/>
          </a:xfrm>
        </p:grpSpPr>
        <p:sp>
          <p:nvSpPr>
            <p:cNvPr name="Freeform 91" id="91"/>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0EFFF"/>
            </a:solidFill>
          </p:spPr>
        </p:sp>
        <p:sp>
          <p:nvSpPr>
            <p:cNvPr name="Freeform 92" id="92"/>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93" id="93"/>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100,000</a:t>
              </a:r>
            </a:p>
          </p:txBody>
        </p:sp>
      </p:grpSp>
      <p:sp>
        <p:nvSpPr>
          <p:cNvPr name="TextBox 94" id="94"/>
          <p:cNvSpPr txBox="true"/>
          <p:nvPr/>
        </p:nvSpPr>
        <p:spPr>
          <a:xfrm rot="0">
            <a:off x="609600" y="6400800"/>
            <a:ext cx="10287000" cy="159258"/>
          </a:xfrm>
          <a:prstGeom prst="rect">
            <a:avLst/>
          </a:prstGeom>
        </p:spPr>
        <p:txBody>
          <a:bodyPr anchor="t" rtlCol="false" tIns="0" lIns="0" bIns="0" rIns="0">
            <a:spAutoFit/>
          </a:bodyPr>
          <a:lstStyle/>
          <a:p>
            <a:pPr algn="l" marL="0" indent="0" lvl="0">
              <a:lnSpc>
                <a:spcPts val="1281"/>
              </a:lnSpc>
              <a:spcBef>
                <a:spcPct val="0"/>
              </a:spcBef>
            </a:pPr>
            <a:r>
              <a:rPr lang="en-US" sz="1050" strike="noStrike" u="none">
                <a:solidFill>
                  <a:srgbClr val="0A2A66"/>
                </a:solidFill>
                <a:latin typeface="DM Sans"/>
                <a:ea typeface="DM Sans"/>
                <a:cs typeface="DM Sans"/>
                <a:sym typeface="DM Sans"/>
                <a:hlinkClick r:id="rId7" tooltip="https://github.com/KhanAcademy-Backtrack/KhanAcademy-Backtrack-Demo/blob/main/docs/BUSINESS_AND_SUSTAINABILITY.md"/>
              </a:rPr>
              <a:t>Implementation budget · Planning allocations; funding not secured</a:t>
            </a:r>
          </a:p>
        </p:txBody>
      </p:sp>
      <p:sp>
        <p:nvSpPr>
          <p:cNvPr name="AutoShape 95" id="95"/>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96" id="96"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14</a:t>
            </a:r>
          </a:p>
        </p:txBody>
      </p:sp>
      <p:sp>
        <p:nvSpPr>
          <p:cNvPr name="TextBox 9" id="9"/>
          <p:cNvSpPr txBox="true"/>
          <p:nvPr/>
        </p:nvSpPr>
        <p:spPr>
          <a:xfrm rot="0">
            <a:off x="762000" y="1752600"/>
            <a:ext cx="10668000" cy="590169"/>
          </a:xfrm>
          <a:prstGeom prst="rect">
            <a:avLst/>
          </a:prstGeom>
        </p:spPr>
        <p:txBody>
          <a:bodyPr anchor="t" rtlCol="false" tIns="0" lIns="0" bIns="0" rIns="0">
            <a:spAutoFit/>
          </a:bodyPr>
          <a:lstStyle/>
          <a:p>
            <a:pPr algn="l" marL="0" indent="0" lvl="0">
              <a:lnSpc>
                <a:spcPts val="4758"/>
              </a:lnSpc>
              <a:spcBef>
                <a:spcPct val="0"/>
              </a:spcBef>
            </a:pPr>
            <a:r>
              <a:rPr lang="en-US" b="true" sz="3900" strike="noStrike" u="none">
                <a:solidFill>
                  <a:srgbClr val="0A2A66"/>
                </a:solidFill>
                <a:latin typeface="DM Sans Bold"/>
                <a:ea typeface="DM Sans Bold"/>
                <a:cs typeface="DM Sans Bold"/>
                <a:sym typeface="DM Sans Bold"/>
              </a:rPr>
              <a:t>Turn curiosity into progress.</a:t>
            </a:r>
          </a:p>
        </p:txBody>
      </p:sp>
      <p:sp>
        <p:nvSpPr>
          <p:cNvPr name="TextBox 10" id="10"/>
          <p:cNvSpPr txBox="true"/>
          <p:nvPr/>
        </p:nvSpPr>
        <p:spPr>
          <a:xfrm rot="0">
            <a:off x="762000" y="2828925"/>
            <a:ext cx="10477500" cy="670751"/>
          </a:xfrm>
          <a:prstGeom prst="rect">
            <a:avLst/>
          </a:prstGeom>
        </p:spPr>
        <p:txBody>
          <a:bodyPr anchor="t" rtlCol="false" tIns="0" lIns="0" bIns="0" rIns="0">
            <a:spAutoFit/>
          </a:bodyPr>
          <a:lstStyle/>
          <a:p>
            <a:pPr algn="l" marL="0" indent="0" lvl="0">
              <a:lnSpc>
                <a:spcPts val="2653"/>
              </a:lnSpc>
              <a:spcBef>
                <a:spcPct val="0"/>
              </a:spcBef>
            </a:pPr>
            <a:r>
              <a:rPr lang="en-US" sz="2175" strike="noStrike" u="none">
                <a:solidFill>
                  <a:srgbClr val="0A2A66"/>
                </a:solidFill>
                <a:latin typeface="DM Sans"/>
                <a:ea typeface="DM Sans"/>
                <a:cs typeface="DM Sans"/>
                <a:sym typeface="DM Sans"/>
              </a:rPr>
              <a:t>Dunlo uses short-form discovery to bring learners into Khan practice,</a:t>
            </a:r>
          </a:p>
          <a:p>
            <a:pPr algn="l" marL="0" indent="0" lvl="0">
              <a:lnSpc>
                <a:spcPts val="2653"/>
              </a:lnSpc>
              <a:spcBef>
                <a:spcPct val="0"/>
              </a:spcBef>
            </a:pPr>
            <a:r>
              <a:rPr lang="en-US" sz="2175" strike="noStrike" u="none">
                <a:solidFill>
                  <a:srgbClr val="0A2A66"/>
                </a:solidFill>
                <a:latin typeface="DM Sans"/>
                <a:ea typeface="DM Sans"/>
                <a:cs typeface="DM Sans"/>
                <a:sym typeface="DM Sans"/>
              </a:rPr>
              <a:t>then helps them apply the idea and return to it.</a:t>
            </a:r>
          </a:p>
        </p:txBody>
      </p:sp>
      <p:sp>
        <p:nvSpPr>
          <p:cNvPr name="TextBox 11" id="11"/>
          <p:cNvSpPr txBox="true"/>
          <p:nvPr/>
        </p:nvSpPr>
        <p:spPr>
          <a:xfrm rot="0">
            <a:off x="762000" y="4238625"/>
            <a:ext cx="10477500" cy="346520"/>
          </a:xfrm>
          <a:prstGeom prst="rect">
            <a:avLst/>
          </a:prstGeom>
        </p:spPr>
        <p:txBody>
          <a:bodyPr anchor="t" rtlCol="false" tIns="0" lIns="0" bIns="0" rIns="0">
            <a:spAutoFit/>
          </a:bodyPr>
          <a:lstStyle/>
          <a:p>
            <a:pPr algn="l" marL="0" indent="0" lvl="0">
              <a:lnSpc>
                <a:spcPts val="2836"/>
              </a:lnSpc>
              <a:spcBef>
                <a:spcPct val="0"/>
              </a:spcBef>
            </a:pPr>
            <a:r>
              <a:rPr lang="en-US" b="true" sz="2325" strike="noStrike" u="none">
                <a:solidFill>
                  <a:srgbClr val="0A2A66"/>
                </a:solidFill>
                <a:latin typeface="DM Sans Bold"/>
                <a:ea typeface="DM Sans Bold"/>
                <a:cs typeface="DM Sans Bold"/>
                <a:sym typeface="DM Sans Bold"/>
                <a:hlinkClick r:id="rId7" tooltip="https://dunlo.vercel.app"/>
              </a:rPr>
              <a:t>Explore Dunlo · dunlo.vercel.app</a:t>
            </a:r>
          </a:p>
        </p:txBody>
      </p:sp>
      <p:sp>
        <p:nvSpPr>
          <p:cNvPr name="TextBox 12" id="12"/>
          <p:cNvSpPr txBox="true"/>
          <p:nvPr/>
        </p:nvSpPr>
        <p:spPr>
          <a:xfrm rot="0">
            <a:off x="762000" y="5676900"/>
            <a:ext cx="10477500" cy="491109"/>
          </a:xfrm>
          <a:prstGeom prst="rect">
            <a:avLst/>
          </a:prstGeom>
        </p:spPr>
        <p:txBody>
          <a:bodyPr anchor="t" rtlCol="false" tIns="0" lIns="0" bIns="0" rIns="0">
            <a:spAutoFit/>
          </a:bodyPr>
          <a:lstStyle/>
          <a:p>
            <a:pPr algn="l" marL="0" indent="0" lvl="0">
              <a:lnSpc>
                <a:spcPts val="2013"/>
              </a:lnSpc>
              <a:spcBef>
                <a:spcPct val="0"/>
              </a:spcBef>
            </a:pPr>
            <a:r>
              <a:rPr lang="en-US" sz="1650" strike="noStrike" u="none">
                <a:solidFill>
                  <a:srgbClr val="0A2A66"/>
                </a:solidFill>
                <a:latin typeface="DM Sans"/>
                <a:ea typeface="DM Sans"/>
                <a:cs typeface="DM Sans"/>
                <a:sym typeface="DM Sans"/>
              </a:rPr>
              <a:t>Matthew Labrador · Paul Recio · Harry Gomez</a:t>
            </a:r>
          </a:p>
          <a:p>
            <a:pPr algn="l" marL="0" indent="0" lvl="0">
              <a:lnSpc>
                <a:spcPts val="2013"/>
              </a:lnSpc>
              <a:spcBef>
                <a:spcPct val="0"/>
              </a:spcBef>
            </a:pPr>
            <a:r>
              <a:rPr lang="en-US" sz="1650" strike="noStrike" u="none">
                <a:solidFill>
                  <a:srgbClr val="0A2A66"/>
                </a:solidFill>
                <a:latin typeface="DM Sans"/>
                <a:ea typeface="DM Sans"/>
                <a:cs typeface="DM Sans"/>
                <a:sym typeface="DM Sans"/>
              </a:rPr>
              <a:t>Coach: Justin Mesias · University of the Philippines Manila</a:t>
            </a:r>
          </a:p>
        </p:txBody>
      </p:sp>
      <p:sp>
        <p:nvSpPr>
          <p:cNvPr name="Freeform 13" id="13"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15</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Research behind the learning design</a:t>
            </a:r>
          </a:p>
        </p:txBody>
      </p:sp>
      <p:sp>
        <p:nvSpPr>
          <p:cNvPr name="TextBox 10" id="10"/>
          <p:cNvSpPr txBox="true"/>
          <p:nvPr/>
        </p:nvSpPr>
        <p:spPr>
          <a:xfrm rot="0">
            <a:off x="609600" y="1847850"/>
            <a:ext cx="5095875" cy="738759"/>
          </a:xfrm>
          <a:prstGeom prst="rect">
            <a:avLst/>
          </a:prstGeom>
        </p:spPr>
        <p:txBody>
          <a:bodyPr anchor="t" rtlCol="false" tIns="0" lIns="0" bIns="0" rIns="0">
            <a:spAutoFit/>
          </a:bodyPr>
          <a:lstStyle/>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7" tooltip="https://www.psychologicalscience.org/journals/pspi/1529100612453266/"/>
              </a:rPr>
              <a:t>Dunlosky et al. (2013)</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8" tooltip="https://www.psychologicalscience.org/journals/pspi/1529100612453266/"/>
              </a:rPr>
              <a:t>Improving students’ learning with effective</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9" tooltip="https://www.psychologicalscience.org/journals/pspi/1529100612453266/"/>
              </a:rPr>
              <a:t>learning techniques. PSPI, 14(1).</a:t>
            </a:r>
          </a:p>
        </p:txBody>
      </p:sp>
      <p:sp>
        <p:nvSpPr>
          <p:cNvPr name="TextBox 11" id="11"/>
          <p:cNvSpPr txBox="true"/>
          <p:nvPr/>
        </p:nvSpPr>
        <p:spPr>
          <a:xfrm rot="0">
            <a:off x="609600" y="3209925"/>
            <a:ext cx="5095875" cy="738759"/>
          </a:xfrm>
          <a:prstGeom prst="rect">
            <a:avLst/>
          </a:prstGeom>
        </p:spPr>
        <p:txBody>
          <a:bodyPr anchor="t" rtlCol="false" tIns="0" lIns="0" bIns="0" rIns="0">
            <a:spAutoFit/>
          </a:bodyPr>
          <a:lstStyle/>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0" tooltip="https://doi.org/10.1038/s44159-022-00089-1"/>
              </a:rPr>
              <a:t>Carpenter, Pan &amp; Butler (2022)</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1" tooltip="https://doi.org/10.1038/s44159-022-00089-1"/>
              </a:rPr>
              <a:t>The science of effective learning with spacing</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2" tooltip="https://doi.org/10.1038/s44159-022-00089-1"/>
              </a:rPr>
              <a:t>and retrieval practice. Nature Reviews Psychology.</a:t>
            </a:r>
          </a:p>
        </p:txBody>
      </p:sp>
      <p:sp>
        <p:nvSpPr>
          <p:cNvPr name="TextBox 12" id="12"/>
          <p:cNvSpPr txBox="true"/>
          <p:nvPr/>
        </p:nvSpPr>
        <p:spPr>
          <a:xfrm rot="0">
            <a:off x="6429375" y="4572000"/>
            <a:ext cx="5095875" cy="986409"/>
          </a:xfrm>
          <a:prstGeom prst="rect">
            <a:avLst/>
          </a:prstGeom>
        </p:spPr>
        <p:txBody>
          <a:bodyPr anchor="t" rtlCol="false" tIns="0" lIns="0" bIns="0" rIns="0">
            <a:spAutoFit/>
          </a:bodyPr>
          <a:lstStyle/>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3" tooltip="https://doi.org/10.1006/ijhc.2002.1017"/>
              </a:rPr>
              <a:t>Tversky, Morrison &amp; Bétrancourt (2002)</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4" tooltip="https://doi.org/10.1006/ijhc.2002.1017"/>
              </a:rPr>
              <a:t>Animation: can it facilitate?</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5" tooltip="https://doi.org/10.1006/ijhc.2002.1017"/>
              </a:rPr>
              <a:t>International Journal of</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6" tooltip="https://doi.org/10.1006/ijhc.2002.1017"/>
              </a:rPr>
              <a:t>Human-Computer Studies, 57(4).</a:t>
            </a:r>
          </a:p>
        </p:txBody>
      </p:sp>
      <p:sp>
        <p:nvSpPr>
          <p:cNvPr name="TextBox 13" id="13"/>
          <p:cNvSpPr txBox="true"/>
          <p:nvPr/>
        </p:nvSpPr>
        <p:spPr>
          <a:xfrm rot="0">
            <a:off x="6429375" y="1847850"/>
            <a:ext cx="5095875" cy="986409"/>
          </a:xfrm>
          <a:prstGeom prst="rect">
            <a:avLst/>
          </a:prstGeom>
        </p:spPr>
        <p:txBody>
          <a:bodyPr anchor="t" rtlCol="false" tIns="0" lIns="0" bIns="0" rIns="0">
            <a:spAutoFit/>
          </a:bodyPr>
          <a:lstStyle/>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7" tooltip="https://eric.ed.gov/?id=EJ678596"/>
              </a:rPr>
              <a:t>Atkinson, Renkl &amp; Merrill (2003)</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8" tooltip="https://eric.ed.gov/?id=EJ678596"/>
              </a:rPr>
              <a:t>Transitioning from studying examples</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19" tooltip="https://eric.ed.gov/?id=EJ678596"/>
              </a:rPr>
              <a:t>to solving problems.</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20" tooltip="https://eric.ed.gov/?id=EJ678596"/>
              </a:rPr>
              <a:t>Journal of Educational Psychology, 95(4).</a:t>
            </a:r>
          </a:p>
        </p:txBody>
      </p:sp>
      <p:sp>
        <p:nvSpPr>
          <p:cNvPr name="TextBox 14" id="14"/>
          <p:cNvSpPr txBox="true"/>
          <p:nvPr/>
        </p:nvSpPr>
        <p:spPr>
          <a:xfrm rot="0">
            <a:off x="6429375" y="3209925"/>
            <a:ext cx="5095875" cy="986409"/>
          </a:xfrm>
          <a:prstGeom prst="rect">
            <a:avLst/>
          </a:prstGeom>
        </p:spPr>
        <p:txBody>
          <a:bodyPr anchor="t" rtlCol="false" tIns="0" lIns="0" bIns="0" rIns="0">
            <a:spAutoFit/>
          </a:bodyPr>
          <a:lstStyle/>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21" tooltip="https://doi.org/10.1080/00461520.2014.965823"/>
              </a:rPr>
              <a:t>Chi &amp; Wylie (2014)</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22" tooltip="https://doi.org/10.1080/00461520.2014.965823"/>
              </a:rPr>
              <a:t>The ICAP framework: linking cognitive</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23" tooltip="https://doi.org/10.1080/00461520.2014.965823"/>
              </a:rPr>
              <a:t>engagement to active learning outcomes.</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24" tooltip="https://doi.org/10.1080/00461520.2014.965823"/>
              </a:rPr>
              <a:t>Educational Psychologist, 49(4).</a:t>
            </a:r>
          </a:p>
        </p:txBody>
      </p:sp>
      <p:sp>
        <p:nvSpPr>
          <p:cNvPr name="TextBox 15" id="15"/>
          <p:cNvSpPr txBox="true"/>
          <p:nvPr/>
        </p:nvSpPr>
        <p:spPr>
          <a:xfrm rot="0">
            <a:off x="609600" y="4572000"/>
            <a:ext cx="5095875" cy="986409"/>
          </a:xfrm>
          <a:prstGeom prst="rect">
            <a:avLst/>
          </a:prstGeom>
        </p:spPr>
        <p:txBody>
          <a:bodyPr anchor="t" rtlCol="false" tIns="0" lIns="0" bIns="0" rIns="0">
            <a:spAutoFit/>
          </a:bodyPr>
          <a:lstStyle/>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25" tooltip="https://pubmed.ncbi.nlm.nih.gov/33683913/"/>
              </a:rPr>
              <a:t>Yang et al. (2021)</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26" tooltip="https://pubmed.ncbi.nlm.nih.gov/33683913/"/>
              </a:rPr>
              <a:t>Testing (quizzing) boosts classroom learning:</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27" tooltip="https://pubmed.ncbi.nlm.nih.gov/33683913/"/>
              </a:rPr>
              <a:t>a systematic and meta-analytic review.</a:t>
            </a:r>
          </a:p>
          <a:p>
            <a:pPr algn="l" marL="0" indent="0" lvl="0">
              <a:lnSpc>
                <a:spcPts val="2013"/>
              </a:lnSpc>
              <a:spcBef>
                <a:spcPct val="0"/>
              </a:spcBef>
            </a:pPr>
            <a:r>
              <a:rPr lang="en-US" sz="1650" strike="noStrike" u="none">
                <a:solidFill>
                  <a:srgbClr val="0A2A66"/>
                </a:solidFill>
                <a:latin typeface="DM Sans"/>
                <a:ea typeface="DM Sans"/>
                <a:cs typeface="DM Sans"/>
                <a:sym typeface="DM Sans"/>
                <a:hlinkClick r:id="rId28" tooltip="https://pubmed.ncbi.nlm.nih.gov/33683913/"/>
              </a:rPr>
              <a:t>Psychological Bulletin, 147(4).</a:t>
            </a:r>
          </a:p>
        </p:txBody>
      </p:sp>
      <p:sp>
        <p:nvSpPr>
          <p:cNvPr name="TextBox 16" id="16"/>
          <p:cNvSpPr txBox="true"/>
          <p:nvPr/>
        </p:nvSpPr>
        <p:spPr>
          <a:xfrm rot="0">
            <a:off x="609600" y="6019800"/>
            <a:ext cx="10477500" cy="396621"/>
          </a:xfrm>
          <a:prstGeom prst="rect">
            <a:avLst/>
          </a:prstGeom>
        </p:spPr>
        <p:txBody>
          <a:bodyPr anchor="t" rtlCol="false" tIns="0" lIns="0" bIns="0" rIns="0">
            <a:spAutoFit/>
          </a:bodyPr>
          <a:lstStyle/>
          <a:p>
            <a:pPr algn="l" marL="0" indent="0" lvl="0">
              <a:lnSpc>
                <a:spcPts val="1647"/>
              </a:lnSpc>
              <a:spcBef>
                <a:spcPct val="0"/>
              </a:spcBef>
            </a:pPr>
            <a:r>
              <a:rPr lang="en-US" sz="1350" strike="noStrike" u="none">
                <a:solidFill>
                  <a:srgbClr val="0A2A66"/>
                </a:solidFill>
                <a:latin typeface="DM Sans"/>
                <a:ea typeface="DM Sans"/>
                <a:cs typeface="DM Sans"/>
                <a:sym typeface="DM Sans"/>
                <a:hlinkClick r:id="rId29" tooltip="https://pubmed.ncbi.nlm.nih.gov/23576743/"/>
              </a:rPr>
              <a:t>Szpunar, Khan &amp; Schacter (2013) · Interpolated memory tests reduce mind wandering</a:t>
            </a:r>
          </a:p>
          <a:p>
            <a:pPr algn="l" marL="0" indent="0" lvl="0">
              <a:lnSpc>
                <a:spcPts val="1647"/>
              </a:lnSpc>
              <a:spcBef>
                <a:spcPct val="0"/>
              </a:spcBef>
            </a:pPr>
            <a:r>
              <a:rPr lang="en-US" sz="1350" strike="noStrike" u="none">
                <a:solidFill>
                  <a:srgbClr val="0A2A66"/>
                </a:solidFill>
                <a:latin typeface="DM Sans"/>
                <a:ea typeface="DM Sans"/>
                <a:cs typeface="DM Sans"/>
                <a:sym typeface="DM Sans"/>
                <a:hlinkClick r:id="rId30" tooltip="https://pubmed.ncbi.nlm.nih.gov/23576743/"/>
              </a:rPr>
              <a:t>and improve learning of online lectures. PNAS, 110(16).</a:t>
            </a:r>
          </a:p>
        </p:txBody>
      </p:sp>
      <p:sp>
        <p:nvSpPr>
          <p:cNvPr name="AutoShape 17" id="17"/>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18" id="18"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31">
              <a:extLst>
                <a:ext uri="{96DAC541-7B7A-43D3-8B79-37D633B846F1}">
                  <asvg:svgBlip xmlns:asvg="http://schemas.microsoft.com/office/drawing/2016/SVG/main" r:embed="rId32"/>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DAHUwYwVdj0</dc:identifier>
  <dcterms:modified xsi:type="dcterms:W3CDTF">2011-08-01T06:04:30Z</dcterms:modified>
  <cp:revision>1</cp:revision>
  <dc:title>Dunlo - Explore, Learn and Return - KEIC 2026</dc:title>
</cp:coreProperties>
</file>