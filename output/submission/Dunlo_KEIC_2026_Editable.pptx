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1"/>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2192000" cy="6858000"/>
  <p:notesSz cx="6858000" cy="9144000"/>
  <p:embeddedFontLst>
    <p:embeddedFont>
      <p:font typeface="DM Sans" charset="1" panose="00000000000000000000"/>
      <p:regular r:id="rId24"/>
    </p:embeddedFont>
    <p:embeddedFont>
      <p:font typeface="DM Sans Bold" charset="1" panose="00000000000000000000"/>
      <p:regular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notesMasters/notesMaster1.xml" Type="http://schemas.openxmlformats.org/officeDocument/2006/relationships/notesMaster"/><Relationship Id="rId22" Target="theme/theme2.xml" Type="http://schemas.openxmlformats.org/officeDocument/2006/relationships/theme"/><Relationship Id="rId23" Target="notesSlides/notesSlide1.xml" Type="http://schemas.openxmlformats.org/officeDocument/2006/relationships/notesSlide"/><Relationship Id="rId24" Target="fonts/font24.fntdata" Type="http://schemas.openxmlformats.org/officeDocument/2006/relationships/font"/><Relationship Id="rId25" Target="fonts/font25.fntdata" Type="http://schemas.openxmlformats.org/officeDocument/2006/relationships/font"/><Relationship Id="rId26" Target="notesSlides/notesSlide2.xml" Type="http://schemas.openxmlformats.org/officeDocument/2006/relationships/notesSlide"/><Relationship Id="rId27" Target="notesSlides/notesSlide3.xml" Type="http://schemas.openxmlformats.org/officeDocument/2006/relationships/notesSlide"/><Relationship Id="rId28" Target="notesSlides/notesSlide4.xml" Type="http://schemas.openxmlformats.org/officeDocument/2006/relationships/notesSlide"/><Relationship Id="rId29" Target="notesSlides/notesSlide5.xml" Type="http://schemas.openxmlformats.org/officeDocument/2006/relationships/notesSlide"/><Relationship Id="rId3" Target="viewProps.xml" Type="http://schemas.openxmlformats.org/officeDocument/2006/relationships/viewProps"/><Relationship Id="rId30" Target="notesSlides/notesSlide6.xml" Type="http://schemas.openxmlformats.org/officeDocument/2006/relationships/notesSlide"/><Relationship Id="rId31" Target="notesSlides/notesSlide7.xml" Type="http://schemas.openxmlformats.org/officeDocument/2006/relationships/notesSlide"/><Relationship Id="rId32" Target="notesSlides/notesSlide8.xml" Type="http://schemas.openxmlformats.org/officeDocument/2006/relationships/notesSlide"/><Relationship Id="rId33" Target="notesSlides/notesSlide9.xml" Type="http://schemas.openxmlformats.org/officeDocument/2006/relationships/notesSlide"/><Relationship Id="rId34" Target="notesSlides/notesSlide10.xml" Type="http://schemas.openxmlformats.org/officeDocument/2006/relationships/notesSlide"/><Relationship Id="rId35" Target="notesSlides/notesSlide11.xml" Type="http://schemas.openxmlformats.org/officeDocument/2006/relationships/notesSlide"/><Relationship Id="rId36" Target="notesSlides/notesSlide12.xml" Type="http://schemas.openxmlformats.org/officeDocument/2006/relationships/notesSlide"/><Relationship Id="rId37" Target="notesSlides/notesSlide13.xml" Type="http://schemas.openxmlformats.org/officeDocument/2006/relationships/notesSlide"/><Relationship Id="rId38" Target="notesSlides/notesSlide14.xml" Type="http://schemas.openxmlformats.org/officeDocument/2006/relationships/notesSlide"/><Relationship Id="rId39" Target="notesSlides/notesSlide15.xml" Type="http://schemas.openxmlformats.org/officeDocument/2006/relationships/notesSlide"/><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Open with the question: You watched it. Can you use it? Let the audience recognise the gap between an interesting explanation and using an idea. Introduce Dunlo as the connection between discovery, Khan Academy practice and a useful return.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proposed learning difficulty: choosing a starting point and continuing after an interesting explanation. Source: https://enactus.ph/2026-national-competition/khan-academy-challenge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Walk through the four steps in order: discover, understand, practise with Khan Academy, and return. Useful support remains available throughout.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Show the actual Explore feed. Learners can change a model, save or share an idea and open a relevant Khan activity. https://dunlo.vercel.app/explore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four positive areas are x squared, 3x, 4x and 12. Combining the middle terms gives 7x. The picture uses x = 5. The next assessment uses another example.</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feed uses original Khan Academy video with a focused range, visible source and a link to the full lesson. The factoring example is 2:22–3:56. Source: https://www.khanacademy.org/math/algebra/x2f8bb11595b61c86:quadratics-multiplying-factoring/x2f8bb11595b61c86:factor-quadratics-intro/v/factoring-simple-quadratic-expression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 short check helps choose support. The learner works through the explanation and then tries another question. They can choose to learn first.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Invite the reader to the main Dunlo site at https://dunlo.vercel.app/. The QR pixels, QR image hyperlink, Try Dunlo button and readable URL all use the main site. From there they can open Explore or continue studying.</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Khan Academy has a visible role: explanation, relevant exercise and continuation. Resource opens, learner reports and fresh independent answers are distinct.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Saved ideas and the reviewer provide a reason to return. A later question uses a different situation. Retrieval research: https://pubmed.ncbi.nlm.nih.gov/23576743/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launch starts with direct public access and shared item links. Public demonstrations and topic pages introduce the experience. No school access is assumed.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Expand through reviewed content sequences. Additional subjects, Filipino explanations and access options are future work. Original offline mini-packs require separate implementation.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implementation planning total is PHP 100,000. Content review, access/usability and evaluation total PHP 60,000. Funding has not been secured. Source: https://github.com/KhanAcademy-Backtrack/KhanAcademy-Backtrack-Demo/blob/main/docs/BUSINESS_AND_SUSTAINABILITY.md</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November: prepare and launch. December through February: gather voluntary feedback, refine, and evaluate where feasible with suitable permissions. March: report findings and confirm continuation.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Close on the connected experience: relevant Khan practice, a fresh question after the explanation and a clear reason to return. Point to the working journey and the implementation plan. Sources: https://enactus.ph/2026-national-competition/khan-academy-challenge ; https://pubmed.ncbi.nlm.nih.gov/23576743/ ; https://support.khanacademy.org/hc/en-us/articles/202262954-Can-I-use-Khan-Academy-s-videos-name-materials-links-in-my-project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8.svg" Type="http://schemas.openxmlformats.org/officeDocument/2006/relationships/image"/><Relationship Id="rId11" Target="../media/image9.png" Type="http://schemas.openxmlformats.org/officeDocument/2006/relationships/image"/><Relationship Id="rId12" Target="../media/image10.svg" Type="http://schemas.openxmlformats.org/officeDocument/2006/relationships/image"/><Relationship Id="rId2" Target="../notesSlides/notesSlide1.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5.png" Type="http://schemas.openxmlformats.org/officeDocument/2006/relationships/image"/><Relationship Id="rId8" Target="../media/image6.svg" Type="http://schemas.openxmlformats.org/officeDocument/2006/relationships/image"/><Relationship Id="rId9" Target="../media/image7.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enactus.ph/2026-national-competition/khan-academy-challenge#looking-for"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5.png" Type="http://schemas.openxmlformats.org/officeDocument/2006/relationships/image"/><Relationship Id="rId8" Target="../media/image6.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1.png" Type="http://schemas.openxmlformats.org/officeDocument/2006/relationships/image"/><Relationship Id="rId2" Target="../notesSlides/notesSlide4.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dunlo.vercel.app/explore"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2.png" Type="http://schemas.openxmlformats.org/officeDocument/2006/relationships/image"/><Relationship Id="rId2" Target="../notesSlides/notesSlide5.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dunlo.vercel.app/explore?item=four-pieces"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3.png" Type="http://schemas.openxmlformats.org/officeDocument/2006/relationships/image"/><Relationship Id="rId2" Target="../notesSlides/notesSlide6.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www.khanacademy.org/math/algebra/x2f8bb11595b61c86:quadratics-multiplying-factoring/x2f8bb11595b61c86:factor-quadratics-intro/v/factoring-simple-quadratic-expression"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dunlo.vercel.app/demo"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https://dunlo.vercel.app" TargetMode="External" Type="http://schemas.openxmlformats.org/officeDocument/2006/relationships/hyperlink"/><Relationship Id="rId11" Target="https://dunlo.vercel.app" TargetMode="External" Type="http://schemas.openxmlformats.org/officeDocument/2006/relationships/hyperlink"/><Relationship Id="rId12" Target="../media/image5.png" Type="http://schemas.openxmlformats.org/officeDocument/2006/relationships/image"/><Relationship Id="rId13" Target="../media/image6.svg" Type="http://schemas.openxmlformats.org/officeDocument/2006/relationships/image"/><Relationship Id="rId2" Target="../notesSlides/notesSlide8.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14.jpeg" Type="http://schemas.openxmlformats.org/officeDocument/2006/relationships/image"/><Relationship Id="rId8" Target="../media/image15.png" Type="http://schemas.openxmlformats.org/officeDocument/2006/relationships/image"/><Relationship Id="rId9" Target="https://dunlo.vercel.app" TargetMode="External" Type="http://schemas.openxmlformats.org/officeDocument/2006/relationships/hyperlink"/></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6.png" Type="http://schemas.openxmlformats.org/officeDocument/2006/relationships/image"/><Relationship Id="rId2" Target="../notesSlides/notesSlide9.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support.khanacademy.org/hc/en-us/articles/202262954-Can-I-use-Khan-Academy-s-videos-name-materials-links-in-my-project"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pubmed.ncbi.nlm.nih.gov/23576743/"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5.png" Type="http://schemas.openxmlformats.org/officeDocument/2006/relationships/image"/><Relationship Id="rId8" Target="../media/image6.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5.png" Type="http://schemas.openxmlformats.org/officeDocument/2006/relationships/image"/><Relationship Id="rId8" Target="../media/image6.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github.com/KhanAcademy-Backtrack/KhanAcademy-Backtrack-Demo/blob/main/docs/BUSINESS_AND_SUSTAINABILITY.md" TargetMode="External" Type="http://schemas.openxmlformats.org/officeDocument/2006/relationships/hyperlink"/><Relationship Id="rId8" Target="../media/image5.png" Type="http://schemas.openxmlformats.org/officeDocument/2006/relationships/image"/><Relationship Id="rId9" Target="../media/image6.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8.svg" Type="http://schemas.openxmlformats.org/officeDocument/2006/relationships/image"/><Relationship Id="rId11" Target="../media/image9.png" Type="http://schemas.openxmlformats.org/officeDocument/2006/relationships/image"/><Relationship Id="rId12" Target="../media/image10.svg" Type="http://schemas.openxmlformats.org/officeDocument/2006/relationships/image"/><Relationship Id="rId2" Target="../notesSlides/notesSlide14.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media/image5.png" Type="http://schemas.openxmlformats.org/officeDocument/2006/relationships/image"/><Relationship Id="rId8" Target="../media/image6.svg" Type="http://schemas.openxmlformats.org/officeDocument/2006/relationships/image"/><Relationship Id="rId9" Target="../media/image7.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png" Type="http://schemas.openxmlformats.org/officeDocument/2006/relationships/image"/><Relationship Id="rId11" Target="../media/image6.svg" Type="http://schemas.openxmlformats.org/officeDocument/2006/relationships/image"/><Relationship Id="rId2" Target="../notesSlides/notesSlide15.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4.png" Type="http://schemas.openxmlformats.org/officeDocument/2006/relationships/image"/><Relationship Id="rId7" Target="https://pubmed.ncbi.nlm.nih.gov/23576743/" TargetMode="External" Type="http://schemas.openxmlformats.org/officeDocument/2006/relationships/hyperlink"/><Relationship Id="rId8" Target="https://enactus.ph/2026-national-competition/khan-academy-challenge" TargetMode="External" Type="http://schemas.openxmlformats.org/officeDocument/2006/relationships/hyperlink"/><Relationship Id="rId9" Target="https://support.khanacademy.org/hc/en-us/articles/202262954-Can-I-use-Khan-Academy-s-videos-name-materials-links-in-my-project" TargetMode="External" Type="http://schemas.openxmlformats.org/officeDocument/2006/relationships/hyperlink"/></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grpSp>
        <p:nvGrpSpPr>
          <p:cNvPr name="Group 8" id="8"/>
          <p:cNvGrpSpPr/>
          <p:nvPr/>
        </p:nvGrpSpPr>
        <p:grpSpPr>
          <a:xfrm rot="0">
            <a:off x="5581650" y="5295900"/>
            <a:ext cx="266700" cy="266700"/>
            <a:chOff x="0" y="0"/>
            <a:chExt cx="105363" cy="105363"/>
          </a:xfrm>
        </p:grpSpPr>
        <p:sp>
          <p:nvSpPr>
            <p:cNvPr name="Freeform 9" id="9"/>
            <p:cNvSpPr/>
            <p:nvPr/>
          </p:nvSpPr>
          <p:spPr>
            <a:xfrm flipH="false" flipV="false" rot="0">
              <a:off x="0" y="0"/>
              <a:ext cx="105363" cy="105363"/>
            </a:xfrm>
            <a:custGeom>
              <a:avLst/>
              <a:gdLst/>
              <a:ahLst/>
              <a:cxnLst/>
              <a:rect r="r" b="b" t="t" l="l"/>
              <a:pathLst>
                <a:path h="105363" w="105363">
                  <a:moveTo>
                    <a:pt x="52681" y="0"/>
                  </a:moveTo>
                  <a:cubicBezTo>
                    <a:pt x="23586" y="0"/>
                    <a:pt x="0" y="23586"/>
                    <a:pt x="0" y="52681"/>
                  </a:cubicBezTo>
                  <a:cubicBezTo>
                    <a:pt x="0" y="81777"/>
                    <a:pt x="23586" y="105363"/>
                    <a:pt x="52681" y="105363"/>
                  </a:cubicBezTo>
                  <a:cubicBezTo>
                    <a:pt x="81777" y="105363"/>
                    <a:pt x="105363" y="81777"/>
                    <a:pt x="105363" y="52681"/>
                  </a:cubicBezTo>
                  <a:cubicBezTo>
                    <a:pt x="105363" y="23586"/>
                    <a:pt x="81777" y="0"/>
                    <a:pt x="52681" y="0"/>
                  </a:cubicBezTo>
                  <a:close/>
                </a:path>
              </a:pathLst>
            </a:custGeom>
            <a:solidFill>
              <a:srgbClr val="C96331"/>
            </a:solidFill>
          </p:spPr>
        </p:sp>
        <p:sp>
          <p:nvSpPr>
            <p:cNvPr name="TextBox 10" id="10"/>
            <p:cNvSpPr txBox="true"/>
            <p:nvPr/>
          </p:nvSpPr>
          <p:spPr>
            <a:xfrm>
              <a:off x="9878" y="9878"/>
              <a:ext cx="85607" cy="85607"/>
            </a:xfrm>
            <a:prstGeom prst="rect">
              <a:avLst/>
            </a:prstGeom>
          </p:spPr>
          <p:txBody>
            <a:bodyPr anchor="ctr" rtlCol="false" tIns="50800" lIns="50800" bIns="50800" rIns="50800"/>
            <a:lstStyle/>
            <a:p>
              <a:pPr algn="ctr">
                <a:lnSpc>
                  <a:spcPts val="1372"/>
                </a:lnSpc>
              </a:pPr>
            </a:p>
          </p:txBody>
        </p:sp>
      </p:grpSp>
      <p:grpSp>
        <p:nvGrpSpPr>
          <p:cNvPr name="Group 11" id="11"/>
          <p:cNvGrpSpPr/>
          <p:nvPr/>
        </p:nvGrpSpPr>
        <p:grpSpPr>
          <a:xfrm rot="0">
            <a:off x="1581150" y="4438650"/>
            <a:ext cx="266700" cy="266700"/>
            <a:chOff x="0" y="0"/>
            <a:chExt cx="105363" cy="105363"/>
          </a:xfrm>
        </p:grpSpPr>
        <p:sp>
          <p:nvSpPr>
            <p:cNvPr name="Freeform 12" id="12"/>
            <p:cNvSpPr/>
            <p:nvPr/>
          </p:nvSpPr>
          <p:spPr>
            <a:xfrm flipH="false" flipV="false" rot="0">
              <a:off x="0" y="0"/>
              <a:ext cx="105363" cy="105363"/>
            </a:xfrm>
            <a:custGeom>
              <a:avLst/>
              <a:gdLst/>
              <a:ahLst/>
              <a:cxnLst/>
              <a:rect r="r" b="b" t="t" l="l"/>
              <a:pathLst>
                <a:path h="105363" w="105363">
                  <a:moveTo>
                    <a:pt x="52681" y="0"/>
                  </a:moveTo>
                  <a:cubicBezTo>
                    <a:pt x="23586" y="0"/>
                    <a:pt x="0" y="23586"/>
                    <a:pt x="0" y="52681"/>
                  </a:cubicBezTo>
                  <a:cubicBezTo>
                    <a:pt x="0" y="81777"/>
                    <a:pt x="23586" y="105363"/>
                    <a:pt x="52681" y="105363"/>
                  </a:cubicBezTo>
                  <a:cubicBezTo>
                    <a:pt x="81777" y="105363"/>
                    <a:pt x="105363" y="81777"/>
                    <a:pt x="105363" y="52681"/>
                  </a:cubicBezTo>
                  <a:cubicBezTo>
                    <a:pt x="105363" y="23586"/>
                    <a:pt x="81777" y="0"/>
                    <a:pt x="52681" y="0"/>
                  </a:cubicBezTo>
                  <a:close/>
                </a:path>
              </a:pathLst>
            </a:custGeom>
            <a:solidFill>
              <a:srgbClr val="C96331"/>
            </a:solidFill>
          </p:spPr>
        </p:sp>
        <p:sp>
          <p:nvSpPr>
            <p:cNvPr name="TextBox 13" id="13"/>
            <p:cNvSpPr txBox="true"/>
            <p:nvPr/>
          </p:nvSpPr>
          <p:spPr>
            <a:xfrm>
              <a:off x="9878" y="9878"/>
              <a:ext cx="85607" cy="85607"/>
            </a:xfrm>
            <a:prstGeom prst="rect">
              <a:avLst/>
            </a:prstGeom>
          </p:spPr>
          <p:txBody>
            <a:bodyPr anchor="ctr" rtlCol="false" tIns="50800" lIns="50800" bIns="50800" rIns="50800"/>
            <a:lstStyle/>
            <a:p>
              <a:pPr algn="ctr">
                <a:lnSpc>
                  <a:spcPts val="1372"/>
                </a:lnSpc>
              </a:pPr>
            </a:p>
          </p:txBody>
        </p:sp>
      </p:grpSp>
      <p:sp>
        <p:nvSpPr>
          <p:cNvPr name="TextBox 14" id="14"/>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01</a:t>
            </a:r>
          </a:p>
        </p:txBody>
      </p:sp>
      <p:sp>
        <p:nvSpPr>
          <p:cNvPr name="TextBox 15" id="15"/>
          <p:cNvSpPr txBox="true"/>
          <p:nvPr/>
        </p:nvSpPr>
        <p:spPr>
          <a:xfrm rot="0">
            <a:off x="609600" y="1066800"/>
            <a:ext cx="10972800" cy="571500"/>
          </a:xfrm>
          <a:prstGeom prst="rect">
            <a:avLst/>
          </a:prstGeom>
        </p:spPr>
        <p:txBody>
          <a:bodyPr anchor="t" rtlCol="false" tIns="0" lIns="0" bIns="0" rIns="0">
            <a:spAutoFit/>
          </a:bodyPr>
          <a:lstStyle/>
          <a:p>
            <a:pPr algn="l" marL="0" indent="0" lvl="0">
              <a:lnSpc>
                <a:spcPts val="4575"/>
              </a:lnSpc>
              <a:spcBef>
                <a:spcPct val="0"/>
              </a:spcBef>
            </a:pPr>
            <a:r>
              <a:rPr lang="en-US" b="true" sz="3750" strike="noStrike" u="none">
                <a:solidFill>
                  <a:srgbClr val="0A2A66"/>
                </a:solidFill>
                <a:latin typeface="DM Sans Bold"/>
                <a:ea typeface="DM Sans Bold"/>
                <a:cs typeface="DM Sans Bold"/>
                <a:sym typeface="DM Sans Bold"/>
              </a:rPr>
              <a:t>You watched it.</a:t>
            </a:r>
          </a:p>
        </p:txBody>
      </p:sp>
      <p:sp>
        <p:nvSpPr>
          <p:cNvPr name="TextBox 16" id="16"/>
          <p:cNvSpPr txBox="true"/>
          <p:nvPr/>
        </p:nvSpPr>
        <p:spPr>
          <a:xfrm rot="0">
            <a:off x="609600" y="1752600"/>
            <a:ext cx="10972800" cy="571500"/>
          </a:xfrm>
          <a:prstGeom prst="rect">
            <a:avLst/>
          </a:prstGeom>
        </p:spPr>
        <p:txBody>
          <a:bodyPr anchor="t" rtlCol="false" tIns="0" lIns="0" bIns="0" rIns="0">
            <a:spAutoFit/>
          </a:bodyPr>
          <a:lstStyle/>
          <a:p>
            <a:pPr algn="l" marL="0" indent="0" lvl="0">
              <a:lnSpc>
                <a:spcPts val="4575"/>
              </a:lnSpc>
              <a:spcBef>
                <a:spcPct val="0"/>
              </a:spcBef>
            </a:pPr>
            <a:r>
              <a:rPr lang="en-US" b="true" sz="3750" strike="noStrike" u="none">
                <a:solidFill>
                  <a:srgbClr val="0A2A66"/>
                </a:solidFill>
                <a:latin typeface="DM Sans Bold"/>
                <a:ea typeface="DM Sans Bold"/>
                <a:cs typeface="DM Sans Bold"/>
                <a:sym typeface="DM Sans Bold"/>
              </a:rPr>
              <a:t>Can you use it?</a:t>
            </a:r>
          </a:p>
        </p:txBody>
      </p:sp>
      <p:sp>
        <p:nvSpPr>
          <p:cNvPr name="TextBox 17" id="17"/>
          <p:cNvSpPr txBox="true"/>
          <p:nvPr/>
        </p:nvSpPr>
        <p:spPr>
          <a:xfrm rot="0">
            <a:off x="609600" y="2676525"/>
            <a:ext cx="10972800" cy="280797"/>
          </a:xfrm>
          <a:prstGeom prst="rect">
            <a:avLst/>
          </a:prstGeom>
        </p:spPr>
        <p:txBody>
          <a:bodyPr anchor="t" rtlCol="false" tIns="0" lIns="0" bIns="0" rIns="0">
            <a:spAutoFit/>
          </a:bodyPr>
          <a:lstStyle/>
          <a:p>
            <a:pPr algn="l" marL="0" indent="0" lvl="0">
              <a:lnSpc>
                <a:spcPts val="2379"/>
              </a:lnSpc>
              <a:spcBef>
                <a:spcPct val="0"/>
              </a:spcBef>
            </a:pPr>
            <a:r>
              <a:rPr lang="en-US" sz="1950" strike="noStrike" u="none">
                <a:solidFill>
                  <a:srgbClr val="0A2A66"/>
                </a:solidFill>
                <a:latin typeface="DM Sans"/>
                <a:ea typeface="DM Sans"/>
                <a:cs typeface="DM Sans"/>
                <a:sym typeface="DM Sans"/>
              </a:rPr>
              <a:t>Dunlo connects discovery to practice with Khan Academy.</a:t>
            </a:r>
          </a:p>
        </p:txBody>
      </p:sp>
      <p:sp>
        <p:nvSpPr>
          <p:cNvPr name="TextBox 18" id="18"/>
          <p:cNvSpPr txBox="true"/>
          <p:nvPr/>
        </p:nvSpPr>
        <p:spPr>
          <a:xfrm rot="0">
            <a:off x="609600" y="6457950"/>
            <a:ext cx="9525000" cy="196596"/>
          </a:xfrm>
          <a:prstGeom prst="rect">
            <a:avLst/>
          </a:prstGeom>
        </p:spPr>
        <p:txBody>
          <a:bodyPr anchor="t" rtlCol="false" tIns="0" lIns="0" bIns="0" rIns="0">
            <a:spAutoFit/>
          </a:bodyPr>
          <a:lstStyle/>
          <a:p>
            <a:pPr algn="l" marL="0" indent="0" lvl="0">
              <a:lnSpc>
                <a:spcPts val="1647"/>
              </a:lnSpc>
              <a:spcBef>
                <a:spcPct val="0"/>
              </a:spcBef>
            </a:pPr>
            <a:r>
              <a:rPr lang="en-US" sz="1350" strike="noStrike" u="none">
                <a:solidFill>
                  <a:srgbClr val="0A2A66"/>
                </a:solidFill>
                <a:latin typeface="DM Sans"/>
                <a:ea typeface="DM Sans"/>
                <a:cs typeface="DM Sans"/>
                <a:sym typeface="DM Sans"/>
              </a:rPr>
              <a:t>University of the Philippines Manila</a:t>
            </a:r>
          </a:p>
        </p:txBody>
      </p:sp>
      <p:sp>
        <p:nvSpPr>
          <p:cNvPr name="TextBox 19" id="19"/>
          <p:cNvSpPr txBox="true"/>
          <p:nvPr/>
        </p:nvSpPr>
        <p:spPr>
          <a:xfrm rot="0">
            <a:off x="285750" y="3810000"/>
            <a:ext cx="285750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Explore</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an idea</a:t>
            </a:r>
          </a:p>
        </p:txBody>
      </p:sp>
      <p:sp>
        <p:nvSpPr>
          <p:cNvPr name="TextBox 20" id="20"/>
          <p:cNvSpPr txBox="true"/>
          <p:nvPr/>
        </p:nvSpPr>
        <p:spPr>
          <a:xfrm rot="0">
            <a:off x="3619500" y="5629275"/>
            <a:ext cx="419100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Practise with</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Khan Academy</a:t>
            </a:r>
          </a:p>
        </p:txBody>
      </p:sp>
      <p:sp>
        <p:nvSpPr>
          <p:cNvPr name="TextBox 21" id="21"/>
          <p:cNvSpPr txBox="true"/>
          <p:nvPr/>
        </p:nvSpPr>
        <p:spPr>
          <a:xfrm rot="0">
            <a:off x="8286750" y="4648200"/>
            <a:ext cx="323850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Return for</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a fresh question</a:t>
            </a:r>
          </a:p>
        </p:txBody>
      </p:sp>
      <p:sp>
        <p:nvSpPr>
          <p:cNvPr name="Freeform 22" id="22"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3" id="23" descr="A smooth route through focused study and return"/>
          <p:cNvSpPr/>
          <p:nvPr/>
        </p:nvSpPr>
        <p:spPr>
          <a:xfrm flipH="false" flipV="false" rot="0">
            <a:off x="1524000" y="4095750"/>
            <a:ext cx="9715500" cy="1428750"/>
          </a:xfrm>
          <a:custGeom>
            <a:avLst/>
            <a:gdLst/>
            <a:ahLst/>
            <a:cxnLst/>
            <a:rect r="r" b="b" t="t" l="l"/>
            <a:pathLst>
              <a:path h="1428750" w="9715500">
                <a:moveTo>
                  <a:pt x="0" y="0"/>
                </a:moveTo>
                <a:lnTo>
                  <a:pt x="9715500" y="0"/>
                </a:lnTo>
                <a:lnTo>
                  <a:pt x="9715500" y="1428750"/>
                </a:lnTo>
                <a:lnTo>
                  <a:pt x="0" y="142875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24" id="24" descr="Learning destination"/>
          <p:cNvSpPr/>
          <p:nvPr/>
        </p:nvSpPr>
        <p:spPr>
          <a:xfrm flipH="false" flipV="false" rot="0">
            <a:off x="9734550" y="3829050"/>
            <a:ext cx="342900" cy="457755"/>
          </a:xfrm>
          <a:custGeom>
            <a:avLst/>
            <a:gdLst/>
            <a:ahLst/>
            <a:cxnLst/>
            <a:rect r="r" b="b" t="t" l="l"/>
            <a:pathLst>
              <a:path h="457755" w="342900">
                <a:moveTo>
                  <a:pt x="0" y="0"/>
                </a:moveTo>
                <a:lnTo>
                  <a:pt x="342900" y="0"/>
                </a:lnTo>
                <a:lnTo>
                  <a:pt x="342900" y="457755"/>
                </a:lnTo>
                <a:lnTo>
                  <a:pt x="0" y="457755"/>
                </a:lnTo>
                <a:lnTo>
                  <a:pt x="0" y="0"/>
                </a:lnTo>
                <a:close/>
              </a:path>
            </a:pathLst>
          </a:custGeom>
          <a:blipFill>
            <a:blip r:embed="rId11">
              <a:extLst>
                <a:ext uri="{96DAC541-7B7A-43D3-8B79-37D633B846F1}">
                  <asvg:svgBlip xmlns:asvg="http://schemas.microsoft.com/office/drawing/2016/SVG/main" r:embed="rId12"/>
                </a:ext>
              </a:extLst>
            </a:blip>
            <a:stretch>
              <a:fillRect l="-60" t="0" r="-6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02</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Starting is only the first step</a:t>
            </a:r>
          </a:p>
        </p:txBody>
      </p:sp>
      <p:sp>
        <p:nvSpPr>
          <p:cNvPr name="TextBox 10" id="10"/>
          <p:cNvSpPr txBox="true"/>
          <p:nvPr/>
        </p:nvSpPr>
        <p:spPr>
          <a:xfrm rot="0">
            <a:off x="609600" y="1895475"/>
            <a:ext cx="10972800" cy="328041"/>
          </a:xfrm>
          <a:prstGeom prst="rect">
            <a:avLst/>
          </a:prstGeom>
        </p:spPr>
        <p:txBody>
          <a:bodyPr anchor="t" rtlCol="false" tIns="0" lIns="0" bIns="0" rIns="0">
            <a:spAutoFit/>
          </a:bodyPr>
          <a:lstStyle/>
          <a:p>
            <a:pPr algn="ctr" marL="0" indent="0" lvl="0">
              <a:lnSpc>
                <a:spcPts val="2562"/>
              </a:lnSpc>
              <a:spcBef>
                <a:spcPct val="0"/>
              </a:spcBef>
            </a:pPr>
            <a:r>
              <a:rPr lang="en-US" sz="2100" strike="noStrike" u="none">
                <a:solidFill>
                  <a:srgbClr val="0A2A66"/>
                </a:solidFill>
                <a:latin typeface="DM Sans"/>
                <a:ea typeface="DM Sans"/>
                <a:cs typeface="DM Sans"/>
                <a:sym typeface="DM Sans"/>
              </a:rPr>
              <a:t>An interesting explanation needs a useful continuation.</a:t>
            </a:r>
          </a:p>
        </p:txBody>
      </p:sp>
      <p:sp>
        <p:nvSpPr>
          <p:cNvPr name="AutoShape 11" id="11"/>
          <p:cNvSpPr/>
          <p:nvPr/>
        </p:nvSpPr>
        <p:spPr>
          <a:xfrm rot="0">
            <a:off x="609600" y="2714625"/>
            <a:ext cx="4648200" cy="2190750"/>
          </a:xfrm>
          <a:prstGeom prst="rect">
            <a:avLst/>
          </a:prstGeom>
          <a:solidFill>
            <a:srgbClr val="F0EFFF"/>
          </a:solidFill>
        </p:spPr>
      </p:sp>
      <p:sp>
        <p:nvSpPr>
          <p:cNvPr name="TextBox 12" id="12"/>
          <p:cNvSpPr txBox="true"/>
          <p:nvPr/>
        </p:nvSpPr>
        <p:spPr>
          <a:xfrm rot="0">
            <a:off x="838200" y="2867025"/>
            <a:ext cx="4191000" cy="393573"/>
          </a:xfrm>
          <a:prstGeom prst="rect">
            <a:avLst/>
          </a:prstGeom>
        </p:spPr>
        <p:txBody>
          <a:bodyPr anchor="t" rtlCol="false" tIns="0" lIns="0" bIns="0" rIns="0">
            <a:spAutoFit/>
          </a:bodyPr>
          <a:lstStyle/>
          <a:p>
            <a:pPr algn="ctr" marL="0" indent="0" lvl="0">
              <a:lnSpc>
                <a:spcPts val="3111"/>
              </a:lnSpc>
              <a:spcBef>
                <a:spcPct val="0"/>
              </a:spcBef>
            </a:pPr>
            <a:r>
              <a:rPr lang="en-US" sz="2550" strike="noStrike" u="none">
                <a:solidFill>
                  <a:srgbClr val="0A2A66"/>
                </a:solidFill>
                <a:latin typeface="DM Sans"/>
                <a:ea typeface="DM Sans"/>
                <a:cs typeface="DM Sans"/>
                <a:sym typeface="DM Sans"/>
              </a:rPr>
              <a:t>Where do I begin?</a:t>
            </a:r>
          </a:p>
        </p:txBody>
      </p:sp>
      <p:sp>
        <p:nvSpPr>
          <p:cNvPr name="TextBox 13" id="13"/>
          <p:cNvSpPr txBox="true"/>
          <p:nvPr/>
        </p:nvSpPr>
        <p:spPr>
          <a:xfrm rot="0">
            <a:off x="838200" y="3638550"/>
            <a:ext cx="4191000" cy="271653"/>
          </a:xfrm>
          <a:prstGeom prst="rect">
            <a:avLst/>
          </a:prstGeom>
        </p:spPr>
        <p:txBody>
          <a:bodyPr anchor="t" rtlCol="false" tIns="0" lIns="0" bIns="0" rIns="0">
            <a:spAutoFit/>
          </a:bodyPr>
          <a:lstStyle/>
          <a:p>
            <a:pPr algn="ctr" marL="0" indent="0" lvl="0">
              <a:lnSpc>
                <a:spcPts val="2196"/>
              </a:lnSpc>
              <a:spcBef>
                <a:spcPct val="0"/>
              </a:spcBef>
            </a:pPr>
            <a:r>
              <a:rPr lang="en-US" sz="1800" strike="noStrike" u="none">
                <a:solidFill>
                  <a:srgbClr val="0A2A66"/>
                </a:solidFill>
                <a:latin typeface="DM Sans"/>
                <a:ea typeface="DM Sans"/>
                <a:cs typeface="DM Sans"/>
                <a:sym typeface="DM Sans"/>
              </a:rPr>
              <a:t>Choose an approachable idea.</a:t>
            </a:r>
          </a:p>
        </p:txBody>
      </p:sp>
      <p:sp>
        <p:nvSpPr>
          <p:cNvPr name="TextBox 14" id="14"/>
          <p:cNvSpPr txBox="true"/>
          <p:nvPr/>
        </p:nvSpPr>
        <p:spPr>
          <a:xfrm rot="0">
            <a:off x="838200" y="4371975"/>
            <a:ext cx="4191000" cy="271653"/>
          </a:xfrm>
          <a:prstGeom prst="rect">
            <a:avLst/>
          </a:prstGeom>
        </p:spPr>
        <p:txBody>
          <a:bodyPr anchor="t" rtlCol="false" tIns="0" lIns="0" bIns="0" rIns="0">
            <a:spAutoFit/>
          </a:bodyPr>
          <a:lstStyle/>
          <a:p>
            <a:pPr algn="ctr" marL="0" indent="0" lvl="0">
              <a:lnSpc>
                <a:spcPts val="2196"/>
              </a:lnSpc>
              <a:spcBef>
                <a:spcPct val="0"/>
              </a:spcBef>
            </a:pPr>
            <a:r>
              <a:rPr lang="en-US" sz="1800" strike="noStrike" u="none">
                <a:solidFill>
                  <a:srgbClr val="0A2A66"/>
                </a:solidFill>
                <a:latin typeface="DM Sans"/>
                <a:ea typeface="DM Sans"/>
                <a:cs typeface="DM Sans"/>
                <a:sym typeface="DM Sans"/>
              </a:rPr>
              <a:t>Play with it. Follow your curiosity.</a:t>
            </a:r>
          </a:p>
        </p:txBody>
      </p:sp>
      <p:sp>
        <p:nvSpPr>
          <p:cNvPr name="AutoShape 15" id="15"/>
          <p:cNvSpPr/>
          <p:nvPr/>
        </p:nvSpPr>
        <p:spPr>
          <a:xfrm rot="0">
            <a:off x="5562600" y="3800475"/>
            <a:ext cx="876300" cy="38100"/>
          </a:xfrm>
          <a:prstGeom prst="rect">
            <a:avLst/>
          </a:prstGeom>
          <a:solidFill>
            <a:srgbClr val="C96331"/>
          </a:solidFill>
        </p:spPr>
      </p:sp>
      <p:grpSp>
        <p:nvGrpSpPr>
          <p:cNvPr name="Group 16" id="16"/>
          <p:cNvGrpSpPr/>
          <p:nvPr/>
        </p:nvGrpSpPr>
        <p:grpSpPr>
          <a:xfrm rot="1840140">
            <a:off x="6381083" y="3764852"/>
            <a:ext cx="171450" cy="28575"/>
            <a:chOff x="0" y="0"/>
            <a:chExt cx="228600" cy="38100"/>
          </a:xfrm>
        </p:grpSpPr>
        <p:sp>
          <p:nvSpPr>
            <p:cNvPr name="Freeform 17" id="17"/>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96331"/>
            </a:solidFill>
          </p:spPr>
        </p:sp>
      </p:grpSp>
      <p:grpSp>
        <p:nvGrpSpPr>
          <p:cNvPr name="Group 18" id="18"/>
          <p:cNvGrpSpPr/>
          <p:nvPr/>
        </p:nvGrpSpPr>
        <p:grpSpPr>
          <a:xfrm rot="8959860">
            <a:off x="6372987" y="3850576"/>
            <a:ext cx="171450" cy="28575"/>
            <a:chOff x="0" y="0"/>
            <a:chExt cx="228600" cy="38100"/>
          </a:xfrm>
        </p:grpSpPr>
        <p:sp>
          <p:nvSpPr>
            <p:cNvPr name="Freeform 19" id="19"/>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96331"/>
            </a:solidFill>
          </p:spPr>
        </p:sp>
      </p:grpSp>
      <p:sp>
        <p:nvSpPr>
          <p:cNvPr name="TextBox 20" id="20"/>
          <p:cNvSpPr txBox="true"/>
          <p:nvPr/>
        </p:nvSpPr>
        <p:spPr>
          <a:xfrm rot="0">
            <a:off x="609600" y="5543550"/>
            <a:ext cx="10972800" cy="196787"/>
          </a:xfrm>
          <a:prstGeom prst="rect">
            <a:avLst/>
          </a:prstGeom>
        </p:spPr>
        <p:txBody>
          <a:bodyPr anchor="t" rtlCol="false" tIns="0" lIns="0" bIns="0" rIns="0">
            <a:spAutoFit/>
          </a:bodyPr>
          <a:lstStyle/>
          <a:p>
            <a:pPr algn="ctr" marL="0" indent="0" lvl="0">
              <a:lnSpc>
                <a:spcPts val="1555"/>
              </a:lnSpc>
              <a:spcBef>
                <a:spcPct val="0"/>
              </a:spcBef>
            </a:pPr>
            <a:r>
              <a:rPr lang="en-US" sz="1275" strike="noStrike" u="none">
                <a:solidFill>
                  <a:srgbClr val="0A2A66"/>
                </a:solidFill>
                <a:latin typeface="DM Sans"/>
                <a:ea typeface="DM Sans"/>
                <a:cs typeface="DM Sans"/>
                <a:sym typeface="DM Sans"/>
                <a:hlinkClick r:id="rId7" tooltip="https://enactus.ph/2026-national-competition/khan-academy-challenge#looking-for"/>
              </a:rPr>
              <a:t>KEIC focus: reach, meaningful engagement and lasting impact</a:t>
            </a:r>
          </a:p>
        </p:txBody>
      </p:sp>
      <p:sp>
        <p:nvSpPr>
          <p:cNvPr name="AutoShape 21" id="21"/>
          <p:cNvSpPr/>
          <p:nvPr/>
        </p:nvSpPr>
        <p:spPr>
          <a:xfrm rot="0">
            <a:off x="6934200" y="2714625"/>
            <a:ext cx="4648200" cy="2190750"/>
          </a:xfrm>
          <a:prstGeom prst="rect">
            <a:avLst/>
          </a:prstGeom>
          <a:solidFill>
            <a:srgbClr val="D9F2EA"/>
          </a:solidFill>
        </p:spPr>
      </p:sp>
      <p:sp>
        <p:nvSpPr>
          <p:cNvPr name="TextBox 22" id="22"/>
          <p:cNvSpPr txBox="true"/>
          <p:nvPr/>
        </p:nvSpPr>
        <p:spPr>
          <a:xfrm rot="0">
            <a:off x="7162800" y="2867025"/>
            <a:ext cx="4191000" cy="393573"/>
          </a:xfrm>
          <a:prstGeom prst="rect">
            <a:avLst/>
          </a:prstGeom>
        </p:spPr>
        <p:txBody>
          <a:bodyPr anchor="t" rtlCol="false" tIns="0" lIns="0" bIns="0" rIns="0">
            <a:spAutoFit/>
          </a:bodyPr>
          <a:lstStyle/>
          <a:p>
            <a:pPr algn="ctr" marL="0" indent="0" lvl="0">
              <a:lnSpc>
                <a:spcPts val="3111"/>
              </a:lnSpc>
              <a:spcBef>
                <a:spcPct val="0"/>
              </a:spcBef>
            </a:pPr>
            <a:r>
              <a:rPr lang="en-US" sz="2550" strike="noStrike" u="none">
                <a:solidFill>
                  <a:srgbClr val="0A2A66"/>
                </a:solidFill>
                <a:latin typeface="DM Sans"/>
                <a:ea typeface="DM Sans"/>
                <a:cs typeface="DM Sans"/>
                <a:sym typeface="DM Sans"/>
              </a:rPr>
              <a:t>What comes next?</a:t>
            </a:r>
          </a:p>
        </p:txBody>
      </p:sp>
      <p:sp>
        <p:nvSpPr>
          <p:cNvPr name="TextBox 23" id="23"/>
          <p:cNvSpPr txBox="true"/>
          <p:nvPr/>
        </p:nvSpPr>
        <p:spPr>
          <a:xfrm rot="0">
            <a:off x="7162800" y="3638550"/>
            <a:ext cx="4191000" cy="271653"/>
          </a:xfrm>
          <a:prstGeom prst="rect">
            <a:avLst/>
          </a:prstGeom>
        </p:spPr>
        <p:txBody>
          <a:bodyPr anchor="t" rtlCol="false" tIns="0" lIns="0" bIns="0" rIns="0">
            <a:spAutoFit/>
          </a:bodyPr>
          <a:lstStyle/>
          <a:p>
            <a:pPr algn="ctr" marL="0" indent="0" lvl="0">
              <a:lnSpc>
                <a:spcPts val="2196"/>
              </a:lnSpc>
              <a:spcBef>
                <a:spcPct val="0"/>
              </a:spcBef>
            </a:pPr>
            <a:r>
              <a:rPr lang="en-US" sz="1800" strike="noStrike" u="none">
                <a:solidFill>
                  <a:srgbClr val="0A2A66"/>
                </a:solidFill>
                <a:latin typeface="DM Sans"/>
                <a:ea typeface="DM Sans"/>
                <a:cs typeface="DM Sans"/>
                <a:sym typeface="DM Sans"/>
              </a:rPr>
              <a:t>Find the relevant practice.</a:t>
            </a:r>
          </a:p>
        </p:txBody>
      </p:sp>
      <p:sp>
        <p:nvSpPr>
          <p:cNvPr name="TextBox 24" id="24"/>
          <p:cNvSpPr txBox="true"/>
          <p:nvPr/>
        </p:nvSpPr>
        <p:spPr>
          <a:xfrm rot="0">
            <a:off x="7162800" y="4371975"/>
            <a:ext cx="4191000" cy="271653"/>
          </a:xfrm>
          <a:prstGeom prst="rect">
            <a:avLst/>
          </a:prstGeom>
        </p:spPr>
        <p:txBody>
          <a:bodyPr anchor="t" rtlCol="false" tIns="0" lIns="0" bIns="0" rIns="0">
            <a:spAutoFit/>
          </a:bodyPr>
          <a:lstStyle/>
          <a:p>
            <a:pPr algn="ctr" marL="0" indent="0" lvl="0">
              <a:lnSpc>
                <a:spcPts val="2196"/>
              </a:lnSpc>
              <a:spcBef>
                <a:spcPct val="0"/>
              </a:spcBef>
            </a:pPr>
            <a:r>
              <a:rPr lang="en-US" sz="1800" strike="noStrike" u="none">
                <a:solidFill>
                  <a:srgbClr val="0A2A66"/>
                </a:solidFill>
                <a:latin typeface="DM Sans"/>
                <a:ea typeface="DM Sans"/>
                <a:cs typeface="DM Sans"/>
                <a:sym typeface="DM Sans"/>
              </a:rPr>
              <a:t>Get help, then return to the idea.</a:t>
            </a:r>
          </a:p>
        </p:txBody>
      </p:sp>
      <p:sp>
        <p:nvSpPr>
          <p:cNvPr name="AutoShape 25" id="25"/>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26" id="26"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03</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The learning journey</a:t>
            </a:r>
          </a:p>
        </p:txBody>
      </p:sp>
      <p:grpSp>
        <p:nvGrpSpPr>
          <p:cNvPr name="Group 10" id="10"/>
          <p:cNvGrpSpPr/>
          <p:nvPr/>
        </p:nvGrpSpPr>
        <p:grpSpPr>
          <a:xfrm rot="0">
            <a:off x="1476375" y="2876550"/>
            <a:ext cx="552450" cy="552450"/>
            <a:chOff x="0" y="0"/>
            <a:chExt cx="736600" cy="736600"/>
          </a:xfrm>
        </p:grpSpPr>
        <p:sp>
          <p:nvSpPr>
            <p:cNvPr name="Freeform 11" id="11"/>
            <p:cNvSpPr/>
            <p:nvPr/>
          </p:nvSpPr>
          <p:spPr>
            <a:xfrm flipH="false" flipV="false" rot="0">
              <a:off x="0" y="0"/>
              <a:ext cx="736600" cy="736600"/>
            </a:xfrm>
            <a:custGeom>
              <a:avLst/>
              <a:gdLst/>
              <a:ahLst/>
              <a:cxnLst/>
              <a:rect r="r" b="b" t="t" l="l"/>
              <a:pathLst>
                <a:path h="736600" w="736600">
                  <a:moveTo>
                    <a:pt x="368300" y="0"/>
                  </a:moveTo>
                  <a:cubicBezTo>
                    <a:pt x="571754" y="0"/>
                    <a:pt x="736600" y="164846"/>
                    <a:pt x="736600" y="368300"/>
                  </a:cubicBezTo>
                  <a:cubicBezTo>
                    <a:pt x="736600" y="571754"/>
                    <a:pt x="571754" y="736600"/>
                    <a:pt x="368300" y="736600"/>
                  </a:cubicBezTo>
                  <a:cubicBezTo>
                    <a:pt x="164846" y="736600"/>
                    <a:pt x="0" y="571754"/>
                    <a:pt x="0" y="368300"/>
                  </a:cubicBezTo>
                  <a:cubicBezTo>
                    <a:pt x="0" y="164846"/>
                    <a:pt x="164846" y="0"/>
                    <a:pt x="368300" y="0"/>
                  </a:cubicBezTo>
                  <a:close/>
                </a:path>
              </a:pathLst>
            </a:custGeom>
            <a:solidFill>
              <a:srgbClr val="0A2A66"/>
            </a:solidFill>
          </p:spPr>
        </p:sp>
      </p:grpSp>
      <p:sp>
        <p:nvSpPr>
          <p:cNvPr name="TextBox 12" id="12"/>
          <p:cNvSpPr txBox="true"/>
          <p:nvPr/>
        </p:nvSpPr>
        <p:spPr>
          <a:xfrm rot="0">
            <a:off x="1562100" y="2971800"/>
            <a:ext cx="38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FFFFFF"/>
                </a:solidFill>
                <a:latin typeface="DM Sans"/>
                <a:ea typeface="DM Sans"/>
                <a:cs typeface="DM Sans"/>
                <a:sym typeface="DM Sans"/>
              </a:rPr>
              <a:t>1</a:t>
            </a:r>
          </a:p>
        </p:txBody>
      </p:sp>
      <p:sp>
        <p:nvSpPr>
          <p:cNvPr name="TextBox 13" id="13"/>
          <p:cNvSpPr txBox="true"/>
          <p:nvPr/>
        </p:nvSpPr>
        <p:spPr>
          <a:xfrm rot="0">
            <a:off x="609600" y="3648075"/>
            <a:ext cx="228600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Discover</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an idea</a:t>
            </a:r>
          </a:p>
        </p:txBody>
      </p:sp>
      <p:sp>
        <p:nvSpPr>
          <p:cNvPr name="AutoShape 14" id="14"/>
          <p:cNvSpPr/>
          <p:nvPr/>
        </p:nvSpPr>
        <p:spPr>
          <a:xfrm rot="0">
            <a:off x="2419350" y="3133725"/>
            <a:ext cx="876300" cy="38100"/>
          </a:xfrm>
          <a:prstGeom prst="rect">
            <a:avLst/>
          </a:prstGeom>
          <a:solidFill>
            <a:srgbClr val="CCD7E4"/>
          </a:solidFill>
        </p:spPr>
      </p:sp>
      <p:grpSp>
        <p:nvGrpSpPr>
          <p:cNvPr name="Group 15" id="15"/>
          <p:cNvGrpSpPr/>
          <p:nvPr/>
        </p:nvGrpSpPr>
        <p:grpSpPr>
          <a:xfrm rot="1840140">
            <a:off x="3237833" y="3098102"/>
            <a:ext cx="171450" cy="28575"/>
            <a:chOff x="0" y="0"/>
            <a:chExt cx="228600" cy="38100"/>
          </a:xfrm>
        </p:grpSpPr>
        <p:sp>
          <p:nvSpPr>
            <p:cNvPr name="Freeform 16" id="16"/>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17" id="17"/>
          <p:cNvGrpSpPr/>
          <p:nvPr/>
        </p:nvGrpSpPr>
        <p:grpSpPr>
          <a:xfrm rot="8959860">
            <a:off x="3229737" y="3183826"/>
            <a:ext cx="171450" cy="28575"/>
            <a:chOff x="0" y="0"/>
            <a:chExt cx="228600" cy="38100"/>
          </a:xfrm>
        </p:grpSpPr>
        <p:sp>
          <p:nvSpPr>
            <p:cNvPr name="Freeform 18" id="18"/>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19" id="19"/>
          <p:cNvGrpSpPr/>
          <p:nvPr/>
        </p:nvGrpSpPr>
        <p:grpSpPr>
          <a:xfrm rot="0">
            <a:off x="4371975" y="2876550"/>
            <a:ext cx="552450" cy="552450"/>
            <a:chOff x="0" y="0"/>
            <a:chExt cx="736600" cy="736600"/>
          </a:xfrm>
        </p:grpSpPr>
        <p:sp>
          <p:nvSpPr>
            <p:cNvPr name="Freeform 20" id="20"/>
            <p:cNvSpPr/>
            <p:nvPr/>
          </p:nvSpPr>
          <p:spPr>
            <a:xfrm flipH="false" flipV="false" rot="0">
              <a:off x="0" y="0"/>
              <a:ext cx="736600" cy="736600"/>
            </a:xfrm>
            <a:custGeom>
              <a:avLst/>
              <a:gdLst/>
              <a:ahLst/>
              <a:cxnLst/>
              <a:rect r="r" b="b" t="t" l="l"/>
              <a:pathLst>
                <a:path h="736600" w="736600">
                  <a:moveTo>
                    <a:pt x="368300" y="0"/>
                  </a:moveTo>
                  <a:cubicBezTo>
                    <a:pt x="571754" y="0"/>
                    <a:pt x="736600" y="164846"/>
                    <a:pt x="736600" y="368300"/>
                  </a:cubicBezTo>
                  <a:cubicBezTo>
                    <a:pt x="736600" y="571754"/>
                    <a:pt x="571754" y="736600"/>
                    <a:pt x="368300" y="736600"/>
                  </a:cubicBezTo>
                  <a:cubicBezTo>
                    <a:pt x="164846" y="736600"/>
                    <a:pt x="0" y="571754"/>
                    <a:pt x="0" y="368300"/>
                  </a:cubicBezTo>
                  <a:cubicBezTo>
                    <a:pt x="0" y="164846"/>
                    <a:pt x="164846" y="0"/>
                    <a:pt x="368300" y="0"/>
                  </a:cubicBezTo>
                  <a:close/>
                </a:path>
              </a:pathLst>
            </a:custGeom>
            <a:solidFill>
              <a:srgbClr val="C96331"/>
            </a:solidFill>
          </p:spPr>
        </p:sp>
      </p:grpSp>
      <p:sp>
        <p:nvSpPr>
          <p:cNvPr name="TextBox 21" id="21"/>
          <p:cNvSpPr txBox="true"/>
          <p:nvPr/>
        </p:nvSpPr>
        <p:spPr>
          <a:xfrm rot="0">
            <a:off x="4457700" y="2971800"/>
            <a:ext cx="38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2</a:t>
            </a:r>
          </a:p>
        </p:txBody>
      </p:sp>
      <p:sp>
        <p:nvSpPr>
          <p:cNvPr name="TextBox 22" id="22"/>
          <p:cNvSpPr txBox="true"/>
          <p:nvPr/>
        </p:nvSpPr>
        <p:spPr>
          <a:xfrm rot="0">
            <a:off x="3505200" y="3648075"/>
            <a:ext cx="228600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Understand</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what changes</a:t>
            </a:r>
          </a:p>
        </p:txBody>
      </p:sp>
      <p:sp>
        <p:nvSpPr>
          <p:cNvPr name="AutoShape 23" id="23"/>
          <p:cNvSpPr/>
          <p:nvPr/>
        </p:nvSpPr>
        <p:spPr>
          <a:xfrm rot="0">
            <a:off x="5314950" y="3133725"/>
            <a:ext cx="876300" cy="38100"/>
          </a:xfrm>
          <a:prstGeom prst="rect">
            <a:avLst/>
          </a:prstGeom>
          <a:solidFill>
            <a:srgbClr val="CCD7E4"/>
          </a:solidFill>
        </p:spPr>
      </p:sp>
      <p:grpSp>
        <p:nvGrpSpPr>
          <p:cNvPr name="Group 24" id="24"/>
          <p:cNvGrpSpPr/>
          <p:nvPr/>
        </p:nvGrpSpPr>
        <p:grpSpPr>
          <a:xfrm rot="1840140">
            <a:off x="6133433" y="3098102"/>
            <a:ext cx="171450" cy="28575"/>
            <a:chOff x="0" y="0"/>
            <a:chExt cx="228600" cy="38100"/>
          </a:xfrm>
        </p:grpSpPr>
        <p:sp>
          <p:nvSpPr>
            <p:cNvPr name="Freeform 25" id="25"/>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26" id="26"/>
          <p:cNvGrpSpPr/>
          <p:nvPr/>
        </p:nvGrpSpPr>
        <p:grpSpPr>
          <a:xfrm rot="8959860">
            <a:off x="6125337" y="3183826"/>
            <a:ext cx="171450" cy="28575"/>
            <a:chOff x="0" y="0"/>
            <a:chExt cx="228600" cy="38100"/>
          </a:xfrm>
        </p:grpSpPr>
        <p:sp>
          <p:nvSpPr>
            <p:cNvPr name="Freeform 27" id="27"/>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28" id="28"/>
          <p:cNvGrpSpPr/>
          <p:nvPr/>
        </p:nvGrpSpPr>
        <p:grpSpPr>
          <a:xfrm rot="0">
            <a:off x="7267575" y="2876550"/>
            <a:ext cx="552450" cy="552450"/>
            <a:chOff x="0" y="0"/>
            <a:chExt cx="736600" cy="736600"/>
          </a:xfrm>
        </p:grpSpPr>
        <p:sp>
          <p:nvSpPr>
            <p:cNvPr name="Freeform 29" id="29"/>
            <p:cNvSpPr/>
            <p:nvPr/>
          </p:nvSpPr>
          <p:spPr>
            <a:xfrm flipH="false" flipV="false" rot="0">
              <a:off x="0" y="0"/>
              <a:ext cx="736600" cy="736600"/>
            </a:xfrm>
            <a:custGeom>
              <a:avLst/>
              <a:gdLst/>
              <a:ahLst/>
              <a:cxnLst/>
              <a:rect r="r" b="b" t="t" l="l"/>
              <a:pathLst>
                <a:path h="736600" w="736600">
                  <a:moveTo>
                    <a:pt x="368300" y="0"/>
                  </a:moveTo>
                  <a:cubicBezTo>
                    <a:pt x="571754" y="0"/>
                    <a:pt x="736600" y="164846"/>
                    <a:pt x="736600" y="368300"/>
                  </a:cubicBezTo>
                  <a:cubicBezTo>
                    <a:pt x="736600" y="571754"/>
                    <a:pt x="571754" y="736600"/>
                    <a:pt x="368300" y="736600"/>
                  </a:cubicBezTo>
                  <a:cubicBezTo>
                    <a:pt x="164846" y="736600"/>
                    <a:pt x="0" y="571754"/>
                    <a:pt x="0" y="368300"/>
                  </a:cubicBezTo>
                  <a:cubicBezTo>
                    <a:pt x="0" y="164846"/>
                    <a:pt x="164846" y="0"/>
                    <a:pt x="368300" y="0"/>
                  </a:cubicBezTo>
                  <a:close/>
                </a:path>
              </a:pathLst>
            </a:custGeom>
            <a:solidFill>
              <a:srgbClr val="0A2A66"/>
            </a:solidFill>
          </p:spPr>
        </p:sp>
      </p:grpSp>
      <p:sp>
        <p:nvSpPr>
          <p:cNvPr name="TextBox 30" id="30"/>
          <p:cNvSpPr txBox="true"/>
          <p:nvPr/>
        </p:nvSpPr>
        <p:spPr>
          <a:xfrm rot="0">
            <a:off x="7353300" y="2971800"/>
            <a:ext cx="38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FFFFFF"/>
                </a:solidFill>
                <a:latin typeface="DM Sans"/>
                <a:ea typeface="DM Sans"/>
                <a:cs typeface="DM Sans"/>
                <a:sym typeface="DM Sans"/>
              </a:rPr>
              <a:t>3</a:t>
            </a:r>
          </a:p>
        </p:txBody>
      </p:sp>
      <p:sp>
        <p:nvSpPr>
          <p:cNvPr name="TextBox 31" id="31"/>
          <p:cNvSpPr txBox="true"/>
          <p:nvPr/>
        </p:nvSpPr>
        <p:spPr>
          <a:xfrm rot="0">
            <a:off x="6400800" y="3648075"/>
            <a:ext cx="228600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Practise with</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Khan Academy</a:t>
            </a:r>
          </a:p>
        </p:txBody>
      </p:sp>
      <p:sp>
        <p:nvSpPr>
          <p:cNvPr name="AutoShape 32" id="32"/>
          <p:cNvSpPr/>
          <p:nvPr/>
        </p:nvSpPr>
        <p:spPr>
          <a:xfrm rot="0">
            <a:off x="8210550" y="3133725"/>
            <a:ext cx="876300" cy="38100"/>
          </a:xfrm>
          <a:prstGeom prst="rect">
            <a:avLst/>
          </a:prstGeom>
          <a:solidFill>
            <a:srgbClr val="CCD7E4"/>
          </a:solidFill>
        </p:spPr>
      </p:sp>
      <p:grpSp>
        <p:nvGrpSpPr>
          <p:cNvPr name="Group 33" id="33"/>
          <p:cNvGrpSpPr/>
          <p:nvPr/>
        </p:nvGrpSpPr>
        <p:grpSpPr>
          <a:xfrm rot="1840140">
            <a:off x="9029033" y="3098102"/>
            <a:ext cx="171450" cy="28575"/>
            <a:chOff x="0" y="0"/>
            <a:chExt cx="228600" cy="38100"/>
          </a:xfrm>
        </p:grpSpPr>
        <p:sp>
          <p:nvSpPr>
            <p:cNvPr name="Freeform 34" id="34"/>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35" id="35"/>
          <p:cNvGrpSpPr/>
          <p:nvPr/>
        </p:nvGrpSpPr>
        <p:grpSpPr>
          <a:xfrm rot="8959860">
            <a:off x="9020937" y="3183826"/>
            <a:ext cx="171450" cy="28575"/>
            <a:chOff x="0" y="0"/>
            <a:chExt cx="228600" cy="38100"/>
          </a:xfrm>
        </p:grpSpPr>
        <p:sp>
          <p:nvSpPr>
            <p:cNvPr name="Freeform 36" id="36"/>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37" id="37"/>
          <p:cNvGrpSpPr/>
          <p:nvPr/>
        </p:nvGrpSpPr>
        <p:grpSpPr>
          <a:xfrm rot="0">
            <a:off x="10163175" y="2876550"/>
            <a:ext cx="552450" cy="552450"/>
            <a:chOff x="0" y="0"/>
            <a:chExt cx="736600" cy="736600"/>
          </a:xfrm>
        </p:grpSpPr>
        <p:sp>
          <p:nvSpPr>
            <p:cNvPr name="Freeform 38" id="38"/>
            <p:cNvSpPr/>
            <p:nvPr/>
          </p:nvSpPr>
          <p:spPr>
            <a:xfrm flipH="false" flipV="false" rot="0">
              <a:off x="0" y="0"/>
              <a:ext cx="736600" cy="736600"/>
            </a:xfrm>
            <a:custGeom>
              <a:avLst/>
              <a:gdLst/>
              <a:ahLst/>
              <a:cxnLst/>
              <a:rect r="r" b="b" t="t" l="l"/>
              <a:pathLst>
                <a:path h="736600" w="736600">
                  <a:moveTo>
                    <a:pt x="368300" y="0"/>
                  </a:moveTo>
                  <a:cubicBezTo>
                    <a:pt x="571754" y="0"/>
                    <a:pt x="736600" y="164846"/>
                    <a:pt x="736600" y="368300"/>
                  </a:cubicBezTo>
                  <a:cubicBezTo>
                    <a:pt x="736600" y="571754"/>
                    <a:pt x="571754" y="736600"/>
                    <a:pt x="368300" y="736600"/>
                  </a:cubicBezTo>
                  <a:cubicBezTo>
                    <a:pt x="164846" y="736600"/>
                    <a:pt x="0" y="571754"/>
                    <a:pt x="0" y="368300"/>
                  </a:cubicBezTo>
                  <a:cubicBezTo>
                    <a:pt x="0" y="164846"/>
                    <a:pt x="164846" y="0"/>
                    <a:pt x="368300" y="0"/>
                  </a:cubicBezTo>
                  <a:close/>
                </a:path>
              </a:pathLst>
            </a:custGeom>
            <a:solidFill>
              <a:srgbClr val="14BF96"/>
            </a:solidFill>
          </p:spPr>
        </p:sp>
      </p:grpSp>
      <p:sp>
        <p:nvSpPr>
          <p:cNvPr name="TextBox 39" id="39"/>
          <p:cNvSpPr txBox="true"/>
          <p:nvPr/>
        </p:nvSpPr>
        <p:spPr>
          <a:xfrm rot="0">
            <a:off x="10248900" y="2971800"/>
            <a:ext cx="38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4</a:t>
            </a:r>
          </a:p>
        </p:txBody>
      </p:sp>
      <p:sp>
        <p:nvSpPr>
          <p:cNvPr name="TextBox 40" id="40"/>
          <p:cNvSpPr txBox="true"/>
          <p:nvPr/>
        </p:nvSpPr>
        <p:spPr>
          <a:xfrm rot="0">
            <a:off x="9296400" y="3648075"/>
            <a:ext cx="228600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Return and</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try it again</a:t>
            </a:r>
          </a:p>
        </p:txBody>
      </p:sp>
      <p:sp>
        <p:nvSpPr>
          <p:cNvPr name="TextBox 41" id="41"/>
          <p:cNvSpPr txBox="true"/>
          <p:nvPr/>
        </p:nvSpPr>
        <p:spPr>
          <a:xfrm rot="0">
            <a:off x="609600" y="5362575"/>
            <a:ext cx="10972800" cy="262318"/>
          </a:xfrm>
          <a:prstGeom prst="rect">
            <a:avLst/>
          </a:prstGeom>
        </p:spPr>
        <p:txBody>
          <a:bodyPr anchor="t" rtlCol="false" tIns="0" lIns="0" bIns="0" rIns="0">
            <a:spAutoFit/>
          </a:bodyPr>
          <a:lstStyle/>
          <a:p>
            <a:pPr algn="ctr" marL="0" indent="0" lvl="0">
              <a:lnSpc>
                <a:spcPts val="2104"/>
              </a:lnSpc>
              <a:spcBef>
                <a:spcPct val="0"/>
              </a:spcBef>
            </a:pPr>
            <a:r>
              <a:rPr lang="en-US" sz="1725" strike="noStrike" u="none">
                <a:solidFill>
                  <a:srgbClr val="0A2A66"/>
                </a:solidFill>
                <a:latin typeface="DM Sans"/>
                <a:ea typeface="DM Sans"/>
                <a:cs typeface="DM Sans"/>
                <a:sym typeface="DM Sans"/>
              </a:rPr>
              <a:t>Useful support keeps the original learning goal within reach.</a:t>
            </a:r>
          </a:p>
        </p:txBody>
      </p:sp>
      <p:sp>
        <p:nvSpPr>
          <p:cNvPr name="AutoShape 42" id="42"/>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43" id="43"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AutoShape 8" id="8"/>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TextBox 9" id="9"/>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04</a:t>
            </a:r>
          </a:p>
        </p:txBody>
      </p:sp>
      <p:sp>
        <p:nvSpPr>
          <p:cNvPr name="TextBox 10" id="10"/>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Explore a short learning feed</a:t>
            </a:r>
          </a:p>
        </p:txBody>
      </p:sp>
      <p:sp>
        <p:nvSpPr>
          <p:cNvPr name="TextBox 11" id="11"/>
          <p:cNvSpPr txBox="true"/>
          <p:nvPr/>
        </p:nvSpPr>
        <p:spPr>
          <a:xfrm rot="0">
            <a:off x="609600" y="1838325"/>
            <a:ext cx="7048500" cy="280797"/>
          </a:xfrm>
          <a:prstGeom prst="rect">
            <a:avLst/>
          </a:prstGeom>
        </p:spPr>
        <p:txBody>
          <a:bodyPr anchor="t" rtlCol="false" tIns="0" lIns="0" bIns="0" rIns="0">
            <a:spAutoFit/>
          </a:bodyPr>
          <a:lstStyle/>
          <a:p>
            <a:pPr algn="l" marL="0" indent="0" lvl="0">
              <a:lnSpc>
                <a:spcPts val="2379"/>
              </a:lnSpc>
              <a:spcBef>
                <a:spcPct val="0"/>
              </a:spcBef>
            </a:pPr>
            <a:r>
              <a:rPr lang="en-US" sz="1950" strike="noStrike" u="none">
                <a:solidFill>
                  <a:srgbClr val="0A2A66"/>
                </a:solidFill>
                <a:latin typeface="DM Sans"/>
                <a:ea typeface="DM Sans"/>
                <a:cs typeface="DM Sans"/>
                <a:sym typeface="DM Sans"/>
              </a:rPr>
              <a:t>One idea at a time. A clear way to keep going.</a:t>
            </a:r>
          </a:p>
        </p:txBody>
      </p:sp>
      <p:sp>
        <p:nvSpPr>
          <p:cNvPr name="TextBox 12" id="12"/>
          <p:cNvSpPr txBox="true"/>
          <p:nvPr/>
        </p:nvSpPr>
        <p:spPr>
          <a:xfrm rot="0">
            <a:off x="762000" y="2714625"/>
            <a:ext cx="5524500" cy="374904"/>
          </a:xfrm>
          <a:prstGeom prst="rect">
            <a:avLst/>
          </a:prstGeom>
        </p:spPr>
        <p:txBody>
          <a:bodyPr anchor="t" rtlCol="false" tIns="0" lIns="0" bIns="0" rIns="0">
            <a:spAutoFit/>
          </a:bodyPr>
          <a:lstStyle/>
          <a:p>
            <a:pPr algn="ctr" marL="0" indent="0" lvl="0">
              <a:lnSpc>
                <a:spcPts val="2928"/>
              </a:lnSpc>
              <a:spcBef>
                <a:spcPct val="0"/>
              </a:spcBef>
            </a:pPr>
            <a:r>
              <a:rPr lang="en-US" b="true" sz="2400" strike="noStrike" u="none">
                <a:solidFill>
                  <a:srgbClr val="0A2A66"/>
                </a:solidFill>
                <a:latin typeface="DM Sans Bold"/>
                <a:ea typeface="DM Sans Bold"/>
                <a:cs typeface="DM Sans Bold"/>
                <a:sym typeface="DM Sans Bold"/>
              </a:rPr>
              <a:t>Play with the model</a:t>
            </a:r>
          </a:p>
        </p:txBody>
      </p:sp>
      <p:sp>
        <p:nvSpPr>
          <p:cNvPr name="TextBox 13" id="13"/>
          <p:cNvSpPr txBox="true"/>
          <p:nvPr/>
        </p:nvSpPr>
        <p:spPr>
          <a:xfrm rot="0">
            <a:off x="762000" y="3286125"/>
            <a:ext cx="571500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Change a quantity.</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See the relationship.</a:t>
            </a:r>
          </a:p>
        </p:txBody>
      </p:sp>
      <p:sp>
        <p:nvSpPr>
          <p:cNvPr name="TextBox 14" id="14"/>
          <p:cNvSpPr txBox="true"/>
          <p:nvPr/>
        </p:nvSpPr>
        <p:spPr>
          <a:xfrm rot="0">
            <a:off x="762000" y="4324350"/>
            <a:ext cx="571500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Save, share or follow the idea</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Open a relevant Khan activity.</a:t>
            </a:r>
          </a:p>
        </p:txBody>
      </p:sp>
      <p:sp>
        <p:nvSpPr>
          <p:cNvPr name="TextBox 15" id="15"/>
          <p:cNvSpPr txBox="true"/>
          <p:nvPr/>
        </p:nvSpPr>
        <p:spPr>
          <a:xfrm rot="0">
            <a:off x="609600" y="6134100"/>
            <a:ext cx="7620000" cy="196787"/>
          </a:xfrm>
          <a:prstGeom prst="rect">
            <a:avLst/>
          </a:prstGeom>
        </p:spPr>
        <p:txBody>
          <a:bodyPr anchor="t" rtlCol="false" tIns="0" lIns="0" bIns="0" rIns="0">
            <a:spAutoFit/>
          </a:bodyPr>
          <a:lstStyle/>
          <a:p>
            <a:pPr algn="ctr" marL="0" indent="0" lvl="0">
              <a:lnSpc>
                <a:spcPts val="1555"/>
              </a:lnSpc>
              <a:spcBef>
                <a:spcPct val="0"/>
              </a:spcBef>
            </a:pPr>
            <a:r>
              <a:rPr lang="en-US" sz="1275" strike="noStrike" u="none">
                <a:solidFill>
                  <a:srgbClr val="0A2A66"/>
                </a:solidFill>
                <a:latin typeface="DM Sans"/>
                <a:ea typeface="DM Sans"/>
                <a:cs typeface="DM Sans"/>
                <a:sym typeface="DM Sans"/>
                <a:hlinkClick r:id="rId7" tooltip="https://dunlo.vercel.app/explore"/>
              </a:rPr>
              <a:t>Open Explore · dunlo.vercel.app/explore</a:t>
            </a:r>
          </a:p>
        </p:txBody>
      </p:sp>
      <p:sp>
        <p:nvSpPr>
          <p:cNvPr name="Freeform 16" id="16"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7" id="17" descr="Dunlo Explore on a phone: source-labelled ideas, Save and Share, a recipe control and a prediction."/>
          <p:cNvSpPr/>
          <p:nvPr/>
        </p:nvSpPr>
        <p:spPr>
          <a:xfrm flipH="false" flipV="false" rot="0">
            <a:off x="8515350" y="1676400"/>
            <a:ext cx="2114550" cy="4572000"/>
          </a:xfrm>
          <a:custGeom>
            <a:avLst/>
            <a:gdLst/>
            <a:ahLst/>
            <a:cxnLst/>
            <a:rect r="r" b="b" t="t" l="l"/>
            <a:pathLst>
              <a:path h="4572000" w="2114550">
                <a:moveTo>
                  <a:pt x="0" y="0"/>
                </a:moveTo>
                <a:lnTo>
                  <a:pt x="2114550" y="0"/>
                </a:lnTo>
                <a:lnTo>
                  <a:pt x="2114550" y="4572000"/>
                </a:lnTo>
                <a:lnTo>
                  <a:pt x="0" y="4572000"/>
                </a:lnTo>
                <a:lnTo>
                  <a:pt x="0" y="0"/>
                </a:lnTo>
                <a:close/>
              </a:path>
            </a:pathLst>
          </a:custGeom>
          <a:blipFill>
            <a:blip r:embed="rId10"/>
            <a:stretch>
              <a:fillRect l="0" t="-135" r="0" b="-135"/>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05</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Make the relationship visible</a:t>
            </a:r>
          </a:p>
        </p:txBody>
      </p:sp>
      <p:sp>
        <p:nvSpPr>
          <p:cNvPr name="TextBox 10" id="10"/>
          <p:cNvSpPr txBox="true"/>
          <p:nvPr/>
        </p:nvSpPr>
        <p:spPr>
          <a:xfrm rot="0">
            <a:off x="6667500" y="2209800"/>
            <a:ext cx="4572000" cy="159258"/>
          </a:xfrm>
          <a:prstGeom prst="rect">
            <a:avLst/>
          </a:prstGeom>
        </p:spPr>
        <p:txBody>
          <a:bodyPr anchor="t" rtlCol="false" tIns="0" lIns="0" bIns="0" rIns="0">
            <a:spAutoFit/>
          </a:bodyPr>
          <a:lstStyle/>
          <a:p>
            <a:pPr algn="l" marL="0" indent="0" lvl="0">
              <a:lnSpc>
                <a:spcPts val="1281"/>
              </a:lnSpc>
              <a:spcBef>
                <a:spcPct val="0"/>
              </a:spcBef>
            </a:pPr>
            <a:r>
              <a:rPr lang="en-US" sz="1050" strike="noStrike" u="none">
                <a:solidFill>
                  <a:srgbClr val="0A2A66"/>
                </a:solidFill>
                <a:latin typeface="DM Sans"/>
                <a:ea typeface="DM Sans"/>
                <a:cs typeface="DM Sans"/>
                <a:sym typeface="DM Sans"/>
              </a:rPr>
              <a:t>FOUR AREAS</a:t>
            </a:r>
          </a:p>
        </p:txBody>
      </p:sp>
      <p:sp>
        <p:nvSpPr>
          <p:cNvPr name="TextBox 11" id="11"/>
          <p:cNvSpPr txBox="true"/>
          <p:nvPr/>
        </p:nvSpPr>
        <p:spPr>
          <a:xfrm rot="0">
            <a:off x="6667500" y="2533650"/>
            <a:ext cx="4572000" cy="346710"/>
          </a:xfrm>
          <a:prstGeom prst="rect">
            <a:avLst/>
          </a:prstGeom>
        </p:spPr>
        <p:txBody>
          <a:bodyPr anchor="t" rtlCol="false" tIns="0" lIns="0" bIns="0" rIns="0">
            <a:spAutoFit/>
          </a:bodyPr>
          <a:lstStyle/>
          <a:p>
            <a:pPr algn="l" marL="0" indent="0" lvl="0">
              <a:lnSpc>
                <a:spcPts val="2745"/>
              </a:lnSpc>
              <a:spcBef>
                <a:spcPct val="0"/>
              </a:spcBef>
            </a:pPr>
            <a:r>
              <a:rPr lang="en-US" sz="2250" strike="noStrike" u="none">
                <a:solidFill>
                  <a:srgbClr val="0A2A66"/>
                </a:solidFill>
                <a:latin typeface="DM Sans"/>
                <a:ea typeface="DM Sans"/>
                <a:cs typeface="DM Sans"/>
                <a:sym typeface="DM Sans"/>
              </a:rPr>
              <a:t>x² + 3x + 4x + 12</a:t>
            </a:r>
          </a:p>
        </p:txBody>
      </p:sp>
      <p:sp>
        <p:nvSpPr>
          <p:cNvPr name="TextBox 12" id="12"/>
          <p:cNvSpPr txBox="true"/>
          <p:nvPr/>
        </p:nvSpPr>
        <p:spPr>
          <a:xfrm rot="0">
            <a:off x="6667500" y="2952750"/>
            <a:ext cx="4572000" cy="2343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rPr>
              <a:t>Each part keeps its meaning.</a:t>
            </a:r>
          </a:p>
        </p:txBody>
      </p:sp>
      <p:sp>
        <p:nvSpPr>
          <p:cNvPr name="AutoShape 13" id="13"/>
          <p:cNvSpPr/>
          <p:nvPr/>
        </p:nvSpPr>
        <p:spPr>
          <a:xfrm rot="0">
            <a:off x="3990975" y="3838575"/>
            <a:ext cx="238125" cy="38100"/>
          </a:xfrm>
          <a:prstGeom prst="rect">
            <a:avLst/>
          </a:prstGeom>
          <a:solidFill>
            <a:srgbClr val="CCD7E4"/>
          </a:solidFill>
        </p:spPr>
      </p:sp>
      <p:grpSp>
        <p:nvGrpSpPr>
          <p:cNvPr name="Group 14" id="14"/>
          <p:cNvGrpSpPr/>
          <p:nvPr/>
        </p:nvGrpSpPr>
        <p:grpSpPr>
          <a:xfrm rot="1840140">
            <a:off x="4171283" y="3802952"/>
            <a:ext cx="171450" cy="28575"/>
            <a:chOff x="0" y="0"/>
            <a:chExt cx="228600" cy="38100"/>
          </a:xfrm>
        </p:grpSpPr>
        <p:sp>
          <p:nvSpPr>
            <p:cNvPr name="Freeform 15" id="15"/>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16" id="16"/>
          <p:cNvGrpSpPr/>
          <p:nvPr/>
        </p:nvGrpSpPr>
        <p:grpSpPr>
          <a:xfrm rot="8959860">
            <a:off x="4163187" y="3888676"/>
            <a:ext cx="171450" cy="28575"/>
            <a:chOff x="0" y="0"/>
            <a:chExt cx="228600" cy="38100"/>
          </a:xfrm>
        </p:grpSpPr>
        <p:sp>
          <p:nvSpPr>
            <p:cNvPr name="Freeform 17" id="17"/>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sp>
        <p:nvSpPr>
          <p:cNvPr name="TextBox 18" id="18"/>
          <p:cNvSpPr txBox="true"/>
          <p:nvPr/>
        </p:nvSpPr>
        <p:spPr>
          <a:xfrm rot="0">
            <a:off x="6667500" y="3562350"/>
            <a:ext cx="4572000" cy="159258"/>
          </a:xfrm>
          <a:prstGeom prst="rect">
            <a:avLst/>
          </a:prstGeom>
        </p:spPr>
        <p:txBody>
          <a:bodyPr anchor="t" rtlCol="false" tIns="0" lIns="0" bIns="0" rIns="0">
            <a:spAutoFit/>
          </a:bodyPr>
          <a:lstStyle/>
          <a:p>
            <a:pPr algn="l" marL="0" indent="0" lvl="0">
              <a:lnSpc>
                <a:spcPts val="1281"/>
              </a:lnSpc>
              <a:spcBef>
                <a:spcPct val="0"/>
              </a:spcBef>
            </a:pPr>
            <a:r>
              <a:rPr lang="en-US" sz="1050" strike="noStrike" u="none">
                <a:solidFill>
                  <a:srgbClr val="0A2A66"/>
                </a:solidFill>
                <a:latin typeface="DM Sans"/>
                <a:ea typeface="DM Sans"/>
                <a:cs typeface="DM Sans"/>
                <a:sym typeface="DM Sans"/>
              </a:rPr>
              <a:t>COMBINE</a:t>
            </a:r>
          </a:p>
        </p:txBody>
      </p:sp>
      <p:sp>
        <p:nvSpPr>
          <p:cNvPr name="TextBox 19" id="19"/>
          <p:cNvSpPr txBox="true"/>
          <p:nvPr/>
        </p:nvSpPr>
        <p:spPr>
          <a:xfrm rot="0">
            <a:off x="6667500" y="3886200"/>
            <a:ext cx="4572000" cy="346710"/>
          </a:xfrm>
          <a:prstGeom prst="rect">
            <a:avLst/>
          </a:prstGeom>
        </p:spPr>
        <p:txBody>
          <a:bodyPr anchor="t" rtlCol="false" tIns="0" lIns="0" bIns="0" rIns="0">
            <a:spAutoFit/>
          </a:bodyPr>
          <a:lstStyle/>
          <a:p>
            <a:pPr algn="l" marL="0" indent="0" lvl="0">
              <a:lnSpc>
                <a:spcPts val="2745"/>
              </a:lnSpc>
              <a:spcBef>
                <a:spcPct val="0"/>
              </a:spcBef>
            </a:pPr>
            <a:r>
              <a:rPr lang="en-US" sz="2250" strike="noStrike" u="none">
                <a:solidFill>
                  <a:srgbClr val="0A2A66"/>
                </a:solidFill>
                <a:latin typeface="DM Sans"/>
                <a:ea typeface="DM Sans"/>
                <a:cs typeface="DM Sans"/>
                <a:sym typeface="DM Sans"/>
              </a:rPr>
              <a:t>3x + 4x = 7x</a:t>
            </a:r>
          </a:p>
        </p:txBody>
      </p:sp>
      <p:sp>
        <p:nvSpPr>
          <p:cNvPr name="TextBox 20" id="20"/>
          <p:cNvSpPr txBox="true"/>
          <p:nvPr/>
        </p:nvSpPr>
        <p:spPr>
          <a:xfrm rot="0">
            <a:off x="6667500" y="4286250"/>
            <a:ext cx="4572000" cy="2343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rPr>
              <a:t>The middle terms belong together.</a:t>
            </a:r>
          </a:p>
        </p:txBody>
      </p:sp>
      <p:grpSp>
        <p:nvGrpSpPr>
          <p:cNvPr name="Group 21" id="21"/>
          <p:cNvGrpSpPr/>
          <p:nvPr/>
        </p:nvGrpSpPr>
        <p:grpSpPr>
          <a:xfrm rot="1840140">
            <a:off x="8057483" y="3802952"/>
            <a:ext cx="171450" cy="28575"/>
            <a:chOff x="0" y="0"/>
            <a:chExt cx="228600" cy="38100"/>
          </a:xfrm>
        </p:grpSpPr>
        <p:sp>
          <p:nvSpPr>
            <p:cNvPr name="Freeform 22" id="22"/>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23" id="23"/>
          <p:cNvGrpSpPr/>
          <p:nvPr/>
        </p:nvGrpSpPr>
        <p:grpSpPr>
          <a:xfrm rot="8959860">
            <a:off x="8049387" y="3888676"/>
            <a:ext cx="171450" cy="28575"/>
            <a:chOff x="0" y="0"/>
            <a:chExt cx="228600" cy="38100"/>
          </a:xfrm>
        </p:grpSpPr>
        <p:sp>
          <p:nvSpPr>
            <p:cNvPr name="Freeform 24" id="24"/>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sp>
        <p:nvSpPr>
          <p:cNvPr name="TextBox 25" id="25"/>
          <p:cNvSpPr txBox="true"/>
          <p:nvPr/>
        </p:nvSpPr>
        <p:spPr>
          <a:xfrm rot="0">
            <a:off x="6667500" y="4895850"/>
            <a:ext cx="4572000" cy="159258"/>
          </a:xfrm>
          <a:prstGeom prst="rect">
            <a:avLst/>
          </a:prstGeom>
        </p:spPr>
        <p:txBody>
          <a:bodyPr anchor="t" rtlCol="false" tIns="0" lIns="0" bIns="0" rIns="0">
            <a:spAutoFit/>
          </a:bodyPr>
          <a:lstStyle/>
          <a:p>
            <a:pPr algn="l" marL="0" indent="0" lvl="0">
              <a:lnSpc>
                <a:spcPts val="1281"/>
              </a:lnSpc>
              <a:spcBef>
                <a:spcPct val="0"/>
              </a:spcBef>
            </a:pPr>
            <a:r>
              <a:rPr lang="en-US" sz="1050" strike="noStrike" u="none">
                <a:solidFill>
                  <a:srgbClr val="0A2A66"/>
                </a:solidFill>
                <a:latin typeface="DM Sans"/>
                <a:ea typeface="DM Sans"/>
                <a:cs typeface="DM Sans"/>
                <a:sym typeface="DM Sans"/>
              </a:rPr>
              <a:t>RESULT</a:t>
            </a:r>
          </a:p>
        </p:txBody>
      </p:sp>
      <p:sp>
        <p:nvSpPr>
          <p:cNvPr name="TextBox 26" id="26"/>
          <p:cNvSpPr txBox="true"/>
          <p:nvPr/>
        </p:nvSpPr>
        <p:spPr>
          <a:xfrm rot="0">
            <a:off x="6667500" y="5219700"/>
            <a:ext cx="4572000" cy="346710"/>
          </a:xfrm>
          <a:prstGeom prst="rect">
            <a:avLst/>
          </a:prstGeom>
        </p:spPr>
        <p:txBody>
          <a:bodyPr anchor="t" rtlCol="false" tIns="0" lIns="0" bIns="0" rIns="0">
            <a:spAutoFit/>
          </a:bodyPr>
          <a:lstStyle/>
          <a:p>
            <a:pPr algn="l" marL="0" indent="0" lvl="0">
              <a:lnSpc>
                <a:spcPts val="2745"/>
              </a:lnSpc>
              <a:spcBef>
                <a:spcPct val="0"/>
              </a:spcBef>
            </a:pPr>
            <a:r>
              <a:rPr lang="en-US" sz="2250" strike="noStrike" u="none">
                <a:solidFill>
                  <a:srgbClr val="0A2A66"/>
                </a:solidFill>
                <a:latin typeface="DM Sans"/>
                <a:ea typeface="DM Sans"/>
                <a:cs typeface="DM Sans"/>
                <a:sym typeface="DM Sans"/>
              </a:rPr>
              <a:t>x² + 7x + 12</a:t>
            </a:r>
          </a:p>
        </p:txBody>
      </p:sp>
      <p:sp>
        <p:nvSpPr>
          <p:cNvPr name="TextBox 27" id="27"/>
          <p:cNvSpPr txBox="true"/>
          <p:nvPr/>
        </p:nvSpPr>
        <p:spPr>
          <a:xfrm rot="0">
            <a:off x="6667500" y="5610225"/>
            <a:ext cx="4572000" cy="2343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rPr>
              <a:t>Then try a different question.</a:t>
            </a:r>
          </a:p>
        </p:txBody>
      </p:sp>
      <p:sp>
        <p:nvSpPr>
          <p:cNvPr name="TextBox 28" id="28"/>
          <p:cNvSpPr txBox="true"/>
          <p:nvPr/>
        </p:nvSpPr>
        <p:spPr>
          <a:xfrm rot="0">
            <a:off x="609600" y="6181725"/>
            <a:ext cx="9906000" cy="187452"/>
          </a:xfrm>
          <a:prstGeom prst="rect">
            <a:avLst/>
          </a:prstGeom>
        </p:spPr>
        <p:txBody>
          <a:bodyPr anchor="t" rtlCol="false" tIns="0" lIns="0" bIns="0" rIns="0">
            <a:spAutoFit/>
          </a:bodyPr>
          <a:lstStyle/>
          <a:p>
            <a:pPr algn="ctr" marL="0" indent="0" lvl="0">
              <a:lnSpc>
                <a:spcPts val="1464"/>
              </a:lnSpc>
              <a:spcBef>
                <a:spcPct val="0"/>
              </a:spcBef>
            </a:pPr>
            <a:r>
              <a:rPr lang="en-US" sz="1200" strike="noStrike" u="none">
                <a:solidFill>
                  <a:srgbClr val="0A2A66"/>
                </a:solidFill>
                <a:latin typeface="DM Sans"/>
                <a:ea typeface="DM Sans"/>
                <a:cs typeface="DM Sans"/>
                <a:sym typeface="DM Sans"/>
                <a:hlinkClick r:id="rId7" tooltip="https://dunlo.vercel.app/explore?item=four-pieces"/>
              </a:rPr>
              <a:t>Original Dunlo interactive · Explore the factor model</a:t>
            </a:r>
          </a:p>
        </p:txBody>
      </p:sp>
      <p:sp>
        <p:nvSpPr>
          <p:cNvPr name="TextBox 29" id="29"/>
          <p:cNvSpPr txBox="true"/>
          <p:nvPr/>
        </p:nvSpPr>
        <p:spPr>
          <a:xfrm rot="0">
            <a:off x="609600" y="1600200"/>
            <a:ext cx="10972800" cy="280988"/>
          </a:xfrm>
          <a:prstGeom prst="rect">
            <a:avLst/>
          </a:prstGeom>
        </p:spPr>
        <p:txBody>
          <a:bodyPr anchor="t" rtlCol="false" tIns="0" lIns="0" bIns="0" rIns="0">
            <a:spAutoFit/>
          </a:bodyPr>
          <a:lstStyle/>
          <a:p>
            <a:pPr algn="l" marL="0" indent="0" lvl="0">
              <a:lnSpc>
                <a:spcPts val="2287"/>
              </a:lnSpc>
              <a:spcBef>
                <a:spcPct val="0"/>
              </a:spcBef>
            </a:pPr>
            <a:r>
              <a:rPr lang="en-US" sz="1875" strike="noStrike" u="none">
                <a:solidFill>
                  <a:srgbClr val="0A2A66"/>
                </a:solidFill>
                <a:latin typeface="DM Sans"/>
                <a:ea typeface="DM Sans"/>
                <a:cs typeface="DM Sans"/>
                <a:sym typeface="DM Sans"/>
              </a:rPr>
              <a:t>Separate the pieces. Put the idea together.</a:t>
            </a:r>
          </a:p>
        </p:txBody>
      </p:sp>
      <p:sp>
        <p:nvSpPr>
          <p:cNvPr name="AutoShape 30" id="30"/>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31" id="31"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32" id="32" descr="Original Dunlo factor model: four areas x squared, 3x, 4x and 12, with the middle terms combined."/>
          <p:cNvSpPr/>
          <p:nvPr/>
        </p:nvSpPr>
        <p:spPr>
          <a:xfrm flipH="false" flipV="false" rot="0">
            <a:off x="838200" y="2000250"/>
            <a:ext cx="3905250" cy="3813851"/>
          </a:xfrm>
          <a:custGeom>
            <a:avLst/>
            <a:gdLst/>
            <a:ahLst/>
            <a:cxnLst/>
            <a:rect r="r" b="b" t="t" l="l"/>
            <a:pathLst>
              <a:path h="3813851" w="3905250">
                <a:moveTo>
                  <a:pt x="0" y="0"/>
                </a:moveTo>
                <a:lnTo>
                  <a:pt x="3905250" y="0"/>
                </a:lnTo>
                <a:lnTo>
                  <a:pt x="3905250" y="3813851"/>
                </a:lnTo>
                <a:lnTo>
                  <a:pt x="0" y="3813851"/>
                </a:lnTo>
                <a:lnTo>
                  <a:pt x="0" y="0"/>
                </a:lnTo>
                <a:close/>
              </a:path>
            </a:pathLst>
          </a:custGeom>
          <a:blipFill>
            <a:blip r:embed="rId10"/>
            <a:stretch>
              <a:fillRect l="-35" t="0" r="-35"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06</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Khan Academy, right in the feed</a:t>
            </a:r>
          </a:p>
        </p:txBody>
      </p:sp>
      <p:sp>
        <p:nvSpPr>
          <p:cNvPr name="TextBox 10" id="10"/>
          <p:cNvSpPr txBox="true"/>
          <p:nvPr/>
        </p:nvSpPr>
        <p:spPr>
          <a:xfrm rot="0">
            <a:off x="609600" y="2143125"/>
            <a:ext cx="5619750" cy="196787"/>
          </a:xfrm>
          <a:prstGeom prst="rect">
            <a:avLst/>
          </a:prstGeom>
        </p:spPr>
        <p:txBody>
          <a:bodyPr anchor="t" rtlCol="false" tIns="0" lIns="0" bIns="0" rIns="0">
            <a:spAutoFit/>
          </a:bodyPr>
          <a:lstStyle/>
          <a:p>
            <a:pPr algn="ctr" marL="0" indent="0" lvl="0">
              <a:lnSpc>
                <a:spcPts val="1555"/>
              </a:lnSpc>
              <a:spcBef>
                <a:spcPct val="0"/>
              </a:spcBef>
            </a:pPr>
            <a:r>
              <a:rPr lang="en-US" sz="1275" strike="noStrike" u="none">
                <a:solidFill>
                  <a:srgbClr val="0A2A66"/>
                </a:solidFill>
                <a:latin typeface="DM Sans"/>
                <a:ea typeface="DM Sans"/>
                <a:cs typeface="DM Sans"/>
                <a:sym typeface="DM Sans"/>
              </a:rPr>
              <a:t>FACTORING · 1 MIN 34 SEC</a:t>
            </a:r>
          </a:p>
        </p:txBody>
      </p:sp>
      <p:sp>
        <p:nvSpPr>
          <p:cNvPr name="TextBox 11" id="11"/>
          <p:cNvSpPr txBox="true"/>
          <p:nvPr/>
        </p:nvSpPr>
        <p:spPr>
          <a:xfrm rot="0">
            <a:off x="609600" y="2790825"/>
            <a:ext cx="5048250" cy="869061"/>
          </a:xfrm>
          <a:prstGeom prst="rect">
            <a:avLst/>
          </a:prstGeom>
        </p:spPr>
        <p:txBody>
          <a:bodyPr anchor="t" rtlCol="false" tIns="0" lIns="0" bIns="0" rIns="0">
            <a:spAutoFit/>
          </a:bodyPr>
          <a:lstStyle/>
          <a:p>
            <a:pPr algn="ctr" marL="0" indent="0" lvl="0">
              <a:lnSpc>
                <a:spcPts val="3476"/>
              </a:lnSpc>
              <a:spcBef>
                <a:spcPct val="0"/>
              </a:spcBef>
            </a:pPr>
            <a:r>
              <a:rPr lang="en-US" sz="2850" strike="noStrike" u="none">
                <a:solidFill>
                  <a:srgbClr val="0A2A66"/>
                </a:solidFill>
                <a:latin typeface="DM Sans"/>
                <a:ea typeface="DM Sans"/>
                <a:cs typeface="DM Sans"/>
                <a:sym typeface="DM Sans"/>
              </a:rPr>
              <a:t>Watch the original.</a:t>
            </a:r>
          </a:p>
          <a:p>
            <a:pPr algn="ctr" marL="0" indent="0" lvl="0">
              <a:lnSpc>
                <a:spcPts val="3476"/>
              </a:lnSpc>
              <a:spcBef>
                <a:spcPct val="0"/>
              </a:spcBef>
            </a:pPr>
            <a:r>
              <a:rPr lang="en-US" sz="2850" strike="noStrike" u="none">
                <a:solidFill>
                  <a:srgbClr val="0A2A66"/>
                </a:solidFill>
                <a:latin typeface="DM Sans"/>
                <a:ea typeface="DM Sans"/>
                <a:cs typeface="DM Sans"/>
                <a:sym typeface="DM Sans"/>
              </a:rPr>
              <a:t>Then try the idea.</a:t>
            </a:r>
          </a:p>
        </p:txBody>
      </p:sp>
      <p:sp>
        <p:nvSpPr>
          <p:cNvPr name="TextBox 12" id="12"/>
          <p:cNvSpPr txBox="true"/>
          <p:nvPr/>
        </p:nvSpPr>
        <p:spPr>
          <a:xfrm rot="0">
            <a:off x="609600" y="4191000"/>
            <a:ext cx="5143500" cy="604456"/>
          </a:xfrm>
          <a:prstGeom prst="rect">
            <a:avLst/>
          </a:prstGeom>
        </p:spPr>
        <p:txBody>
          <a:bodyPr anchor="t" rtlCol="false" tIns="0" lIns="0" bIns="0" rIns="0">
            <a:spAutoFit/>
          </a:bodyPr>
          <a:lstStyle/>
          <a:p>
            <a:pPr algn="ctr" marL="0" indent="0" lvl="0">
              <a:lnSpc>
                <a:spcPts val="2470"/>
              </a:lnSpc>
              <a:spcBef>
                <a:spcPct val="0"/>
              </a:spcBef>
            </a:pPr>
            <a:r>
              <a:rPr lang="en-US" sz="2025" strike="noStrike" u="none">
                <a:solidFill>
                  <a:srgbClr val="0A2A66"/>
                </a:solidFill>
                <a:latin typeface="DM Sans"/>
                <a:ea typeface="DM Sans"/>
                <a:cs typeface="DM Sans"/>
                <a:sym typeface="DM Sans"/>
              </a:rPr>
              <a:t>A focused explanation,</a:t>
            </a:r>
          </a:p>
          <a:p>
            <a:pPr algn="ctr" marL="0" indent="0" lvl="0">
              <a:lnSpc>
                <a:spcPts val="2470"/>
              </a:lnSpc>
              <a:spcBef>
                <a:spcPct val="0"/>
              </a:spcBef>
            </a:pPr>
            <a:r>
              <a:rPr lang="en-US" sz="2025" strike="noStrike" u="none">
                <a:solidFill>
                  <a:srgbClr val="0A2A66"/>
                </a:solidFill>
                <a:latin typeface="DM Sans"/>
                <a:ea typeface="DM Sans"/>
                <a:cs typeface="DM Sans"/>
                <a:sym typeface="DM Sans"/>
              </a:rPr>
              <a:t>with a useful next step.</a:t>
            </a:r>
          </a:p>
        </p:txBody>
      </p:sp>
      <p:sp>
        <p:nvSpPr>
          <p:cNvPr name="TextBox 13" id="13"/>
          <p:cNvSpPr txBox="true"/>
          <p:nvPr/>
        </p:nvSpPr>
        <p:spPr>
          <a:xfrm rot="0">
            <a:off x="609600" y="6134100"/>
            <a:ext cx="10477500" cy="187452"/>
          </a:xfrm>
          <a:prstGeom prst="rect">
            <a:avLst/>
          </a:prstGeom>
        </p:spPr>
        <p:txBody>
          <a:bodyPr anchor="t" rtlCol="false" tIns="0" lIns="0" bIns="0" rIns="0">
            <a:spAutoFit/>
          </a:bodyPr>
          <a:lstStyle/>
          <a:p>
            <a:pPr algn="ctr" marL="0" indent="0" lvl="0">
              <a:lnSpc>
                <a:spcPts val="1464"/>
              </a:lnSpc>
              <a:spcBef>
                <a:spcPct val="0"/>
              </a:spcBef>
            </a:pPr>
            <a:r>
              <a:rPr lang="en-US" sz="1200" strike="noStrike" u="none">
                <a:solidFill>
                  <a:srgbClr val="0A2A66"/>
                </a:solidFill>
                <a:latin typeface="DM Sans"/>
                <a:ea typeface="DM Sans"/>
                <a:cs typeface="DM Sans"/>
                <a:sym typeface="DM Sans"/>
                <a:hlinkClick r:id="rId7" tooltip="https://www.khanacademy.org/math/algebra/x2f8bb11595b61c86:quadratics-multiplying-factoring/x2f8bb11595b61c86:factor-quadratics-intro/v/factoring-simple-quadratic-expression"/>
              </a:rPr>
              <a:t>Source: Khan Academy · Factoring quadratics · 2:22–3:56</a:t>
            </a:r>
          </a:p>
        </p:txBody>
      </p:sp>
      <p:sp>
        <p:nvSpPr>
          <p:cNvPr name="AutoShape 14" id="14"/>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15" id="15"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6" id="16" descr="Khan Academy factoring segment with Play, the original time range and full lesson link."/>
          <p:cNvSpPr/>
          <p:nvPr/>
        </p:nvSpPr>
        <p:spPr>
          <a:xfrm flipH="false" flipV="false" rot="0">
            <a:off x="6591300" y="2038350"/>
            <a:ext cx="4286250" cy="4038600"/>
          </a:xfrm>
          <a:custGeom>
            <a:avLst/>
            <a:gdLst/>
            <a:ahLst/>
            <a:cxnLst/>
            <a:rect r="r" b="b" t="t" l="l"/>
            <a:pathLst>
              <a:path h="4038600" w="4286250">
                <a:moveTo>
                  <a:pt x="0" y="0"/>
                </a:moveTo>
                <a:lnTo>
                  <a:pt x="4286250" y="0"/>
                </a:lnTo>
                <a:lnTo>
                  <a:pt x="4286250" y="4038600"/>
                </a:lnTo>
                <a:lnTo>
                  <a:pt x="0" y="4038600"/>
                </a:lnTo>
                <a:lnTo>
                  <a:pt x="0" y="0"/>
                </a:lnTo>
                <a:close/>
              </a:path>
            </a:pathLst>
          </a:custGeom>
          <a:blipFill>
            <a:blip r:embed="rId10"/>
            <a:stretch>
              <a:fillRect l="0" t="-29" r="0" b="-29"/>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07</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Useful help when a step is difficult</a:t>
            </a:r>
          </a:p>
        </p:txBody>
      </p:sp>
      <p:grpSp>
        <p:nvGrpSpPr>
          <p:cNvPr name="Group 10" id="10"/>
          <p:cNvGrpSpPr/>
          <p:nvPr/>
        </p:nvGrpSpPr>
        <p:grpSpPr>
          <a:xfrm rot="0">
            <a:off x="1619250" y="2705100"/>
            <a:ext cx="552450" cy="552450"/>
            <a:chOff x="0" y="0"/>
            <a:chExt cx="736600" cy="736600"/>
          </a:xfrm>
        </p:grpSpPr>
        <p:sp>
          <p:nvSpPr>
            <p:cNvPr name="Freeform 11" id="11"/>
            <p:cNvSpPr/>
            <p:nvPr/>
          </p:nvSpPr>
          <p:spPr>
            <a:xfrm flipH="false" flipV="false" rot="0">
              <a:off x="0" y="0"/>
              <a:ext cx="736600" cy="736600"/>
            </a:xfrm>
            <a:custGeom>
              <a:avLst/>
              <a:gdLst/>
              <a:ahLst/>
              <a:cxnLst/>
              <a:rect r="r" b="b" t="t" l="l"/>
              <a:pathLst>
                <a:path h="736600" w="736600">
                  <a:moveTo>
                    <a:pt x="368300" y="0"/>
                  </a:moveTo>
                  <a:cubicBezTo>
                    <a:pt x="571754" y="0"/>
                    <a:pt x="736600" y="164846"/>
                    <a:pt x="736600" y="368300"/>
                  </a:cubicBezTo>
                  <a:cubicBezTo>
                    <a:pt x="736600" y="571754"/>
                    <a:pt x="571754" y="736600"/>
                    <a:pt x="368300" y="736600"/>
                  </a:cubicBezTo>
                  <a:cubicBezTo>
                    <a:pt x="164846" y="736600"/>
                    <a:pt x="0" y="571754"/>
                    <a:pt x="0" y="368300"/>
                  </a:cubicBezTo>
                  <a:cubicBezTo>
                    <a:pt x="0" y="164846"/>
                    <a:pt x="164846" y="0"/>
                    <a:pt x="368300" y="0"/>
                  </a:cubicBezTo>
                  <a:close/>
                </a:path>
              </a:pathLst>
            </a:custGeom>
            <a:solidFill>
              <a:srgbClr val="C96331"/>
            </a:solidFill>
          </p:spPr>
        </p:sp>
      </p:grpSp>
      <p:sp>
        <p:nvSpPr>
          <p:cNvPr name="TextBox 12" id="12"/>
          <p:cNvSpPr txBox="true"/>
          <p:nvPr/>
        </p:nvSpPr>
        <p:spPr>
          <a:xfrm rot="0">
            <a:off x="1704975" y="2800350"/>
            <a:ext cx="38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1</a:t>
            </a:r>
          </a:p>
        </p:txBody>
      </p:sp>
      <p:sp>
        <p:nvSpPr>
          <p:cNvPr name="TextBox 13" id="13"/>
          <p:cNvSpPr txBox="true"/>
          <p:nvPr/>
        </p:nvSpPr>
        <p:spPr>
          <a:xfrm rot="0">
            <a:off x="609600" y="3476625"/>
            <a:ext cx="257175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A fresh check</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clarifies the difficulty</a:t>
            </a:r>
          </a:p>
        </p:txBody>
      </p:sp>
      <p:sp>
        <p:nvSpPr>
          <p:cNvPr name="AutoShape 14" id="14"/>
          <p:cNvSpPr/>
          <p:nvPr/>
        </p:nvSpPr>
        <p:spPr>
          <a:xfrm rot="0">
            <a:off x="2838450" y="2962275"/>
            <a:ext cx="838200" cy="38100"/>
          </a:xfrm>
          <a:prstGeom prst="rect">
            <a:avLst/>
          </a:prstGeom>
          <a:solidFill>
            <a:srgbClr val="CCD7E4"/>
          </a:solidFill>
        </p:spPr>
      </p:sp>
      <p:grpSp>
        <p:nvGrpSpPr>
          <p:cNvPr name="Group 15" id="15"/>
          <p:cNvGrpSpPr/>
          <p:nvPr/>
        </p:nvGrpSpPr>
        <p:grpSpPr>
          <a:xfrm rot="1840140">
            <a:off x="3618833" y="2926652"/>
            <a:ext cx="171450" cy="28575"/>
            <a:chOff x="0" y="0"/>
            <a:chExt cx="228600" cy="38100"/>
          </a:xfrm>
        </p:grpSpPr>
        <p:sp>
          <p:nvSpPr>
            <p:cNvPr name="Freeform 16" id="16"/>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17" id="17"/>
          <p:cNvGrpSpPr/>
          <p:nvPr/>
        </p:nvGrpSpPr>
        <p:grpSpPr>
          <a:xfrm rot="8959860">
            <a:off x="3610737" y="3012376"/>
            <a:ext cx="171450" cy="28575"/>
            <a:chOff x="0" y="0"/>
            <a:chExt cx="228600" cy="38100"/>
          </a:xfrm>
        </p:grpSpPr>
        <p:sp>
          <p:nvSpPr>
            <p:cNvPr name="Freeform 18" id="18"/>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19" id="19"/>
          <p:cNvGrpSpPr/>
          <p:nvPr/>
        </p:nvGrpSpPr>
        <p:grpSpPr>
          <a:xfrm rot="0">
            <a:off x="5505450" y="2705100"/>
            <a:ext cx="552450" cy="552450"/>
            <a:chOff x="0" y="0"/>
            <a:chExt cx="736600" cy="736600"/>
          </a:xfrm>
        </p:grpSpPr>
        <p:sp>
          <p:nvSpPr>
            <p:cNvPr name="Freeform 20" id="20"/>
            <p:cNvSpPr/>
            <p:nvPr/>
          </p:nvSpPr>
          <p:spPr>
            <a:xfrm flipH="false" flipV="false" rot="0">
              <a:off x="0" y="0"/>
              <a:ext cx="736600" cy="736600"/>
            </a:xfrm>
            <a:custGeom>
              <a:avLst/>
              <a:gdLst/>
              <a:ahLst/>
              <a:cxnLst/>
              <a:rect r="r" b="b" t="t" l="l"/>
              <a:pathLst>
                <a:path h="736600" w="736600">
                  <a:moveTo>
                    <a:pt x="368300" y="0"/>
                  </a:moveTo>
                  <a:cubicBezTo>
                    <a:pt x="571754" y="0"/>
                    <a:pt x="736600" y="164846"/>
                    <a:pt x="736600" y="368300"/>
                  </a:cubicBezTo>
                  <a:cubicBezTo>
                    <a:pt x="736600" y="571754"/>
                    <a:pt x="571754" y="736600"/>
                    <a:pt x="368300" y="736600"/>
                  </a:cubicBezTo>
                  <a:cubicBezTo>
                    <a:pt x="164846" y="736600"/>
                    <a:pt x="0" y="571754"/>
                    <a:pt x="0" y="368300"/>
                  </a:cubicBezTo>
                  <a:cubicBezTo>
                    <a:pt x="0" y="164846"/>
                    <a:pt x="164846" y="0"/>
                    <a:pt x="368300" y="0"/>
                  </a:cubicBezTo>
                  <a:close/>
                </a:path>
              </a:pathLst>
            </a:custGeom>
            <a:solidFill>
              <a:srgbClr val="0A2A66"/>
            </a:solidFill>
          </p:spPr>
        </p:sp>
      </p:grpSp>
      <p:sp>
        <p:nvSpPr>
          <p:cNvPr name="TextBox 21" id="21"/>
          <p:cNvSpPr txBox="true"/>
          <p:nvPr/>
        </p:nvSpPr>
        <p:spPr>
          <a:xfrm rot="0">
            <a:off x="5591175" y="2800350"/>
            <a:ext cx="38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FFFFFF"/>
                </a:solidFill>
                <a:latin typeface="DM Sans"/>
                <a:ea typeface="DM Sans"/>
                <a:cs typeface="DM Sans"/>
                <a:sym typeface="DM Sans"/>
              </a:rPr>
              <a:t>2</a:t>
            </a:r>
          </a:p>
        </p:txBody>
      </p:sp>
      <p:sp>
        <p:nvSpPr>
          <p:cNvPr name="TextBox 22" id="22"/>
          <p:cNvSpPr txBox="true"/>
          <p:nvPr/>
        </p:nvSpPr>
        <p:spPr>
          <a:xfrm rot="0">
            <a:off x="4495800" y="3476625"/>
            <a:ext cx="2571750" cy="87134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An explanation</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works through the step</a:t>
            </a:r>
          </a:p>
        </p:txBody>
      </p:sp>
      <p:sp>
        <p:nvSpPr>
          <p:cNvPr name="AutoShape 23" id="23"/>
          <p:cNvSpPr/>
          <p:nvPr/>
        </p:nvSpPr>
        <p:spPr>
          <a:xfrm rot="0">
            <a:off x="6724650" y="2962275"/>
            <a:ext cx="838200" cy="38100"/>
          </a:xfrm>
          <a:prstGeom prst="rect">
            <a:avLst/>
          </a:prstGeom>
          <a:solidFill>
            <a:srgbClr val="CCD7E4"/>
          </a:solidFill>
        </p:spPr>
      </p:sp>
      <p:grpSp>
        <p:nvGrpSpPr>
          <p:cNvPr name="Group 24" id="24"/>
          <p:cNvGrpSpPr/>
          <p:nvPr/>
        </p:nvGrpSpPr>
        <p:grpSpPr>
          <a:xfrm rot="1840140">
            <a:off x="7505033" y="2926652"/>
            <a:ext cx="171450" cy="28575"/>
            <a:chOff x="0" y="0"/>
            <a:chExt cx="228600" cy="38100"/>
          </a:xfrm>
        </p:grpSpPr>
        <p:sp>
          <p:nvSpPr>
            <p:cNvPr name="Freeform 25" id="25"/>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26" id="26"/>
          <p:cNvGrpSpPr/>
          <p:nvPr/>
        </p:nvGrpSpPr>
        <p:grpSpPr>
          <a:xfrm rot="8959860">
            <a:off x="7496937" y="3012376"/>
            <a:ext cx="171450" cy="28575"/>
            <a:chOff x="0" y="0"/>
            <a:chExt cx="228600" cy="38100"/>
          </a:xfrm>
        </p:grpSpPr>
        <p:sp>
          <p:nvSpPr>
            <p:cNvPr name="Freeform 27" id="27"/>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CD7E4"/>
            </a:solidFill>
          </p:spPr>
        </p:sp>
      </p:grpSp>
      <p:grpSp>
        <p:nvGrpSpPr>
          <p:cNvPr name="Group 28" id="28"/>
          <p:cNvGrpSpPr/>
          <p:nvPr/>
        </p:nvGrpSpPr>
        <p:grpSpPr>
          <a:xfrm rot="0">
            <a:off x="9391650" y="2705100"/>
            <a:ext cx="552450" cy="552450"/>
            <a:chOff x="0" y="0"/>
            <a:chExt cx="736600" cy="736600"/>
          </a:xfrm>
        </p:grpSpPr>
        <p:sp>
          <p:nvSpPr>
            <p:cNvPr name="Freeform 29" id="29"/>
            <p:cNvSpPr/>
            <p:nvPr/>
          </p:nvSpPr>
          <p:spPr>
            <a:xfrm flipH="false" flipV="false" rot="0">
              <a:off x="0" y="0"/>
              <a:ext cx="736600" cy="736600"/>
            </a:xfrm>
            <a:custGeom>
              <a:avLst/>
              <a:gdLst/>
              <a:ahLst/>
              <a:cxnLst/>
              <a:rect r="r" b="b" t="t" l="l"/>
              <a:pathLst>
                <a:path h="736600" w="736600">
                  <a:moveTo>
                    <a:pt x="368300" y="0"/>
                  </a:moveTo>
                  <a:cubicBezTo>
                    <a:pt x="571754" y="0"/>
                    <a:pt x="736600" y="164846"/>
                    <a:pt x="736600" y="368300"/>
                  </a:cubicBezTo>
                  <a:cubicBezTo>
                    <a:pt x="736600" y="571754"/>
                    <a:pt x="571754" y="736600"/>
                    <a:pt x="368300" y="736600"/>
                  </a:cubicBezTo>
                  <a:cubicBezTo>
                    <a:pt x="164846" y="736600"/>
                    <a:pt x="0" y="571754"/>
                    <a:pt x="0" y="368300"/>
                  </a:cubicBezTo>
                  <a:cubicBezTo>
                    <a:pt x="0" y="164846"/>
                    <a:pt x="164846" y="0"/>
                    <a:pt x="368300" y="0"/>
                  </a:cubicBezTo>
                  <a:close/>
                </a:path>
              </a:pathLst>
            </a:custGeom>
            <a:solidFill>
              <a:srgbClr val="14BF96"/>
            </a:solidFill>
          </p:spPr>
        </p:sp>
      </p:grpSp>
      <p:sp>
        <p:nvSpPr>
          <p:cNvPr name="TextBox 30" id="30"/>
          <p:cNvSpPr txBox="true"/>
          <p:nvPr/>
        </p:nvSpPr>
        <p:spPr>
          <a:xfrm rot="0">
            <a:off x="9477375" y="2800350"/>
            <a:ext cx="38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3</a:t>
            </a:r>
          </a:p>
        </p:txBody>
      </p:sp>
      <p:sp>
        <p:nvSpPr>
          <p:cNvPr name="TextBox 31" id="31"/>
          <p:cNvSpPr txBox="true"/>
          <p:nvPr/>
        </p:nvSpPr>
        <p:spPr>
          <a:xfrm rot="0">
            <a:off x="8382000" y="3476625"/>
            <a:ext cx="2571750" cy="576072"/>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A new question</a:t>
            </a:r>
          </a:p>
          <a:p>
            <a:pPr algn="ctr" marL="0" indent="0" lvl="0">
              <a:lnSpc>
                <a:spcPts val="2379"/>
              </a:lnSpc>
              <a:spcBef>
                <a:spcPct val="0"/>
              </a:spcBef>
            </a:pPr>
            <a:r>
              <a:rPr lang="en-US" sz="1950" strike="noStrike" u="none">
                <a:solidFill>
                  <a:srgbClr val="0A2A66"/>
                </a:solidFill>
                <a:latin typeface="DM Sans"/>
                <a:ea typeface="DM Sans"/>
                <a:cs typeface="DM Sans"/>
                <a:sym typeface="DM Sans"/>
              </a:rPr>
              <a:t>returns to the goal</a:t>
            </a:r>
          </a:p>
        </p:txBody>
      </p:sp>
      <p:sp>
        <p:nvSpPr>
          <p:cNvPr name="TextBox 32" id="32"/>
          <p:cNvSpPr txBox="true"/>
          <p:nvPr/>
        </p:nvSpPr>
        <p:spPr>
          <a:xfrm rot="0">
            <a:off x="609600" y="5010150"/>
            <a:ext cx="109728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The learner can also choose to learn first.</a:t>
            </a:r>
          </a:p>
        </p:txBody>
      </p:sp>
      <p:sp>
        <p:nvSpPr>
          <p:cNvPr name="TextBox 33" id="33"/>
          <p:cNvSpPr txBox="true"/>
          <p:nvPr/>
        </p:nvSpPr>
        <p:spPr>
          <a:xfrm rot="0">
            <a:off x="609600" y="5476875"/>
            <a:ext cx="10972800" cy="215456"/>
          </a:xfrm>
          <a:prstGeom prst="rect">
            <a:avLst/>
          </a:prstGeom>
        </p:spPr>
        <p:txBody>
          <a:bodyPr anchor="t" rtlCol="false" tIns="0" lIns="0" bIns="0" rIns="0">
            <a:spAutoFit/>
          </a:bodyPr>
          <a:lstStyle/>
          <a:p>
            <a:pPr algn="ctr" marL="0" indent="0" lvl="0">
              <a:lnSpc>
                <a:spcPts val="1738"/>
              </a:lnSpc>
              <a:spcBef>
                <a:spcPct val="0"/>
              </a:spcBef>
            </a:pPr>
            <a:r>
              <a:rPr lang="en-US" sz="1425" strike="noStrike" u="none">
                <a:solidFill>
                  <a:srgbClr val="0A2A66"/>
                </a:solidFill>
                <a:latin typeface="DM Sans"/>
                <a:ea typeface="DM Sans"/>
                <a:cs typeface="DM Sans"/>
                <a:sym typeface="DM Sans"/>
              </a:rPr>
              <a:t>The existing recovery engine connects the support and return.</a:t>
            </a:r>
          </a:p>
        </p:txBody>
      </p:sp>
      <p:sp>
        <p:nvSpPr>
          <p:cNvPr name="TextBox 34" id="34"/>
          <p:cNvSpPr txBox="true"/>
          <p:nvPr/>
        </p:nvSpPr>
        <p:spPr>
          <a:xfrm rot="0">
            <a:off x="609600" y="6067425"/>
            <a:ext cx="4667250" cy="196787"/>
          </a:xfrm>
          <a:prstGeom prst="rect">
            <a:avLst/>
          </a:prstGeom>
        </p:spPr>
        <p:txBody>
          <a:bodyPr anchor="t" rtlCol="false" tIns="0" lIns="0" bIns="0" rIns="0">
            <a:spAutoFit/>
          </a:bodyPr>
          <a:lstStyle/>
          <a:p>
            <a:pPr algn="l" marL="0" indent="0" lvl="0">
              <a:lnSpc>
                <a:spcPts val="1555"/>
              </a:lnSpc>
              <a:spcBef>
                <a:spcPct val="0"/>
              </a:spcBef>
            </a:pPr>
            <a:r>
              <a:rPr lang="en-US" sz="1275" strike="noStrike" u="none">
                <a:solidFill>
                  <a:srgbClr val="0A2A66"/>
                </a:solidFill>
                <a:latin typeface="DM Sans"/>
                <a:ea typeface="DM Sans"/>
                <a:cs typeface="DM Sans"/>
                <a:sym typeface="DM Sans"/>
                <a:hlinkClick r:id="rId7" tooltip="https://dunlo.vercel.app/demo"/>
              </a:rPr>
              <a:t>See the recovery example</a:t>
            </a:r>
          </a:p>
        </p:txBody>
      </p:sp>
      <p:sp>
        <p:nvSpPr>
          <p:cNvPr name="AutoShape 35" id="35"/>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36" id="36"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grpSp>
        <p:nvGrpSpPr>
          <p:cNvPr name="Group 8" id="8"/>
          <p:cNvGrpSpPr/>
          <p:nvPr/>
        </p:nvGrpSpPr>
        <p:grpSpPr>
          <a:xfrm rot="0">
            <a:off x="609600" y="3648075"/>
            <a:ext cx="7029450" cy="1066800"/>
            <a:chOff x="0" y="0"/>
            <a:chExt cx="9372600" cy="1422400"/>
          </a:xfrm>
        </p:grpSpPr>
        <p:sp>
          <p:nvSpPr>
            <p:cNvPr name="Freeform 9" id="9"/>
            <p:cNvSpPr/>
            <p:nvPr/>
          </p:nvSpPr>
          <p:spPr>
            <a:xfrm flipH="false" flipV="false" rot="0">
              <a:off x="0" y="0"/>
              <a:ext cx="9372600" cy="1422400"/>
            </a:xfrm>
            <a:custGeom>
              <a:avLst/>
              <a:gdLst/>
              <a:ahLst/>
              <a:cxnLst/>
              <a:rect r="r" b="b" t="t" l="l"/>
              <a:pathLst>
                <a:path h="1422400" w="9372600">
                  <a:moveTo>
                    <a:pt x="127000" y="0"/>
                  </a:moveTo>
                  <a:lnTo>
                    <a:pt x="9245600" y="0"/>
                  </a:lnTo>
                  <a:cubicBezTo>
                    <a:pt x="9315704" y="0"/>
                    <a:pt x="9372600" y="56896"/>
                    <a:pt x="9372600" y="127000"/>
                  </a:cubicBezTo>
                  <a:lnTo>
                    <a:pt x="9372600" y="1295400"/>
                  </a:lnTo>
                  <a:cubicBezTo>
                    <a:pt x="9372600" y="1365504"/>
                    <a:pt x="9315704" y="1422400"/>
                    <a:pt x="9245600" y="1422400"/>
                  </a:cubicBezTo>
                  <a:lnTo>
                    <a:pt x="127000" y="1422400"/>
                  </a:lnTo>
                  <a:cubicBezTo>
                    <a:pt x="56896" y="1422400"/>
                    <a:pt x="0" y="1365504"/>
                    <a:pt x="0" y="1295400"/>
                  </a:cubicBezTo>
                  <a:lnTo>
                    <a:pt x="0" y="127000"/>
                  </a:lnTo>
                  <a:cubicBezTo>
                    <a:pt x="0" y="56896"/>
                    <a:pt x="56896" y="0"/>
                    <a:pt x="127000" y="0"/>
                  </a:cubicBezTo>
                  <a:close/>
                </a:path>
              </a:pathLst>
            </a:custGeom>
            <a:solidFill>
              <a:srgbClr val="14BF96"/>
            </a:solidFill>
          </p:spPr>
        </p:sp>
      </p:grpSp>
      <p:grpSp>
        <p:nvGrpSpPr>
          <p:cNvPr name="Group 10" id="10"/>
          <p:cNvGrpSpPr/>
          <p:nvPr/>
        </p:nvGrpSpPr>
        <p:grpSpPr>
          <a:xfrm rot="0">
            <a:off x="9039225" y="2990850"/>
            <a:ext cx="2238375" cy="2238375"/>
            <a:chOff x="0" y="0"/>
            <a:chExt cx="2984500" cy="2984500"/>
          </a:xfrm>
        </p:grpSpPr>
        <p:sp>
          <p:nvSpPr>
            <p:cNvPr name="Freeform 11" id="11"/>
            <p:cNvSpPr/>
            <p:nvPr/>
          </p:nvSpPr>
          <p:spPr>
            <a:xfrm flipH="false" flipV="false" rot="0">
              <a:off x="0" y="0"/>
              <a:ext cx="2984500" cy="2984500"/>
            </a:xfrm>
            <a:custGeom>
              <a:avLst/>
              <a:gdLst/>
              <a:ahLst/>
              <a:cxnLst/>
              <a:rect r="r" b="b" t="t" l="l"/>
              <a:pathLst>
                <a:path h="2984500" w="2984500">
                  <a:moveTo>
                    <a:pt x="0" y="0"/>
                  </a:moveTo>
                  <a:lnTo>
                    <a:pt x="2984500" y="0"/>
                  </a:lnTo>
                  <a:lnTo>
                    <a:pt x="2984500" y="2984500"/>
                  </a:lnTo>
                  <a:lnTo>
                    <a:pt x="0" y="2984500"/>
                  </a:lnTo>
                  <a:lnTo>
                    <a:pt x="0" y="0"/>
                  </a:lnTo>
                  <a:close/>
                </a:path>
              </a:pathLst>
            </a:custGeom>
            <a:blipFill>
              <a:blip r:embed="rId7"/>
              <a:stretch>
                <a:fillRect l="-78303" t="0" r="-78303" b="0"/>
              </a:stretch>
            </a:blipFill>
          </p:spPr>
        </p:sp>
      </p:grpSp>
      <p:sp>
        <p:nvSpPr>
          <p:cNvPr name="AutoShape 12" id="12"/>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13" id="13" descr="Scan to open Dunlo at https://dunlo.vercel.app/">
            <a:hlinkClick r:id="rId9" tooltip="https://dunlo.vercel.app"/>
          </p:cNvPr>
          <p:cNvSpPr/>
          <p:nvPr/>
        </p:nvSpPr>
        <p:spPr>
          <a:xfrm flipH="false" flipV="false" rot="0">
            <a:off x="9039225" y="2990850"/>
            <a:ext cx="2238375" cy="2238375"/>
          </a:xfrm>
          <a:custGeom>
            <a:avLst/>
            <a:gdLst/>
            <a:ahLst/>
            <a:cxnLst/>
            <a:rect r="r" b="b" t="t" l="l"/>
            <a:pathLst>
              <a:path h="2238375" w="2238375">
                <a:moveTo>
                  <a:pt x="0" y="0"/>
                </a:moveTo>
                <a:lnTo>
                  <a:pt x="2238375" y="0"/>
                </a:lnTo>
                <a:lnTo>
                  <a:pt x="2238375" y="2238375"/>
                </a:lnTo>
                <a:lnTo>
                  <a:pt x="0" y="2238375"/>
                </a:lnTo>
                <a:lnTo>
                  <a:pt x="0" y="0"/>
                </a:lnTo>
                <a:close/>
              </a:path>
            </a:pathLst>
          </a:custGeom>
          <a:blipFill>
            <a:blip r:embed="rId8"/>
            <a:stretch>
              <a:fillRect l="-4824" t="-4824" r="-4824" b="-4824"/>
            </a:stretch>
          </a:blipFill>
        </p:spPr>
      </p:sp>
      <p:sp>
        <p:nvSpPr>
          <p:cNvPr name="TextBox 14" id="14"/>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08</a:t>
            </a:r>
          </a:p>
        </p:txBody>
      </p:sp>
      <p:sp>
        <p:nvSpPr>
          <p:cNvPr name="TextBox 15" id="15"/>
          <p:cNvSpPr txBox="true"/>
          <p:nvPr/>
        </p:nvSpPr>
        <p:spPr>
          <a:xfrm rot="0">
            <a:off x="609600" y="866775"/>
            <a:ext cx="10972800" cy="505968"/>
          </a:xfrm>
          <a:prstGeom prst="rect">
            <a:avLst/>
          </a:prstGeom>
        </p:spPr>
        <p:txBody>
          <a:bodyPr anchor="t" rtlCol="false" tIns="0" lIns="0" bIns="0" rIns="0">
            <a:spAutoFit/>
          </a:bodyPr>
          <a:lstStyle/>
          <a:p>
            <a:pPr algn="l" marL="0" indent="0" lvl="0">
              <a:lnSpc>
                <a:spcPts val="4026"/>
              </a:lnSpc>
              <a:spcBef>
                <a:spcPct val="0"/>
              </a:spcBef>
            </a:pPr>
            <a:r>
              <a:rPr lang="en-US" b="true" sz="3300" strike="noStrike" u="none">
                <a:solidFill>
                  <a:srgbClr val="0A2A66"/>
                </a:solidFill>
                <a:latin typeface="DM Sans Bold"/>
                <a:ea typeface="DM Sans Bold"/>
                <a:cs typeface="DM Sans Bold"/>
                <a:sym typeface="DM Sans Bold"/>
              </a:rPr>
              <a:t>Try the complete journey</a:t>
            </a:r>
          </a:p>
        </p:txBody>
      </p:sp>
      <p:sp>
        <p:nvSpPr>
          <p:cNvPr name="TextBox 16" id="16"/>
          <p:cNvSpPr txBox="true"/>
          <p:nvPr/>
        </p:nvSpPr>
        <p:spPr>
          <a:xfrm rot="0">
            <a:off x="609600" y="2228850"/>
            <a:ext cx="6858000" cy="651891"/>
          </a:xfrm>
          <a:prstGeom prst="rect">
            <a:avLst/>
          </a:prstGeom>
        </p:spPr>
        <p:txBody>
          <a:bodyPr anchor="t" rtlCol="false" tIns="0" lIns="0" bIns="0" rIns="0">
            <a:spAutoFit/>
          </a:bodyPr>
          <a:lstStyle/>
          <a:p>
            <a:pPr algn="l" marL="0" indent="0" lvl="0">
              <a:lnSpc>
                <a:spcPts val="2562"/>
              </a:lnSpc>
              <a:spcBef>
                <a:spcPct val="0"/>
              </a:spcBef>
            </a:pPr>
            <a:r>
              <a:rPr lang="en-US" sz="2100" strike="noStrike" u="none">
                <a:solidFill>
                  <a:srgbClr val="0A2A66"/>
                </a:solidFill>
                <a:latin typeface="DM Sans"/>
                <a:ea typeface="DM Sans"/>
                <a:cs typeface="DM Sans"/>
                <a:sym typeface="DM Sans"/>
              </a:rPr>
              <a:t>Explore an idea, open Khan practice,</a:t>
            </a:r>
          </a:p>
          <a:p>
            <a:pPr algn="l" marL="0" indent="0" lvl="0">
              <a:lnSpc>
                <a:spcPts val="2562"/>
              </a:lnSpc>
              <a:spcBef>
                <a:spcPct val="0"/>
              </a:spcBef>
            </a:pPr>
            <a:r>
              <a:rPr lang="en-US" sz="2100" strike="noStrike" u="none">
                <a:solidFill>
                  <a:srgbClr val="0A2A66"/>
                </a:solidFill>
                <a:latin typeface="DM Sans"/>
                <a:ea typeface="DM Sans"/>
                <a:cs typeface="DM Sans"/>
                <a:sym typeface="DM Sans"/>
              </a:rPr>
              <a:t>and return for a fresh question.</a:t>
            </a:r>
          </a:p>
        </p:txBody>
      </p:sp>
      <p:sp>
        <p:nvSpPr>
          <p:cNvPr name="TextBox 17" id="17"/>
          <p:cNvSpPr txBox="true"/>
          <p:nvPr/>
        </p:nvSpPr>
        <p:spPr>
          <a:xfrm rot="0">
            <a:off x="819150" y="3857625"/>
            <a:ext cx="6610350" cy="487299"/>
          </a:xfrm>
          <a:prstGeom prst="rect">
            <a:avLst/>
          </a:prstGeom>
        </p:spPr>
        <p:txBody>
          <a:bodyPr anchor="t" rtlCol="false" tIns="0" lIns="0" bIns="0" rIns="0">
            <a:spAutoFit/>
          </a:bodyPr>
          <a:lstStyle/>
          <a:p>
            <a:pPr algn="ctr"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hlinkClick r:id="rId10" tooltip="https://dunlo.vercel.app"/>
              </a:rPr>
              <a:t>Try Dunlo</a:t>
            </a:r>
          </a:p>
        </p:txBody>
      </p:sp>
      <p:sp>
        <p:nvSpPr>
          <p:cNvPr name="TextBox 18" id="18"/>
          <p:cNvSpPr txBox="true"/>
          <p:nvPr/>
        </p:nvSpPr>
        <p:spPr>
          <a:xfrm rot="0">
            <a:off x="609600" y="5048250"/>
            <a:ext cx="7029450" cy="271653"/>
          </a:xfrm>
          <a:prstGeom prst="rect">
            <a:avLst/>
          </a:prstGeom>
        </p:spPr>
        <p:txBody>
          <a:bodyPr anchor="t" rtlCol="false" tIns="0" lIns="0" bIns="0" rIns="0">
            <a:spAutoFit/>
          </a:bodyPr>
          <a:lstStyle/>
          <a:p>
            <a:pPr algn="ctr" marL="0" indent="0" lvl="0">
              <a:lnSpc>
                <a:spcPts val="2196"/>
              </a:lnSpc>
              <a:spcBef>
                <a:spcPct val="0"/>
              </a:spcBef>
            </a:pPr>
            <a:r>
              <a:rPr lang="en-US" sz="1800" strike="noStrike" u="sng">
                <a:solidFill>
                  <a:srgbClr val="0A2A66"/>
                </a:solidFill>
                <a:latin typeface="DM Sans"/>
                <a:ea typeface="DM Sans"/>
                <a:cs typeface="DM Sans"/>
                <a:sym typeface="DM Sans"/>
                <a:hlinkClick r:id="rId11" tooltip="https://dunlo.vercel.app"/>
              </a:rPr>
              <a:t>dunlo.vercel.app</a:t>
            </a:r>
          </a:p>
        </p:txBody>
      </p:sp>
      <p:sp>
        <p:nvSpPr>
          <p:cNvPr name="TextBox 19" id="19"/>
          <p:cNvSpPr txBox="true"/>
          <p:nvPr/>
        </p:nvSpPr>
        <p:spPr>
          <a:xfrm rot="0">
            <a:off x="8743950" y="5438775"/>
            <a:ext cx="2828925"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Scan to explore</a:t>
            </a:r>
          </a:p>
        </p:txBody>
      </p:sp>
      <p:sp>
        <p:nvSpPr>
          <p:cNvPr name="TextBox 20" id="20"/>
          <p:cNvSpPr txBox="true"/>
          <p:nvPr/>
        </p:nvSpPr>
        <p:spPr>
          <a:xfrm rot="0">
            <a:off x="609600" y="5867400"/>
            <a:ext cx="7620000" cy="2343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rPr>
              <a:t>Explore freely, or bring your current learning goal.</a:t>
            </a:r>
          </a:p>
        </p:txBody>
      </p:sp>
      <p:sp>
        <p:nvSpPr>
          <p:cNvPr name="Freeform 21" id="21"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09</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Khan learning has a clear continuation</a:t>
            </a:r>
          </a:p>
        </p:txBody>
      </p:sp>
      <p:sp>
        <p:nvSpPr>
          <p:cNvPr name="TextBox 10" id="10"/>
          <p:cNvSpPr txBox="true"/>
          <p:nvPr/>
        </p:nvSpPr>
        <p:spPr>
          <a:xfrm rot="0">
            <a:off x="609600" y="1676400"/>
            <a:ext cx="10972800" cy="280797"/>
          </a:xfrm>
          <a:prstGeom prst="rect">
            <a:avLst/>
          </a:prstGeom>
        </p:spPr>
        <p:txBody>
          <a:bodyPr anchor="t" rtlCol="false" tIns="0" lIns="0" bIns="0" rIns="0">
            <a:spAutoFit/>
          </a:bodyPr>
          <a:lstStyle/>
          <a:p>
            <a:pPr algn="l" marL="0" indent="0" lvl="0">
              <a:lnSpc>
                <a:spcPts val="2379"/>
              </a:lnSpc>
              <a:spcBef>
                <a:spcPct val="0"/>
              </a:spcBef>
            </a:pPr>
            <a:r>
              <a:rPr lang="en-US" sz="1950" strike="noStrike" u="none">
                <a:solidFill>
                  <a:srgbClr val="0A2A66"/>
                </a:solidFill>
                <a:latin typeface="DM Sans"/>
                <a:ea typeface="DM Sans"/>
                <a:cs typeface="DM Sans"/>
                <a:sym typeface="DM Sans"/>
              </a:rPr>
              <a:t>The same idea connects discovery, practice and review.</a:t>
            </a:r>
          </a:p>
        </p:txBody>
      </p:sp>
      <p:sp>
        <p:nvSpPr>
          <p:cNvPr name="AutoShape 11" id="11"/>
          <p:cNvSpPr/>
          <p:nvPr/>
        </p:nvSpPr>
        <p:spPr>
          <a:xfrm rot="0">
            <a:off x="1409700" y="3209925"/>
            <a:ext cx="9172575" cy="38100"/>
          </a:xfrm>
          <a:prstGeom prst="rect">
            <a:avLst/>
          </a:prstGeom>
          <a:solidFill>
            <a:srgbClr val="CCD7E4"/>
          </a:solidFill>
        </p:spPr>
      </p:sp>
      <p:grpSp>
        <p:nvGrpSpPr>
          <p:cNvPr name="Group 12" id="12"/>
          <p:cNvGrpSpPr/>
          <p:nvPr/>
        </p:nvGrpSpPr>
        <p:grpSpPr>
          <a:xfrm rot="0">
            <a:off x="1066800" y="2828925"/>
            <a:ext cx="800100" cy="800100"/>
            <a:chOff x="0" y="0"/>
            <a:chExt cx="1066800" cy="1066800"/>
          </a:xfrm>
        </p:grpSpPr>
        <p:sp>
          <p:nvSpPr>
            <p:cNvPr name="Freeform 13" id="13"/>
            <p:cNvSpPr/>
            <p:nvPr/>
          </p:nvSpPr>
          <p:spPr>
            <a:xfrm flipH="false" flipV="false" rot="0">
              <a:off x="0" y="0"/>
              <a:ext cx="1066800" cy="1066800"/>
            </a:xfrm>
            <a:custGeom>
              <a:avLst/>
              <a:gdLst/>
              <a:ahLst/>
              <a:cxnLst/>
              <a:rect r="r" b="b" t="t" l="l"/>
              <a:pathLst>
                <a:path h="1066800" w="1066800">
                  <a:moveTo>
                    <a:pt x="533400" y="0"/>
                  </a:moveTo>
                  <a:cubicBezTo>
                    <a:pt x="828040" y="0"/>
                    <a:pt x="1066800" y="238760"/>
                    <a:pt x="1066800" y="533400"/>
                  </a:cubicBezTo>
                  <a:cubicBezTo>
                    <a:pt x="1066800" y="828040"/>
                    <a:pt x="828040" y="1066800"/>
                    <a:pt x="533400" y="1066800"/>
                  </a:cubicBezTo>
                  <a:cubicBezTo>
                    <a:pt x="238760" y="1066800"/>
                    <a:pt x="0" y="828040"/>
                    <a:pt x="0" y="533400"/>
                  </a:cubicBezTo>
                  <a:cubicBezTo>
                    <a:pt x="0" y="238760"/>
                    <a:pt x="238760" y="0"/>
                    <a:pt x="533400" y="0"/>
                  </a:cubicBezTo>
                  <a:close/>
                </a:path>
              </a:pathLst>
            </a:custGeom>
            <a:solidFill>
              <a:srgbClr val="D9F2EA"/>
            </a:solidFill>
          </p:spPr>
        </p:sp>
      </p:grpSp>
      <p:sp>
        <p:nvSpPr>
          <p:cNvPr name="TextBox 14" id="14"/>
          <p:cNvSpPr txBox="true"/>
          <p:nvPr/>
        </p:nvSpPr>
        <p:spPr>
          <a:xfrm rot="0">
            <a:off x="962025" y="3067050"/>
            <a:ext cx="1009650" cy="243459"/>
          </a:xfrm>
          <a:prstGeom prst="rect">
            <a:avLst/>
          </a:prstGeom>
        </p:spPr>
        <p:txBody>
          <a:bodyPr anchor="t" rtlCol="false" tIns="0" lIns="0" bIns="0" rIns="0">
            <a:spAutoFit/>
          </a:bodyPr>
          <a:lstStyle/>
          <a:p>
            <a:pPr algn="ctr" marL="0" indent="0" lvl="0">
              <a:lnSpc>
                <a:spcPts val="2013"/>
              </a:lnSpc>
              <a:spcBef>
                <a:spcPct val="0"/>
              </a:spcBef>
            </a:pPr>
            <a:r>
              <a:rPr lang="en-US" sz="1650" strike="noStrike" u="none">
                <a:solidFill>
                  <a:srgbClr val="0A2A66"/>
                </a:solidFill>
                <a:latin typeface="DM Sans"/>
                <a:ea typeface="DM Sans"/>
                <a:cs typeface="DM Sans"/>
                <a:sym typeface="DM Sans"/>
              </a:rPr>
              <a:t>IDEA</a:t>
            </a:r>
          </a:p>
        </p:txBody>
      </p:sp>
      <p:sp>
        <p:nvSpPr>
          <p:cNvPr name="TextBox 15" id="15"/>
          <p:cNvSpPr txBox="true"/>
          <p:nvPr/>
        </p:nvSpPr>
        <p:spPr>
          <a:xfrm rot="0">
            <a:off x="609600" y="4067175"/>
            <a:ext cx="2000250" cy="529018"/>
          </a:xfrm>
          <a:prstGeom prst="rect">
            <a:avLst/>
          </a:prstGeom>
        </p:spPr>
        <p:txBody>
          <a:bodyPr anchor="t" rtlCol="false" tIns="0" lIns="0" bIns="0" rIns="0">
            <a:spAutoFit/>
          </a:bodyPr>
          <a:lstStyle/>
          <a:p>
            <a:pPr algn="ctr" marL="0" indent="0" lvl="0">
              <a:lnSpc>
                <a:spcPts val="2104"/>
              </a:lnSpc>
              <a:spcBef>
                <a:spcPct val="0"/>
              </a:spcBef>
            </a:pPr>
            <a:r>
              <a:rPr lang="en-US" sz="1725" strike="noStrike" u="none">
                <a:solidFill>
                  <a:srgbClr val="0A2A66"/>
                </a:solidFill>
                <a:latin typeface="DM Sans"/>
                <a:ea typeface="DM Sans"/>
                <a:cs typeface="DM Sans"/>
                <a:sym typeface="DM Sans"/>
              </a:rPr>
              <a:t>Discover or bring</a:t>
            </a:r>
          </a:p>
          <a:p>
            <a:pPr algn="ctr" marL="0" indent="0" lvl="0">
              <a:lnSpc>
                <a:spcPts val="2104"/>
              </a:lnSpc>
              <a:spcBef>
                <a:spcPct val="0"/>
              </a:spcBef>
            </a:pPr>
            <a:r>
              <a:rPr lang="en-US" sz="1725" strike="noStrike" u="none">
                <a:solidFill>
                  <a:srgbClr val="0A2A66"/>
                </a:solidFill>
                <a:latin typeface="DM Sans"/>
                <a:ea typeface="DM Sans"/>
                <a:cs typeface="DM Sans"/>
                <a:sym typeface="DM Sans"/>
              </a:rPr>
              <a:t>a learning goal</a:t>
            </a:r>
          </a:p>
        </p:txBody>
      </p:sp>
      <p:grpSp>
        <p:nvGrpSpPr>
          <p:cNvPr name="Group 16" id="16"/>
          <p:cNvGrpSpPr/>
          <p:nvPr/>
        </p:nvGrpSpPr>
        <p:grpSpPr>
          <a:xfrm rot="0">
            <a:off x="3352800" y="2828925"/>
            <a:ext cx="800100" cy="800100"/>
            <a:chOff x="0" y="0"/>
            <a:chExt cx="1066800" cy="1066800"/>
          </a:xfrm>
        </p:grpSpPr>
        <p:sp>
          <p:nvSpPr>
            <p:cNvPr name="Freeform 17" id="17"/>
            <p:cNvSpPr/>
            <p:nvPr/>
          </p:nvSpPr>
          <p:spPr>
            <a:xfrm flipH="false" flipV="false" rot="0">
              <a:off x="0" y="0"/>
              <a:ext cx="1066800" cy="1066800"/>
            </a:xfrm>
            <a:custGeom>
              <a:avLst/>
              <a:gdLst/>
              <a:ahLst/>
              <a:cxnLst/>
              <a:rect r="r" b="b" t="t" l="l"/>
              <a:pathLst>
                <a:path h="1066800" w="1066800">
                  <a:moveTo>
                    <a:pt x="533400" y="0"/>
                  </a:moveTo>
                  <a:cubicBezTo>
                    <a:pt x="828040" y="0"/>
                    <a:pt x="1066800" y="238760"/>
                    <a:pt x="1066800" y="533400"/>
                  </a:cubicBezTo>
                  <a:cubicBezTo>
                    <a:pt x="1066800" y="828040"/>
                    <a:pt x="828040" y="1066800"/>
                    <a:pt x="533400" y="1066800"/>
                  </a:cubicBezTo>
                  <a:cubicBezTo>
                    <a:pt x="238760" y="1066800"/>
                    <a:pt x="0" y="828040"/>
                    <a:pt x="0" y="533400"/>
                  </a:cubicBezTo>
                  <a:cubicBezTo>
                    <a:pt x="0" y="238760"/>
                    <a:pt x="238760" y="0"/>
                    <a:pt x="533400" y="0"/>
                  </a:cubicBezTo>
                  <a:close/>
                </a:path>
              </a:pathLst>
            </a:custGeom>
            <a:solidFill>
              <a:srgbClr val="F0EFFF"/>
            </a:solidFill>
          </p:spPr>
        </p:sp>
      </p:grpSp>
      <p:sp>
        <p:nvSpPr>
          <p:cNvPr name="TextBox 18" id="18"/>
          <p:cNvSpPr txBox="true"/>
          <p:nvPr/>
        </p:nvSpPr>
        <p:spPr>
          <a:xfrm rot="0">
            <a:off x="3248025" y="3067050"/>
            <a:ext cx="1009650" cy="243459"/>
          </a:xfrm>
          <a:prstGeom prst="rect">
            <a:avLst/>
          </a:prstGeom>
        </p:spPr>
        <p:txBody>
          <a:bodyPr anchor="t" rtlCol="false" tIns="0" lIns="0" bIns="0" rIns="0">
            <a:spAutoFit/>
          </a:bodyPr>
          <a:lstStyle/>
          <a:p>
            <a:pPr algn="ctr" marL="0" indent="0" lvl="0">
              <a:lnSpc>
                <a:spcPts val="2013"/>
              </a:lnSpc>
              <a:spcBef>
                <a:spcPct val="0"/>
              </a:spcBef>
            </a:pPr>
            <a:r>
              <a:rPr lang="en-US" sz="1650" strike="noStrike" u="none">
                <a:solidFill>
                  <a:srgbClr val="0A2A66"/>
                </a:solidFill>
                <a:latin typeface="DM Sans"/>
                <a:ea typeface="DM Sans"/>
                <a:cs typeface="DM Sans"/>
                <a:sym typeface="DM Sans"/>
              </a:rPr>
              <a:t>LEARN</a:t>
            </a:r>
          </a:p>
        </p:txBody>
      </p:sp>
      <p:sp>
        <p:nvSpPr>
          <p:cNvPr name="TextBox 19" id="19"/>
          <p:cNvSpPr txBox="true"/>
          <p:nvPr/>
        </p:nvSpPr>
        <p:spPr>
          <a:xfrm rot="0">
            <a:off x="2895600" y="4067175"/>
            <a:ext cx="2000250" cy="529018"/>
          </a:xfrm>
          <a:prstGeom prst="rect">
            <a:avLst/>
          </a:prstGeom>
        </p:spPr>
        <p:txBody>
          <a:bodyPr anchor="t" rtlCol="false" tIns="0" lIns="0" bIns="0" rIns="0">
            <a:spAutoFit/>
          </a:bodyPr>
          <a:lstStyle/>
          <a:p>
            <a:pPr algn="ctr" marL="0" indent="0" lvl="0">
              <a:lnSpc>
                <a:spcPts val="2104"/>
              </a:lnSpc>
              <a:spcBef>
                <a:spcPct val="0"/>
              </a:spcBef>
            </a:pPr>
            <a:r>
              <a:rPr lang="en-US" sz="1725" strike="noStrike" u="none">
                <a:solidFill>
                  <a:srgbClr val="0A2A66"/>
                </a:solidFill>
                <a:latin typeface="DM Sans"/>
                <a:ea typeface="DM Sans"/>
                <a:cs typeface="DM Sans"/>
                <a:sym typeface="DM Sans"/>
              </a:rPr>
              <a:t>Open a Khan clip</a:t>
            </a:r>
          </a:p>
          <a:p>
            <a:pPr algn="ctr" marL="0" indent="0" lvl="0">
              <a:lnSpc>
                <a:spcPts val="2104"/>
              </a:lnSpc>
              <a:spcBef>
                <a:spcPct val="0"/>
              </a:spcBef>
            </a:pPr>
            <a:r>
              <a:rPr lang="en-US" sz="1725" strike="noStrike" u="none">
                <a:solidFill>
                  <a:srgbClr val="0A2A66"/>
                </a:solidFill>
                <a:latin typeface="DM Sans"/>
                <a:ea typeface="DM Sans"/>
                <a:cs typeface="DM Sans"/>
                <a:sym typeface="DM Sans"/>
              </a:rPr>
              <a:t>or explanation</a:t>
            </a:r>
          </a:p>
        </p:txBody>
      </p:sp>
      <p:grpSp>
        <p:nvGrpSpPr>
          <p:cNvPr name="Group 20" id="20"/>
          <p:cNvGrpSpPr/>
          <p:nvPr/>
        </p:nvGrpSpPr>
        <p:grpSpPr>
          <a:xfrm rot="0">
            <a:off x="5638800" y="2828925"/>
            <a:ext cx="800100" cy="800100"/>
            <a:chOff x="0" y="0"/>
            <a:chExt cx="1066800" cy="1066800"/>
          </a:xfrm>
        </p:grpSpPr>
        <p:sp>
          <p:nvSpPr>
            <p:cNvPr name="Freeform 21" id="21"/>
            <p:cNvSpPr/>
            <p:nvPr/>
          </p:nvSpPr>
          <p:spPr>
            <a:xfrm flipH="false" flipV="false" rot="0">
              <a:off x="0" y="0"/>
              <a:ext cx="1066800" cy="1066800"/>
            </a:xfrm>
            <a:custGeom>
              <a:avLst/>
              <a:gdLst/>
              <a:ahLst/>
              <a:cxnLst/>
              <a:rect r="r" b="b" t="t" l="l"/>
              <a:pathLst>
                <a:path h="1066800" w="1066800">
                  <a:moveTo>
                    <a:pt x="533400" y="0"/>
                  </a:moveTo>
                  <a:cubicBezTo>
                    <a:pt x="828040" y="0"/>
                    <a:pt x="1066800" y="238760"/>
                    <a:pt x="1066800" y="533400"/>
                  </a:cubicBezTo>
                  <a:cubicBezTo>
                    <a:pt x="1066800" y="828040"/>
                    <a:pt x="828040" y="1066800"/>
                    <a:pt x="533400" y="1066800"/>
                  </a:cubicBezTo>
                  <a:cubicBezTo>
                    <a:pt x="238760" y="1066800"/>
                    <a:pt x="0" y="828040"/>
                    <a:pt x="0" y="533400"/>
                  </a:cubicBezTo>
                  <a:cubicBezTo>
                    <a:pt x="0" y="238760"/>
                    <a:pt x="238760" y="0"/>
                    <a:pt x="533400" y="0"/>
                  </a:cubicBezTo>
                  <a:close/>
                </a:path>
              </a:pathLst>
            </a:custGeom>
            <a:solidFill>
              <a:srgbClr val="D9F2EA"/>
            </a:solidFill>
          </p:spPr>
        </p:sp>
      </p:grpSp>
      <p:sp>
        <p:nvSpPr>
          <p:cNvPr name="TextBox 22" id="22"/>
          <p:cNvSpPr txBox="true"/>
          <p:nvPr/>
        </p:nvSpPr>
        <p:spPr>
          <a:xfrm rot="0">
            <a:off x="5534025" y="3067050"/>
            <a:ext cx="1009650" cy="243459"/>
          </a:xfrm>
          <a:prstGeom prst="rect">
            <a:avLst/>
          </a:prstGeom>
        </p:spPr>
        <p:txBody>
          <a:bodyPr anchor="t" rtlCol="false" tIns="0" lIns="0" bIns="0" rIns="0">
            <a:spAutoFit/>
          </a:bodyPr>
          <a:lstStyle/>
          <a:p>
            <a:pPr algn="ctr" marL="0" indent="0" lvl="0">
              <a:lnSpc>
                <a:spcPts val="2013"/>
              </a:lnSpc>
              <a:spcBef>
                <a:spcPct val="0"/>
              </a:spcBef>
            </a:pPr>
            <a:r>
              <a:rPr lang="en-US" sz="1650" strike="noStrike" u="none">
                <a:solidFill>
                  <a:srgbClr val="0A2A66"/>
                </a:solidFill>
                <a:latin typeface="DM Sans"/>
                <a:ea typeface="DM Sans"/>
                <a:cs typeface="DM Sans"/>
                <a:sym typeface="DM Sans"/>
              </a:rPr>
              <a:t>KHAN</a:t>
            </a:r>
          </a:p>
        </p:txBody>
      </p:sp>
      <p:sp>
        <p:nvSpPr>
          <p:cNvPr name="TextBox 23" id="23"/>
          <p:cNvSpPr txBox="true"/>
          <p:nvPr/>
        </p:nvSpPr>
        <p:spPr>
          <a:xfrm rot="0">
            <a:off x="5181600" y="4067175"/>
            <a:ext cx="2000250" cy="529018"/>
          </a:xfrm>
          <a:prstGeom prst="rect">
            <a:avLst/>
          </a:prstGeom>
        </p:spPr>
        <p:txBody>
          <a:bodyPr anchor="t" rtlCol="false" tIns="0" lIns="0" bIns="0" rIns="0">
            <a:spAutoFit/>
          </a:bodyPr>
          <a:lstStyle/>
          <a:p>
            <a:pPr algn="ctr" marL="0" indent="0" lvl="0">
              <a:lnSpc>
                <a:spcPts val="2104"/>
              </a:lnSpc>
              <a:spcBef>
                <a:spcPct val="0"/>
              </a:spcBef>
            </a:pPr>
            <a:r>
              <a:rPr lang="en-US" sz="1725" strike="noStrike" u="none">
                <a:solidFill>
                  <a:srgbClr val="0A2A66"/>
                </a:solidFill>
                <a:latin typeface="DM Sans"/>
                <a:ea typeface="DM Sans"/>
                <a:cs typeface="DM Sans"/>
                <a:sym typeface="DM Sans"/>
              </a:rPr>
              <a:t>Practise the</a:t>
            </a:r>
          </a:p>
          <a:p>
            <a:pPr algn="ctr" marL="0" indent="0" lvl="0">
              <a:lnSpc>
                <a:spcPts val="2104"/>
              </a:lnSpc>
              <a:spcBef>
                <a:spcPct val="0"/>
              </a:spcBef>
            </a:pPr>
            <a:r>
              <a:rPr lang="en-US" sz="1725" strike="noStrike" u="none">
                <a:solidFill>
                  <a:srgbClr val="0A2A66"/>
                </a:solidFill>
                <a:latin typeface="DM Sans"/>
                <a:ea typeface="DM Sans"/>
                <a:cs typeface="DM Sans"/>
                <a:sym typeface="DM Sans"/>
              </a:rPr>
              <a:t>relevant exercise</a:t>
            </a:r>
          </a:p>
        </p:txBody>
      </p:sp>
      <p:grpSp>
        <p:nvGrpSpPr>
          <p:cNvPr name="Group 24" id="24"/>
          <p:cNvGrpSpPr/>
          <p:nvPr/>
        </p:nvGrpSpPr>
        <p:grpSpPr>
          <a:xfrm rot="0">
            <a:off x="7924800" y="2828925"/>
            <a:ext cx="800100" cy="800100"/>
            <a:chOff x="0" y="0"/>
            <a:chExt cx="1066800" cy="1066800"/>
          </a:xfrm>
        </p:grpSpPr>
        <p:sp>
          <p:nvSpPr>
            <p:cNvPr name="Freeform 25" id="25"/>
            <p:cNvSpPr/>
            <p:nvPr/>
          </p:nvSpPr>
          <p:spPr>
            <a:xfrm flipH="false" flipV="false" rot="0">
              <a:off x="0" y="0"/>
              <a:ext cx="1066800" cy="1066800"/>
            </a:xfrm>
            <a:custGeom>
              <a:avLst/>
              <a:gdLst/>
              <a:ahLst/>
              <a:cxnLst/>
              <a:rect r="r" b="b" t="t" l="l"/>
              <a:pathLst>
                <a:path h="1066800" w="1066800">
                  <a:moveTo>
                    <a:pt x="533400" y="0"/>
                  </a:moveTo>
                  <a:cubicBezTo>
                    <a:pt x="828040" y="0"/>
                    <a:pt x="1066800" y="238760"/>
                    <a:pt x="1066800" y="533400"/>
                  </a:cubicBezTo>
                  <a:cubicBezTo>
                    <a:pt x="1066800" y="828040"/>
                    <a:pt x="828040" y="1066800"/>
                    <a:pt x="533400" y="1066800"/>
                  </a:cubicBezTo>
                  <a:cubicBezTo>
                    <a:pt x="238760" y="1066800"/>
                    <a:pt x="0" y="828040"/>
                    <a:pt x="0" y="533400"/>
                  </a:cubicBezTo>
                  <a:cubicBezTo>
                    <a:pt x="0" y="238760"/>
                    <a:pt x="238760" y="0"/>
                    <a:pt x="533400" y="0"/>
                  </a:cubicBezTo>
                  <a:close/>
                </a:path>
              </a:pathLst>
            </a:custGeom>
            <a:solidFill>
              <a:srgbClr val="F0EFFF"/>
            </a:solidFill>
          </p:spPr>
        </p:sp>
      </p:grpSp>
      <p:sp>
        <p:nvSpPr>
          <p:cNvPr name="TextBox 26" id="26"/>
          <p:cNvSpPr txBox="true"/>
          <p:nvPr/>
        </p:nvSpPr>
        <p:spPr>
          <a:xfrm rot="0">
            <a:off x="7820025" y="3067050"/>
            <a:ext cx="1009650" cy="243459"/>
          </a:xfrm>
          <a:prstGeom prst="rect">
            <a:avLst/>
          </a:prstGeom>
        </p:spPr>
        <p:txBody>
          <a:bodyPr anchor="t" rtlCol="false" tIns="0" lIns="0" bIns="0" rIns="0">
            <a:spAutoFit/>
          </a:bodyPr>
          <a:lstStyle/>
          <a:p>
            <a:pPr algn="ctr" marL="0" indent="0" lvl="0">
              <a:lnSpc>
                <a:spcPts val="2013"/>
              </a:lnSpc>
              <a:spcBef>
                <a:spcPct val="0"/>
              </a:spcBef>
            </a:pPr>
            <a:r>
              <a:rPr lang="en-US" sz="1650" strike="noStrike" u="none">
                <a:solidFill>
                  <a:srgbClr val="0A2A66"/>
                </a:solidFill>
                <a:latin typeface="DM Sans"/>
                <a:ea typeface="DM Sans"/>
                <a:cs typeface="DM Sans"/>
                <a:sym typeface="DM Sans"/>
              </a:rPr>
              <a:t>TRY</a:t>
            </a:r>
          </a:p>
        </p:txBody>
      </p:sp>
      <p:sp>
        <p:nvSpPr>
          <p:cNvPr name="TextBox 27" id="27"/>
          <p:cNvSpPr txBox="true"/>
          <p:nvPr/>
        </p:nvSpPr>
        <p:spPr>
          <a:xfrm rot="0">
            <a:off x="7467600" y="4067175"/>
            <a:ext cx="2000250" cy="795718"/>
          </a:xfrm>
          <a:prstGeom prst="rect">
            <a:avLst/>
          </a:prstGeom>
        </p:spPr>
        <p:txBody>
          <a:bodyPr anchor="t" rtlCol="false" tIns="0" lIns="0" bIns="0" rIns="0">
            <a:spAutoFit/>
          </a:bodyPr>
          <a:lstStyle/>
          <a:p>
            <a:pPr algn="ctr" marL="0" indent="0" lvl="0">
              <a:lnSpc>
                <a:spcPts val="2104"/>
              </a:lnSpc>
              <a:spcBef>
                <a:spcPct val="0"/>
              </a:spcBef>
            </a:pPr>
            <a:r>
              <a:rPr lang="en-US" sz="1725" strike="noStrike" u="none">
                <a:solidFill>
                  <a:srgbClr val="0A2A66"/>
                </a:solidFill>
                <a:latin typeface="DM Sans"/>
                <a:ea typeface="DM Sans"/>
                <a:cs typeface="DM Sans"/>
                <a:sym typeface="DM Sans"/>
              </a:rPr>
              <a:t>Return to a fresh</a:t>
            </a:r>
          </a:p>
          <a:p>
            <a:pPr algn="ctr" marL="0" indent="0" lvl="0">
              <a:lnSpc>
                <a:spcPts val="2104"/>
              </a:lnSpc>
              <a:spcBef>
                <a:spcPct val="0"/>
              </a:spcBef>
            </a:pPr>
            <a:r>
              <a:rPr lang="en-US" sz="1725" strike="noStrike" u="none">
                <a:solidFill>
                  <a:srgbClr val="0A2A66"/>
                </a:solidFill>
                <a:latin typeface="DM Sans"/>
                <a:ea typeface="DM Sans"/>
                <a:cs typeface="DM Sans"/>
                <a:sym typeface="DM Sans"/>
              </a:rPr>
              <a:t>independent question</a:t>
            </a:r>
          </a:p>
        </p:txBody>
      </p:sp>
      <p:grpSp>
        <p:nvGrpSpPr>
          <p:cNvPr name="Group 28" id="28"/>
          <p:cNvGrpSpPr/>
          <p:nvPr/>
        </p:nvGrpSpPr>
        <p:grpSpPr>
          <a:xfrm rot="0">
            <a:off x="10210800" y="2828925"/>
            <a:ext cx="800100" cy="800100"/>
            <a:chOff x="0" y="0"/>
            <a:chExt cx="1066800" cy="1066800"/>
          </a:xfrm>
        </p:grpSpPr>
        <p:sp>
          <p:nvSpPr>
            <p:cNvPr name="Freeform 29" id="29"/>
            <p:cNvSpPr/>
            <p:nvPr/>
          </p:nvSpPr>
          <p:spPr>
            <a:xfrm flipH="false" flipV="false" rot="0">
              <a:off x="0" y="0"/>
              <a:ext cx="1066800" cy="1066800"/>
            </a:xfrm>
            <a:custGeom>
              <a:avLst/>
              <a:gdLst/>
              <a:ahLst/>
              <a:cxnLst/>
              <a:rect r="r" b="b" t="t" l="l"/>
              <a:pathLst>
                <a:path h="1066800" w="1066800">
                  <a:moveTo>
                    <a:pt x="533400" y="0"/>
                  </a:moveTo>
                  <a:cubicBezTo>
                    <a:pt x="828040" y="0"/>
                    <a:pt x="1066800" y="238760"/>
                    <a:pt x="1066800" y="533400"/>
                  </a:cubicBezTo>
                  <a:cubicBezTo>
                    <a:pt x="1066800" y="828040"/>
                    <a:pt x="828040" y="1066800"/>
                    <a:pt x="533400" y="1066800"/>
                  </a:cubicBezTo>
                  <a:cubicBezTo>
                    <a:pt x="238760" y="1066800"/>
                    <a:pt x="0" y="828040"/>
                    <a:pt x="0" y="533400"/>
                  </a:cubicBezTo>
                  <a:cubicBezTo>
                    <a:pt x="0" y="238760"/>
                    <a:pt x="238760" y="0"/>
                    <a:pt x="533400" y="0"/>
                  </a:cubicBezTo>
                  <a:close/>
                </a:path>
              </a:pathLst>
            </a:custGeom>
            <a:solidFill>
              <a:srgbClr val="D9F2EA"/>
            </a:solidFill>
          </p:spPr>
        </p:sp>
      </p:grpSp>
      <p:sp>
        <p:nvSpPr>
          <p:cNvPr name="TextBox 30" id="30"/>
          <p:cNvSpPr txBox="true"/>
          <p:nvPr/>
        </p:nvSpPr>
        <p:spPr>
          <a:xfrm rot="0">
            <a:off x="10106025" y="3067050"/>
            <a:ext cx="1009650" cy="243459"/>
          </a:xfrm>
          <a:prstGeom prst="rect">
            <a:avLst/>
          </a:prstGeom>
        </p:spPr>
        <p:txBody>
          <a:bodyPr anchor="t" rtlCol="false" tIns="0" lIns="0" bIns="0" rIns="0">
            <a:spAutoFit/>
          </a:bodyPr>
          <a:lstStyle/>
          <a:p>
            <a:pPr algn="ctr" marL="0" indent="0" lvl="0">
              <a:lnSpc>
                <a:spcPts val="2013"/>
              </a:lnSpc>
              <a:spcBef>
                <a:spcPct val="0"/>
              </a:spcBef>
            </a:pPr>
            <a:r>
              <a:rPr lang="en-US" sz="1650" strike="noStrike" u="none">
                <a:solidFill>
                  <a:srgbClr val="0A2A66"/>
                </a:solidFill>
                <a:latin typeface="DM Sans"/>
                <a:ea typeface="DM Sans"/>
                <a:cs typeface="DM Sans"/>
                <a:sym typeface="DM Sans"/>
              </a:rPr>
              <a:t>REVISIT</a:t>
            </a:r>
          </a:p>
        </p:txBody>
      </p:sp>
      <p:sp>
        <p:nvSpPr>
          <p:cNvPr name="TextBox 31" id="31"/>
          <p:cNvSpPr txBox="true"/>
          <p:nvPr/>
        </p:nvSpPr>
        <p:spPr>
          <a:xfrm rot="0">
            <a:off x="9753600" y="4067175"/>
            <a:ext cx="2000250" cy="529018"/>
          </a:xfrm>
          <a:prstGeom prst="rect">
            <a:avLst/>
          </a:prstGeom>
        </p:spPr>
        <p:txBody>
          <a:bodyPr anchor="t" rtlCol="false" tIns="0" lIns="0" bIns="0" rIns="0">
            <a:spAutoFit/>
          </a:bodyPr>
          <a:lstStyle/>
          <a:p>
            <a:pPr algn="ctr" marL="0" indent="0" lvl="0">
              <a:lnSpc>
                <a:spcPts val="2104"/>
              </a:lnSpc>
              <a:spcBef>
                <a:spcPct val="0"/>
              </a:spcBef>
            </a:pPr>
            <a:r>
              <a:rPr lang="en-US" sz="1725" strike="noStrike" u="none">
                <a:solidFill>
                  <a:srgbClr val="0A2A66"/>
                </a:solidFill>
                <a:latin typeface="DM Sans"/>
                <a:ea typeface="DM Sans"/>
                <a:cs typeface="DM Sans"/>
                <a:sym typeface="DM Sans"/>
              </a:rPr>
              <a:t>Keep the idea for</a:t>
            </a:r>
          </a:p>
          <a:p>
            <a:pPr algn="ctr" marL="0" indent="0" lvl="0">
              <a:lnSpc>
                <a:spcPts val="2104"/>
              </a:lnSpc>
              <a:spcBef>
                <a:spcPct val="0"/>
              </a:spcBef>
            </a:pPr>
            <a:r>
              <a:rPr lang="en-US" sz="1725" strike="noStrike" u="none">
                <a:solidFill>
                  <a:srgbClr val="0A2A66"/>
                </a:solidFill>
                <a:latin typeface="DM Sans"/>
                <a:ea typeface="DM Sans"/>
                <a:cs typeface="DM Sans"/>
                <a:sym typeface="DM Sans"/>
              </a:rPr>
              <a:t>a later session</a:t>
            </a:r>
          </a:p>
        </p:txBody>
      </p:sp>
      <p:sp>
        <p:nvSpPr>
          <p:cNvPr name="TextBox 32" id="32"/>
          <p:cNvSpPr txBox="true"/>
          <p:nvPr/>
        </p:nvSpPr>
        <p:spPr>
          <a:xfrm rot="0">
            <a:off x="609600" y="5553075"/>
            <a:ext cx="10972800" cy="280988"/>
          </a:xfrm>
          <a:prstGeom prst="rect">
            <a:avLst/>
          </a:prstGeom>
        </p:spPr>
        <p:txBody>
          <a:bodyPr anchor="t" rtlCol="false" tIns="0" lIns="0" bIns="0" rIns="0">
            <a:spAutoFit/>
          </a:bodyPr>
          <a:lstStyle/>
          <a:p>
            <a:pPr algn="l" marL="0" indent="0" lvl="0">
              <a:lnSpc>
                <a:spcPts val="2287"/>
              </a:lnSpc>
              <a:spcBef>
                <a:spcPct val="0"/>
              </a:spcBef>
            </a:pPr>
            <a:r>
              <a:rPr lang="en-US" sz="1875" strike="noStrike" u="none">
                <a:solidFill>
                  <a:srgbClr val="0A2A66"/>
                </a:solidFill>
                <a:latin typeface="DM Sans"/>
                <a:ea typeface="DM Sans"/>
                <a:cs typeface="DM Sans"/>
                <a:sym typeface="DM Sans"/>
              </a:rPr>
              <a:t>Your place is saved when you open Khan practice.</a:t>
            </a:r>
          </a:p>
        </p:txBody>
      </p:sp>
      <p:sp>
        <p:nvSpPr>
          <p:cNvPr name="TextBox 33" id="33"/>
          <p:cNvSpPr txBox="true"/>
          <p:nvPr/>
        </p:nvSpPr>
        <p:spPr>
          <a:xfrm rot="0">
            <a:off x="609600" y="6105525"/>
            <a:ext cx="10572750" cy="187452"/>
          </a:xfrm>
          <a:prstGeom prst="rect">
            <a:avLst/>
          </a:prstGeom>
        </p:spPr>
        <p:txBody>
          <a:bodyPr anchor="t" rtlCol="false" tIns="0" lIns="0" bIns="0" rIns="0">
            <a:spAutoFit/>
          </a:bodyPr>
          <a:lstStyle/>
          <a:p>
            <a:pPr algn="l" marL="0" indent="0" lvl="0">
              <a:lnSpc>
                <a:spcPts val="1464"/>
              </a:lnSpc>
              <a:spcBef>
                <a:spcPct val="0"/>
              </a:spcBef>
            </a:pPr>
            <a:r>
              <a:rPr lang="en-US" sz="1200" strike="noStrike" u="none">
                <a:solidFill>
                  <a:srgbClr val="0A2A66"/>
                </a:solidFill>
                <a:latin typeface="DM Sans"/>
                <a:ea typeface="DM Sans"/>
                <a:cs typeface="DM Sans"/>
                <a:sym typeface="DM Sans"/>
                <a:hlinkClick r:id="rId7" tooltip="https://support.khanacademy.org/hc/en-us/articles/202262954-Can-I-use-Khan-Academy-s-videos-name-materials-links-in-my-project"/>
              </a:rPr>
              <a:t>Khan sources are labelled. Completion reports and fresh answers stay separate.</a:t>
            </a:r>
          </a:p>
        </p:txBody>
      </p:sp>
      <p:sp>
        <p:nvSpPr>
          <p:cNvPr name="AutoShape 34" id="34"/>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35" id="35"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36" id="36" descr="Khan Academy learning and practice"/>
          <p:cNvSpPr/>
          <p:nvPr/>
        </p:nvSpPr>
        <p:spPr>
          <a:xfrm flipH="false" flipV="false" rot="0">
            <a:off x="4429125" y="2305050"/>
            <a:ext cx="3333750" cy="530352"/>
          </a:xfrm>
          <a:custGeom>
            <a:avLst/>
            <a:gdLst/>
            <a:ahLst/>
            <a:cxnLst/>
            <a:rect r="r" b="b" t="t" l="l"/>
            <a:pathLst>
              <a:path h="530352" w="3333750">
                <a:moveTo>
                  <a:pt x="0" y="0"/>
                </a:moveTo>
                <a:lnTo>
                  <a:pt x="3333750" y="0"/>
                </a:lnTo>
                <a:lnTo>
                  <a:pt x="3333750" y="530352"/>
                </a:lnTo>
                <a:lnTo>
                  <a:pt x="0" y="530352"/>
                </a:lnTo>
                <a:lnTo>
                  <a:pt x="0" y="0"/>
                </a:lnTo>
                <a:close/>
              </a:path>
            </a:pathLst>
          </a:custGeom>
          <a:blipFill>
            <a:blip r:embed="rId10"/>
            <a:stretch>
              <a:fillRect l="0" t="-1" r="0" b="-1"/>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10</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A useful reason to return</a:t>
            </a:r>
          </a:p>
        </p:txBody>
      </p:sp>
      <p:sp>
        <p:nvSpPr>
          <p:cNvPr name="AutoShape 10" id="10"/>
          <p:cNvSpPr/>
          <p:nvPr/>
        </p:nvSpPr>
        <p:spPr>
          <a:xfrm rot="0">
            <a:off x="609600" y="2457450"/>
            <a:ext cx="5172075" cy="1447800"/>
          </a:xfrm>
          <a:prstGeom prst="rect">
            <a:avLst/>
          </a:prstGeom>
          <a:solidFill>
            <a:srgbClr val="D9F2EA"/>
          </a:solidFill>
        </p:spPr>
      </p:sp>
      <p:sp>
        <p:nvSpPr>
          <p:cNvPr name="AutoShape 11" id="11"/>
          <p:cNvSpPr/>
          <p:nvPr/>
        </p:nvSpPr>
        <p:spPr>
          <a:xfrm rot="0">
            <a:off x="6153150" y="2457450"/>
            <a:ext cx="5429250" cy="1447800"/>
          </a:xfrm>
          <a:prstGeom prst="rect">
            <a:avLst/>
          </a:prstGeom>
          <a:solidFill>
            <a:srgbClr val="F0EFFF"/>
          </a:solidFill>
        </p:spPr>
      </p:sp>
      <p:sp>
        <p:nvSpPr>
          <p:cNvPr name="TextBox 12" id="12"/>
          <p:cNvSpPr txBox="true"/>
          <p:nvPr/>
        </p:nvSpPr>
        <p:spPr>
          <a:xfrm rot="0">
            <a:off x="838200" y="2676525"/>
            <a:ext cx="4714875" cy="393573"/>
          </a:xfrm>
          <a:prstGeom prst="rect">
            <a:avLst/>
          </a:prstGeom>
        </p:spPr>
        <p:txBody>
          <a:bodyPr anchor="t" rtlCol="false" tIns="0" lIns="0" bIns="0" rIns="0">
            <a:spAutoFit/>
          </a:bodyPr>
          <a:lstStyle/>
          <a:p>
            <a:pPr algn="ctr" marL="0" indent="0" lvl="0">
              <a:lnSpc>
                <a:spcPts val="3111"/>
              </a:lnSpc>
              <a:spcBef>
                <a:spcPct val="0"/>
              </a:spcBef>
            </a:pPr>
            <a:r>
              <a:rPr lang="en-US" sz="2550" strike="noStrike" u="none">
                <a:solidFill>
                  <a:srgbClr val="0A2A66"/>
                </a:solidFill>
                <a:latin typeface="DM Sans"/>
                <a:ea typeface="DM Sans"/>
                <a:cs typeface="DM Sans"/>
                <a:sym typeface="DM Sans"/>
              </a:rPr>
              <a:t>Today</a:t>
            </a:r>
          </a:p>
        </p:txBody>
      </p:sp>
      <p:sp>
        <p:nvSpPr>
          <p:cNvPr name="TextBox 13" id="13"/>
          <p:cNvSpPr txBox="true"/>
          <p:nvPr/>
        </p:nvSpPr>
        <p:spPr>
          <a:xfrm rot="0">
            <a:off x="838200" y="3352800"/>
            <a:ext cx="4714875" cy="651891"/>
          </a:xfrm>
          <a:prstGeom prst="rect">
            <a:avLst/>
          </a:prstGeom>
        </p:spPr>
        <p:txBody>
          <a:bodyPr anchor="t" rtlCol="false" tIns="0" lIns="0" bIns="0" rIns="0">
            <a:spAutoFit/>
          </a:bodyPr>
          <a:lstStyle/>
          <a:p>
            <a:pPr algn="ctr" marL="0" indent="0" lvl="0">
              <a:lnSpc>
                <a:spcPts val="2562"/>
              </a:lnSpc>
              <a:spcBef>
                <a:spcPct val="0"/>
              </a:spcBef>
            </a:pPr>
            <a:r>
              <a:rPr lang="en-US" sz="2100" strike="noStrike" u="none">
                <a:solidFill>
                  <a:srgbClr val="0A2A66"/>
                </a:solidFill>
                <a:latin typeface="DM Sans"/>
                <a:ea typeface="DM Sans"/>
                <a:cs typeface="DM Sans"/>
                <a:sym typeface="DM Sans"/>
              </a:rPr>
              <a:t>Save a discovery.</a:t>
            </a:r>
          </a:p>
          <a:p>
            <a:pPr algn="ctr" marL="0" indent="0" lvl="0">
              <a:lnSpc>
                <a:spcPts val="2562"/>
              </a:lnSpc>
              <a:spcBef>
                <a:spcPct val="0"/>
              </a:spcBef>
            </a:pPr>
            <a:r>
              <a:rPr lang="en-US" sz="2100" strike="noStrike" u="none">
                <a:solidFill>
                  <a:srgbClr val="0A2A66"/>
                </a:solidFill>
                <a:latin typeface="DM Sans"/>
                <a:ea typeface="DM Sans"/>
                <a:cs typeface="DM Sans"/>
                <a:sym typeface="DM Sans"/>
              </a:rPr>
              <a:t>Use it on a fresh question.</a:t>
            </a:r>
          </a:p>
        </p:txBody>
      </p:sp>
      <p:sp>
        <p:nvSpPr>
          <p:cNvPr name="TextBox 14" id="14"/>
          <p:cNvSpPr txBox="true"/>
          <p:nvPr/>
        </p:nvSpPr>
        <p:spPr>
          <a:xfrm rot="0">
            <a:off x="6381750" y="2676525"/>
            <a:ext cx="4972050" cy="393573"/>
          </a:xfrm>
          <a:prstGeom prst="rect">
            <a:avLst/>
          </a:prstGeom>
        </p:spPr>
        <p:txBody>
          <a:bodyPr anchor="t" rtlCol="false" tIns="0" lIns="0" bIns="0" rIns="0">
            <a:spAutoFit/>
          </a:bodyPr>
          <a:lstStyle/>
          <a:p>
            <a:pPr algn="ctr" marL="0" indent="0" lvl="0">
              <a:lnSpc>
                <a:spcPts val="3111"/>
              </a:lnSpc>
              <a:spcBef>
                <a:spcPct val="0"/>
              </a:spcBef>
            </a:pPr>
            <a:r>
              <a:rPr lang="en-US" sz="2550" strike="noStrike" u="none">
                <a:solidFill>
                  <a:srgbClr val="0A2A66"/>
                </a:solidFill>
                <a:latin typeface="DM Sans"/>
                <a:ea typeface="DM Sans"/>
                <a:cs typeface="DM Sans"/>
                <a:sym typeface="DM Sans"/>
              </a:rPr>
              <a:t>Later</a:t>
            </a:r>
          </a:p>
        </p:txBody>
      </p:sp>
      <p:sp>
        <p:nvSpPr>
          <p:cNvPr name="TextBox 15" id="15"/>
          <p:cNvSpPr txBox="true"/>
          <p:nvPr/>
        </p:nvSpPr>
        <p:spPr>
          <a:xfrm rot="0">
            <a:off x="6381750" y="3352800"/>
            <a:ext cx="4972050" cy="651891"/>
          </a:xfrm>
          <a:prstGeom prst="rect">
            <a:avLst/>
          </a:prstGeom>
        </p:spPr>
        <p:txBody>
          <a:bodyPr anchor="t" rtlCol="false" tIns="0" lIns="0" bIns="0" rIns="0">
            <a:spAutoFit/>
          </a:bodyPr>
          <a:lstStyle/>
          <a:p>
            <a:pPr algn="ctr" marL="0" indent="0" lvl="0">
              <a:lnSpc>
                <a:spcPts val="2562"/>
              </a:lnSpc>
              <a:spcBef>
                <a:spcPct val="0"/>
              </a:spcBef>
            </a:pPr>
            <a:r>
              <a:rPr lang="en-US" sz="2100" strike="noStrike" u="none">
                <a:solidFill>
                  <a:srgbClr val="0A2A66"/>
                </a:solidFill>
                <a:latin typeface="DM Sans"/>
                <a:ea typeface="DM Sans"/>
                <a:cs typeface="DM Sans"/>
                <a:sym typeface="DM Sans"/>
              </a:rPr>
              <a:t>Revisit the idea.</a:t>
            </a:r>
          </a:p>
          <a:p>
            <a:pPr algn="ctr" marL="0" indent="0" lvl="0">
              <a:lnSpc>
                <a:spcPts val="2562"/>
              </a:lnSpc>
              <a:spcBef>
                <a:spcPct val="0"/>
              </a:spcBef>
            </a:pPr>
            <a:r>
              <a:rPr lang="en-US" sz="2100" strike="noStrike" u="none">
                <a:solidFill>
                  <a:srgbClr val="0A2A66"/>
                </a:solidFill>
                <a:latin typeface="DM Sans"/>
                <a:ea typeface="DM Sans"/>
                <a:cs typeface="DM Sans"/>
                <a:sym typeface="DM Sans"/>
              </a:rPr>
              <a:t>Try it in another situation.</a:t>
            </a:r>
          </a:p>
        </p:txBody>
      </p:sp>
      <p:grpSp>
        <p:nvGrpSpPr>
          <p:cNvPr name="Group 16" id="16"/>
          <p:cNvGrpSpPr/>
          <p:nvPr/>
        </p:nvGrpSpPr>
        <p:grpSpPr>
          <a:xfrm rot="5400000">
            <a:off x="2876550" y="4200525"/>
            <a:ext cx="628650" cy="38100"/>
            <a:chOff x="0" y="0"/>
            <a:chExt cx="838200" cy="50800"/>
          </a:xfrm>
        </p:grpSpPr>
        <p:sp>
          <p:nvSpPr>
            <p:cNvPr name="Freeform 17" id="17"/>
            <p:cNvSpPr/>
            <p:nvPr/>
          </p:nvSpPr>
          <p:spPr>
            <a:xfrm flipH="false" flipV="false" rot="0">
              <a:off x="0" y="0"/>
              <a:ext cx="838200" cy="50800"/>
            </a:xfrm>
            <a:custGeom>
              <a:avLst/>
              <a:gdLst/>
              <a:ahLst/>
              <a:cxnLst/>
              <a:rect r="r" b="b" t="t" l="l"/>
              <a:pathLst>
                <a:path h="50800" w="838200">
                  <a:moveTo>
                    <a:pt x="25400" y="0"/>
                  </a:moveTo>
                  <a:lnTo>
                    <a:pt x="812800" y="0"/>
                  </a:lnTo>
                  <a:cubicBezTo>
                    <a:pt x="826770" y="0"/>
                    <a:pt x="838200" y="11430"/>
                    <a:pt x="838200" y="25400"/>
                  </a:cubicBezTo>
                  <a:cubicBezTo>
                    <a:pt x="838200" y="39370"/>
                    <a:pt x="826770" y="50800"/>
                    <a:pt x="812800" y="50800"/>
                  </a:cubicBezTo>
                  <a:lnTo>
                    <a:pt x="25400" y="50800"/>
                  </a:lnTo>
                  <a:cubicBezTo>
                    <a:pt x="11430" y="50800"/>
                    <a:pt x="0" y="39370"/>
                    <a:pt x="0" y="25400"/>
                  </a:cubicBezTo>
                  <a:cubicBezTo>
                    <a:pt x="0" y="11430"/>
                    <a:pt x="11430" y="0"/>
                    <a:pt x="25400" y="0"/>
                  </a:cubicBezTo>
                  <a:close/>
                </a:path>
              </a:pathLst>
            </a:custGeom>
            <a:solidFill>
              <a:srgbClr val="0A2A66"/>
            </a:solidFill>
          </p:spPr>
        </p:sp>
      </p:grpSp>
      <p:grpSp>
        <p:nvGrpSpPr>
          <p:cNvPr name="Group 18" id="18"/>
          <p:cNvGrpSpPr/>
          <p:nvPr/>
        </p:nvGrpSpPr>
        <p:grpSpPr>
          <a:xfrm rot="0">
            <a:off x="3190875" y="4505325"/>
            <a:ext cx="2914650" cy="38100"/>
            <a:chOff x="0" y="0"/>
            <a:chExt cx="3886200" cy="50800"/>
          </a:xfrm>
        </p:grpSpPr>
        <p:sp>
          <p:nvSpPr>
            <p:cNvPr name="Freeform 19" id="19"/>
            <p:cNvSpPr/>
            <p:nvPr/>
          </p:nvSpPr>
          <p:spPr>
            <a:xfrm flipH="false" flipV="false" rot="0">
              <a:off x="0" y="0"/>
              <a:ext cx="3886200" cy="50800"/>
            </a:xfrm>
            <a:custGeom>
              <a:avLst/>
              <a:gdLst/>
              <a:ahLst/>
              <a:cxnLst/>
              <a:rect r="r" b="b" t="t" l="l"/>
              <a:pathLst>
                <a:path h="50800" w="3886200">
                  <a:moveTo>
                    <a:pt x="25400" y="0"/>
                  </a:moveTo>
                  <a:lnTo>
                    <a:pt x="3860800" y="0"/>
                  </a:lnTo>
                  <a:cubicBezTo>
                    <a:pt x="3874770" y="0"/>
                    <a:pt x="3886200" y="11430"/>
                    <a:pt x="3886200" y="25400"/>
                  </a:cubicBezTo>
                  <a:cubicBezTo>
                    <a:pt x="3886200" y="39370"/>
                    <a:pt x="3874770" y="50800"/>
                    <a:pt x="3860800" y="50800"/>
                  </a:cubicBezTo>
                  <a:lnTo>
                    <a:pt x="25400" y="50800"/>
                  </a:lnTo>
                  <a:cubicBezTo>
                    <a:pt x="11430" y="50800"/>
                    <a:pt x="0" y="39370"/>
                    <a:pt x="0" y="25400"/>
                  </a:cubicBezTo>
                  <a:cubicBezTo>
                    <a:pt x="0" y="11430"/>
                    <a:pt x="11430" y="0"/>
                    <a:pt x="25400" y="0"/>
                  </a:cubicBezTo>
                  <a:close/>
                </a:path>
              </a:pathLst>
            </a:custGeom>
            <a:solidFill>
              <a:srgbClr val="0A2A66"/>
            </a:solidFill>
          </p:spPr>
        </p:sp>
      </p:grpSp>
      <p:grpSp>
        <p:nvGrpSpPr>
          <p:cNvPr name="Group 20" id="20"/>
          <p:cNvGrpSpPr/>
          <p:nvPr/>
        </p:nvGrpSpPr>
        <p:grpSpPr>
          <a:xfrm rot="5400000">
            <a:off x="5872162" y="4729162"/>
            <a:ext cx="447675" cy="38100"/>
            <a:chOff x="0" y="0"/>
            <a:chExt cx="596900" cy="50800"/>
          </a:xfrm>
        </p:grpSpPr>
        <p:sp>
          <p:nvSpPr>
            <p:cNvPr name="Freeform 21" id="21"/>
            <p:cNvSpPr/>
            <p:nvPr/>
          </p:nvSpPr>
          <p:spPr>
            <a:xfrm flipH="false" flipV="false" rot="0">
              <a:off x="0" y="0"/>
              <a:ext cx="596900" cy="50800"/>
            </a:xfrm>
            <a:custGeom>
              <a:avLst/>
              <a:gdLst/>
              <a:ahLst/>
              <a:cxnLst/>
              <a:rect r="r" b="b" t="t" l="l"/>
              <a:pathLst>
                <a:path h="50800" w="596900">
                  <a:moveTo>
                    <a:pt x="25400" y="0"/>
                  </a:moveTo>
                  <a:lnTo>
                    <a:pt x="571500" y="0"/>
                  </a:lnTo>
                  <a:cubicBezTo>
                    <a:pt x="585470" y="0"/>
                    <a:pt x="596900" y="11430"/>
                    <a:pt x="596900" y="25400"/>
                  </a:cubicBezTo>
                  <a:cubicBezTo>
                    <a:pt x="596900" y="39370"/>
                    <a:pt x="585470" y="50800"/>
                    <a:pt x="571500" y="50800"/>
                  </a:cubicBezTo>
                  <a:lnTo>
                    <a:pt x="25400" y="50800"/>
                  </a:lnTo>
                  <a:cubicBezTo>
                    <a:pt x="11430" y="50800"/>
                    <a:pt x="0" y="39370"/>
                    <a:pt x="0" y="25400"/>
                  </a:cubicBezTo>
                  <a:cubicBezTo>
                    <a:pt x="0" y="11430"/>
                    <a:pt x="11430" y="0"/>
                    <a:pt x="25400" y="0"/>
                  </a:cubicBezTo>
                  <a:close/>
                </a:path>
              </a:pathLst>
            </a:custGeom>
            <a:solidFill>
              <a:srgbClr val="0A2A66"/>
            </a:solidFill>
          </p:spPr>
        </p:sp>
      </p:grpSp>
      <p:grpSp>
        <p:nvGrpSpPr>
          <p:cNvPr name="Group 22" id="22"/>
          <p:cNvGrpSpPr/>
          <p:nvPr/>
        </p:nvGrpSpPr>
        <p:grpSpPr>
          <a:xfrm rot="5400000">
            <a:off x="8543925" y="4200525"/>
            <a:ext cx="628650" cy="38100"/>
            <a:chOff x="0" y="0"/>
            <a:chExt cx="838200" cy="50800"/>
          </a:xfrm>
        </p:grpSpPr>
        <p:sp>
          <p:nvSpPr>
            <p:cNvPr name="Freeform 23" id="23"/>
            <p:cNvSpPr/>
            <p:nvPr/>
          </p:nvSpPr>
          <p:spPr>
            <a:xfrm flipH="false" flipV="false" rot="0">
              <a:off x="0" y="0"/>
              <a:ext cx="838200" cy="50800"/>
            </a:xfrm>
            <a:custGeom>
              <a:avLst/>
              <a:gdLst/>
              <a:ahLst/>
              <a:cxnLst/>
              <a:rect r="r" b="b" t="t" l="l"/>
              <a:pathLst>
                <a:path h="50800" w="838200">
                  <a:moveTo>
                    <a:pt x="25400" y="0"/>
                  </a:moveTo>
                  <a:lnTo>
                    <a:pt x="812800" y="0"/>
                  </a:lnTo>
                  <a:cubicBezTo>
                    <a:pt x="826770" y="0"/>
                    <a:pt x="838200" y="11430"/>
                    <a:pt x="838200" y="25400"/>
                  </a:cubicBezTo>
                  <a:cubicBezTo>
                    <a:pt x="838200" y="39370"/>
                    <a:pt x="826770" y="50800"/>
                    <a:pt x="812800" y="50800"/>
                  </a:cubicBezTo>
                  <a:lnTo>
                    <a:pt x="25400" y="50800"/>
                  </a:lnTo>
                  <a:cubicBezTo>
                    <a:pt x="11430" y="50800"/>
                    <a:pt x="0" y="39370"/>
                    <a:pt x="0" y="25400"/>
                  </a:cubicBezTo>
                  <a:cubicBezTo>
                    <a:pt x="0" y="11430"/>
                    <a:pt x="11430" y="0"/>
                    <a:pt x="25400" y="0"/>
                  </a:cubicBezTo>
                  <a:close/>
                </a:path>
              </a:pathLst>
            </a:custGeom>
            <a:solidFill>
              <a:srgbClr val="14BF96"/>
            </a:solidFill>
          </p:spPr>
        </p:sp>
      </p:grpSp>
      <p:grpSp>
        <p:nvGrpSpPr>
          <p:cNvPr name="Group 24" id="24"/>
          <p:cNvGrpSpPr/>
          <p:nvPr/>
        </p:nvGrpSpPr>
        <p:grpSpPr>
          <a:xfrm rot="-10800000">
            <a:off x="6086475" y="4505325"/>
            <a:ext cx="2771775" cy="38100"/>
            <a:chOff x="0" y="0"/>
            <a:chExt cx="3695700" cy="50800"/>
          </a:xfrm>
        </p:grpSpPr>
        <p:sp>
          <p:nvSpPr>
            <p:cNvPr name="Freeform 25" id="25"/>
            <p:cNvSpPr/>
            <p:nvPr/>
          </p:nvSpPr>
          <p:spPr>
            <a:xfrm flipH="false" flipV="false" rot="0">
              <a:off x="0" y="0"/>
              <a:ext cx="3695700" cy="50800"/>
            </a:xfrm>
            <a:custGeom>
              <a:avLst/>
              <a:gdLst/>
              <a:ahLst/>
              <a:cxnLst/>
              <a:rect r="r" b="b" t="t" l="l"/>
              <a:pathLst>
                <a:path h="50800" w="3695700">
                  <a:moveTo>
                    <a:pt x="25400" y="0"/>
                  </a:moveTo>
                  <a:lnTo>
                    <a:pt x="3670300" y="0"/>
                  </a:lnTo>
                  <a:cubicBezTo>
                    <a:pt x="3684270" y="0"/>
                    <a:pt x="3695700" y="11430"/>
                    <a:pt x="3695700" y="25400"/>
                  </a:cubicBezTo>
                  <a:cubicBezTo>
                    <a:pt x="3695700" y="39370"/>
                    <a:pt x="3684270" y="50800"/>
                    <a:pt x="3670300" y="50800"/>
                  </a:cubicBezTo>
                  <a:lnTo>
                    <a:pt x="25400" y="50800"/>
                  </a:lnTo>
                  <a:cubicBezTo>
                    <a:pt x="11430" y="50800"/>
                    <a:pt x="0" y="39370"/>
                    <a:pt x="0" y="25400"/>
                  </a:cubicBezTo>
                  <a:cubicBezTo>
                    <a:pt x="0" y="11430"/>
                    <a:pt x="11430" y="0"/>
                    <a:pt x="25400" y="0"/>
                  </a:cubicBezTo>
                  <a:close/>
                </a:path>
              </a:pathLst>
            </a:custGeom>
            <a:solidFill>
              <a:srgbClr val="14BF96"/>
            </a:solidFill>
          </p:spPr>
        </p:sp>
      </p:grpSp>
      <p:sp>
        <p:nvSpPr>
          <p:cNvPr name="AutoShape 26" id="26"/>
          <p:cNvSpPr/>
          <p:nvPr/>
        </p:nvSpPr>
        <p:spPr>
          <a:xfrm rot="0">
            <a:off x="1809750" y="4962525"/>
            <a:ext cx="8572500" cy="819150"/>
          </a:xfrm>
          <a:prstGeom prst="rect">
            <a:avLst/>
          </a:prstGeom>
          <a:solidFill>
            <a:srgbClr val="0A2A66"/>
          </a:solidFill>
        </p:spPr>
      </p:sp>
      <p:sp>
        <p:nvSpPr>
          <p:cNvPr name="TextBox 27" id="27"/>
          <p:cNvSpPr txBox="true"/>
          <p:nvPr/>
        </p:nvSpPr>
        <p:spPr>
          <a:xfrm rot="0">
            <a:off x="2028825" y="5143500"/>
            <a:ext cx="8134350" cy="328041"/>
          </a:xfrm>
          <a:prstGeom prst="rect">
            <a:avLst/>
          </a:prstGeom>
        </p:spPr>
        <p:txBody>
          <a:bodyPr anchor="t" rtlCol="false" tIns="0" lIns="0" bIns="0" rIns="0">
            <a:spAutoFit/>
          </a:bodyPr>
          <a:lstStyle/>
          <a:p>
            <a:pPr algn="ctr" marL="0" indent="0" lvl="0">
              <a:lnSpc>
                <a:spcPts val="2562"/>
              </a:lnSpc>
              <a:spcBef>
                <a:spcPct val="0"/>
              </a:spcBef>
            </a:pPr>
            <a:r>
              <a:rPr lang="en-US" sz="2100" strike="noStrike" u="none">
                <a:solidFill>
                  <a:srgbClr val="FFFFFF"/>
                </a:solidFill>
                <a:latin typeface="DM Sans"/>
                <a:ea typeface="DM Sans"/>
                <a:cs typeface="DM Sans"/>
                <a:sym typeface="DM Sans"/>
              </a:rPr>
              <a:t>Your place and your learning tools stay together</a:t>
            </a:r>
          </a:p>
        </p:txBody>
      </p:sp>
      <p:sp>
        <p:nvSpPr>
          <p:cNvPr name="TextBox 28" id="28"/>
          <p:cNvSpPr txBox="true"/>
          <p:nvPr/>
        </p:nvSpPr>
        <p:spPr>
          <a:xfrm rot="0">
            <a:off x="609600" y="6057900"/>
            <a:ext cx="10972800" cy="196787"/>
          </a:xfrm>
          <a:prstGeom prst="rect">
            <a:avLst/>
          </a:prstGeom>
        </p:spPr>
        <p:txBody>
          <a:bodyPr anchor="t" rtlCol="false" tIns="0" lIns="0" bIns="0" rIns="0">
            <a:spAutoFit/>
          </a:bodyPr>
          <a:lstStyle/>
          <a:p>
            <a:pPr algn="ctr" marL="0" indent="0" lvl="0">
              <a:lnSpc>
                <a:spcPts val="1555"/>
              </a:lnSpc>
              <a:spcBef>
                <a:spcPct val="0"/>
              </a:spcBef>
            </a:pPr>
            <a:r>
              <a:rPr lang="en-US" sz="1275" strike="noStrike" u="none">
                <a:solidFill>
                  <a:srgbClr val="0A2A66"/>
                </a:solidFill>
                <a:latin typeface="DM Sans"/>
                <a:ea typeface="DM Sans"/>
                <a:cs typeface="DM Sans"/>
                <a:sym typeface="DM Sans"/>
                <a:hlinkClick r:id="rId7" tooltip="https://pubmed.ncbi.nlm.nih.gov/23576743/"/>
              </a:rPr>
              <a:t>Learning basis: retrieval practice</a:t>
            </a:r>
          </a:p>
        </p:txBody>
      </p:sp>
      <p:sp>
        <p:nvSpPr>
          <p:cNvPr name="AutoShape 29" id="29"/>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30" id="30"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11</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Start with public access</a:t>
            </a:r>
          </a:p>
        </p:txBody>
      </p:sp>
      <p:sp>
        <p:nvSpPr>
          <p:cNvPr name="TextBox 10" id="10"/>
          <p:cNvSpPr txBox="true"/>
          <p:nvPr/>
        </p:nvSpPr>
        <p:spPr>
          <a:xfrm rot="0">
            <a:off x="609600" y="2114550"/>
            <a:ext cx="4095750" cy="187452"/>
          </a:xfrm>
          <a:prstGeom prst="rect">
            <a:avLst/>
          </a:prstGeom>
        </p:spPr>
        <p:txBody>
          <a:bodyPr anchor="t" rtlCol="false" tIns="0" lIns="0" bIns="0" rIns="0">
            <a:spAutoFit/>
          </a:bodyPr>
          <a:lstStyle/>
          <a:p>
            <a:pPr algn="l" marL="0" indent="0" lvl="0">
              <a:lnSpc>
                <a:spcPts val="1464"/>
              </a:lnSpc>
              <a:spcBef>
                <a:spcPct val="0"/>
              </a:spcBef>
            </a:pPr>
            <a:r>
              <a:rPr lang="en-US" sz="1200" strike="noStrike" u="none">
                <a:solidFill>
                  <a:srgbClr val="0A2A66"/>
                </a:solidFill>
                <a:latin typeface="DM Sans"/>
                <a:ea typeface="DM Sans"/>
                <a:cs typeface="DM Sans"/>
                <a:sym typeface="DM Sans"/>
              </a:rPr>
              <a:t>PUBLIC LAUNCH</a:t>
            </a:r>
          </a:p>
        </p:txBody>
      </p:sp>
      <p:sp>
        <p:nvSpPr>
          <p:cNvPr name="TextBox 11" id="11"/>
          <p:cNvSpPr txBox="true"/>
          <p:nvPr/>
        </p:nvSpPr>
        <p:spPr>
          <a:xfrm rot="0">
            <a:off x="6610350" y="2114550"/>
            <a:ext cx="4953000" cy="187452"/>
          </a:xfrm>
          <a:prstGeom prst="rect">
            <a:avLst/>
          </a:prstGeom>
        </p:spPr>
        <p:txBody>
          <a:bodyPr anchor="t" rtlCol="false" tIns="0" lIns="0" bIns="0" rIns="0">
            <a:spAutoFit/>
          </a:bodyPr>
          <a:lstStyle/>
          <a:p>
            <a:pPr algn="l" marL="0" indent="0" lvl="0">
              <a:lnSpc>
                <a:spcPts val="1464"/>
              </a:lnSpc>
              <a:spcBef>
                <a:spcPct val="0"/>
              </a:spcBef>
            </a:pPr>
            <a:r>
              <a:rPr lang="en-US" sz="1200" strike="noStrike" u="none">
                <a:solidFill>
                  <a:srgbClr val="0A2A66"/>
                </a:solidFill>
                <a:latin typeface="DM Sans"/>
                <a:ea typeface="DM Sans"/>
                <a:cs typeface="DM Sans"/>
                <a:sym typeface="DM Sans"/>
              </a:rPr>
              <a:t>NO DUNLO ACCOUNT NEEDED</a:t>
            </a:r>
          </a:p>
        </p:txBody>
      </p:sp>
      <p:sp>
        <p:nvSpPr>
          <p:cNvPr name="TextBox 12" id="12"/>
          <p:cNvSpPr txBox="true"/>
          <p:nvPr/>
        </p:nvSpPr>
        <p:spPr>
          <a:xfrm rot="0">
            <a:off x="609600" y="2895600"/>
            <a:ext cx="4191000" cy="430911"/>
          </a:xfrm>
          <a:prstGeom prst="rect">
            <a:avLst/>
          </a:prstGeom>
        </p:spPr>
        <p:txBody>
          <a:bodyPr anchor="t" rtlCol="false" tIns="0" lIns="0" bIns="0" rIns="0">
            <a:spAutoFit/>
          </a:bodyPr>
          <a:lstStyle/>
          <a:p>
            <a:pPr algn="ctr" marL="0" indent="0" lvl="0">
              <a:lnSpc>
                <a:spcPts val="3476"/>
              </a:lnSpc>
              <a:spcBef>
                <a:spcPct val="0"/>
              </a:spcBef>
            </a:pPr>
            <a:r>
              <a:rPr lang="en-US" sz="2850" strike="noStrike" u="none">
                <a:solidFill>
                  <a:srgbClr val="0A2A66"/>
                </a:solidFill>
                <a:latin typeface="DM Sans"/>
                <a:ea typeface="DM Sans"/>
                <a:cs typeface="DM Sans"/>
                <a:sym typeface="DM Sans"/>
              </a:rPr>
              <a:t>Open an idea</a:t>
            </a:r>
          </a:p>
        </p:txBody>
      </p:sp>
      <p:sp>
        <p:nvSpPr>
          <p:cNvPr name="AutoShape 13" id="13"/>
          <p:cNvSpPr/>
          <p:nvPr/>
        </p:nvSpPr>
        <p:spPr>
          <a:xfrm rot="0">
            <a:off x="4981575" y="3105150"/>
            <a:ext cx="981075" cy="38100"/>
          </a:xfrm>
          <a:prstGeom prst="rect">
            <a:avLst/>
          </a:prstGeom>
          <a:solidFill>
            <a:srgbClr val="0A2A66"/>
          </a:solidFill>
        </p:spPr>
      </p:sp>
      <p:grpSp>
        <p:nvGrpSpPr>
          <p:cNvPr name="Group 14" id="14"/>
          <p:cNvGrpSpPr/>
          <p:nvPr/>
        </p:nvGrpSpPr>
        <p:grpSpPr>
          <a:xfrm rot="1840140">
            <a:off x="5904833" y="3069526"/>
            <a:ext cx="171450" cy="28575"/>
            <a:chOff x="0" y="0"/>
            <a:chExt cx="228600" cy="38100"/>
          </a:xfrm>
        </p:grpSpPr>
        <p:sp>
          <p:nvSpPr>
            <p:cNvPr name="Freeform 15" id="15"/>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0A2A66"/>
            </a:solidFill>
          </p:spPr>
        </p:sp>
      </p:grpSp>
      <p:grpSp>
        <p:nvGrpSpPr>
          <p:cNvPr name="Group 16" id="16"/>
          <p:cNvGrpSpPr/>
          <p:nvPr/>
        </p:nvGrpSpPr>
        <p:grpSpPr>
          <a:xfrm rot="8959860">
            <a:off x="5896737" y="3155252"/>
            <a:ext cx="171450" cy="28575"/>
            <a:chOff x="0" y="0"/>
            <a:chExt cx="228600" cy="38100"/>
          </a:xfrm>
        </p:grpSpPr>
        <p:sp>
          <p:nvSpPr>
            <p:cNvPr name="Freeform 17" id="17"/>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0A2A66"/>
            </a:solidFill>
          </p:spPr>
        </p:sp>
      </p:grpSp>
      <p:sp>
        <p:nvSpPr>
          <p:cNvPr name="TextBox 18" id="18"/>
          <p:cNvSpPr txBox="true"/>
          <p:nvPr/>
        </p:nvSpPr>
        <p:spPr>
          <a:xfrm rot="0">
            <a:off x="6610350" y="2895600"/>
            <a:ext cx="4972050" cy="430911"/>
          </a:xfrm>
          <a:prstGeom prst="rect">
            <a:avLst/>
          </a:prstGeom>
        </p:spPr>
        <p:txBody>
          <a:bodyPr anchor="t" rtlCol="false" tIns="0" lIns="0" bIns="0" rIns="0">
            <a:spAutoFit/>
          </a:bodyPr>
          <a:lstStyle/>
          <a:p>
            <a:pPr algn="ctr" marL="0" indent="0" lvl="0">
              <a:lnSpc>
                <a:spcPts val="3476"/>
              </a:lnSpc>
              <a:spcBef>
                <a:spcPct val="0"/>
              </a:spcBef>
            </a:pPr>
            <a:r>
              <a:rPr lang="en-US" sz="2850" strike="noStrike" u="none">
                <a:solidFill>
                  <a:srgbClr val="0A2A66"/>
                </a:solidFill>
                <a:latin typeface="DM Sans"/>
                <a:ea typeface="DM Sans"/>
                <a:cs typeface="DM Sans"/>
                <a:sym typeface="DM Sans"/>
              </a:rPr>
              <a:t>Share an idea</a:t>
            </a:r>
          </a:p>
        </p:txBody>
      </p:sp>
      <p:sp>
        <p:nvSpPr>
          <p:cNvPr name="AutoShape 19" id="19"/>
          <p:cNvSpPr/>
          <p:nvPr/>
        </p:nvSpPr>
        <p:spPr>
          <a:xfrm rot="0">
            <a:off x="609600" y="3686175"/>
            <a:ext cx="10972800" cy="9525"/>
          </a:xfrm>
          <a:prstGeom prst="rect">
            <a:avLst/>
          </a:prstGeom>
          <a:solidFill>
            <a:srgbClr val="CCD7E4"/>
          </a:solidFill>
        </p:spPr>
      </p:sp>
      <p:sp>
        <p:nvSpPr>
          <p:cNvPr name="TextBox 20" id="20"/>
          <p:cNvSpPr txBox="true"/>
          <p:nvPr/>
        </p:nvSpPr>
        <p:spPr>
          <a:xfrm rot="0">
            <a:off x="609600" y="3981450"/>
            <a:ext cx="4191000" cy="280988"/>
          </a:xfrm>
          <a:prstGeom prst="rect">
            <a:avLst/>
          </a:prstGeom>
        </p:spPr>
        <p:txBody>
          <a:bodyPr anchor="t" rtlCol="false" tIns="0" lIns="0" bIns="0" rIns="0">
            <a:spAutoFit/>
          </a:bodyPr>
          <a:lstStyle/>
          <a:p>
            <a:pPr algn="ctr" marL="0" indent="0" lvl="0">
              <a:lnSpc>
                <a:spcPts val="2287"/>
              </a:lnSpc>
              <a:spcBef>
                <a:spcPct val="0"/>
              </a:spcBef>
            </a:pPr>
            <a:r>
              <a:rPr lang="en-US" sz="1875" strike="noStrike" u="none">
                <a:solidFill>
                  <a:srgbClr val="0A2A66"/>
                </a:solidFill>
                <a:latin typeface="DM Sans"/>
                <a:ea typeface="DM Sans"/>
                <a:cs typeface="DM Sans"/>
                <a:sym typeface="DM Sans"/>
              </a:rPr>
              <a:t>A direct link into the experience</a:t>
            </a:r>
          </a:p>
        </p:txBody>
      </p:sp>
      <p:sp>
        <p:nvSpPr>
          <p:cNvPr name="AutoShape 21" id="21"/>
          <p:cNvSpPr/>
          <p:nvPr/>
        </p:nvSpPr>
        <p:spPr>
          <a:xfrm rot="0">
            <a:off x="4981575" y="4191000"/>
            <a:ext cx="981075" cy="38100"/>
          </a:xfrm>
          <a:prstGeom prst="rect">
            <a:avLst/>
          </a:prstGeom>
          <a:solidFill>
            <a:srgbClr val="C96331"/>
          </a:solidFill>
        </p:spPr>
      </p:sp>
      <p:grpSp>
        <p:nvGrpSpPr>
          <p:cNvPr name="Group 22" id="22"/>
          <p:cNvGrpSpPr/>
          <p:nvPr/>
        </p:nvGrpSpPr>
        <p:grpSpPr>
          <a:xfrm rot="1840140">
            <a:off x="5904833" y="4155376"/>
            <a:ext cx="171450" cy="28575"/>
            <a:chOff x="0" y="0"/>
            <a:chExt cx="228600" cy="38100"/>
          </a:xfrm>
        </p:grpSpPr>
        <p:sp>
          <p:nvSpPr>
            <p:cNvPr name="Freeform 23" id="23"/>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96331"/>
            </a:solidFill>
          </p:spPr>
        </p:sp>
      </p:grpSp>
      <p:grpSp>
        <p:nvGrpSpPr>
          <p:cNvPr name="Group 24" id="24"/>
          <p:cNvGrpSpPr/>
          <p:nvPr/>
        </p:nvGrpSpPr>
        <p:grpSpPr>
          <a:xfrm rot="8959860">
            <a:off x="5896737" y="4241102"/>
            <a:ext cx="171450" cy="28575"/>
            <a:chOff x="0" y="0"/>
            <a:chExt cx="228600" cy="38100"/>
          </a:xfrm>
        </p:grpSpPr>
        <p:sp>
          <p:nvSpPr>
            <p:cNvPr name="Freeform 25" id="25"/>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C96331"/>
            </a:solidFill>
          </p:spPr>
        </p:sp>
      </p:grpSp>
      <p:sp>
        <p:nvSpPr>
          <p:cNvPr name="TextBox 26" id="26"/>
          <p:cNvSpPr txBox="true"/>
          <p:nvPr/>
        </p:nvSpPr>
        <p:spPr>
          <a:xfrm rot="0">
            <a:off x="6610350" y="3981450"/>
            <a:ext cx="4972050" cy="280988"/>
          </a:xfrm>
          <a:prstGeom prst="rect">
            <a:avLst/>
          </a:prstGeom>
        </p:spPr>
        <p:txBody>
          <a:bodyPr anchor="t" rtlCol="false" tIns="0" lIns="0" bIns="0" rIns="0">
            <a:spAutoFit/>
          </a:bodyPr>
          <a:lstStyle/>
          <a:p>
            <a:pPr algn="ctr" marL="0" indent="0" lvl="0">
              <a:lnSpc>
                <a:spcPts val="2287"/>
              </a:lnSpc>
              <a:spcBef>
                <a:spcPct val="0"/>
              </a:spcBef>
            </a:pPr>
            <a:r>
              <a:rPr lang="en-US" sz="1875" strike="noStrike" u="none">
                <a:solidFill>
                  <a:srgbClr val="0A2A66"/>
                </a:solidFill>
                <a:latin typeface="DM Sans"/>
                <a:ea typeface="DM Sans"/>
                <a:cs typeface="DM Sans"/>
                <a:sym typeface="DM Sans"/>
              </a:rPr>
              <a:t>A useful starting point for someone else</a:t>
            </a:r>
          </a:p>
        </p:txBody>
      </p:sp>
      <p:sp>
        <p:nvSpPr>
          <p:cNvPr name="AutoShape 27" id="27"/>
          <p:cNvSpPr/>
          <p:nvPr/>
        </p:nvSpPr>
        <p:spPr>
          <a:xfrm rot="0">
            <a:off x="609600" y="4772025"/>
            <a:ext cx="10972800" cy="9525"/>
          </a:xfrm>
          <a:prstGeom prst="rect">
            <a:avLst/>
          </a:prstGeom>
          <a:solidFill>
            <a:srgbClr val="CCD7E4"/>
          </a:solidFill>
        </p:spPr>
      </p:sp>
      <p:sp>
        <p:nvSpPr>
          <p:cNvPr name="TextBox 28" id="28"/>
          <p:cNvSpPr txBox="true"/>
          <p:nvPr/>
        </p:nvSpPr>
        <p:spPr>
          <a:xfrm rot="0">
            <a:off x="609600" y="5076825"/>
            <a:ext cx="41910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Public demonstrations</a:t>
            </a:r>
          </a:p>
        </p:txBody>
      </p:sp>
      <p:sp>
        <p:nvSpPr>
          <p:cNvPr name="AutoShape 29" id="29"/>
          <p:cNvSpPr/>
          <p:nvPr/>
        </p:nvSpPr>
        <p:spPr>
          <a:xfrm rot="0">
            <a:off x="4981575" y="5276850"/>
            <a:ext cx="981075" cy="38100"/>
          </a:xfrm>
          <a:prstGeom prst="rect">
            <a:avLst/>
          </a:prstGeom>
          <a:solidFill>
            <a:srgbClr val="14BF96"/>
          </a:solidFill>
        </p:spPr>
      </p:sp>
      <p:grpSp>
        <p:nvGrpSpPr>
          <p:cNvPr name="Group 30" id="30"/>
          <p:cNvGrpSpPr/>
          <p:nvPr/>
        </p:nvGrpSpPr>
        <p:grpSpPr>
          <a:xfrm rot="1840140">
            <a:off x="5904833" y="5241226"/>
            <a:ext cx="171450" cy="28575"/>
            <a:chOff x="0" y="0"/>
            <a:chExt cx="228600" cy="38100"/>
          </a:xfrm>
        </p:grpSpPr>
        <p:sp>
          <p:nvSpPr>
            <p:cNvPr name="Freeform 31" id="31"/>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14BF96"/>
            </a:solidFill>
          </p:spPr>
        </p:sp>
      </p:grpSp>
      <p:grpSp>
        <p:nvGrpSpPr>
          <p:cNvPr name="Group 32" id="32"/>
          <p:cNvGrpSpPr/>
          <p:nvPr/>
        </p:nvGrpSpPr>
        <p:grpSpPr>
          <a:xfrm rot="8959860">
            <a:off x="5896737" y="5326952"/>
            <a:ext cx="171450" cy="28575"/>
            <a:chOff x="0" y="0"/>
            <a:chExt cx="228600" cy="38100"/>
          </a:xfrm>
        </p:grpSpPr>
        <p:sp>
          <p:nvSpPr>
            <p:cNvPr name="Freeform 33" id="33"/>
            <p:cNvSpPr/>
            <p:nvPr/>
          </p:nvSpPr>
          <p:spPr>
            <a:xfrm flipH="false" flipV="false" rot="0">
              <a:off x="0" y="0"/>
              <a:ext cx="228600" cy="38100"/>
            </a:xfrm>
            <a:custGeom>
              <a:avLst/>
              <a:gdLst/>
              <a:ahLst/>
              <a:cxnLst/>
              <a:rect r="r" b="b" t="t" l="l"/>
              <a:pathLst>
                <a:path h="38100" w="228600">
                  <a:moveTo>
                    <a:pt x="19050" y="0"/>
                  </a:moveTo>
                  <a:lnTo>
                    <a:pt x="209550" y="0"/>
                  </a:lnTo>
                  <a:cubicBezTo>
                    <a:pt x="220091" y="0"/>
                    <a:pt x="228600" y="8509"/>
                    <a:pt x="228600" y="19050"/>
                  </a:cubicBezTo>
                  <a:cubicBezTo>
                    <a:pt x="228600" y="29591"/>
                    <a:pt x="220091" y="38100"/>
                    <a:pt x="209550" y="38100"/>
                  </a:cubicBezTo>
                  <a:lnTo>
                    <a:pt x="19050" y="38100"/>
                  </a:lnTo>
                  <a:cubicBezTo>
                    <a:pt x="8509" y="38100"/>
                    <a:pt x="0" y="29591"/>
                    <a:pt x="0" y="19050"/>
                  </a:cubicBezTo>
                  <a:cubicBezTo>
                    <a:pt x="0" y="8509"/>
                    <a:pt x="8509" y="0"/>
                    <a:pt x="19050" y="0"/>
                  </a:cubicBezTo>
                  <a:close/>
                </a:path>
              </a:pathLst>
            </a:custGeom>
            <a:solidFill>
              <a:srgbClr val="14BF96"/>
            </a:solidFill>
          </p:spPr>
        </p:sp>
      </p:grpSp>
      <p:sp>
        <p:nvSpPr>
          <p:cNvPr name="TextBox 34" id="34"/>
          <p:cNvSpPr txBox="true"/>
          <p:nvPr/>
        </p:nvSpPr>
        <p:spPr>
          <a:xfrm rot="0">
            <a:off x="6610350" y="5076825"/>
            <a:ext cx="497205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Topic pages and challenge links</a:t>
            </a:r>
          </a:p>
        </p:txBody>
      </p:sp>
      <p:sp>
        <p:nvSpPr>
          <p:cNvPr name="TextBox 35" id="35"/>
          <p:cNvSpPr txBox="true"/>
          <p:nvPr/>
        </p:nvSpPr>
        <p:spPr>
          <a:xfrm rot="0">
            <a:off x="609600" y="6200775"/>
            <a:ext cx="10572750" cy="196596"/>
          </a:xfrm>
          <a:prstGeom prst="rect">
            <a:avLst/>
          </a:prstGeom>
        </p:spPr>
        <p:txBody>
          <a:bodyPr anchor="t" rtlCol="false" tIns="0" lIns="0" bIns="0" rIns="0">
            <a:spAutoFit/>
          </a:bodyPr>
          <a:lstStyle/>
          <a:p>
            <a:pPr algn="l" marL="0" indent="0" lvl="0">
              <a:lnSpc>
                <a:spcPts val="1647"/>
              </a:lnSpc>
              <a:spcBef>
                <a:spcPct val="0"/>
              </a:spcBef>
            </a:pPr>
            <a:r>
              <a:rPr lang="en-US" sz="1350" strike="noStrike" u="none">
                <a:solidFill>
                  <a:srgbClr val="0A2A66"/>
                </a:solidFill>
                <a:latin typeface="DM Sans"/>
                <a:ea typeface="DM Sans"/>
                <a:cs typeface="DM Sans"/>
                <a:sym typeface="DM Sans"/>
              </a:rPr>
              <a:t>School and community use can extend the public model.</a:t>
            </a:r>
          </a:p>
        </p:txBody>
      </p:sp>
      <p:sp>
        <p:nvSpPr>
          <p:cNvPr name="AutoShape 36" id="36"/>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37" id="37"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12</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Grow through reviewed learning paths</a:t>
            </a:r>
          </a:p>
        </p:txBody>
      </p:sp>
      <p:sp>
        <p:nvSpPr>
          <p:cNvPr name="AutoShape 10" id="10"/>
          <p:cNvSpPr/>
          <p:nvPr/>
        </p:nvSpPr>
        <p:spPr>
          <a:xfrm rot="0">
            <a:off x="609600" y="2333625"/>
            <a:ext cx="3200400" cy="885825"/>
          </a:xfrm>
          <a:prstGeom prst="rect">
            <a:avLst/>
          </a:prstGeom>
          <a:solidFill>
            <a:srgbClr val="D9F2EA"/>
          </a:solidFill>
        </p:spPr>
      </p:sp>
      <p:sp>
        <p:nvSpPr>
          <p:cNvPr name="TextBox 11" id="11"/>
          <p:cNvSpPr txBox="true"/>
          <p:nvPr/>
        </p:nvSpPr>
        <p:spPr>
          <a:xfrm rot="0">
            <a:off x="762000" y="2552700"/>
            <a:ext cx="28956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More subjects</a:t>
            </a:r>
          </a:p>
        </p:txBody>
      </p:sp>
      <p:sp>
        <p:nvSpPr>
          <p:cNvPr name="AutoShape 12" id="12"/>
          <p:cNvSpPr/>
          <p:nvPr/>
        </p:nvSpPr>
        <p:spPr>
          <a:xfrm rot="0">
            <a:off x="4495800" y="2333625"/>
            <a:ext cx="3200400" cy="885825"/>
          </a:xfrm>
          <a:prstGeom prst="rect">
            <a:avLst/>
          </a:prstGeom>
          <a:solidFill>
            <a:srgbClr val="F0EFFF"/>
          </a:solidFill>
        </p:spPr>
      </p:sp>
      <p:sp>
        <p:nvSpPr>
          <p:cNvPr name="TextBox 13" id="13"/>
          <p:cNvSpPr txBox="true"/>
          <p:nvPr/>
        </p:nvSpPr>
        <p:spPr>
          <a:xfrm rot="0">
            <a:off x="4648200" y="2552700"/>
            <a:ext cx="28956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Filipino content</a:t>
            </a:r>
          </a:p>
        </p:txBody>
      </p:sp>
      <p:sp>
        <p:nvSpPr>
          <p:cNvPr name="AutoShape 14" id="14"/>
          <p:cNvSpPr/>
          <p:nvPr/>
        </p:nvSpPr>
        <p:spPr>
          <a:xfrm rot="0">
            <a:off x="8382000" y="2333625"/>
            <a:ext cx="3200400" cy="885825"/>
          </a:xfrm>
          <a:prstGeom prst="rect">
            <a:avLst/>
          </a:prstGeom>
          <a:solidFill>
            <a:srgbClr val="D9F2EA"/>
          </a:solidFill>
        </p:spPr>
      </p:sp>
      <p:sp>
        <p:nvSpPr>
          <p:cNvPr name="TextBox 15" id="15"/>
          <p:cNvSpPr txBox="true"/>
          <p:nvPr/>
        </p:nvSpPr>
        <p:spPr>
          <a:xfrm rot="0">
            <a:off x="8534400" y="2552700"/>
            <a:ext cx="2895600" cy="280797"/>
          </a:xfrm>
          <a:prstGeom prst="rect">
            <a:avLst/>
          </a:prstGeom>
        </p:spPr>
        <p:txBody>
          <a:bodyPr anchor="t" rtlCol="false" tIns="0" lIns="0" bIns="0" rIns="0">
            <a:spAutoFit/>
          </a:bodyPr>
          <a:lstStyle/>
          <a:p>
            <a:pPr algn="ctr" marL="0" indent="0" lvl="0">
              <a:lnSpc>
                <a:spcPts val="2379"/>
              </a:lnSpc>
              <a:spcBef>
                <a:spcPct val="0"/>
              </a:spcBef>
            </a:pPr>
            <a:r>
              <a:rPr lang="en-US" sz="1950" strike="noStrike" u="none">
                <a:solidFill>
                  <a:srgbClr val="0A2A66"/>
                </a:solidFill>
                <a:latin typeface="DM Sans"/>
                <a:ea typeface="DM Sans"/>
                <a:cs typeface="DM Sans"/>
                <a:sym typeface="DM Sans"/>
              </a:rPr>
              <a:t>Access options</a:t>
            </a:r>
          </a:p>
        </p:txBody>
      </p:sp>
      <p:sp>
        <p:nvSpPr>
          <p:cNvPr name="TextBox 16" id="16"/>
          <p:cNvSpPr txBox="true"/>
          <p:nvPr/>
        </p:nvSpPr>
        <p:spPr>
          <a:xfrm rot="0">
            <a:off x="609600" y="3752850"/>
            <a:ext cx="10972800" cy="374904"/>
          </a:xfrm>
          <a:prstGeom prst="rect">
            <a:avLst/>
          </a:prstGeom>
        </p:spPr>
        <p:txBody>
          <a:bodyPr anchor="t" rtlCol="false" tIns="0" lIns="0" bIns="0" rIns="0">
            <a:spAutoFit/>
          </a:bodyPr>
          <a:lstStyle/>
          <a:p>
            <a:pPr algn="ctr" marL="0" indent="0" lvl="0">
              <a:lnSpc>
                <a:spcPts val="2928"/>
              </a:lnSpc>
              <a:spcBef>
                <a:spcPct val="0"/>
              </a:spcBef>
            </a:pPr>
            <a:r>
              <a:rPr lang="en-US" sz="2400" strike="noStrike" u="none">
                <a:solidFill>
                  <a:srgbClr val="0A2A66"/>
                </a:solidFill>
                <a:latin typeface="DM Sans"/>
                <a:ea typeface="DM Sans"/>
                <a:cs typeface="DM Sans"/>
                <a:sym typeface="DM Sans"/>
              </a:rPr>
              <a:t>A reusable content sequence</a:t>
            </a:r>
          </a:p>
        </p:txBody>
      </p:sp>
      <p:sp>
        <p:nvSpPr>
          <p:cNvPr name="TextBox 17" id="17"/>
          <p:cNvSpPr txBox="true"/>
          <p:nvPr/>
        </p:nvSpPr>
        <p:spPr>
          <a:xfrm rot="0">
            <a:off x="609600" y="4391025"/>
            <a:ext cx="10972800" cy="271653"/>
          </a:xfrm>
          <a:prstGeom prst="rect">
            <a:avLst/>
          </a:prstGeom>
        </p:spPr>
        <p:txBody>
          <a:bodyPr anchor="t" rtlCol="false" tIns="0" lIns="0" bIns="0" rIns="0">
            <a:spAutoFit/>
          </a:bodyPr>
          <a:lstStyle/>
          <a:p>
            <a:pPr algn="ctr" marL="0" indent="0" lvl="0">
              <a:lnSpc>
                <a:spcPts val="2196"/>
              </a:lnSpc>
              <a:spcBef>
                <a:spcPct val="0"/>
              </a:spcBef>
            </a:pPr>
            <a:r>
              <a:rPr lang="en-US" sz="1800" strike="noStrike" u="none">
                <a:solidFill>
                  <a:srgbClr val="0A2A66"/>
                </a:solidFill>
                <a:latin typeface="DM Sans"/>
                <a:ea typeface="DM Sans"/>
                <a:cs typeface="DM Sans"/>
                <a:sym typeface="DM Sans"/>
              </a:rPr>
              <a:t>Interactive idea + Khan mapping + useful support + fresh practice</a:t>
            </a:r>
          </a:p>
        </p:txBody>
      </p:sp>
      <p:sp>
        <p:nvSpPr>
          <p:cNvPr name="TextBox 18" id="18"/>
          <p:cNvSpPr txBox="true"/>
          <p:nvPr/>
        </p:nvSpPr>
        <p:spPr>
          <a:xfrm rot="0">
            <a:off x="609600" y="5362575"/>
            <a:ext cx="10972800" cy="271653"/>
          </a:xfrm>
          <a:prstGeom prst="rect">
            <a:avLst/>
          </a:prstGeom>
        </p:spPr>
        <p:txBody>
          <a:bodyPr anchor="t" rtlCol="false" tIns="0" lIns="0" bIns="0" rIns="0">
            <a:spAutoFit/>
          </a:bodyPr>
          <a:lstStyle/>
          <a:p>
            <a:pPr algn="ctr" marL="0" indent="0" lvl="0">
              <a:lnSpc>
                <a:spcPts val="2196"/>
              </a:lnSpc>
              <a:spcBef>
                <a:spcPct val="0"/>
              </a:spcBef>
            </a:pPr>
            <a:r>
              <a:rPr lang="en-US" sz="1800" strike="noStrike" u="none">
                <a:solidFill>
                  <a:srgbClr val="0A2A66"/>
                </a:solidFill>
                <a:latin typeface="DM Sans"/>
                <a:ea typeface="DM Sans"/>
                <a:cs typeface="DM Sans"/>
                <a:sym typeface="DM Sans"/>
              </a:rPr>
              <a:t>Next: review new content and localization before release.</a:t>
            </a:r>
          </a:p>
        </p:txBody>
      </p:sp>
      <p:sp>
        <p:nvSpPr>
          <p:cNvPr name="TextBox 19" id="19"/>
          <p:cNvSpPr txBox="true"/>
          <p:nvPr/>
        </p:nvSpPr>
        <p:spPr>
          <a:xfrm rot="0">
            <a:off x="609600" y="6010275"/>
            <a:ext cx="10972800" cy="234315"/>
          </a:xfrm>
          <a:prstGeom prst="rect">
            <a:avLst/>
          </a:prstGeom>
        </p:spPr>
        <p:txBody>
          <a:bodyPr anchor="t" rtlCol="false" tIns="0" lIns="0" bIns="0" rIns="0">
            <a:spAutoFit/>
          </a:bodyPr>
          <a:lstStyle/>
          <a:p>
            <a:pPr algn="ctr" marL="0" indent="0" lvl="0">
              <a:lnSpc>
                <a:spcPts val="1830"/>
              </a:lnSpc>
              <a:spcBef>
                <a:spcPct val="0"/>
              </a:spcBef>
            </a:pPr>
            <a:r>
              <a:rPr lang="en-US" sz="1500" strike="noStrike" u="none">
                <a:solidFill>
                  <a:srgbClr val="0A2A66"/>
                </a:solidFill>
                <a:latin typeface="DM Sans"/>
                <a:ea typeface="DM Sans"/>
                <a:cs typeface="DM Sans"/>
                <a:sym typeface="DM Sans"/>
              </a:rPr>
              <a:t>Original offline mini-packs are a later extension.</a:t>
            </a:r>
          </a:p>
        </p:txBody>
      </p:sp>
      <p:sp>
        <p:nvSpPr>
          <p:cNvPr name="AutoShape 20" id="20"/>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21" id="21"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13</a:t>
            </a:r>
          </a:p>
        </p:txBody>
      </p:sp>
      <p:sp>
        <p:nvSpPr>
          <p:cNvPr name="TextBox 9" id="9"/>
          <p:cNvSpPr txBox="true"/>
          <p:nvPr/>
        </p:nvSpPr>
        <p:spPr>
          <a:xfrm rot="0">
            <a:off x="609600" y="866775"/>
            <a:ext cx="10972800" cy="459105"/>
          </a:xfrm>
          <a:prstGeom prst="rect">
            <a:avLst/>
          </a:prstGeom>
        </p:spPr>
        <p:txBody>
          <a:bodyPr anchor="t" rtlCol="false" tIns="0" lIns="0" bIns="0" rIns="0">
            <a:spAutoFit/>
          </a:bodyPr>
          <a:lstStyle/>
          <a:p>
            <a:pPr algn="l" marL="0" indent="0" lvl="0">
              <a:lnSpc>
                <a:spcPts val="3660"/>
              </a:lnSpc>
              <a:spcBef>
                <a:spcPct val="0"/>
              </a:spcBef>
            </a:pPr>
            <a:r>
              <a:rPr lang="en-US" b="true" sz="3000" strike="noStrike" u="none">
                <a:solidFill>
                  <a:srgbClr val="0A2A66"/>
                </a:solidFill>
                <a:latin typeface="DM Sans Bold"/>
                <a:ea typeface="DM Sans Bold"/>
                <a:cs typeface="DM Sans Bold"/>
                <a:sym typeface="DM Sans Bold"/>
              </a:rPr>
              <a:t>Free learning. A plan for continuity.</a:t>
            </a:r>
          </a:p>
        </p:txBody>
      </p:sp>
      <p:sp>
        <p:nvSpPr>
          <p:cNvPr name="TextBox 10" id="10"/>
          <p:cNvSpPr txBox="true"/>
          <p:nvPr/>
        </p:nvSpPr>
        <p:spPr>
          <a:xfrm rot="0">
            <a:off x="609600" y="2066925"/>
            <a:ext cx="5429250" cy="459105"/>
          </a:xfrm>
          <a:prstGeom prst="rect">
            <a:avLst/>
          </a:prstGeom>
        </p:spPr>
        <p:txBody>
          <a:bodyPr anchor="t" rtlCol="false" tIns="0" lIns="0" bIns="0" rIns="0">
            <a:spAutoFit/>
          </a:bodyPr>
          <a:lstStyle/>
          <a:p>
            <a:pPr algn="l" marL="0" indent="0" lvl="0">
              <a:lnSpc>
                <a:spcPts val="3660"/>
              </a:lnSpc>
              <a:spcBef>
                <a:spcPct val="0"/>
              </a:spcBef>
            </a:pPr>
            <a:r>
              <a:rPr lang="en-US" sz="3000" strike="noStrike" u="none">
                <a:solidFill>
                  <a:srgbClr val="0A2A66"/>
                </a:solidFill>
                <a:latin typeface="DM Sans"/>
                <a:ea typeface="DM Sans"/>
                <a:cs typeface="DM Sans"/>
                <a:sym typeface="DM Sans"/>
              </a:rPr>
              <a:t>PHP 100,000</a:t>
            </a:r>
          </a:p>
        </p:txBody>
      </p:sp>
      <p:sp>
        <p:nvSpPr>
          <p:cNvPr name="TextBox 11" id="11"/>
          <p:cNvSpPr txBox="true"/>
          <p:nvPr/>
        </p:nvSpPr>
        <p:spPr>
          <a:xfrm rot="0">
            <a:off x="609600" y="2933700"/>
            <a:ext cx="5334000" cy="787146"/>
          </a:xfrm>
          <a:prstGeom prst="rect">
            <a:avLst/>
          </a:prstGeom>
        </p:spPr>
        <p:txBody>
          <a:bodyPr anchor="t" rtlCol="false" tIns="0" lIns="0" bIns="0" rIns="0">
            <a:spAutoFit/>
          </a:bodyPr>
          <a:lstStyle/>
          <a:p>
            <a:pPr algn="l" marL="0" indent="0" lvl="0">
              <a:lnSpc>
                <a:spcPts val="6222"/>
              </a:lnSpc>
              <a:spcBef>
                <a:spcPct val="0"/>
              </a:spcBef>
            </a:pPr>
            <a:r>
              <a:rPr lang="en-US" b="true" sz="5100" strike="noStrike" u="none">
                <a:solidFill>
                  <a:srgbClr val="0A2A66"/>
                </a:solidFill>
                <a:latin typeface="DM Sans Bold"/>
                <a:ea typeface="DM Sans Bold"/>
                <a:cs typeface="DM Sans Bold"/>
                <a:sym typeface="DM Sans Bold"/>
              </a:rPr>
              <a:t>60%</a:t>
            </a:r>
          </a:p>
        </p:txBody>
      </p:sp>
      <p:sp>
        <p:nvSpPr>
          <p:cNvPr name="TextBox 12" id="12"/>
          <p:cNvSpPr txBox="true"/>
          <p:nvPr/>
        </p:nvSpPr>
        <p:spPr>
          <a:xfrm rot="0">
            <a:off x="609600" y="4200525"/>
            <a:ext cx="5105400" cy="651891"/>
          </a:xfrm>
          <a:prstGeom prst="rect">
            <a:avLst/>
          </a:prstGeom>
        </p:spPr>
        <p:txBody>
          <a:bodyPr anchor="t" rtlCol="false" tIns="0" lIns="0" bIns="0" rIns="0">
            <a:spAutoFit/>
          </a:bodyPr>
          <a:lstStyle/>
          <a:p>
            <a:pPr algn="l" marL="0" indent="0" lvl="0">
              <a:lnSpc>
                <a:spcPts val="2562"/>
              </a:lnSpc>
              <a:spcBef>
                <a:spcPct val="0"/>
              </a:spcBef>
            </a:pPr>
            <a:r>
              <a:rPr lang="en-US" sz="2100" strike="noStrike" u="none">
                <a:solidFill>
                  <a:srgbClr val="0A2A66"/>
                </a:solidFill>
                <a:latin typeface="DM Sans"/>
                <a:ea typeface="DM Sans"/>
                <a:cs typeface="DM Sans"/>
                <a:sym typeface="DM Sans"/>
              </a:rPr>
              <a:t>Content review,</a:t>
            </a:r>
          </a:p>
          <a:p>
            <a:pPr algn="l" marL="0" indent="0" lvl="0">
              <a:lnSpc>
                <a:spcPts val="2562"/>
              </a:lnSpc>
              <a:spcBef>
                <a:spcPct val="0"/>
              </a:spcBef>
            </a:pPr>
            <a:r>
              <a:rPr lang="en-US" sz="2100" strike="noStrike" u="none">
                <a:solidFill>
                  <a:srgbClr val="0A2A66"/>
                </a:solidFill>
                <a:latin typeface="DM Sans"/>
                <a:ea typeface="DM Sans"/>
                <a:cs typeface="DM Sans"/>
                <a:sym typeface="DM Sans"/>
              </a:rPr>
              <a:t>access and evaluation</a:t>
            </a:r>
          </a:p>
        </p:txBody>
      </p:sp>
      <p:sp>
        <p:nvSpPr>
          <p:cNvPr name="TextBox 13" id="13"/>
          <p:cNvSpPr txBox="true"/>
          <p:nvPr/>
        </p:nvSpPr>
        <p:spPr>
          <a:xfrm rot="0">
            <a:off x="609600" y="5676900"/>
            <a:ext cx="4953000" cy="2343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rPr>
              <a:t>Seek support for free delivery and maintenance.</a:t>
            </a:r>
          </a:p>
        </p:txBody>
      </p:sp>
      <p:grpSp>
        <p:nvGrpSpPr>
          <p:cNvPr name="Group 14" id="14"/>
          <p:cNvGrpSpPr/>
          <p:nvPr/>
        </p:nvGrpSpPr>
        <p:grpSpPr>
          <a:xfrm rot="0">
            <a:off x="6338888" y="2043112"/>
            <a:ext cx="3581400" cy="467106"/>
            <a:chOff x="0" y="0"/>
            <a:chExt cx="4775200" cy="622808"/>
          </a:xfrm>
        </p:grpSpPr>
        <p:sp>
          <p:nvSpPr>
            <p:cNvPr name="Freeform 15" id="15"/>
            <p:cNvSpPr/>
            <p:nvPr/>
          </p:nvSpPr>
          <p:spPr>
            <a:xfrm flipH="false" flipV="false" rot="0">
              <a:off x="0" y="0"/>
              <a:ext cx="4775200" cy="622808"/>
            </a:xfrm>
            <a:custGeom>
              <a:avLst/>
              <a:gdLst/>
              <a:ahLst/>
              <a:cxnLst/>
              <a:rect r="r" b="b" t="t" l="l"/>
              <a:pathLst>
                <a:path h="622808" w="4775200">
                  <a:moveTo>
                    <a:pt x="0" y="0"/>
                  </a:moveTo>
                  <a:lnTo>
                    <a:pt x="4775200" y="0"/>
                  </a:lnTo>
                  <a:lnTo>
                    <a:pt x="4775200" y="622808"/>
                  </a:lnTo>
                  <a:lnTo>
                    <a:pt x="0" y="622808"/>
                  </a:lnTo>
                  <a:lnTo>
                    <a:pt x="0" y="0"/>
                  </a:lnTo>
                  <a:close/>
                </a:path>
              </a:pathLst>
            </a:custGeom>
            <a:solidFill>
              <a:srgbClr val="F0EFFF"/>
            </a:solidFill>
          </p:spPr>
        </p:sp>
        <p:sp>
          <p:nvSpPr>
            <p:cNvPr name="Freeform 16" id="16"/>
            <p:cNvSpPr/>
            <p:nvPr/>
          </p:nvSpPr>
          <p:spPr>
            <a:xfrm flipH="false" flipV="false" rot="0">
              <a:off x="0" y="0"/>
              <a:ext cx="4775200" cy="622808"/>
            </a:xfrm>
            <a:custGeom>
              <a:avLst/>
              <a:gdLst/>
              <a:ahLst/>
              <a:cxnLst/>
              <a:rect r="r" b="b" t="t" l="l"/>
              <a:pathLst>
                <a:path h="622808" w="4775200">
                  <a:moveTo>
                    <a:pt x="0" y="0"/>
                  </a:moveTo>
                  <a:lnTo>
                    <a:pt x="4775200" y="0"/>
                  </a:lnTo>
                  <a:lnTo>
                    <a:pt x="4775200" y="622808"/>
                  </a:lnTo>
                  <a:lnTo>
                    <a:pt x="0" y="622808"/>
                  </a:lnTo>
                  <a:lnTo>
                    <a:pt x="0" y="0"/>
                  </a:lnTo>
                  <a:close/>
                </a:path>
              </a:pathLst>
            </a:custGeom>
            <a:solidFill>
              <a:srgbClr val="000000">
                <a:alpha val="0"/>
              </a:srgbClr>
            </a:solidFill>
            <a:ln w="9525" cap="sq">
              <a:solidFill>
                <a:srgbClr val="CCD7E4"/>
              </a:solidFill>
              <a:prstDash val="solid"/>
              <a:miter/>
            </a:ln>
          </p:spPr>
        </p:sp>
        <p:sp>
          <p:nvSpPr>
            <p:cNvPr name="TextBox 17" id="17"/>
            <p:cNvSpPr txBox="true"/>
            <p:nvPr/>
          </p:nvSpPr>
          <p:spPr>
            <a:xfrm>
              <a:off x="0" y="-38100"/>
              <a:ext cx="4775200" cy="660908"/>
            </a:xfrm>
            <a:prstGeom prst="rect">
              <a:avLst/>
            </a:prstGeom>
          </p:spPr>
          <p:txBody>
            <a:bodyPr anchor="ctr" rtlCol="false" tIns="107950" lIns="107950" bIns="107950" rIns="10795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Allocation</a:t>
              </a:r>
            </a:p>
          </p:txBody>
        </p:sp>
      </p:grpSp>
      <p:grpSp>
        <p:nvGrpSpPr>
          <p:cNvPr name="Group 18" id="18"/>
          <p:cNvGrpSpPr/>
          <p:nvPr/>
        </p:nvGrpSpPr>
        <p:grpSpPr>
          <a:xfrm rot="0">
            <a:off x="9920288" y="2043112"/>
            <a:ext cx="1600200" cy="467106"/>
            <a:chOff x="0" y="0"/>
            <a:chExt cx="2133600" cy="622808"/>
          </a:xfrm>
        </p:grpSpPr>
        <p:sp>
          <p:nvSpPr>
            <p:cNvPr name="Freeform 19" id="19"/>
            <p:cNvSpPr/>
            <p:nvPr/>
          </p:nvSpPr>
          <p:spPr>
            <a:xfrm flipH="false" flipV="false" rot="0">
              <a:off x="0" y="0"/>
              <a:ext cx="2133600" cy="622808"/>
            </a:xfrm>
            <a:custGeom>
              <a:avLst/>
              <a:gdLst/>
              <a:ahLst/>
              <a:cxnLst/>
              <a:rect r="r" b="b" t="t" l="l"/>
              <a:pathLst>
                <a:path h="622808" w="2133600">
                  <a:moveTo>
                    <a:pt x="0" y="0"/>
                  </a:moveTo>
                  <a:lnTo>
                    <a:pt x="2133600" y="0"/>
                  </a:lnTo>
                  <a:lnTo>
                    <a:pt x="2133600" y="622808"/>
                  </a:lnTo>
                  <a:lnTo>
                    <a:pt x="0" y="622808"/>
                  </a:lnTo>
                  <a:lnTo>
                    <a:pt x="0" y="0"/>
                  </a:lnTo>
                  <a:close/>
                </a:path>
              </a:pathLst>
            </a:custGeom>
            <a:solidFill>
              <a:srgbClr val="F0EFFF"/>
            </a:solidFill>
          </p:spPr>
        </p:sp>
        <p:sp>
          <p:nvSpPr>
            <p:cNvPr name="Freeform 20" id="20"/>
            <p:cNvSpPr/>
            <p:nvPr/>
          </p:nvSpPr>
          <p:spPr>
            <a:xfrm flipH="false" flipV="false" rot="0">
              <a:off x="0" y="0"/>
              <a:ext cx="2133600" cy="622808"/>
            </a:xfrm>
            <a:custGeom>
              <a:avLst/>
              <a:gdLst/>
              <a:ahLst/>
              <a:cxnLst/>
              <a:rect r="r" b="b" t="t" l="l"/>
              <a:pathLst>
                <a:path h="622808" w="2133600">
                  <a:moveTo>
                    <a:pt x="0" y="0"/>
                  </a:moveTo>
                  <a:lnTo>
                    <a:pt x="2133600" y="0"/>
                  </a:lnTo>
                  <a:lnTo>
                    <a:pt x="2133600" y="622808"/>
                  </a:lnTo>
                  <a:lnTo>
                    <a:pt x="0" y="622808"/>
                  </a:lnTo>
                  <a:lnTo>
                    <a:pt x="0" y="0"/>
                  </a:lnTo>
                  <a:close/>
                </a:path>
              </a:pathLst>
            </a:custGeom>
            <a:solidFill>
              <a:srgbClr val="000000">
                <a:alpha val="0"/>
              </a:srgbClr>
            </a:solidFill>
            <a:ln w="9525" cap="sq">
              <a:solidFill>
                <a:srgbClr val="CCD7E4"/>
              </a:solidFill>
              <a:prstDash val="solid"/>
              <a:miter/>
            </a:ln>
          </p:spPr>
        </p:sp>
        <p:sp>
          <p:nvSpPr>
            <p:cNvPr name="TextBox 21" id="21"/>
            <p:cNvSpPr txBox="true"/>
            <p:nvPr/>
          </p:nvSpPr>
          <p:spPr>
            <a:xfrm>
              <a:off x="0" y="-38100"/>
              <a:ext cx="2133600" cy="660908"/>
            </a:xfrm>
            <a:prstGeom prst="rect">
              <a:avLst/>
            </a:prstGeom>
          </p:spPr>
          <p:txBody>
            <a:bodyPr anchor="ctr" rtlCol="false" tIns="107950" lIns="107950" bIns="107950" rIns="10795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PHP</a:t>
              </a:r>
            </a:p>
          </p:txBody>
        </p:sp>
      </p:grpSp>
      <p:grpSp>
        <p:nvGrpSpPr>
          <p:cNvPr name="Group 22" id="22"/>
          <p:cNvGrpSpPr/>
          <p:nvPr/>
        </p:nvGrpSpPr>
        <p:grpSpPr>
          <a:xfrm rot="0">
            <a:off x="6338888" y="2443162"/>
            <a:ext cx="3581400" cy="419481"/>
            <a:chOff x="0" y="0"/>
            <a:chExt cx="4775200" cy="559308"/>
          </a:xfrm>
        </p:grpSpPr>
        <p:sp>
          <p:nvSpPr>
            <p:cNvPr name="Freeform 23" id="23"/>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24" id="24"/>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25" id="25"/>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Content review</a:t>
              </a:r>
            </a:p>
          </p:txBody>
        </p:sp>
      </p:grpSp>
      <p:grpSp>
        <p:nvGrpSpPr>
          <p:cNvPr name="Group 26" id="26"/>
          <p:cNvGrpSpPr/>
          <p:nvPr/>
        </p:nvGrpSpPr>
        <p:grpSpPr>
          <a:xfrm rot="0">
            <a:off x="9920288" y="2443162"/>
            <a:ext cx="1600200" cy="419481"/>
            <a:chOff x="0" y="0"/>
            <a:chExt cx="2133600" cy="559308"/>
          </a:xfrm>
        </p:grpSpPr>
        <p:sp>
          <p:nvSpPr>
            <p:cNvPr name="Freeform 27" id="27"/>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28" id="28"/>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29" id="29"/>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30,000</a:t>
              </a:r>
            </a:p>
          </p:txBody>
        </p:sp>
      </p:grpSp>
      <p:grpSp>
        <p:nvGrpSpPr>
          <p:cNvPr name="Group 30" id="30"/>
          <p:cNvGrpSpPr/>
          <p:nvPr/>
        </p:nvGrpSpPr>
        <p:grpSpPr>
          <a:xfrm rot="0">
            <a:off x="6338888" y="2843212"/>
            <a:ext cx="3581400" cy="419481"/>
            <a:chOff x="0" y="0"/>
            <a:chExt cx="4775200" cy="559308"/>
          </a:xfrm>
        </p:grpSpPr>
        <p:sp>
          <p:nvSpPr>
            <p:cNvPr name="Freeform 31" id="31"/>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32" id="32"/>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33" id="33"/>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Access &amp; usability</a:t>
              </a:r>
            </a:p>
          </p:txBody>
        </p:sp>
      </p:grpSp>
      <p:grpSp>
        <p:nvGrpSpPr>
          <p:cNvPr name="Group 34" id="34"/>
          <p:cNvGrpSpPr/>
          <p:nvPr/>
        </p:nvGrpSpPr>
        <p:grpSpPr>
          <a:xfrm rot="0">
            <a:off x="9920288" y="2843212"/>
            <a:ext cx="1600200" cy="419481"/>
            <a:chOff x="0" y="0"/>
            <a:chExt cx="2133600" cy="559308"/>
          </a:xfrm>
        </p:grpSpPr>
        <p:sp>
          <p:nvSpPr>
            <p:cNvPr name="Freeform 35" id="35"/>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36" id="36"/>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37" id="37"/>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18,000</a:t>
              </a:r>
            </a:p>
          </p:txBody>
        </p:sp>
      </p:grpSp>
      <p:grpSp>
        <p:nvGrpSpPr>
          <p:cNvPr name="Group 38" id="38"/>
          <p:cNvGrpSpPr/>
          <p:nvPr/>
        </p:nvGrpSpPr>
        <p:grpSpPr>
          <a:xfrm rot="0">
            <a:off x="6338888" y="3243262"/>
            <a:ext cx="3581400" cy="419481"/>
            <a:chOff x="0" y="0"/>
            <a:chExt cx="4775200" cy="559308"/>
          </a:xfrm>
        </p:grpSpPr>
        <p:sp>
          <p:nvSpPr>
            <p:cNvPr name="Freeform 39" id="39"/>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40" id="40"/>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41" id="41"/>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Evaluation</a:t>
              </a:r>
            </a:p>
          </p:txBody>
        </p:sp>
      </p:grpSp>
      <p:grpSp>
        <p:nvGrpSpPr>
          <p:cNvPr name="Group 42" id="42"/>
          <p:cNvGrpSpPr/>
          <p:nvPr/>
        </p:nvGrpSpPr>
        <p:grpSpPr>
          <a:xfrm rot="0">
            <a:off x="9920288" y="3243262"/>
            <a:ext cx="1600200" cy="419481"/>
            <a:chOff x="0" y="0"/>
            <a:chExt cx="2133600" cy="559308"/>
          </a:xfrm>
        </p:grpSpPr>
        <p:sp>
          <p:nvSpPr>
            <p:cNvPr name="Freeform 43" id="43"/>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44" id="44"/>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45" id="45"/>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12,000</a:t>
              </a:r>
            </a:p>
          </p:txBody>
        </p:sp>
      </p:grpSp>
      <p:grpSp>
        <p:nvGrpSpPr>
          <p:cNvPr name="Group 46" id="46"/>
          <p:cNvGrpSpPr/>
          <p:nvPr/>
        </p:nvGrpSpPr>
        <p:grpSpPr>
          <a:xfrm rot="0">
            <a:off x="6338888" y="3643312"/>
            <a:ext cx="3581400" cy="419481"/>
            <a:chOff x="0" y="0"/>
            <a:chExt cx="4775200" cy="559308"/>
          </a:xfrm>
        </p:grpSpPr>
        <p:sp>
          <p:nvSpPr>
            <p:cNvPr name="Freeform 47" id="47"/>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48" id="48"/>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49" id="49"/>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Operations &amp; hosting</a:t>
              </a:r>
            </a:p>
          </p:txBody>
        </p:sp>
      </p:grpSp>
      <p:grpSp>
        <p:nvGrpSpPr>
          <p:cNvPr name="Group 50" id="50"/>
          <p:cNvGrpSpPr/>
          <p:nvPr/>
        </p:nvGrpSpPr>
        <p:grpSpPr>
          <a:xfrm rot="0">
            <a:off x="9920288" y="3643312"/>
            <a:ext cx="1600200" cy="419481"/>
            <a:chOff x="0" y="0"/>
            <a:chExt cx="2133600" cy="559308"/>
          </a:xfrm>
        </p:grpSpPr>
        <p:sp>
          <p:nvSpPr>
            <p:cNvPr name="Freeform 51" id="51"/>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52" id="52"/>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53" id="53"/>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12,000</a:t>
              </a:r>
            </a:p>
          </p:txBody>
        </p:sp>
      </p:grpSp>
      <p:grpSp>
        <p:nvGrpSpPr>
          <p:cNvPr name="Group 54" id="54"/>
          <p:cNvGrpSpPr/>
          <p:nvPr/>
        </p:nvGrpSpPr>
        <p:grpSpPr>
          <a:xfrm rot="0">
            <a:off x="6338888" y="4043362"/>
            <a:ext cx="3581400" cy="419481"/>
            <a:chOff x="0" y="0"/>
            <a:chExt cx="4775200" cy="559308"/>
          </a:xfrm>
        </p:grpSpPr>
        <p:sp>
          <p:nvSpPr>
            <p:cNvPr name="Freeform 55" id="55"/>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56" id="56"/>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57" id="57"/>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Interactive production</a:t>
              </a:r>
            </a:p>
          </p:txBody>
        </p:sp>
      </p:grpSp>
      <p:grpSp>
        <p:nvGrpSpPr>
          <p:cNvPr name="Group 58" id="58"/>
          <p:cNvGrpSpPr/>
          <p:nvPr/>
        </p:nvGrpSpPr>
        <p:grpSpPr>
          <a:xfrm rot="0">
            <a:off x="9920288" y="4043362"/>
            <a:ext cx="1600200" cy="419481"/>
            <a:chOff x="0" y="0"/>
            <a:chExt cx="2133600" cy="559308"/>
          </a:xfrm>
        </p:grpSpPr>
        <p:sp>
          <p:nvSpPr>
            <p:cNvPr name="Freeform 59" id="59"/>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60" id="60"/>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61" id="61"/>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12,000</a:t>
              </a:r>
            </a:p>
          </p:txBody>
        </p:sp>
      </p:grpSp>
      <p:grpSp>
        <p:nvGrpSpPr>
          <p:cNvPr name="Group 62" id="62"/>
          <p:cNvGrpSpPr/>
          <p:nvPr/>
        </p:nvGrpSpPr>
        <p:grpSpPr>
          <a:xfrm rot="0">
            <a:off x="6338888" y="4443412"/>
            <a:ext cx="3581400" cy="419481"/>
            <a:chOff x="0" y="0"/>
            <a:chExt cx="4775200" cy="559308"/>
          </a:xfrm>
        </p:grpSpPr>
        <p:sp>
          <p:nvSpPr>
            <p:cNvPr name="Freeform 63" id="63"/>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64" id="64"/>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65" id="65"/>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Localization review</a:t>
              </a:r>
            </a:p>
          </p:txBody>
        </p:sp>
      </p:grpSp>
      <p:grpSp>
        <p:nvGrpSpPr>
          <p:cNvPr name="Group 66" id="66"/>
          <p:cNvGrpSpPr/>
          <p:nvPr/>
        </p:nvGrpSpPr>
        <p:grpSpPr>
          <a:xfrm rot="0">
            <a:off x="9920288" y="4443412"/>
            <a:ext cx="1600200" cy="419481"/>
            <a:chOff x="0" y="0"/>
            <a:chExt cx="2133600" cy="559308"/>
          </a:xfrm>
        </p:grpSpPr>
        <p:sp>
          <p:nvSpPr>
            <p:cNvPr name="Freeform 67" id="67"/>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68" id="68"/>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69" id="69"/>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8,000</a:t>
              </a:r>
            </a:p>
          </p:txBody>
        </p:sp>
      </p:grpSp>
      <p:grpSp>
        <p:nvGrpSpPr>
          <p:cNvPr name="Group 70" id="70"/>
          <p:cNvGrpSpPr/>
          <p:nvPr/>
        </p:nvGrpSpPr>
        <p:grpSpPr>
          <a:xfrm rot="0">
            <a:off x="6338888" y="4843462"/>
            <a:ext cx="3581400" cy="419481"/>
            <a:chOff x="0" y="0"/>
            <a:chExt cx="4775200" cy="559308"/>
          </a:xfrm>
        </p:grpSpPr>
        <p:sp>
          <p:nvSpPr>
            <p:cNvPr name="Freeform 71" id="71"/>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72" id="72"/>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73" id="73"/>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Launch materials</a:t>
              </a:r>
            </a:p>
          </p:txBody>
        </p:sp>
      </p:grpSp>
      <p:grpSp>
        <p:nvGrpSpPr>
          <p:cNvPr name="Group 74" id="74"/>
          <p:cNvGrpSpPr/>
          <p:nvPr/>
        </p:nvGrpSpPr>
        <p:grpSpPr>
          <a:xfrm rot="0">
            <a:off x="9920288" y="4843462"/>
            <a:ext cx="1600200" cy="419481"/>
            <a:chOff x="0" y="0"/>
            <a:chExt cx="2133600" cy="559308"/>
          </a:xfrm>
        </p:grpSpPr>
        <p:sp>
          <p:nvSpPr>
            <p:cNvPr name="Freeform 75" id="75"/>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76" id="76"/>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77" id="77"/>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3,000</a:t>
              </a:r>
            </a:p>
          </p:txBody>
        </p:sp>
      </p:grpSp>
      <p:grpSp>
        <p:nvGrpSpPr>
          <p:cNvPr name="Group 78" id="78"/>
          <p:cNvGrpSpPr/>
          <p:nvPr/>
        </p:nvGrpSpPr>
        <p:grpSpPr>
          <a:xfrm rot="0">
            <a:off x="6338888" y="5243512"/>
            <a:ext cx="3581400" cy="419481"/>
            <a:chOff x="0" y="0"/>
            <a:chExt cx="4775200" cy="559308"/>
          </a:xfrm>
        </p:grpSpPr>
        <p:sp>
          <p:nvSpPr>
            <p:cNvPr name="Freeform 79" id="79"/>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FFFFF"/>
            </a:solidFill>
          </p:spPr>
        </p:sp>
        <p:sp>
          <p:nvSpPr>
            <p:cNvPr name="Freeform 80" id="80"/>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81" id="81"/>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Contingency</a:t>
              </a:r>
            </a:p>
          </p:txBody>
        </p:sp>
      </p:grpSp>
      <p:grpSp>
        <p:nvGrpSpPr>
          <p:cNvPr name="Group 82" id="82"/>
          <p:cNvGrpSpPr/>
          <p:nvPr/>
        </p:nvGrpSpPr>
        <p:grpSpPr>
          <a:xfrm rot="0">
            <a:off x="9920288" y="5243512"/>
            <a:ext cx="1600200" cy="419481"/>
            <a:chOff x="0" y="0"/>
            <a:chExt cx="2133600" cy="559308"/>
          </a:xfrm>
        </p:grpSpPr>
        <p:sp>
          <p:nvSpPr>
            <p:cNvPr name="Freeform 83" id="83"/>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FFFFF"/>
            </a:solidFill>
          </p:spPr>
        </p:sp>
        <p:sp>
          <p:nvSpPr>
            <p:cNvPr name="Freeform 84" id="84"/>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85" id="85"/>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5,000</a:t>
              </a:r>
            </a:p>
          </p:txBody>
        </p:sp>
      </p:grpSp>
      <p:grpSp>
        <p:nvGrpSpPr>
          <p:cNvPr name="Group 86" id="86"/>
          <p:cNvGrpSpPr/>
          <p:nvPr/>
        </p:nvGrpSpPr>
        <p:grpSpPr>
          <a:xfrm rot="0">
            <a:off x="6338888" y="5643562"/>
            <a:ext cx="3581400" cy="419481"/>
            <a:chOff x="0" y="0"/>
            <a:chExt cx="4775200" cy="559308"/>
          </a:xfrm>
        </p:grpSpPr>
        <p:sp>
          <p:nvSpPr>
            <p:cNvPr name="Freeform 87" id="87"/>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F0EFFF"/>
            </a:solidFill>
          </p:spPr>
        </p:sp>
        <p:sp>
          <p:nvSpPr>
            <p:cNvPr name="Freeform 88" id="88"/>
            <p:cNvSpPr/>
            <p:nvPr/>
          </p:nvSpPr>
          <p:spPr>
            <a:xfrm flipH="false" flipV="false" rot="0">
              <a:off x="0" y="0"/>
              <a:ext cx="4775200" cy="559308"/>
            </a:xfrm>
            <a:custGeom>
              <a:avLst/>
              <a:gdLst/>
              <a:ahLst/>
              <a:cxnLst/>
              <a:rect r="r" b="b" t="t" l="l"/>
              <a:pathLst>
                <a:path h="559308" w="4775200">
                  <a:moveTo>
                    <a:pt x="0" y="0"/>
                  </a:moveTo>
                  <a:lnTo>
                    <a:pt x="4775200" y="0"/>
                  </a:lnTo>
                  <a:lnTo>
                    <a:pt x="47752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89" id="89"/>
            <p:cNvSpPr txBox="true"/>
            <p:nvPr/>
          </p:nvSpPr>
          <p:spPr>
            <a:xfrm>
              <a:off x="0" y="-38100"/>
              <a:ext cx="47752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Total</a:t>
              </a:r>
            </a:p>
          </p:txBody>
        </p:sp>
      </p:grpSp>
      <p:grpSp>
        <p:nvGrpSpPr>
          <p:cNvPr name="Group 90" id="90"/>
          <p:cNvGrpSpPr/>
          <p:nvPr/>
        </p:nvGrpSpPr>
        <p:grpSpPr>
          <a:xfrm rot="0">
            <a:off x="9920288" y="5643562"/>
            <a:ext cx="1600200" cy="419481"/>
            <a:chOff x="0" y="0"/>
            <a:chExt cx="2133600" cy="559308"/>
          </a:xfrm>
        </p:grpSpPr>
        <p:sp>
          <p:nvSpPr>
            <p:cNvPr name="Freeform 91" id="91"/>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F0EFFF"/>
            </a:solidFill>
          </p:spPr>
        </p:sp>
        <p:sp>
          <p:nvSpPr>
            <p:cNvPr name="Freeform 92" id="92"/>
            <p:cNvSpPr/>
            <p:nvPr/>
          </p:nvSpPr>
          <p:spPr>
            <a:xfrm flipH="false" flipV="false" rot="0">
              <a:off x="0" y="0"/>
              <a:ext cx="2133600" cy="559308"/>
            </a:xfrm>
            <a:custGeom>
              <a:avLst/>
              <a:gdLst/>
              <a:ahLst/>
              <a:cxnLst/>
              <a:rect r="r" b="b" t="t" l="l"/>
              <a:pathLst>
                <a:path h="559308" w="2133600">
                  <a:moveTo>
                    <a:pt x="0" y="0"/>
                  </a:moveTo>
                  <a:lnTo>
                    <a:pt x="2133600" y="0"/>
                  </a:lnTo>
                  <a:lnTo>
                    <a:pt x="2133600" y="559308"/>
                  </a:lnTo>
                  <a:lnTo>
                    <a:pt x="0" y="559308"/>
                  </a:lnTo>
                  <a:lnTo>
                    <a:pt x="0" y="0"/>
                  </a:lnTo>
                  <a:close/>
                </a:path>
              </a:pathLst>
            </a:custGeom>
            <a:solidFill>
              <a:srgbClr val="000000">
                <a:alpha val="0"/>
              </a:srgbClr>
            </a:solidFill>
            <a:ln w="9525" cap="sq">
              <a:solidFill>
                <a:srgbClr val="CCD7E4"/>
              </a:solidFill>
              <a:prstDash val="solid"/>
              <a:miter/>
            </a:ln>
          </p:spPr>
        </p:sp>
        <p:sp>
          <p:nvSpPr>
            <p:cNvPr name="TextBox 93" id="93"/>
            <p:cNvSpPr txBox="true"/>
            <p:nvPr/>
          </p:nvSpPr>
          <p:spPr>
            <a:xfrm>
              <a:off x="0" y="-38100"/>
              <a:ext cx="2133600" cy="597408"/>
            </a:xfrm>
            <a:prstGeom prst="rect">
              <a:avLst/>
            </a:prstGeom>
          </p:spPr>
          <p:txBody>
            <a:bodyPr anchor="ctr" rtlCol="false" tIns="76200" lIns="76200" bIns="76200" rIns="76200"/>
            <a:lstStyle/>
            <a:p>
              <a:pPr algn="l" marL="0" indent="0" lvl="0">
                <a:lnSpc>
                  <a:spcPts val="2100"/>
                </a:lnSpc>
                <a:spcBef>
                  <a:spcPct val="0"/>
                </a:spcBef>
              </a:pPr>
              <a:r>
                <a:rPr lang="en-US" sz="1500" strike="noStrike" u="none">
                  <a:solidFill>
                    <a:srgbClr val="0A2A66"/>
                  </a:solidFill>
                  <a:latin typeface="DM Sans"/>
                  <a:ea typeface="DM Sans"/>
                  <a:cs typeface="DM Sans"/>
                  <a:sym typeface="DM Sans"/>
                </a:rPr>
                <a:t>100,000</a:t>
              </a:r>
            </a:p>
          </p:txBody>
        </p:sp>
      </p:grpSp>
      <p:sp>
        <p:nvSpPr>
          <p:cNvPr name="TextBox 94" id="94"/>
          <p:cNvSpPr txBox="true"/>
          <p:nvPr/>
        </p:nvSpPr>
        <p:spPr>
          <a:xfrm rot="0">
            <a:off x="609600" y="6400800"/>
            <a:ext cx="10287000" cy="159258"/>
          </a:xfrm>
          <a:prstGeom prst="rect">
            <a:avLst/>
          </a:prstGeom>
        </p:spPr>
        <p:txBody>
          <a:bodyPr anchor="t" rtlCol="false" tIns="0" lIns="0" bIns="0" rIns="0">
            <a:spAutoFit/>
          </a:bodyPr>
          <a:lstStyle/>
          <a:p>
            <a:pPr algn="l" marL="0" indent="0" lvl="0">
              <a:lnSpc>
                <a:spcPts val="1281"/>
              </a:lnSpc>
              <a:spcBef>
                <a:spcPct val="0"/>
              </a:spcBef>
            </a:pPr>
            <a:r>
              <a:rPr lang="en-US" sz="1050" strike="noStrike" u="none">
                <a:solidFill>
                  <a:srgbClr val="0A2A66"/>
                </a:solidFill>
                <a:latin typeface="DM Sans"/>
                <a:ea typeface="DM Sans"/>
                <a:cs typeface="DM Sans"/>
                <a:sym typeface="DM Sans"/>
                <a:hlinkClick r:id="rId7" tooltip="https://github.com/KhanAcademy-Backtrack/KhanAcademy-Backtrack-Demo/blob/main/docs/BUSINESS_AND_SUSTAINABILITY.md"/>
              </a:rPr>
              <a:t>Implementation budget · Planning allocations; funding not secured</a:t>
            </a:r>
          </a:p>
        </p:txBody>
      </p:sp>
      <p:sp>
        <p:nvSpPr>
          <p:cNvPr name="AutoShape 95" id="95"/>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96" id="96"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14</a:t>
            </a:r>
          </a:p>
        </p:txBody>
      </p:sp>
      <p:sp>
        <p:nvSpPr>
          <p:cNvPr name="TextBox 9" id="9"/>
          <p:cNvSpPr txBox="true"/>
          <p:nvPr/>
        </p:nvSpPr>
        <p:spPr>
          <a:xfrm rot="0">
            <a:off x="609600" y="1209675"/>
            <a:ext cx="10972800" cy="534162"/>
          </a:xfrm>
          <a:prstGeom prst="rect">
            <a:avLst/>
          </a:prstGeom>
        </p:spPr>
        <p:txBody>
          <a:bodyPr anchor="t" rtlCol="false" tIns="0" lIns="0" bIns="0" rIns="0">
            <a:spAutoFit/>
          </a:bodyPr>
          <a:lstStyle/>
          <a:p>
            <a:pPr algn="l" marL="0" indent="0" lvl="0">
              <a:lnSpc>
                <a:spcPts val="4209"/>
              </a:lnSpc>
              <a:spcBef>
                <a:spcPct val="0"/>
              </a:spcBef>
            </a:pPr>
            <a:r>
              <a:rPr lang="en-US" b="true" sz="3450" strike="noStrike" u="none">
                <a:solidFill>
                  <a:srgbClr val="0A2A66"/>
                </a:solidFill>
                <a:latin typeface="DM Sans Bold"/>
                <a:ea typeface="DM Sans Bold"/>
                <a:cs typeface="DM Sans Bold"/>
                <a:sym typeface="DM Sans Bold"/>
              </a:rPr>
              <a:t>The implementation journey</a:t>
            </a:r>
          </a:p>
        </p:txBody>
      </p:sp>
      <p:sp>
        <p:nvSpPr>
          <p:cNvPr name="TextBox 10" id="10"/>
          <p:cNvSpPr txBox="true"/>
          <p:nvPr/>
        </p:nvSpPr>
        <p:spPr>
          <a:xfrm rot="0">
            <a:off x="609600" y="4686300"/>
            <a:ext cx="2857500" cy="566738"/>
          </a:xfrm>
          <a:prstGeom prst="rect">
            <a:avLst/>
          </a:prstGeom>
        </p:spPr>
        <p:txBody>
          <a:bodyPr anchor="t" rtlCol="false" tIns="0" lIns="0" bIns="0" rIns="0">
            <a:spAutoFit/>
          </a:bodyPr>
          <a:lstStyle/>
          <a:p>
            <a:pPr algn="l" marL="0" indent="0" lvl="0">
              <a:lnSpc>
                <a:spcPts val="2287"/>
              </a:lnSpc>
              <a:spcBef>
                <a:spcPct val="0"/>
              </a:spcBef>
            </a:pPr>
            <a:r>
              <a:rPr lang="en-US" sz="1875" strike="noStrike" u="none">
                <a:solidFill>
                  <a:srgbClr val="0A2A66"/>
                </a:solidFill>
                <a:latin typeface="DM Sans"/>
                <a:ea typeface="DM Sans"/>
                <a:cs typeface="DM Sans"/>
                <a:sym typeface="DM Sans"/>
              </a:rPr>
              <a:t>NOVEMBER 2026</a:t>
            </a:r>
          </a:p>
          <a:p>
            <a:pPr algn="l" marL="0" indent="0" lvl="0">
              <a:lnSpc>
                <a:spcPts val="2287"/>
              </a:lnSpc>
              <a:spcBef>
                <a:spcPct val="0"/>
              </a:spcBef>
            </a:pPr>
            <a:r>
              <a:rPr lang="en-US" sz="1875" strike="noStrike" u="none">
                <a:solidFill>
                  <a:srgbClr val="0A2A66"/>
                </a:solidFill>
                <a:latin typeface="DM Sans"/>
                <a:ea typeface="DM Sans"/>
                <a:cs typeface="DM Sans"/>
                <a:sym typeface="DM Sans"/>
              </a:rPr>
              <a:t>Prepare and launch</a:t>
            </a:r>
          </a:p>
        </p:txBody>
      </p:sp>
      <p:sp>
        <p:nvSpPr>
          <p:cNvPr name="TextBox 11" id="11"/>
          <p:cNvSpPr txBox="true"/>
          <p:nvPr/>
        </p:nvSpPr>
        <p:spPr>
          <a:xfrm rot="0">
            <a:off x="4457700" y="5048250"/>
            <a:ext cx="3619500" cy="566738"/>
          </a:xfrm>
          <a:prstGeom prst="rect">
            <a:avLst/>
          </a:prstGeom>
        </p:spPr>
        <p:txBody>
          <a:bodyPr anchor="t" rtlCol="false" tIns="0" lIns="0" bIns="0" rIns="0">
            <a:spAutoFit/>
          </a:bodyPr>
          <a:lstStyle/>
          <a:p>
            <a:pPr algn="l" marL="0" indent="0" lvl="0">
              <a:lnSpc>
                <a:spcPts val="2287"/>
              </a:lnSpc>
              <a:spcBef>
                <a:spcPct val="0"/>
              </a:spcBef>
            </a:pPr>
            <a:r>
              <a:rPr lang="en-US" sz="1875" strike="noStrike" u="none">
                <a:solidFill>
                  <a:srgbClr val="0A2A66"/>
                </a:solidFill>
                <a:latin typeface="DM Sans"/>
                <a:ea typeface="DM Sans"/>
                <a:cs typeface="DM Sans"/>
                <a:sym typeface="DM Sans"/>
              </a:rPr>
              <a:t>DECEMBER–FEBRUARY</a:t>
            </a:r>
          </a:p>
          <a:p>
            <a:pPr algn="l" marL="0" indent="0" lvl="0">
              <a:lnSpc>
                <a:spcPts val="2287"/>
              </a:lnSpc>
              <a:spcBef>
                <a:spcPct val="0"/>
              </a:spcBef>
            </a:pPr>
            <a:r>
              <a:rPr lang="en-US" sz="1875" strike="noStrike" u="none">
                <a:solidFill>
                  <a:srgbClr val="0A2A66"/>
                </a:solidFill>
                <a:latin typeface="DM Sans"/>
                <a:ea typeface="DM Sans"/>
                <a:cs typeface="DM Sans"/>
                <a:sym typeface="DM Sans"/>
              </a:rPr>
              <a:t>Gather feedback and refine</a:t>
            </a:r>
          </a:p>
        </p:txBody>
      </p:sp>
      <p:sp>
        <p:nvSpPr>
          <p:cNvPr name="TextBox 12" id="12"/>
          <p:cNvSpPr txBox="true"/>
          <p:nvPr/>
        </p:nvSpPr>
        <p:spPr>
          <a:xfrm rot="0">
            <a:off x="8858250" y="4686300"/>
            <a:ext cx="2762250" cy="852488"/>
          </a:xfrm>
          <a:prstGeom prst="rect">
            <a:avLst/>
          </a:prstGeom>
        </p:spPr>
        <p:txBody>
          <a:bodyPr anchor="t" rtlCol="false" tIns="0" lIns="0" bIns="0" rIns="0">
            <a:spAutoFit/>
          </a:bodyPr>
          <a:lstStyle/>
          <a:p>
            <a:pPr algn="l" marL="0" indent="0" lvl="0">
              <a:lnSpc>
                <a:spcPts val="2287"/>
              </a:lnSpc>
              <a:spcBef>
                <a:spcPct val="0"/>
              </a:spcBef>
            </a:pPr>
            <a:r>
              <a:rPr lang="en-US" sz="1875" strike="noStrike" u="none">
                <a:solidFill>
                  <a:srgbClr val="0A2A66"/>
                </a:solidFill>
                <a:latin typeface="DM Sans"/>
                <a:ea typeface="DM Sans"/>
                <a:cs typeface="DM Sans"/>
                <a:sym typeface="DM Sans"/>
              </a:rPr>
              <a:t>MARCH 2027</a:t>
            </a:r>
          </a:p>
          <a:p>
            <a:pPr algn="l" marL="0" indent="0" lvl="0">
              <a:lnSpc>
                <a:spcPts val="2287"/>
              </a:lnSpc>
              <a:spcBef>
                <a:spcPct val="0"/>
              </a:spcBef>
            </a:pPr>
            <a:r>
              <a:rPr lang="en-US" sz="1875" strike="noStrike" u="none">
                <a:solidFill>
                  <a:srgbClr val="0A2A66"/>
                </a:solidFill>
                <a:latin typeface="DM Sans"/>
                <a:ea typeface="DM Sans"/>
                <a:cs typeface="DM Sans"/>
                <a:sym typeface="DM Sans"/>
              </a:rPr>
              <a:t>Evaluate and plan continuation</a:t>
            </a:r>
          </a:p>
        </p:txBody>
      </p:sp>
      <p:sp>
        <p:nvSpPr>
          <p:cNvPr name="Freeform 13" id="13"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4" id="14" descr="A smooth route through focused study and return"/>
          <p:cNvSpPr/>
          <p:nvPr/>
        </p:nvSpPr>
        <p:spPr>
          <a:xfrm flipH="false" flipV="false" rot="0">
            <a:off x="1619250" y="3238500"/>
            <a:ext cx="9525000" cy="1400735"/>
          </a:xfrm>
          <a:custGeom>
            <a:avLst/>
            <a:gdLst/>
            <a:ahLst/>
            <a:cxnLst/>
            <a:rect r="r" b="b" t="t" l="l"/>
            <a:pathLst>
              <a:path h="1400735" w="9525000">
                <a:moveTo>
                  <a:pt x="0" y="0"/>
                </a:moveTo>
                <a:lnTo>
                  <a:pt x="9525000" y="0"/>
                </a:lnTo>
                <a:lnTo>
                  <a:pt x="9525000" y="1400735"/>
                </a:lnTo>
                <a:lnTo>
                  <a:pt x="0" y="1400735"/>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5" id="15" descr="Learning destination"/>
          <p:cNvSpPr/>
          <p:nvPr/>
        </p:nvSpPr>
        <p:spPr>
          <a:xfrm flipH="false" flipV="false" rot="0">
            <a:off x="9667875" y="2971800"/>
            <a:ext cx="342900" cy="457755"/>
          </a:xfrm>
          <a:custGeom>
            <a:avLst/>
            <a:gdLst/>
            <a:ahLst/>
            <a:cxnLst/>
            <a:rect r="r" b="b" t="t" l="l"/>
            <a:pathLst>
              <a:path h="457755" w="342900">
                <a:moveTo>
                  <a:pt x="0" y="0"/>
                </a:moveTo>
                <a:lnTo>
                  <a:pt x="342900" y="0"/>
                </a:lnTo>
                <a:lnTo>
                  <a:pt x="342900" y="457755"/>
                </a:lnTo>
                <a:lnTo>
                  <a:pt x="0" y="457755"/>
                </a:lnTo>
                <a:lnTo>
                  <a:pt x="0" y="0"/>
                </a:lnTo>
                <a:close/>
              </a:path>
            </a:pathLst>
          </a:custGeom>
          <a:blipFill>
            <a:blip r:embed="rId11">
              <a:extLst>
                <a:ext uri="{96DAC541-7B7A-43D3-8B79-37D633B846F1}">
                  <asvg:svgBlip xmlns:asvg="http://schemas.microsoft.com/office/drawing/2016/SVG/main" r:embed="rId12"/>
                </a:ext>
              </a:extLst>
            </a:blip>
            <a:stretch>
              <a:fillRect l="-60" t="0" r="-6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0">
            <a:off x="0" y="0"/>
            <a:ext cx="12192000" cy="6858000"/>
          </a:xfrm>
          <a:prstGeom prst="rect">
            <a:avLst/>
          </a:prstGeom>
          <a:solidFill>
            <a:srgbClr val="FFFFFF"/>
          </a:solidFill>
        </p:spPr>
      </p:sp>
      <p:grpSp>
        <p:nvGrpSpPr>
          <p:cNvPr name="Group 3" id="3"/>
          <p:cNvGrpSpPr/>
          <p:nvPr/>
        </p:nvGrpSpPr>
        <p:grpSpPr>
          <a:xfrm rot="0">
            <a:off x="0" y="0"/>
            <a:ext cx="12192000" cy="6858000"/>
            <a:chOff x="0" y="0"/>
            <a:chExt cx="16256000" cy="9144000"/>
          </a:xfrm>
        </p:grpSpPr>
        <p:sp>
          <p:nvSpPr>
            <p:cNvPr name="Freeform 4" id="4"/>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3"/>
              <a:stretch>
                <a:fillRect l="0" t="0" r="0" b="0"/>
              </a:stretch>
            </a:blipFill>
          </p:spPr>
        </p:sp>
      </p:grpSp>
      <p:grpSp>
        <p:nvGrpSpPr>
          <p:cNvPr name="Group 5" id="5"/>
          <p:cNvGrpSpPr/>
          <p:nvPr/>
        </p:nvGrpSpPr>
        <p:grpSpPr>
          <a:xfrm rot="0">
            <a:off x="0" y="0"/>
            <a:ext cx="12192000" cy="6858000"/>
            <a:chOff x="0" y="0"/>
            <a:chExt cx="16256000" cy="9144000"/>
          </a:xfrm>
        </p:grpSpPr>
        <p:sp>
          <p:nvSpPr>
            <p:cNvPr name="Freeform 6" id="6"/>
            <p:cNvSpPr/>
            <p:nvPr/>
          </p:nvSpPr>
          <p:spPr>
            <a:xfrm flipH="false" flipV="false" rot="0">
              <a:off x="0" y="0"/>
              <a:ext cx="16256000" cy="9144000"/>
            </a:xfrm>
            <a:custGeom>
              <a:avLst/>
              <a:gdLst/>
              <a:ahLst/>
              <a:cxnLst/>
              <a:rect r="r" b="b" t="t" l="l"/>
              <a:pathLst>
                <a:path h="9144000" w="16256000">
                  <a:moveTo>
                    <a:pt x="0" y="0"/>
                  </a:moveTo>
                  <a:lnTo>
                    <a:pt x="16256000" y="0"/>
                  </a:lnTo>
                  <a:lnTo>
                    <a:pt x="16256000" y="9144000"/>
                  </a:lnTo>
                  <a:lnTo>
                    <a:pt x="0" y="914400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11887200" y="0"/>
              <a:ext cx="3556000" cy="803656"/>
            </a:xfrm>
            <a:custGeom>
              <a:avLst/>
              <a:gdLst/>
              <a:ahLst/>
              <a:cxnLst/>
              <a:rect r="r" b="b" t="t" l="l"/>
              <a:pathLst>
                <a:path h="803656" w="3556000">
                  <a:moveTo>
                    <a:pt x="0" y="0"/>
                  </a:moveTo>
                  <a:lnTo>
                    <a:pt x="3556000" y="0"/>
                  </a:lnTo>
                  <a:lnTo>
                    <a:pt x="3556000" y="803656"/>
                  </a:lnTo>
                  <a:lnTo>
                    <a:pt x="0" y="803656"/>
                  </a:lnTo>
                  <a:lnTo>
                    <a:pt x="0" y="0"/>
                  </a:lnTo>
                  <a:close/>
                </a:path>
              </a:pathLst>
            </a:custGeom>
            <a:blipFill>
              <a:blip r:embed="rId6"/>
              <a:stretch>
                <a:fillRect l="0" t="0" r="0" b="0"/>
              </a:stretch>
            </a:blipFill>
          </p:spPr>
        </p:sp>
      </p:grpSp>
      <p:sp>
        <p:nvSpPr>
          <p:cNvPr name="TextBox 8" id="8"/>
          <p:cNvSpPr txBox="true"/>
          <p:nvPr/>
        </p:nvSpPr>
        <p:spPr>
          <a:xfrm rot="0">
            <a:off x="11239500" y="6353175"/>
            <a:ext cx="428625" cy="168592"/>
          </a:xfrm>
          <a:prstGeom prst="rect">
            <a:avLst/>
          </a:prstGeom>
        </p:spPr>
        <p:txBody>
          <a:bodyPr anchor="t" rtlCol="false" tIns="0" lIns="0" bIns="0" rIns="0">
            <a:spAutoFit/>
          </a:bodyPr>
          <a:lstStyle/>
          <a:p>
            <a:pPr algn="l" marL="0" indent="0" lvl="0">
              <a:lnSpc>
                <a:spcPts val="1372"/>
              </a:lnSpc>
              <a:spcBef>
                <a:spcPct val="0"/>
              </a:spcBef>
            </a:pPr>
            <a:r>
              <a:rPr lang="en-US" sz="1125" strike="noStrike" u="none">
                <a:solidFill>
                  <a:srgbClr val="0A2A66"/>
                </a:solidFill>
                <a:latin typeface="DM Sans"/>
                <a:ea typeface="DM Sans"/>
                <a:cs typeface="DM Sans"/>
                <a:sym typeface="DM Sans"/>
              </a:rPr>
              <a:t>15</a:t>
            </a:r>
          </a:p>
        </p:txBody>
      </p:sp>
      <p:sp>
        <p:nvSpPr>
          <p:cNvPr name="TextBox 9" id="9"/>
          <p:cNvSpPr txBox="true"/>
          <p:nvPr/>
        </p:nvSpPr>
        <p:spPr>
          <a:xfrm rot="0">
            <a:off x="609600" y="866775"/>
            <a:ext cx="10972800" cy="487299"/>
          </a:xfrm>
          <a:prstGeom prst="rect">
            <a:avLst/>
          </a:prstGeom>
        </p:spPr>
        <p:txBody>
          <a:bodyPr anchor="t" rtlCol="false" tIns="0" lIns="0" bIns="0" rIns="0">
            <a:spAutoFit/>
          </a:bodyPr>
          <a:lstStyle/>
          <a:p>
            <a:pPr algn="l" marL="0" indent="0" lvl="0">
              <a:lnSpc>
                <a:spcPts val="3843"/>
              </a:lnSpc>
              <a:spcBef>
                <a:spcPct val="0"/>
              </a:spcBef>
            </a:pPr>
            <a:r>
              <a:rPr lang="en-US" b="true" sz="3150" strike="noStrike" u="none">
                <a:solidFill>
                  <a:srgbClr val="0A2A66"/>
                </a:solidFill>
                <a:latin typeface="DM Sans Bold"/>
                <a:ea typeface="DM Sans Bold"/>
                <a:cs typeface="DM Sans Bold"/>
                <a:sym typeface="DM Sans Bold"/>
              </a:rPr>
              <a:t>Keep the learning going</a:t>
            </a:r>
          </a:p>
        </p:txBody>
      </p:sp>
      <p:sp>
        <p:nvSpPr>
          <p:cNvPr name="TextBox 10" id="10"/>
          <p:cNvSpPr txBox="true"/>
          <p:nvPr/>
        </p:nvSpPr>
        <p:spPr>
          <a:xfrm rot="0">
            <a:off x="609600" y="2143125"/>
            <a:ext cx="5429250" cy="604456"/>
          </a:xfrm>
          <a:prstGeom prst="rect">
            <a:avLst/>
          </a:prstGeom>
        </p:spPr>
        <p:txBody>
          <a:bodyPr anchor="t" rtlCol="false" tIns="0" lIns="0" bIns="0" rIns="0">
            <a:spAutoFit/>
          </a:bodyPr>
          <a:lstStyle/>
          <a:p>
            <a:pPr algn="l" marL="0" indent="0" lvl="0">
              <a:lnSpc>
                <a:spcPts val="2470"/>
              </a:lnSpc>
              <a:spcBef>
                <a:spcPct val="0"/>
              </a:spcBef>
            </a:pPr>
            <a:r>
              <a:rPr lang="en-US" sz="2025" strike="noStrike" u="none">
                <a:solidFill>
                  <a:srgbClr val="0A2A66"/>
                </a:solidFill>
                <a:latin typeface="DM Sans"/>
                <a:ea typeface="DM Sans"/>
                <a:cs typeface="DM Sans"/>
                <a:sym typeface="DM Sans"/>
              </a:rPr>
              <a:t>Relevant Khan practice</a:t>
            </a:r>
          </a:p>
          <a:p>
            <a:pPr algn="l" marL="0" indent="0" lvl="0">
              <a:lnSpc>
                <a:spcPts val="2470"/>
              </a:lnSpc>
              <a:spcBef>
                <a:spcPct val="0"/>
              </a:spcBef>
            </a:pPr>
            <a:r>
              <a:rPr lang="en-US" sz="2025" strike="noStrike" u="none">
                <a:solidFill>
                  <a:srgbClr val="0A2A66"/>
                </a:solidFill>
                <a:latin typeface="DM Sans"/>
                <a:ea typeface="DM Sans"/>
                <a:cs typeface="DM Sans"/>
                <a:sym typeface="DM Sans"/>
              </a:rPr>
              <a:t>A useful activity for the same idea.</a:t>
            </a:r>
          </a:p>
        </p:txBody>
      </p:sp>
      <p:sp>
        <p:nvSpPr>
          <p:cNvPr name="TextBox 11" id="11"/>
          <p:cNvSpPr txBox="true"/>
          <p:nvPr/>
        </p:nvSpPr>
        <p:spPr>
          <a:xfrm rot="0">
            <a:off x="609600" y="3248025"/>
            <a:ext cx="5429250" cy="604456"/>
          </a:xfrm>
          <a:prstGeom prst="rect">
            <a:avLst/>
          </a:prstGeom>
        </p:spPr>
        <p:txBody>
          <a:bodyPr anchor="t" rtlCol="false" tIns="0" lIns="0" bIns="0" rIns="0">
            <a:spAutoFit/>
          </a:bodyPr>
          <a:lstStyle/>
          <a:p>
            <a:pPr algn="l" marL="0" indent="0" lvl="0">
              <a:lnSpc>
                <a:spcPts val="2470"/>
              </a:lnSpc>
              <a:spcBef>
                <a:spcPct val="0"/>
              </a:spcBef>
            </a:pPr>
            <a:r>
              <a:rPr lang="en-US" sz="2025" strike="noStrike" u="none">
                <a:solidFill>
                  <a:srgbClr val="0A2A66"/>
                </a:solidFill>
                <a:latin typeface="DM Sans"/>
                <a:ea typeface="DM Sans"/>
                <a:cs typeface="DM Sans"/>
                <a:sym typeface="DM Sans"/>
              </a:rPr>
              <a:t>Independent application</a:t>
            </a:r>
          </a:p>
          <a:p>
            <a:pPr algn="l" marL="0" indent="0" lvl="0">
              <a:lnSpc>
                <a:spcPts val="2470"/>
              </a:lnSpc>
              <a:spcBef>
                <a:spcPct val="0"/>
              </a:spcBef>
            </a:pPr>
            <a:r>
              <a:rPr lang="en-US" sz="2025" strike="noStrike" u="none">
                <a:solidFill>
                  <a:srgbClr val="0A2A66"/>
                </a:solidFill>
                <a:latin typeface="DM Sans"/>
                <a:ea typeface="DM Sans"/>
                <a:cs typeface="DM Sans"/>
                <a:sym typeface="DM Sans"/>
              </a:rPr>
              <a:t>Fresh questions after the explanation.</a:t>
            </a:r>
          </a:p>
        </p:txBody>
      </p:sp>
      <p:sp>
        <p:nvSpPr>
          <p:cNvPr name="TextBox 12" id="12"/>
          <p:cNvSpPr txBox="true"/>
          <p:nvPr/>
        </p:nvSpPr>
        <p:spPr>
          <a:xfrm rot="0">
            <a:off x="6486525" y="4305300"/>
            <a:ext cx="5095875" cy="2343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hlinkClick r:id="rId7" tooltip="https://pubmed.ncbi.nlm.nih.gov/23576743/"/>
              </a:rPr>
              <a:t>Learning evidence: retrieval research</a:t>
            </a:r>
          </a:p>
        </p:txBody>
      </p:sp>
      <p:sp>
        <p:nvSpPr>
          <p:cNvPr name="TextBox 13" id="13"/>
          <p:cNvSpPr txBox="true"/>
          <p:nvPr/>
        </p:nvSpPr>
        <p:spPr>
          <a:xfrm rot="0">
            <a:off x="6486525" y="2228850"/>
            <a:ext cx="5095875" cy="2343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hlinkClick r:id="rId8" tooltip="https://enactus.ph/2026-national-competition/khan-academy-challenge"/>
              </a:rPr>
              <a:t>KEIC 2026: challenge and mechanics</a:t>
            </a:r>
          </a:p>
        </p:txBody>
      </p:sp>
      <p:sp>
        <p:nvSpPr>
          <p:cNvPr name="TextBox 14" id="14"/>
          <p:cNvSpPr txBox="true"/>
          <p:nvPr/>
        </p:nvSpPr>
        <p:spPr>
          <a:xfrm rot="0">
            <a:off x="6486525" y="3238500"/>
            <a:ext cx="5095875" cy="2343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hlinkClick r:id="rId9" tooltip="https://support.khanacademy.org/hc/en-us/articles/202262954-Can-I-use-Khan-Academy-s-videos-name-materials-links-in-my-project"/>
              </a:rPr>
              <a:t>Khan Academy: content and attribution</a:t>
            </a:r>
          </a:p>
        </p:txBody>
      </p:sp>
      <p:sp>
        <p:nvSpPr>
          <p:cNvPr name="TextBox 15" id="15"/>
          <p:cNvSpPr txBox="true"/>
          <p:nvPr/>
        </p:nvSpPr>
        <p:spPr>
          <a:xfrm rot="0">
            <a:off x="609600" y="4352925"/>
            <a:ext cx="5429250" cy="604456"/>
          </a:xfrm>
          <a:prstGeom prst="rect">
            <a:avLst/>
          </a:prstGeom>
        </p:spPr>
        <p:txBody>
          <a:bodyPr anchor="t" rtlCol="false" tIns="0" lIns="0" bIns="0" rIns="0">
            <a:spAutoFit/>
          </a:bodyPr>
          <a:lstStyle/>
          <a:p>
            <a:pPr algn="l" marL="0" indent="0" lvl="0">
              <a:lnSpc>
                <a:spcPts val="2470"/>
              </a:lnSpc>
              <a:spcBef>
                <a:spcPct val="0"/>
              </a:spcBef>
            </a:pPr>
            <a:r>
              <a:rPr lang="en-US" sz="2025" strike="noStrike" u="none">
                <a:solidFill>
                  <a:srgbClr val="0A2A66"/>
                </a:solidFill>
                <a:latin typeface="DM Sans"/>
                <a:ea typeface="DM Sans"/>
                <a:cs typeface="DM Sans"/>
                <a:sym typeface="DM Sans"/>
              </a:rPr>
              <a:t>Later review</a:t>
            </a:r>
          </a:p>
          <a:p>
            <a:pPr algn="l" marL="0" indent="0" lvl="0">
              <a:lnSpc>
                <a:spcPts val="2470"/>
              </a:lnSpc>
              <a:spcBef>
                <a:spcPct val="0"/>
              </a:spcBef>
            </a:pPr>
            <a:r>
              <a:rPr lang="en-US" sz="2025" strike="noStrike" u="none">
                <a:solidFill>
                  <a:srgbClr val="0A2A66"/>
                </a:solidFill>
                <a:latin typeface="DM Sans"/>
                <a:ea typeface="DM Sans"/>
                <a:cs typeface="DM Sans"/>
                <a:sym typeface="DM Sans"/>
              </a:rPr>
              <a:t>A clear reason to return.</a:t>
            </a:r>
          </a:p>
        </p:txBody>
      </p:sp>
      <p:sp>
        <p:nvSpPr>
          <p:cNvPr name="TextBox 16" id="16"/>
          <p:cNvSpPr txBox="true"/>
          <p:nvPr/>
        </p:nvSpPr>
        <p:spPr>
          <a:xfrm rot="0">
            <a:off x="609600" y="5734050"/>
            <a:ext cx="10668000" cy="462915"/>
          </a:xfrm>
          <a:prstGeom prst="rect">
            <a:avLst/>
          </a:prstGeom>
        </p:spPr>
        <p:txBody>
          <a:bodyPr anchor="t" rtlCol="false" tIns="0" lIns="0" bIns="0" rIns="0">
            <a:spAutoFit/>
          </a:bodyPr>
          <a:lstStyle/>
          <a:p>
            <a:pPr algn="l" marL="0" indent="0" lvl="0">
              <a:lnSpc>
                <a:spcPts val="1830"/>
              </a:lnSpc>
              <a:spcBef>
                <a:spcPct val="0"/>
              </a:spcBef>
            </a:pPr>
            <a:r>
              <a:rPr lang="en-US" sz="1500" strike="noStrike" u="none">
                <a:solidFill>
                  <a:srgbClr val="0A2A66"/>
                </a:solidFill>
                <a:latin typeface="DM Sans"/>
                <a:ea typeface="DM Sans"/>
                <a:cs typeface="DM Sans"/>
                <a:sym typeface="DM Sans"/>
              </a:rPr>
              <a:t>Matthew Labrador · Paul Recio · Harry Gomez</a:t>
            </a:r>
          </a:p>
          <a:p>
            <a:pPr algn="l" marL="0" indent="0" lvl="0">
              <a:lnSpc>
                <a:spcPts val="1830"/>
              </a:lnSpc>
              <a:spcBef>
                <a:spcPct val="0"/>
              </a:spcBef>
            </a:pPr>
            <a:r>
              <a:rPr lang="en-US" sz="1500" strike="noStrike" u="none">
                <a:solidFill>
                  <a:srgbClr val="0A2A66"/>
                </a:solidFill>
                <a:latin typeface="DM Sans"/>
                <a:ea typeface="DM Sans"/>
                <a:cs typeface="DM Sans"/>
                <a:sym typeface="DM Sans"/>
              </a:rPr>
              <a:t>Coach: Justin Mesias · University of the Philippines Manila</a:t>
            </a:r>
          </a:p>
        </p:txBody>
      </p:sp>
      <p:sp>
        <p:nvSpPr>
          <p:cNvPr name="AutoShape 17" id="17"/>
          <p:cNvSpPr/>
          <p:nvPr/>
        </p:nvSpPr>
        <p:spPr>
          <a:xfrm>
            <a:off x="609600" y="1381125"/>
            <a:ext cx="10972800" cy="0"/>
          </a:xfrm>
          <a:prstGeom prst="line">
            <a:avLst/>
          </a:prstGeom>
          <a:ln cap="flat" w="19050">
            <a:solidFill>
              <a:srgbClr val="CCD7E4"/>
            </a:solidFill>
            <a:prstDash val="solid"/>
            <a:headEnd type="none" len="sm" w="sm"/>
            <a:tailEnd type="none" len="sm" w="sm"/>
          </a:ln>
        </p:spPr>
      </p:sp>
      <p:sp>
        <p:nvSpPr>
          <p:cNvPr name="Freeform 18" id="18" descr="Dunlo"/>
          <p:cNvSpPr/>
          <p:nvPr/>
        </p:nvSpPr>
        <p:spPr>
          <a:xfrm flipH="false" flipV="false" rot="0">
            <a:off x="609600" y="38100"/>
            <a:ext cx="1571625" cy="521160"/>
          </a:xfrm>
          <a:custGeom>
            <a:avLst/>
            <a:gdLst/>
            <a:ahLst/>
            <a:cxnLst/>
            <a:rect r="r" b="b" t="t" l="l"/>
            <a:pathLst>
              <a:path h="521160" w="1571625">
                <a:moveTo>
                  <a:pt x="0" y="0"/>
                </a:moveTo>
                <a:lnTo>
                  <a:pt x="1571625" y="0"/>
                </a:lnTo>
                <a:lnTo>
                  <a:pt x="1571625" y="521160"/>
                </a:lnTo>
                <a:lnTo>
                  <a:pt x="0" y="52116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DAHUwYwVdj0</dc:identifier>
  <dcterms:modified xsi:type="dcterms:W3CDTF">2011-08-01T06:04:30Z</dcterms:modified>
  <cp:revision>1</cp:revision>
  <dc:title>Dunlo - Explore, Learn and Return - KEIC 2026</dc:title>
</cp:coreProperties>
</file>