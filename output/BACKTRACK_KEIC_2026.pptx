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notesMaster+xml" PartName="/ppt/notesMasters/notesMaster1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0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15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slide+xml" PartName="/ppt/slides/slide15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notesMasterIdLst>
    <p:notesMasterId r:id="rId21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x="12192000" cy="6858000"/>
  <p:notesSz cx="6858000" cy="9144000"/>
  <p:embeddedFontLst>
    <p:embeddedFont>
      <p:font typeface="DM Sans" charset="1" panose="00000000000000000000"/>
      <p:regular r:id="rId24"/>
    </p:embeddedFont>
    <p:embeddedFont>
      <p:font typeface="DM Sans Bold" charset="1" panose="00000000000000000000"/>
      <p:regular r:id="rId25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slides/slide13.xml" Type="http://schemas.openxmlformats.org/officeDocument/2006/relationships/slide"/><Relationship Id="rId19" Target="slides/slide14.xml" Type="http://schemas.openxmlformats.org/officeDocument/2006/relationships/slide"/><Relationship Id="rId2" Target="presProps.xml" Type="http://schemas.openxmlformats.org/officeDocument/2006/relationships/presProps"/><Relationship Id="rId20" Target="slides/slide15.xml" Type="http://schemas.openxmlformats.org/officeDocument/2006/relationships/slide"/><Relationship Id="rId21" Target="notesMasters/notesMaster1.xml" Type="http://schemas.openxmlformats.org/officeDocument/2006/relationships/notesMaster"/><Relationship Id="rId22" Target="theme/theme2.xml" Type="http://schemas.openxmlformats.org/officeDocument/2006/relationships/theme"/><Relationship Id="rId23" Target="notesSlides/notesSlide1.xml" Type="http://schemas.openxmlformats.org/officeDocument/2006/relationships/notesSlide"/><Relationship Id="rId24" Target="fonts/font24.fntdata" Type="http://schemas.openxmlformats.org/officeDocument/2006/relationships/font"/><Relationship Id="rId25" Target="fonts/font25.fntdata" Type="http://schemas.openxmlformats.org/officeDocument/2006/relationships/font"/><Relationship Id="rId26" Target="notesSlides/notesSlide2.xml" Type="http://schemas.openxmlformats.org/officeDocument/2006/relationships/notesSlide"/><Relationship Id="rId27" Target="notesSlides/notesSlide3.xml" Type="http://schemas.openxmlformats.org/officeDocument/2006/relationships/notesSlide"/><Relationship Id="rId28" Target="notesSlides/notesSlide4.xml" Type="http://schemas.openxmlformats.org/officeDocument/2006/relationships/notesSlide"/><Relationship Id="rId29" Target="notesSlides/notesSlide5.xml" Type="http://schemas.openxmlformats.org/officeDocument/2006/relationships/notesSlide"/><Relationship Id="rId3" Target="viewProps.xml" Type="http://schemas.openxmlformats.org/officeDocument/2006/relationships/viewProps"/><Relationship Id="rId30" Target="notesSlides/notesSlide6.xml" Type="http://schemas.openxmlformats.org/officeDocument/2006/relationships/notesSlide"/><Relationship Id="rId31" Target="notesSlides/notesSlide7.xml" Type="http://schemas.openxmlformats.org/officeDocument/2006/relationships/notesSlide"/><Relationship Id="rId32" Target="notesSlides/notesSlide8.xml" Type="http://schemas.openxmlformats.org/officeDocument/2006/relationships/notesSlide"/><Relationship Id="rId33" Target="notesSlides/notesSlide9.xml" Type="http://schemas.openxmlformats.org/officeDocument/2006/relationships/notesSlide"/><Relationship Id="rId34" Target="notesSlides/notesSlide10.xml" Type="http://schemas.openxmlformats.org/officeDocument/2006/relationships/notesSlide"/><Relationship Id="rId35" Target="notesSlides/notesSlide11.xml" Type="http://schemas.openxmlformats.org/officeDocument/2006/relationships/notesSlide"/><Relationship Id="rId36" Target="notesSlides/notesSlide12.xml" Type="http://schemas.openxmlformats.org/officeDocument/2006/relationships/notesSlide"/><Relationship Id="rId37" Target="notesSlides/notesSlide13.xml" Type="http://schemas.openxmlformats.org/officeDocument/2006/relationships/notesSlide"/><Relationship Id="rId38" Target="notesSlides/notesSlide14.xml" Type="http://schemas.openxmlformats.org/officeDocument/2006/relationships/notesSlide"/><Relationship Id="rId39" Target="notesSlides/notesSlide15.xml" Type="http://schemas.openxmlformats.org/officeDocument/2006/relationships/notesSlide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notesMasters/_rels/notesMaster1.xml.rels><?xml version="1.0" encoding="UTF-8" standalone="yes"?><Relationships xmlns="http://schemas.openxmlformats.org/package/2006/relationships"><Relationship Id="rId1" Target="../theme/theme2.xml" Type="http://schemas.openxmlformats.org/officeDocument/2006/relationships/theme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1.7.2013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.xml" Type="http://schemas.openxmlformats.org/officeDocument/2006/relationships/slide"/></Relationships>
</file>

<file path=ppt/notesSlides/_rels/notesSlide2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2.xml" Type="http://schemas.openxmlformats.org/officeDocument/2006/relationships/slide"/></Relationships>
</file>

<file path=ppt/notesSlides/_rels/notesSlide3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3.xml" Type="http://schemas.openxmlformats.org/officeDocument/2006/relationships/slide"/></Relationships>
</file>

<file path=ppt/notesSlides/_rels/notesSlide4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4.xml" Type="http://schemas.openxmlformats.org/officeDocument/2006/relationships/slide"/></Relationships>
</file>

<file path=ppt/notesSlides/_rels/notesSlide5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5.xml" Type="http://schemas.openxmlformats.org/officeDocument/2006/relationships/slide"/></Relationships>
</file>

<file path=ppt/notesSlides/_rels/notesSlide6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6.xml" Type="http://schemas.openxmlformats.org/officeDocument/2006/relationships/slide"/></Relationships>
</file>

<file path=ppt/notesSlides/_rels/notesSlide7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7.xml" Type="http://schemas.openxmlformats.org/officeDocument/2006/relationships/slide"/></Relationships>
</file>

<file path=ppt/notesSlides/_rels/notesSlide8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8.xml" Type="http://schemas.openxmlformats.org/officeDocument/2006/relationships/slide"/></Relationships>
</file>

<file path=ppt/notesSlides/_rels/notesSlide9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9.xml" Type="http://schemas.openxmlformats.org/officeDocument/2006/relationships/slide"/></Relationships>
</file>

<file path=ppt/notesSlides/_rels/notesSlide10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0.xml" Type="http://schemas.openxmlformats.org/officeDocument/2006/relationships/slide"/></Relationships>
</file>

<file path=ppt/notesSlides/_rels/notesSlide11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1.xml" Type="http://schemas.openxmlformats.org/officeDocument/2006/relationships/slide"/></Relationships>
</file>

<file path=ppt/notesSlides/_rels/notesSlide12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2.xml" Type="http://schemas.openxmlformats.org/officeDocument/2006/relationships/slide"/></Relationships>
</file>

<file path=ppt/notesSlides/_rels/notesSlide13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3.xml" Type="http://schemas.openxmlformats.org/officeDocument/2006/relationships/slide"/></Relationships>
</file>

<file path=ppt/notesSlides/_rels/notesSlide14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4.xml" Type="http://schemas.openxmlformats.org/officeDocument/2006/relationships/slide"/></Relationships>
</file>

<file path=ppt/notesSlides/_rels/notesSlide15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5.xml" Type="http://schemas.openxmlformats.org/officeDocument/2006/relationships/slide"/></Relationships>
</file>

<file path=ppt/notesSlides/notesSlide1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BACKTRACK: Stuck on today’s lesson. Unsure what to review.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BACKTRACK: Today’s task can hide an earlier gap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BACKTRACK: Four steps back to the lesson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BACKTRACK: Your answers change the route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BACKTRACK: Khan material, focused on the missing step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BACKTRACK: Back to the skill that stopped them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BACKTRACK: Try BACKTRACK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BACKTRACK: Can they still do it next week?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BACKTRACK: A five-month school pilot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BACKTRACK: Does the route add value?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BACKTRACK: The route is the reward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BACKTRACK: One routine. Many learning goals.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BACKTRACK: A budget built around learners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BACKTRACK: A route back to today’s lesson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BACKTRACK: Research behind the approach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.xml" Type="http://schemas.openxmlformats.org/officeDocument/2006/relationships/notesSlide"/><Relationship Id="rId3" Target="../media/image1.jpeg" Type="http://schemas.openxmlformats.org/officeDocument/2006/relationships/image"/><Relationship Id="rId4" Target="../media/image2.png" Type="http://schemas.openxmlformats.org/officeDocument/2006/relationships/image"/><Relationship Id="rId5" Target="../media/image3.sv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2.xml" Type="http://schemas.openxmlformats.org/officeDocument/2006/relationships/notesSlide"/><Relationship Id="rId3" Target="../media/image1.jpe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3.xml" Type="http://schemas.openxmlformats.org/officeDocument/2006/relationships/notesSlide"/><Relationship Id="rId3" Target="../media/image1.jpe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4.xml" Type="http://schemas.openxmlformats.org/officeDocument/2006/relationships/notesSlide"/><Relationship Id="rId3" Target="../media/image1.jpeg" Type="http://schemas.openxmlformats.org/officeDocument/2006/relationships/image"/><Relationship Id="rId4" Target="../media/image4.png" Type="http://schemas.openxmlformats.org/officeDocument/2006/relationships/image"/><Relationship Id="rId5" Target="../media/image5.sv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5.xml" Type="http://schemas.openxmlformats.org/officeDocument/2006/relationships/notesSlide"/><Relationship Id="rId3" Target="../media/image1.jpeg" Type="http://schemas.openxmlformats.org/officeDocument/2006/relationships/image"/><Relationship Id="rId4" Target="../media/image6.png" Type="http://schemas.openxmlformats.org/officeDocument/2006/relationships/image"/><Relationship Id="rId5" Target="https://www.khanacademy.org/math/algebra/x2f8bb11595b61c86:quadratics-multiplying-factoring/x2f8bb11595b61c86:factor-quadratics-intro/v/factoring-simple-quadratic-expression" TargetMode="External" Type="http://schemas.openxmlformats.org/officeDocument/2006/relationships/hyperlink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6.xml" Type="http://schemas.openxmlformats.org/officeDocument/2006/relationships/notesSlide"/><Relationship Id="rId3" Target="../media/image1.jpe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7.xml" Type="http://schemas.openxmlformats.org/officeDocument/2006/relationships/notesSlide"/><Relationship Id="rId3" Target="../media/image1.jpeg" Type="http://schemas.openxmlformats.org/officeDocument/2006/relationships/image"/><Relationship Id="rId4" Target="../media/image7.jpeg" Type="http://schemas.openxmlformats.org/officeDocument/2006/relationships/image"/><Relationship Id="rId5" Target="../media/image8.png" Type="http://schemas.openxmlformats.org/officeDocument/2006/relationships/image"/><Relationship Id="rId6" Target="https://backtrack-learning.vercel.app/demo" TargetMode="External" Type="http://schemas.openxmlformats.org/officeDocument/2006/relationships/hyperlink"/><Relationship Id="rId7" Target="https://backtrack-learning.vercel.app/demo" TargetMode="External" Type="http://schemas.openxmlformats.org/officeDocument/2006/relationships/hyperlink"/><Relationship Id="rId8" Target="https://backtrack-learning.vercel.app/demo" TargetMode="External" Type="http://schemas.openxmlformats.org/officeDocument/2006/relationships/hyperlink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8.xml" Type="http://schemas.openxmlformats.org/officeDocument/2006/relationships/notesSlide"/><Relationship Id="rId3" Target="../media/image1.jpeg" Type="http://schemas.openxmlformats.org/officeDocument/2006/relationships/image"/><Relationship Id="rId4" Target="https://doi.org/10.1038/s44159-022-00089-1" TargetMode="External" Type="http://schemas.openxmlformats.org/officeDocument/2006/relationships/hyperlink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9.xml" Type="http://schemas.openxmlformats.org/officeDocument/2006/relationships/notesSlide"/><Relationship Id="rId3" Target="../media/image1.jpe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0.xml" Type="http://schemas.openxmlformats.org/officeDocument/2006/relationships/notesSlide"/><Relationship Id="rId3" Target="../media/image1.jpeg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1.xml" Type="http://schemas.openxmlformats.org/officeDocument/2006/relationships/notesSlide"/><Relationship Id="rId3" Target="../media/image1.jpeg" Type="http://schemas.openxmlformats.org/officeDocument/2006/relationships/image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2.xml" Type="http://schemas.openxmlformats.org/officeDocument/2006/relationships/notesSlide"/><Relationship Id="rId3" Target="../media/image1.jpeg" Type="http://schemas.openxmlformats.org/officeDocument/2006/relationships/image"/></Relationships>
</file>

<file path=ppt/slides/_rels/slide1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3.xml" Type="http://schemas.openxmlformats.org/officeDocument/2006/relationships/notesSlide"/><Relationship Id="rId3" Target="../media/image1.jpeg" Type="http://schemas.openxmlformats.org/officeDocument/2006/relationships/image"/></Relationships>
</file>

<file path=ppt/slides/_rels/slide1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4.xml" Type="http://schemas.openxmlformats.org/officeDocument/2006/relationships/notesSlide"/><Relationship Id="rId3" Target="../media/image1.jpeg" Type="http://schemas.openxmlformats.org/officeDocument/2006/relationships/image"/><Relationship Id="rId4" Target="../media/image2.png" Type="http://schemas.openxmlformats.org/officeDocument/2006/relationships/image"/><Relationship Id="rId5" Target="../media/image3.svg" Type="http://schemas.openxmlformats.org/officeDocument/2006/relationships/image"/></Relationships>
</file>

<file path=ppt/slides/_rels/slide1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https://selfdeterminationtheory.org/topics/application-education/" TargetMode="External" Type="http://schemas.openxmlformats.org/officeDocument/2006/relationships/hyperlink"/><Relationship Id="rId2" Target="../notesSlides/notesSlide15.xml" Type="http://schemas.openxmlformats.org/officeDocument/2006/relationships/notesSlide"/><Relationship Id="rId3" Target="../media/image1.jpeg" Type="http://schemas.openxmlformats.org/officeDocument/2006/relationships/image"/><Relationship Id="rId4" Target="https://support.khanacademy.org/hc/en-us/articles/360031129891-What-reporting-options-are-available-on-Khan-Academy-for-teachers-to-track-student-performance" TargetMode="External" Type="http://schemas.openxmlformats.org/officeDocument/2006/relationships/hyperlink"/><Relationship Id="rId5" Target="https://www.mheducation.com/unitas/school/explore/sites/aleks/customizing-custom-objectives.pdf" TargetMode="External" Type="http://schemas.openxmlformats.org/officeDocument/2006/relationships/hyperlink"/><Relationship Id="rId6" Target="https://blog.google/innovation-and-ai/products/gemini-app/gemini-study-notebooks/" TargetMode="External" Type="http://schemas.openxmlformats.org/officeDocument/2006/relationships/hyperlink"/><Relationship Id="rId7" Target="https://ies.ed.gov/ncee/wwc/practiceguide/1" TargetMode="External" Type="http://schemas.openxmlformats.org/officeDocument/2006/relationships/hyperlink"/><Relationship Id="rId8" Target="https://doi.org/10.1038/s44159-022-00089-1" TargetMode="External" Type="http://schemas.openxmlformats.org/officeDocument/2006/relationships/hyperlink"/><Relationship Id="rId9" Target="https://doi.org/10.1007/s10763-021-10207-9" TargetMode="External" Type="http://schemas.openxmlformats.org/officeDocument/2006/relationships/hyperlink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</p:spPr>
      </p:sp>
      <p:grpSp>
        <p:nvGrpSpPr>
          <p:cNvPr name="Group 3" id="3"/>
          <p:cNvGrpSpPr/>
          <p:nvPr/>
        </p:nvGrpSpPr>
        <p:grpSpPr>
          <a:xfrm rot="0">
            <a:off x="0" y="0"/>
            <a:ext cx="12192000" cy="6858000"/>
            <a:chOff x="0" y="0"/>
            <a:chExt cx="16256000" cy="91440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6256000" cy="9144000"/>
            </a:xfrm>
            <a:custGeom>
              <a:avLst/>
              <a:gdLst/>
              <a:ahLst/>
              <a:cxnLst/>
              <a:rect r="r" b="b" t="t" l="l"/>
              <a:pathLst>
                <a:path h="9144000" w="16256000">
                  <a:moveTo>
                    <a:pt x="0" y="0"/>
                  </a:moveTo>
                  <a:lnTo>
                    <a:pt x="16256000" y="0"/>
                  </a:lnTo>
                  <a:lnTo>
                    <a:pt x="16256000" y="9144000"/>
                  </a:lnTo>
                  <a:lnTo>
                    <a:pt x="0" y="9144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sp>
        <p:nvSpPr>
          <p:cNvPr name="Freeform 5" id="5"/>
          <p:cNvSpPr/>
          <p:nvPr/>
        </p:nvSpPr>
        <p:spPr>
          <a:xfrm flipH="false" flipV="false" rot="0">
            <a:off x="1524000" y="4095750"/>
            <a:ext cx="9715500" cy="1428750"/>
          </a:xfrm>
          <a:custGeom>
            <a:avLst/>
            <a:gdLst/>
            <a:ahLst/>
            <a:cxnLst/>
            <a:rect r="r" b="b" t="t" l="l"/>
            <a:pathLst>
              <a:path h="1428750" w="9715500">
                <a:moveTo>
                  <a:pt x="0" y="0"/>
                </a:moveTo>
                <a:lnTo>
                  <a:pt x="9715500" y="0"/>
                </a:lnTo>
                <a:lnTo>
                  <a:pt x="9715500" y="1428750"/>
                </a:lnTo>
                <a:lnTo>
                  <a:pt x="0" y="142875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6" id="6"/>
          <p:cNvGrpSpPr/>
          <p:nvPr/>
        </p:nvGrpSpPr>
        <p:grpSpPr>
          <a:xfrm rot="0">
            <a:off x="5581650" y="5295900"/>
            <a:ext cx="266700" cy="266700"/>
            <a:chOff x="0" y="0"/>
            <a:chExt cx="105363" cy="105363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05363" cy="105363"/>
            </a:xfrm>
            <a:custGeom>
              <a:avLst/>
              <a:gdLst/>
              <a:ahLst/>
              <a:cxnLst/>
              <a:rect r="r" b="b" t="t" l="l"/>
              <a:pathLst>
                <a:path h="105363" w="105363">
                  <a:moveTo>
                    <a:pt x="52681" y="0"/>
                  </a:moveTo>
                  <a:cubicBezTo>
                    <a:pt x="23586" y="0"/>
                    <a:pt x="0" y="23586"/>
                    <a:pt x="0" y="52681"/>
                  </a:cubicBezTo>
                  <a:cubicBezTo>
                    <a:pt x="0" y="81777"/>
                    <a:pt x="23586" y="105363"/>
                    <a:pt x="52681" y="105363"/>
                  </a:cubicBezTo>
                  <a:cubicBezTo>
                    <a:pt x="81777" y="105363"/>
                    <a:pt x="105363" y="81777"/>
                    <a:pt x="105363" y="52681"/>
                  </a:cubicBezTo>
                  <a:cubicBezTo>
                    <a:pt x="105363" y="23586"/>
                    <a:pt x="81777" y="0"/>
                    <a:pt x="52681" y="0"/>
                  </a:cubicBezTo>
                  <a:close/>
                </a:path>
              </a:pathLst>
            </a:custGeom>
            <a:solidFill>
              <a:srgbClr val="C96331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9878" y="9878"/>
              <a:ext cx="85607" cy="8560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372"/>
                </a:lnSpc>
              </a:pPr>
            </a:p>
          </p:txBody>
        </p:sp>
      </p:grpSp>
      <p:sp>
        <p:nvSpPr>
          <p:cNvPr name="TextBox 9" id="9"/>
          <p:cNvSpPr txBox="true"/>
          <p:nvPr/>
        </p:nvSpPr>
        <p:spPr>
          <a:xfrm rot="0">
            <a:off x="11239500" y="6353175"/>
            <a:ext cx="428625" cy="1685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72"/>
              </a:lnSpc>
            </a:pPr>
            <a:r>
              <a:rPr lang="en-US" sz="1125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01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609600" y="533400"/>
            <a:ext cx="5715000" cy="3933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02"/>
              </a:lnSpc>
            </a:pPr>
            <a:r>
              <a:rPr lang="en-US" b="true" sz="2625">
                <a:solidFill>
                  <a:srgbClr val="087E70"/>
                </a:solidFill>
                <a:latin typeface="DM Sans Bold"/>
                <a:ea typeface="DM Sans Bold"/>
                <a:cs typeface="DM Sans Bold"/>
                <a:sym typeface="DM Sans Bold"/>
              </a:rPr>
              <a:t>backtrack.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609600" y="1057275"/>
            <a:ext cx="10972800" cy="67462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368"/>
              </a:lnSpc>
            </a:pPr>
            <a:r>
              <a:rPr lang="en-US" b="true" sz="4400">
                <a:solidFill>
                  <a:srgbClr val="151521"/>
                </a:solidFill>
                <a:latin typeface="DM Sans Bold"/>
                <a:ea typeface="DM Sans Bold"/>
                <a:cs typeface="DM Sans Bold"/>
                <a:sym typeface="DM Sans Bold"/>
              </a:rPr>
              <a:t>Find the missing skill.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609600" y="1743075"/>
            <a:ext cx="10972800" cy="67462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368"/>
              </a:lnSpc>
            </a:pPr>
            <a:r>
              <a:rPr lang="en-US" b="true" sz="4400">
                <a:solidFill>
                  <a:srgbClr val="5753FA"/>
                </a:solidFill>
                <a:latin typeface="DM Sans Bold"/>
                <a:ea typeface="DM Sans Bold"/>
                <a:cs typeface="DM Sans Bold"/>
                <a:sym typeface="DM Sans Bold"/>
              </a:rPr>
              <a:t>Get back to today’s lesson.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609600" y="2733675"/>
            <a:ext cx="10972800" cy="6518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62"/>
              </a:lnSpc>
            </a:pPr>
            <a:r>
              <a:rPr lang="en-US" sz="2100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THE PROBLEM</a:t>
            </a:r>
          </a:p>
          <a:p>
            <a:pPr algn="l">
              <a:lnSpc>
                <a:spcPts val="2562"/>
              </a:lnSpc>
            </a:pPr>
            <a:r>
              <a:rPr lang="en-US" sz="2100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A student gets stuck, but doesn’t know which earlier skill to review.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609600" y="6448425"/>
            <a:ext cx="9525000" cy="21551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08"/>
              </a:lnSpc>
            </a:pPr>
            <a:r>
              <a:rPr lang="en-US" sz="1400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University of the Philippines Manila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285750" y="3790950"/>
            <a:ext cx="2857500" cy="6140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40"/>
              </a:lnSpc>
            </a:pPr>
            <a:r>
              <a:rPr lang="en-US" sz="2000" b="true">
                <a:solidFill>
                  <a:srgbClr val="536073"/>
                </a:solidFill>
                <a:latin typeface="DM Sans Bold"/>
                <a:ea typeface="DM Sans Bold"/>
                <a:cs typeface="DM Sans Bold"/>
                <a:sym typeface="DM Sans Bold"/>
              </a:rPr>
              <a:t>Check today’s</a:t>
            </a:r>
          </a:p>
          <a:p>
            <a:pPr algn="ctr">
              <a:lnSpc>
                <a:spcPts val="2440"/>
              </a:lnSpc>
            </a:pPr>
            <a:r>
              <a:rPr lang="en-US" b="true" sz="2000">
                <a:solidFill>
                  <a:srgbClr val="536073"/>
                </a:solidFill>
                <a:latin typeface="DM Sans Bold"/>
                <a:ea typeface="DM Sans Bold"/>
                <a:cs typeface="DM Sans Bold"/>
                <a:sym typeface="DM Sans Bold"/>
              </a:rPr>
              <a:t>task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3619500" y="5610225"/>
            <a:ext cx="4191000" cy="6140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40"/>
              </a:lnSpc>
            </a:pPr>
            <a:r>
              <a:rPr lang="en-US" sz="2000" b="true">
                <a:solidFill>
                  <a:srgbClr val="536073"/>
                </a:solidFill>
                <a:latin typeface="DM Sans Bold"/>
                <a:ea typeface="DM Sans Bold"/>
                <a:cs typeface="DM Sans Bold"/>
                <a:sym typeface="DM Sans Bold"/>
              </a:rPr>
              <a:t>Practice the missing skill</a:t>
            </a:r>
          </a:p>
          <a:p>
            <a:pPr algn="ctr">
              <a:lnSpc>
                <a:spcPts val="2440"/>
              </a:lnSpc>
            </a:pPr>
            <a:r>
              <a:rPr lang="en-US" b="true" sz="2000">
                <a:solidFill>
                  <a:srgbClr val="536073"/>
                </a:solidFill>
                <a:latin typeface="DM Sans Bold"/>
                <a:ea typeface="DM Sans Bold"/>
                <a:cs typeface="DM Sans Bold"/>
                <a:sym typeface="DM Sans Bold"/>
              </a:rPr>
              <a:t>with Khan Academy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8286750" y="3467100"/>
            <a:ext cx="3238500" cy="6140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40"/>
              </a:lnSpc>
            </a:pPr>
            <a:r>
              <a:rPr lang="en-US" b="true" sz="2000">
                <a:solidFill>
                  <a:srgbClr val="087E70"/>
                </a:solidFill>
                <a:latin typeface="DM Sans Bold"/>
                <a:ea typeface="DM Sans Bold"/>
                <a:cs typeface="DM Sans Bold"/>
                <a:sym typeface="DM Sans Bold"/>
              </a:rPr>
              <a:t>Return to today’s lesson</a:t>
            </a:r>
          </a:p>
          <a:p>
            <a:pPr algn="ctr">
              <a:lnSpc>
                <a:spcPts val="2440"/>
              </a:lnSpc>
            </a:pPr>
            <a:r>
              <a:rPr lang="en-US" b="true" sz="2000">
                <a:solidFill>
                  <a:srgbClr val="087E70"/>
                </a:solidFill>
                <a:latin typeface="DM Sans Bold"/>
                <a:ea typeface="DM Sans Bold"/>
                <a:cs typeface="DM Sans Bold"/>
                <a:sym typeface="DM Sans Bold"/>
              </a:rPr>
              <a:t>with a fresh check</a:t>
            </a:r>
          </a:p>
        </p:txBody>
      </p:sp>
      <p:grpSp>
        <p:nvGrpSpPr>
          <p:cNvPr name="Group 18" id="18"/>
          <p:cNvGrpSpPr/>
          <p:nvPr/>
        </p:nvGrpSpPr>
        <p:grpSpPr>
          <a:xfrm rot="0">
            <a:off x="1581150" y="4438650"/>
            <a:ext cx="266700" cy="266700"/>
            <a:chOff x="0" y="0"/>
            <a:chExt cx="105363" cy="105363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105363" cy="105363"/>
            </a:xfrm>
            <a:custGeom>
              <a:avLst/>
              <a:gdLst/>
              <a:ahLst/>
              <a:cxnLst/>
              <a:rect r="r" b="b" t="t" l="l"/>
              <a:pathLst>
                <a:path h="105363" w="105363">
                  <a:moveTo>
                    <a:pt x="52681" y="0"/>
                  </a:moveTo>
                  <a:cubicBezTo>
                    <a:pt x="23586" y="0"/>
                    <a:pt x="0" y="23586"/>
                    <a:pt x="0" y="52681"/>
                  </a:cubicBezTo>
                  <a:cubicBezTo>
                    <a:pt x="0" y="81777"/>
                    <a:pt x="23586" y="105363"/>
                    <a:pt x="52681" y="105363"/>
                  </a:cubicBezTo>
                  <a:cubicBezTo>
                    <a:pt x="81777" y="105363"/>
                    <a:pt x="105363" y="81777"/>
                    <a:pt x="105363" y="52681"/>
                  </a:cubicBezTo>
                  <a:cubicBezTo>
                    <a:pt x="105363" y="23586"/>
                    <a:pt x="81777" y="0"/>
                    <a:pt x="52681" y="0"/>
                  </a:cubicBezTo>
                  <a:close/>
                </a:path>
              </a:pathLst>
            </a:custGeom>
            <a:solidFill>
              <a:srgbClr val="C96331"/>
            </a:solidFill>
          </p:spPr>
        </p:sp>
        <p:sp>
          <p:nvSpPr>
            <p:cNvPr name="TextBox 20" id="20"/>
            <p:cNvSpPr txBox="true"/>
            <p:nvPr/>
          </p:nvSpPr>
          <p:spPr>
            <a:xfrm>
              <a:off x="9878" y="9878"/>
              <a:ext cx="85607" cy="8560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372"/>
                </a:lnSpc>
              </a:pPr>
            </a:p>
          </p:txBody>
        </p:sp>
      </p:grpSp>
      <p:grpSp>
        <p:nvGrpSpPr>
          <p:cNvPr name="Group 21" id="21"/>
          <p:cNvGrpSpPr/>
          <p:nvPr/>
        </p:nvGrpSpPr>
        <p:grpSpPr>
          <a:xfrm rot="0">
            <a:off x="9772650" y="4152900"/>
            <a:ext cx="266700" cy="266700"/>
            <a:chOff x="0" y="0"/>
            <a:chExt cx="105363" cy="105363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105363" cy="105363"/>
            </a:xfrm>
            <a:custGeom>
              <a:avLst/>
              <a:gdLst/>
              <a:ahLst/>
              <a:cxnLst/>
              <a:rect r="r" b="b" t="t" l="l"/>
              <a:pathLst>
                <a:path h="105363" w="105363">
                  <a:moveTo>
                    <a:pt x="52681" y="0"/>
                  </a:moveTo>
                  <a:cubicBezTo>
                    <a:pt x="23586" y="0"/>
                    <a:pt x="0" y="23586"/>
                    <a:pt x="0" y="52681"/>
                  </a:cubicBezTo>
                  <a:cubicBezTo>
                    <a:pt x="0" y="81777"/>
                    <a:pt x="23586" y="105363"/>
                    <a:pt x="52681" y="105363"/>
                  </a:cubicBezTo>
                  <a:cubicBezTo>
                    <a:pt x="81777" y="105363"/>
                    <a:pt x="105363" y="81777"/>
                    <a:pt x="105363" y="52681"/>
                  </a:cubicBezTo>
                  <a:cubicBezTo>
                    <a:pt x="105363" y="23586"/>
                    <a:pt x="81777" y="0"/>
                    <a:pt x="52681" y="0"/>
                  </a:cubicBezTo>
                  <a:close/>
                </a:path>
              </a:pathLst>
            </a:custGeom>
            <a:solidFill>
              <a:srgbClr val="087E70"/>
            </a:solidFill>
          </p:spPr>
        </p:sp>
        <p:sp>
          <p:nvSpPr>
            <p:cNvPr name="TextBox 23" id="23"/>
            <p:cNvSpPr txBox="true"/>
            <p:nvPr/>
          </p:nvSpPr>
          <p:spPr>
            <a:xfrm>
              <a:off x="9878" y="9878"/>
              <a:ext cx="85607" cy="8560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372"/>
                </a:lnSpc>
              </a:pPr>
            </a:p>
          </p:txBody>
        </p:sp>
      </p:grp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</p:spPr>
      </p:sp>
      <p:grpSp>
        <p:nvGrpSpPr>
          <p:cNvPr name="Group 3" id="3"/>
          <p:cNvGrpSpPr/>
          <p:nvPr/>
        </p:nvGrpSpPr>
        <p:grpSpPr>
          <a:xfrm rot="0">
            <a:off x="0" y="0"/>
            <a:ext cx="12192000" cy="6858000"/>
            <a:chOff x="0" y="0"/>
            <a:chExt cx="16256000" cy="91440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6256000" cy="9144000"/>
            </a:xfrm>
            <a:custGeom>
              <a:avLst/>
              <a:gdLst/>
              <a:ahLst/>
              <a:cxnLst/>
              <a:rect r="r" b="b" t="t" l="l"/>
              <a:pathLst>
                <a:path h="9144000" w="16256000">
                  <a:moveTo>
                    <a:pt x="0" y="0"/>
                  </a:moveTo>
                  <a:lnTo>
                    <a:pt x="16256000" y="0"/>
                  </a:lnTo>
                  <a:lnTo>
                    <a:pt x="16256000" y="9144000"/>
                  </a:lnTo>
                  <a:lnTo>
                    <a:pt x="0" y="9144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sp>
        <p:nvSpPr>
          <p:cNvPr name="TextBox 5" id="5"/>
          <p:cNvSpPr txBox="true"/>
          <p:nvPr/>
        </p:nvSpPr>
        <p:spPr>
          <a:xfrm rot="0">
            <a:off x="11239500" y="6353175"/>
            <a:ext cx="428625" cy="1685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72"/>
              </a:lnSpc>
            </a:pPr>
            <a:r>
              <a:rPr lang="en-US" sz="1125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02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609600" y="600075"/>
            <a:ext cx="10972800" cy="59035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666"/>
              </a:lnSpc>
            </a:pPr>
            <a:r>
              <a:rPr lang="en-US" b="true" sz="3825">
                <a:solidFill>
                  <a:srgbClr val="151521"/>
                </a:solidFill>
                <a:latin typeface="DM Sans Bold"/>
                <a:ea typeface="DM Sans Bold"/>
                <a:cs typeface="DM Sans Bold"/>
                <a:sym typeface="DM Sans Bold"/>
              </a:rPr>
              <a:t>The search can become the study session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609600" y="2219325"/>
            <a:ext cx="4648200" cy="24364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21"/>
              </a:lnSpc>
            </a:pPr>
            <a:r>
              <a:rPr lang="en-US" b="true" sz="1575">
                <a:solidFill>
                  <a:srgbClr val="5753FA"/>
                </a:solidFill>
                <a:latin typeface="DM Sans Bold"/>
                <a:ea typeface="DM Sans Bold"/>
                <a:cs typeface="DM Sans Bold"/>
                <a:sym typeface="DM Sans Bold"/>
              </a:rPr>
              <a:t>01  WHAT THEY NEED TO FINISH</a:t>
            </a:r>
          </a:p>
        </p:txBody>
      </p:sp>
      <p:sp>
        <p:nvSpPr>
          <p:cNvPr name="AutoShape 8" id="8"/>
          <p:cNvSpPr/>
          <p:nvPr/>
        </p:nvSpPr>
        <p:spPr>
          <a:xfrm rot="0">
            <a:off x="609600" y="2714625"/>
            <a:ext cx="4648200" cy="2190750"/>
          </a:xfrm>
          <a:prstGeom prst="rect">
            <a:avLst/>
          </a:prstGeom>
          <a:solidFill>
            <a:srgbClr val="F0EFFF"/>
          </a:solidFill>
        </p:spPr>
      </p:sp>
      <p:sp>
        <p:nvSpPr>
          <p:cNvPr name="TextBox 9" id="9"/>
          <p:cNvSpPr txBox="true"/>
          <p:nvPr/>
        </p:nvSpPr>
        <p:spPr>
          <a:xfrm rot="0">
            <a:off x="838200" y="2971800"/>
            <a:ext cx="4191000" cy="337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53"/>
              </a:lnSpc>
            </a:pPr>
            <a:r>
              <a:rPr lang="en-US" b="true" sz="2175">
                <a:solidFill>
                  <a:srgbClr val="151521"/>
                </a:solidFill>
                <a:latin typeface="DM Sans Bold"/>
                <a:ea typeface="DM Sans Bold"/>
                <a:cs typeface="DM Sans Bold"/>
                <a:sym typeface="DM Sans Bold"/>
              </a:rPr>
              <a:t>Solve this equation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838200" y="3609975"/>
            <a:ext cx="4191000" cy="4872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843"/>
              </a:lnSpc>
            </a:pPr>
            <a:r>
              <a:rPr lang="en-US" b="true" sz="3150">
                <a:solidFill>
                  <a:srgbClr val="151521"/>
                </a:solidFill>
                <a:latin typeface="DM Sans Bold"/>
                <a:ea typeface="DM Sans Bold"/>
                <a:cs typeface="DM Sans Bold"/>
                <a:sym typeface="DM Sans Bold"/>
              </a:rPr>
              <a:t>x² + 7x + 12 = 0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838200" y="4371975"/>
            <a:ext cx="4191000" cy="2809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87"/>
              </a:lnSpc>
            </a:pPr>
            <a:r>
              <a:rPr lang="en-US" sz="1875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They search “quadratics”.</a:t>
            </a:r>
          </a:p>
        </p:txBody>
      </p:sp>
      <p:sp>
        <p:nvSpPr>
          <p:cNvPr name="AutoShape 12" id="12"/>
          <p:cNvSpPr/>
          <p:nvPr/>
        </p:nvSpPr>
        <p:spPr>
          <a:xfrm rot="0">
            <a:off x="5562600" y="3800475"/>
            <a:ext cx="876300" cy="38100"/>
          </a:xfrm>
          <a:prstGeom prst="rect">
            <a:avLst/>
          </a:prstGeom>
          <a:solidFill>
            <a:srgbClr val="C96331"/>
          </a:solidFill>
        </p:spPr>
      </p:sp>
      <p:grpSp>
        <p:nvGrpSpPr>
          <p:cNvPr name="Group 13" id="13"/>
          <p:cNvGrpSpPr/>
          <p:nvPr/>
        </p:nvGrpSpPr>
        <p:grpSpPr>
          <a:xfrm rot="1840140">
            <a:off x="6381083" y="3764852"/>
            <a:ext cx="171450" cy="28575"/>
            <a:chOff x="0" y="0"/>
            <a:chExt cx="228600" cy="3810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228600" cy="38100"/>
            </a:xfrm>
            <a:custGeom>
              <a:avLst/>
              <a:gdLst/>
              <a:ahLst/>
              <a:cxnLst/>
              <a:rect r="r" b="b" t="t" l="l"/>
              <a:pathLst>
                <a:path h="38100" w="228600">
                  <a:moveTo>
                    <a:pt x="19050" y="0"/>
                  </a:moveTo>
                  <a:lnTo>
                    <a:pt x="209550" y="0"/>
                  </a:lnTo>
                  <a:cubicBezTo>
                    <a:pt x="220091" y="0"/>
                    <a:pt x="228600" y="8509"/>
                    <a:pt x="228600" y="19050"/>
                  </a:cubicBezTo>
                  <a:cubicBezTo>
                    <a:pt x="228600" y="29591"/>
                    <a:pt x="220091" y="38100"/>
                    <a:pt x="209550" y="38100"/>
                  </a:cubicBezTo>
                  <a:lnTo>
                    <a:pt x="19050" y="38100"/>
                  </a:lnTo>
                  <a:cubicBezTo>
                    <a:pt x="8509" y="38100"/>
                    <a:pt x="0" y="29591"/>
                    <a:pt x="0" y="19050"/>
                  </a:cubicBezTo>
                  <a:cubicBezTo>
                    <a:pt x="0" y="8509"/>
                    <a:pt x="8509" y="0"/>
                    <a:pt x="19050" y="0"/>
                  </a:cubicBezTo>
                  <a:close/>
                </a:path>
              </a:pathLst>
            </a:custGeom>
            <a:solidFill>
              <a:srgbClr val="C96331"/>
            </a:solidFill>
          </p:spPr>
        </p:sp>
      </p:grpSp>
      <p:grpSp>
        <p:nvGrpSpPr>
          <p:cNvPr name="Group 15" id="15"/>
          <p:cNvGrpSpPr/>
          <p:nvPr/>
        </p:nvGrpSpPr>
        <p:grpSpPr>
          <a:xfrm rot="8959860">
            <a:off x="6372987" y="3850576"/>
            <a:ext cx="171450" cy="28575"/>
            <a:chOff x="0" y="0"/>
            <a:chExt cx="228600" cy="381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228600" cy="38100"/>
            </a:xfrm>
            <a:custGeom>
              <a:avLst/>
              <a:gdLst/>
              <a:ahLst/>
              <a:cxnLst/>
              <a:rect r="r" b="b" t="t" l="l"/>
              <a:pathLst>
                <a:path h="38100" w="228600">
                  <a:moveTo>
                    <a:pt x="19050" y="0"/>
                  </a:moveTo>
                  <a:lnTo>
                    <a:pt x="209550" y="0"/>
                  </a:lnTo>
                  <a:cubicBezTo>
                    <a:pt x="220091" y="0"/>
                    <a:pt x="228600" y="8509"/>
                    <a:pt x="228600" y="19050"/>
                  </a:cubicBezTo>
                  <a:cubicBezTo>
                    <a:pt x="228600" y="29591"/>
                    <a:pt x="220091" y="38100"/>
                    <a:pt x="209550" y="38100"/>
                  </a:cubicBezTo>
                  <a:lnTo>
                    <a:pt x="19050" y="38100"/>
                  </a:lnTo>
                  <a:cubicBezTo>
                    <a:pt x="8509" y="38100"/>
                    <a:pt x="0" y="29591"/>
                    <a:pt x="0" y="19050"/>
                  </a:cubicBezTo>
                  <a:cubicBezTo>
                    <a:pt x="0" y="8509"/>
                    <a:pt x="8509" y="0"/>
                    <a:pt x="19050" y="0"/>
                  </a:cubicBezTo>
                  <a:close/>
                </a:path>
              </a:pathLst>
            </a:custGeom>
            <a:solidFill>
              <a:srgbClr val="C96331"/>
            </a:solidFill>
          </p:spPr>
        </p:sp>
      </p:grpSp>
      <p:sp>
        <p:nvSpPr>
          <p:cNvPr name="TextBox 17" id="17"/>
          <p:cNvSpPr txBox="true"/>
          <p:nvPr/>
        </p:nvSpPr>
        <p:spPr>
          <a:xfrm rot="0">
            <a:off x="6934200" y="2219325"/>
            <a:ext cx="4648200" cy="24364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21"/>
              </a:lnSpc>
            </a:pPr>
            <a:r>
              <a:rPr lang="en-US" b="true" sz="1575">
                <a:solidFill>
                  <a:srgbClr val="087E70"/>
                </a:solidFill>
                <a:latin typeface="DM Sans Bold"/>
                <a:ea typeface="DM Sans Bold"/>
                <a:cs typeface="DM Sans Bold"/>
                <a:sym typeface="DM Sans Bold"/>
              </a:rPr>
              <a:t>02  WHAT MAY BE BLOCKING IT</a:t>
            </a:r>
          </a:p>
        </p:txBody>
      </p:sp>
      <p:sp>
        <p:nvSpPr>
          <p:cNvPr name="AutoShape 18" id="18"/>
          <p:cNvSpPr/>
          <p:nvPr/>
        </p:nvSpPr>
        <p:spPr>
          <a:xfrm rot="0">
            <a:off x="6934200" y="2714625"/>
            <a:ext cx="4648200" cy="2190750"/>
          </a:xfrm>
          <a:prstGeom prst="rect">
            <a:avLst/>
          </a:prstGeom>
          <a:solidFill>
            <a:srgbClr val="D9F2EA"/>
          </a:solidFill>
        </p:spPr>
      </p:sp>
      <p:sp>
        <p:nvSpPr>
          <p:cNvPr name="TextBox 19" id="19"/>
          <p:cNvSpPr txBox="true"/>
          <p:nvPr/>
        </p:nvSpPr>
        <p:spPr>
          <a:xfrm rot="0">
            <a:off x="7162800" y="2971800"/>
            <a:ext cx="4191000" cy="337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53"/>
              </a:lnSpc>
            </a:pPr>
            <a:r>
              <a:rPr lang="en-US" b="true" sz="2175">
                <a:solidFill>
                  <a:srgbClr val="151521"/>
                </a:solidFill>
                <a:latin typeface="DM Sans Bold"/>
                <a:ea typeface="DM Sans Bold"/>
                <a:cs typeface="DM Sans Bold"/>
                <a:sym typeface="DM Sans Bold"/>
              </a:rPr>
              <a:t>Find the factor pair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7162800" y="3552825"/>
            <a:ext cx="4191000" cy="3935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111"/>
              </a:lnSpc>
            </a:pPr>
            <a:r>
              <a:rPr lang="en-US" b="true" sz="2550">
                <a:solidFill>
                  <a:srgbClr val="087E70"/>
                </a:solidFill>
                <a:latin typeface="DM Sans Bold"/>
                <a:ea typeface="DM Sans Bold"/>
                <a:cs typeface="DM Sans Bold"/>
                <a:sym typeface="DM Sans Bold"/>
              </a:rPr>
              <a:t>Multiply to 12. Add to 7.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609600" y="5543550"/>
            <a:ext cx="10972800" cy="38423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019"/>
              </a:lnSpc>
            </a:pPr>
            <a:r>
              <a:rPr lang="en-US" b="true" sz="2475">
                <a:solidFill>
                  <a:srgbClr val="087E70"/>
                </a:solidFill>
                <a:latin typeface="DM Sans Bold"/>
                <a:ea typeface="DM Sans Bold"/>
                <a:cs typeface="DM Sans Bold"/>
                <a:sym typeface="DM Sans Bold"/>
              </a:rPr>
              <a:t>BACKTRACK checks the gap before choosing the repair.</a:t>
            </a:r>
          </a:p>
        </p:txBody>
      </p:sp>
      <p:sp>
        <p:nvSpPr>
          <p:cNvPr name="AutoShape 22" id="22"/>
          <p:cNvSpPr/>
          <p:nvPr/>
        </p:nvSpPr>
        <p:spPr>
          <a:xfrm>
            <a:off x="609600" y="1381125"/>
            <a:ext cx="10972800" cy="0"/>
          </a:xfrm>
          <a:prstGeom prst="line">
            <a:avLst/>
          </a:prstGeom>
          <a:ln cap="flat" w="19050">
            <a:solidFill>
              <a:srgbClr val="CCD7E4"/>
            </a:solidFill>
            <a:prstDash val="solid"/>
            <a:headEnd type="none" len="sm" w="sm"/>
            <a:tailEnd type="none" len="sm" w="sm"/>
          </a:ln>
        </p:spPr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</p:spPr>
      </p:sp>
      <p:grpSp>
        <p:nvGrpSpPr>
          <p:cNvPr name="Group 3" id="3"/>
          <p:cNvGrpSpPr/>
          <p:nvPr/>
        </p:nvGrpSpPr>
        <p:grpSpPr>
          <a:xfrm rot="0">
            <a:off x="0" y="0"/>
            <a:ext cx="12192000" cy="6858000"/>
            <a:chOff x="0" y="0"/>
            <a:chExt cx="16256000" cy="91440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6256000" cy="9144000"/>
            </a:xfrm>
            <a:custGeom>
              <a:avLst/>
              <a:gdLst/>
              <a:ahLst/>
              <a:cxnLst/>
              <a:rect r="r" b="b" t="t" l="l"/>
              <a:pathLst>
                <a:path h="9144000" w="16256000">
                  <a:moveTo>
                    <a:pt x="0" y="0"/>
                  </a:moveTo>
                  <a:lnTo>
                    <a:pt x="16256000" y="0"/>
                  </a:lnTo>
                  <a:lnTo>
                    <a:pt x="16256000" y="9144000"/>
                  </a:lnTo>
                  <a:lnTo>
                    <a:pt x="0" y="9144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sp>
        <p:nvSpPr>
          <p:cNvPr name="TextBox 5" id="5"/>
          <p:cNvSpPr txBox="true"/>
          <p:nvPr/>
        </p:nvSpPr>
        <p:spPr>
          <a:xfrm rot="0">
            <a:off x="11239500" y="6353175"/>
            <a:ext cx="428625" cy="1685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72"/>
              </a:lnSpc>
            </a:pPr>
            <a:r>
              <a:rPr lang="en-US" sz="1125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03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609600" y="609600"/>
            <a:ext cx="10972800" cy="5901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58"/>
              </a:lnSpc>
            </a:pPr>
            <a:r>
              <a:rPr lang="en-US" b="true" sz="3900">
                <a:solidFill>
                  <a:srgbClr val="151521"/>
                </a:solidFill>
                <a:latin typeface="DM Sans Bold"/>
                <a:ea typeface="DM Sans Bold"/>
                <a:cs typeface="DM Sans Bold"/>
                <a:sym typeface="DM Sans Bold"/>
              </a:rPr>
              <a:t>How BACKTRACK gets a learner unstuck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1476375" y="2876550"/>
            <a:ext cx="552450" cy="552450"/>
            <a:chOff x="0" y="0"/>
            <a:chExt cx="736600" cy="7366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736600" cy="736600"/>
            </a:xfrm>
            <a:custGeom>
              <a:avLst/>
              <a:gdLst/>
              <a:ahLst/>
              <a:cxnLst/>
              <a:rect r="r" b="b" t="t" l="l"/>
              <a:pathLst>
                <a:path h="736600" w="736600">
                  <a:moveTo>
                    <a:pt x="368300" y="0"/>
                  </a:moveTo>
                  <a:cubicBezTo>
                    <a:pt x="571754" y="0"/>
                    <a:pt x="736600" y="164846"/>
                    <a:pt x="736600" y="368300"/>
                  </a:cubicBezTo>
                  <a:cubicBezTo>
                    <a:pt x="736600" y="571754"/>
                    <a:pt x="571754" y="736600"/>
                    <a:pt x="368300" y="736600"/>
                  </a:cubicBezTo>
                  <a:cubicBezTo>
                    <a:pt x="164846" y="736600"/>
                    <a:pt x="0" y="571754"/>
                    <a:pt x="0" y="368300"/>
                  </a:cubicBezTo>
                  <a:cubicBezTo>
                    <a:pt x="0" y="164846"/>
                    <a:pt x="164846" y="0"/>
                    <a:pt x="368300" y="0"/>
                  </a:cubicBezTo>
                  <a:close/>
                </a:path>
              </a:pathLst>
            </a:custGeom>
            <a:solidFill>
              <a:srgbClr val="087E70"/>
            </a:solidFill>
          </p:spPr>
        </p:sp>
      </p:grpSp>
      <p:sp>
        <p:nvSpPr>
          <p:cNvPr name="TextBox 9" id="9"/>
          <p:cNvSpPr txBox="true"/>
          <p:nvPr/>
        </p:nvSpPr>
        <p:spPr>
          <a:xfrm rot="0">
            <a:off x="1562100" y="2952750"/>
            <a:ext cx="381000" cy="3467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45"/>
              </a:lnSpc>
            </a:pPr>
            <a:r>
              <a:rPr lang="en-US" b="true" sz="2250">
                <a:solidFill>
                  <a:srgbClr val="FFFFFF"/>
                </a:solidFill>
                <a:latin typeface="DM Sans Bold"/>
                <a:ea typeface="DM Sans Bold"/>
                <a:cs typeface="DM Sans Bold"/>
                <a:sym typeface="DM Sans Bold"/>
              </a:rPr>
              <a:t>1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609600" y="3629025"/>
            <a:ext cx="2286000" cy="6707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53"/>
              </a:lnSpc>
            </a:pPr>
            <a:r>
              <a:rPr lang="en-US" sz="2175" b="true">
                <a:solidFill>
                  <a:srgbClr val="151521"/>
                </a:solidFill>
                <a:latin typeface="DM Sans Bold"/>
                <a:ea typeface="DM Sans Bold"/>
                <a:cs typeface="DM Sans Bold"/>
                <a:sym typeface="DM Sans Bold"/>
              </a:rPr>
              <a:t>Try today’s</a:t>
            </a:r>
          </a:p>
          <a:p>
            <a:pPr algn="ctr">
              <a:lnSpc>
                <a:spcPts val="2653"/>
              </a:lnSpc>
            </a:pPr>
            <a:r>
              <a:rPr lang="en-US" b="true" sz="2175">
                <a:solidFill>
                  <a:srgbClr val="151521"/>
                </a:solidFill>
                <a:latin typeface="DM Sans Bold"/>
                <a:ea typeface="DM Sans Bold"/>
                <a:cs typeface="DM Sans Bold"/>
                <a:sym typeface="DM Sans Bold"/>
              </a:rPr>
              <a:t>task</a:t>
            </a:r>
          </a:p>
        </p:txBody>
      </p:sp>
      <p:sp>
        <p:nvSpPr>
          <p:cNvPr name="AutoShape 11" id="11"/>
          <p:cNvSpPr/>
          <p:nvPr/>
        </p:nvSpPr>
        <p:spPr>
          <a:xfrm rot="0">
            <a:off x="2419350" y="3133725"/>
            <a:ext cx="876300" cy="38100"/>
          </a:xfrm>
          <a:prstGeom prst="rect">
            <a:avLst/>
          </a:prstGeom>
          <a:solidFill>
            <a:srgbClr val="CCD7E4"/>
          </a:solidFill>
        </p:spPr>
      </p:sp>
      <p:grpSp>
        <p:nvGrpSpPr>
          <p:cNvPr name="Group 12" id="12"/>
          <p:cNvGrpSpPr/>
          <p:nvPr/>
        </p:nvGrpSpPr>
        <p:grpSpPr>
          <a:xfrm rot="1840140">
            <a:off x="3237833" y="3098102"/>
            <a:ext cx="171450" cy="28575"/>
            <a:chOff x="0" y="0"/>
            <a:chExt cx="228600" cy="381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228600" cy="38100"/>
            </a:xfrm>
            <a:custGeom>
              <a:avLst/>
              <a:gdLst/>
              <a:ahLst/>
              <a:cxnLst/>
              <a:rect r="r" b="b" t="t" l="l"/>
              <a:pathLst>
                <a:path h="38100" w="228600">
                  <a:moveTo>
                    <a:pt x="19050" y="0"/>
                  </a:moveTo>
                  <a:lnTo>
                    <a:pt x="209550" y="0"/>
                  </a:lnTo>
                  <a:cubicBezTo>
                    <a:pt x="220091" y="0"/>
                    <a:pt x="228600" y="8509"/>
                    <a:pt x="228600" y="19050"/>
                  </a:cubicBezTo>
                  <a:cubicBezTo>
                    <a:pt x="228600" y="29591"/>
                    <a:pt x="220091" y="38100"/>
                    <a:pt x="209550" y="38100"/>
                  </a:cubicBezTo>
                  <a:lnTo>
                    <a:pt x="19050" y="38100"/>
                  </a:lnTo>
                  <a:cubicBezTo>
                    <a:pt x="8509" y="38100"/>
                    <a:pt x="0" y="29591"/>
                    <a:pt x="0" y="19050"/>
                  </a:cubicBezTo>
                  <a:cubicBezTo>
                    <a:pt x="0" y="8509"/>
                    <a:pt x="8509" y="0"/>
                    <a:pt x="19050" y="0"/>
                  </a:cubicBezTo>
                  <a:close/>
                </a:path>
              </a:pathLst>
            </a:custGeom>
            <a:solidFill>
              <a:srgbClr val="CCD7E4"/>
            </a:solidFill>
          </p:spPr>
        </p:sp>
      </p:grpSp>
      <p:grpSp>
        <p:nvGrpSpPr>
          <p:cNvPr name="Group 14" id="14"/>
          <p:cNvGrpSpPr/>
          <p:nvPr/>
        </p:nvGrpSpPr>
        <p:grpSpPr>
          <a:xfrm rot="8959860">
            <a:off x="3229737" y="3183826"/>
            <a:ext cx="171450" cy="28575"/>
            <a:chOff x="0" y="0"/>
            <a:chExt cx="228600" cy="3810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228600" cy="38100"/>
            </a:xfrm>
            <a:custGeom>
              <a:avLst/>
              <a:gdLst/>
              <a:ahLst/>
              <a:cxnLst/>
              <a:rect r="r" b="b" t="t" l="l"/>
              <a:pathLst>
                <a:path h="38100" w="228600">
                  <a:moveTo>
                    <a:pt x="19050" y="0"/>
                  </a:moveTo>
                  <a:lnTo>
                    <a:pt x="209550" y="0"/>
                  </a:lnTo>
                  <a:cubicBezTo>
                    <a:pt x="220091" y="0"/>
                    <a:pt x="228600" y="8509"/>
                    <a:pt x="228600" y="19050"/>
                  </a:cubicBezTo>
                  <a:cubicBezTo>
                    <a:pt x="228600" y="29591"/>
                    <a:pt x="220091" y="38100"/>
                    <a:pt x="209550" y="38100"/>
                  </a:cubicBezTo>
                  <a:lnTo>
                    <a:pt x="19050" y="38100"/>
                  </a:lnTo>
                  <a:cubicBezTo>
                    <a:pt x="8509" y="38100"/>
                    <a:pt x="0" y="29591"/>
                    <a:pt x="0" y="19050"/>
                  </a:cubicBezTo>
                  <a:cubicBezTo>
                    <a:pt x="0" y="8509"/>
                    <a:pt x="8509" y="0"/>
                    <a:pt x="19050" y="0"/>
                  </a:cubicBezTo>
                  <a:close/>
                </a:path>
              </a:pathLst>
            </a:custGeom>
            <a:solidFill>
              <a:srgbClr val="CCD7E4"/>
            </a:solidFill>
          </p:spPr>
        </p:sp>
      </p:grpSp>
      <p:grpSp>
        <p:nvGrpSpPr>
          <p:cNvPr name="Group 16" id="16"/>
          <p:cNvGrpSpPr/>
          <p:nvPr/>
        </p:nvGrpSpPr>
        <p:grpSpPr>
          <a:xfrm rot="0">
            <a:off x="4371975" y="2876550"/>
            <a:ext cx="552450" cy="552450"/>
            <a:chOff x="0" y="0"/>
            <a:chExt cx="736600" cy="73660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736600" cy="736600"/>
            </a:xfrm>
            <a:custGeom>
              <a:avLst/>
              <a:gdLst/>
              <a:ahLst/>
              <a:cxnLst/>
              <a:rect r="r" b="b" t="t" l="l"/>
              <a:pathLst>
                <a:path h="736600" w="736600">
                  <a:moveTo>
                    <a:pt x="368300" y="0"/>
                  </a:moveTo>
                  <a:cubicBezTo>
                    <a:pt x="571754" y="0"/>
                    <a:pt x="736600" y="164846"/>
                    <a:pt x="736600" y="368300"/>
                  </a:cubicBezTo>
                  <a:cubicBezTo>
                    <a:pt x="736600" y="571754"/>
                    <a:pt x="571754" y="736600"/>
                    <a:pt x="368300" y="736600"/>
                  </a:cubicBezTo>
                  <a:cubicBezTo>
                    <a:pt x="164846" y="736600"/>
                    <a:pt x="0" y="571754"/>
                    <a:pt x="0" y="368300"/>
                  </a:cubicBezTo>
                  <a:cubicBezTo>
                    <a:pt x="0" y="164846"/>
                    <a:pt x="164846" y="0"/>
                    <a:pt x="368300" y="0"/>
                  </a:cubicBezTo>
                  <a:close/>
                </a:path>
              </a:pathLst>
            </a:custGeom>
            <a:solidFill>
              <a:srgbClr val="C96331"/>
            </a:solidFill>
          </p:spPr>
        </p:sp>
      </p:grpSp>
      <p:sp>
        <p:nvSpPr>
          <p:cNvPr name="TextBox 18" id="18"/>
          <p:cNvSpPr txBox="true"/>
          <p:nvPr/>
        </p:nvSpPr>
        <p:spPr>
          <a:xfrm rot="0">
            <a:off x="4457700" y="2952750"/>
            <a:ext cx="381000" cy="3467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45"/>
              </a:lnSpc>
            </a:pPr>
            <a:r>
              <a:rPr lang="en-US" b="true" sz="2250">
                <a:solidFill>
                  <a:srgbClr val="FFFFFF"/>
                </a:solidFill>
                <a:latin typeface="DM Sans Bold"/>
                <a:ea typeface="DM Sans Bold"/>
                <a:cs typeface="DM Sans Bold"/>
                <a:sym typeface="DM Sans Bold"/>
              </a:rPr>
              <a:t>2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3505200" y="3629025"/>
            <a:ext cx="2286000" cy="6707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53"/>
              </a:lnSpc>
            </a:pPr>
            <a:r>
              <a:rPr lang="en-US" sz="2175" b="true">
                <a:solidFill>
                  <a:srgbClr val="151521"/>
                </a:solidFill>
                <a:latin typeface="DM Sans Bold"/>
                <a:ea typeface="DM Sans Bold"/>
                <a:cs typeface="DM Sans Bold"/>
                <a:sym typeface="DM Sans Bold"/>
              </a:rPr>
              <a:t>Check earlier</a:t>
            </a:r>
          </a:p>
          <a:p>
            <a:pPr algn="ctr">
              <a:lnSpc>
                <a:spcPts val="2653"/>
              </a:lnSpc>
            </a:pPr>
            <a:r>
              <a:rPr lang="en-US" b="true" sz="2175">
                <a:solidFill>
                  <a:srgbClr val="151521"/>
                </a:solidFill>
                <a:latin typeface="DM Sans Bold"/>
                <a:ea typeface="DM Sans Bold"/>
                <a:cs typeface="DM Sans Bold"/>
                <a:sym typeface="DM Sans Bold"/>
              </a:rPr>
              <a:t>skills</a:t>
            </a:r>
          </a:p>
        </p:txBody>
      </p:sp>
      <p:sp>
        <p:nvSpPr>
          <p:cNvPr name="AutoShape 20" id="20"/>
          <p:cNvSpPr/>
          <p:nvPr/>
        </p:nvSpPr>
        <p:spPr>
          <a:xfrm rot="0">
            <a:off x="5314950" y="3133725"/>
            <a:ext cx="876300" cy="38100"/>
          </a:xfrm>
          <a:prstGeom prst="rect">
            <a:avLst/>
          </a:prstGeom>
          <a:solidFill>
            <a:srgbClr val="CCD7E4"/>
          </a:solidFill>
        </p:spPr>
      </p:sp>
      <p:grpSp>
        <p:nvGrpSpPr>
          <p:cNvPr name="Group 21" id="21"/>
          <p:cNvGrpSpPr/>
          <p:nvPr/>
        </p:nvGrpSpPr>
        <p:grpSpPr>
          <a:xfrm rot="1840140">
            <a:off x="6133433" y="3098102"/>
            <a:ext cx="171450" cy="28575"/>
            <a:chOff x="0" y="0"/>
            <a:chExt cx="228600" cy="3810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228600" cy="38100"/>
            </a:xfrm>
            <a:custGeom>
              <a:avLst/>
              <a:gdLst/>
              <a:ahLst/>
              <a:cxnLst/>
              <a:rect r="r" b="b" t="t" l="l"/>
              <a:pathLst>
                <a:path h="38100" w="228600">
                  <a:moveTo>
                    <a:pt x="19050" y="0"/>
                  </a:moveTo>
                  <a:lnTo>
                    <a:pt x="209550" y="0"/>
                  </a:lnTo>
                  <a:cubicBezTo>
                    <a:pt x="220091" y="0"/>
                    <a:pt x="228600" y="8509"/>
                    <a:pt x="228600" y="19050"/>
                  </a:cubicBezTo>
                  <a:cubicBezTo>
                    <a:pt x="228600" y="29591"/>
                    <a:pt x="220091" y="38100"/>
                    <a:pt x="209550" y="38100"/>
                  </a:cubicBezTo>
                  <a:lnTo>
                    <a:pt x="19050" y="38100"/>
                  </a:lnTo>
                  <a:cubicBezTo>
                    <a:pt x="8509" y="38100"/>
                    <a:pt x="0" y="29591"/>
                    <a:pt x="0" y="19050"/>
                  </a:cubicBezTo>
                  <a:cubicBezTo>
                    <a:pt x="0" y="8509"/>
                    <a:pt x="8509" y="0"/>
                    <a:pt x="19050" y="0"/>
                  </a:cubicBezTo>
                  <a:close/>
                </a:path>
              </a:pathLst>
            </a:custGeom>
            <a:solidFill>
              <a:srgbClr val="CCD7E4"/>
            </a:solidFill>
          </p:spPr>
        </p:sp>
      </p:grpSp>
      <p:grpSp>
        <p:nvGrpSpPr>
          <p:cNvPr name="Group 23" id="23"/>
          <p:cNvGrpSpPr/>
          <p:nvPr/>
        </p:nvGrpSpPr>
        <p:grpSpPr>
          <a:xfrm rot="8959860">
            <a:off x="6125337" y="3183826"/>
            <a:ext cx="171450" cy="28575"/>
            <a:chOff x="0" y="0"/>
            <a:chExt cx="228600" cy="3810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228600" cy="38100"/>
            </a:xfrm>
            <a:custGeom>
              <a:avLst/>
              <a:gdLst/>
              <a:ahLst/>
              <a:cxnLst/>
              <a:rect r="r" b="b" t="t" l="l"/>
              <a:pathLst>
                <a:path h="38100" w="228600">
                  <a:moveTo>
                    <a:pt x="19050" y="0"/>
                  </a:moveTo>
                  <a:lnTo>
                    <a:pt x="209550" y="0"/>
                  </a:lnTo>
                  <a:cubicBezTo>
                    <a:pt x="220091" y="0"/>
                    <a:pt x="228600" y="8509"/>
                    <a:pt x="228600" y="19050"/>
                  </a:cubicBezTo>
                  <a:cubicBezTo>
                    <a:pt x="228600" y="29591"/>
                    <a:pt x="220091" y="38100"/>
                    <a:pt x="209550" y="38100"/>
                  </a:cubicBezTo>
                  <a:lnTo>
                    <a:pt x="19050" y="38100"/>
                  </a:lnTo>
                  <a:cubicBezTo>
                    <a:pt x="8509" y="38100"/>
                    <a:pt x="0" y="29591"/>
                    <a:pt x="0" y="19050"/>
                  </a:cubicBezTo>
                  <a:cubicBezTo>
                    <a:pt x="0" y="8509"/>
                    <a:pt x="8509" y="0"/>
                    <a:pt x="19050" y="0"/>
                  </a:cubicBezTo>
                  <a:close/>
                </a:path>
              </a:pathLst>
            </a:custGeom>
            <a:solidFill>
              <a:srgbClr val="CCD7E4"/>
            </a:solidFill>
          </p:spPr>
        </p:sp>
      </p:grpSp>
      <p:grpSp>
        <p:nvGrpSpPr>
          <p:cNvPr name="Group 25" id="25"/>
          <p:cNvGrpSpPr/>
          <p:nvPr/>
        </p:nvGrpSpPr>
        <p:grpSpPr>
          <a:xfrm rot="0">
            <a:off x="7267575" y="2876550"/>
            <a:ext cx="552450" cy="552450"/>
            <a:chOff x="0" y="0"/>
            <a:chExt cx="736600" cy="73660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736600" cy="736600"/>
            </a:xfrm>
            <a:custGeom>
              <a:avLst/>
              <a:gdLst/>
              <a:ahLst/>
              <a:cxnLst/>
              <a:rect r="r" b="b" t="t" l="l"/>
              <a:pathLst>
                <a:path h="736600" w="736600">
                  <a:moveTo>
                    <a:pt x="368300" y="0"/>
                  </a:moveTo>
                  <a:cubicBezTo>
                    <a:pt x="571754" y="0"/>
                    <a:pt x="736600" y="164846"/>
                    <a:pt x="736600" y="368300"/>
                  </a:cubicBezTo>
                  <a:cubicBezTo>
                    <a:pt x="736600" y="571754"/>
                    <a:pt x="571754" y="736600"/>
                    <a:pt x="368300" y="736600"/>
                  </a:cubicBezTo>
                  <a:cubicBezTo>
                    <a:pt x="164846" y="736600"/>
                    <a:pt x="0" y="571754"/>
                    <a:pt x="0" y="368300"/>
                  </a:cubicBezTo>
                  <a:cubicBezTo>
                    <a:pt x="0" y="164846"/>
                    <a:pt x="164846" y="0"/>
                    <a:pt x="368300" y="0"/>
                  </a:cubicBezTo>
                  <a:close/>
                </a:path>
              </a:pathLst>
            </a:custGeom>
            <a:solidFill>
              <a:srgbClr val="087E70"/>
            </a:solidFill>
          </p:spPr>
        </p:sp>
      </p:grpSp>
      <p:sp>
        <p:nvSpPr>
          <p:cNvPr name="TextBox 27" id="27"/>
          <p:cNvSpPr txBox="true"/>
          <p:nvPr/>
        </p:nvSpPr>
        <p:spPr>
          <a:xfrm rot="0">
            <a:off x="7353300" y="2952750"/>
            <a:ext cx="381000" cy="3467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45"/>
              </a:lnSpc>
            </a:pPr>
            <a:r>
              <a:rPr lang="en-US" b="true" sz="2250">
                <a:solidFill>
                  <a:srgbClr val="FFFFFF"/>
                </a:solidFill>
                <a:latin typeface="DM Sans Bold"/>
                <a:ea typeface="DM Sans Bold"/>
                <a:cs typeface="DM Sans Bold"/>
                <a:sym typeface="DM Sans Bold"/>
              </a:rPr>
              <a:t>3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6400800" y="3629025"/>
            <a:ext cx="2286000" cy="6707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53"/>
              </a:lnSpc>
            </a:pPr>
            <a:r>
              <a:rPr lang="en-US" sz="2175" b="true">
                <a:solidFill>
                  <a:srgbClr val="151521"/>
                </a:solidFill>
                <a:latin typeface="DM Sans Bold"/>
                <a:ea typeface="DM Sans Bold"/>
                <a:cs typeface="DM Sans Bold"/>
                <a:sym typeface="DM Sans Bold"/>
              </a:rPr>
              <a:t>Practice with</a:t>
            </a:r>
          </a:p>
          <a:p>
            <a:pPr algn="ctr">
              <a:lnSpc>
                <a:spcPts val="2653"/>
              </a:lnSpc>
            </a:pPr>
            <a:r>
              <a:rPr lang="en-US" b="true" sz="2175">
                <a:solidFill>
                  <a:srgbClr val="151521"/>
                </a:solidFill>
                <a:latin typeface="DM Sans Bold"/>
                <a:ea typeface="DM Sans Bold"/>
                <a:cs typeface="DM Sans Bold"/>
                <a:sym typeface="DM Sans Bold"/>
              </a:rPr>
              <a:t>Khan Academy</a:t>
            </a:r>
          </a:p>
        </p:txBody>
      </p:sp>
      <p:sp>
        <p:nvSpPr>
          <p:cNvPr name="AutoShape 29" id="29"/>
          <p:cNvSpPr/>
          <p:nvPr/>
        </p:nvSpPr>
        <p:spPr>
          <a:xfrm rot="0">
            <a:off x="8210550" y="3133725"/>
            <a:ext cx="876300" cy="38100"/>
          </a:xfrm>
          <a:prstGeom prst="rect">
            <a:avLst/>
          </a:prstGeom>
          <a:solidFill>
            <a:srgbClr val="CCD7E4"/>
          </a:solidFill>
        </p:spPr>
      </p:sp>
      <p:grpSp>
        <p:nvGrpSpPr>
          <p:cNvPr name="Group 30" id="30"/>
          <p:cNvGrpSpPr/>
          <p:nvPr/>
        </p:nvGrpSpPr>
        <p:grpSpPr>
          <a:xfrm rot="1840140">
            <a:off x="9029033" y="3098102"/>
            <a:ext cx="171450" cy="28575"/>
            <a:chOff x="0" y="0"/>
            <a:chExt cx="228600" cy="38100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228600" cy="38100"/>
            </a:xfrm>
            <a:custGeom>
              <a:avLst/>
              <a:gdLst/>
              <a:ahLst/>
              <a:cxnLst/>
              <a:rect r="r" b="b" t="t" l="l"/>
              <a:pathLst>
                <a:path h="38100" w="228600">
                  <a:moveTo>
                    <a:pt x="19050" y="0"/>
                  </a:moveTo>
                  <a:lnTo>
                    <a:pt x="209550" y="0"/>
                  </a:lnTo>
                  <a:cubicBezTo>
                    <a:pt x="220091" y="0"/>
                    <a:pt x="228600" y="8509"/>
                    <a:pt x="228600" y="19050"/>
                  </a:cubicBezTo>
                  <a:cubicBezTo>
                    <a:pt x="228600" y="29591"/>
                    <a:pt x="220091" y="38100"/>
                    <a:pt x="209550" y="38100"/>
                  </a:cubicBezTo>
                  <a:lnTo>
                    <a:pt x="19050" y="38100"/>
                  </a:lnTo>
                  <a:cubicBezTo>
                    <a:pt x="8509" y="38100"/>
                    <a:pt x="0" y="29591"/>
                    <a:pt x="0" y="19050"/>
                  </a:cubicBezTo>
                  <a:cubicBezTo>
                    <a:pt x="0" y="8509"/>
                    <a:pt x="8509" y="0"/>
                    <a:pt x="19050" y="0"/>
                  </a:cubicBezTo>
                  <a:close/>
                </a:path>
              </a:pathLst>
            </a:custGeom>
            <a:solidFill>
              <a:srgbClr val="CCD7E4"/>
            </a:solidFill>
          </p:spPr>
        </p:sp>
      </p:grpSp>
      <p:grpSp>
        <p:nvGrpSpPr>
          <p:cNvPr name="Group 32" id="32"/>
          <p:cNvGrpSpPr/>
          <p:nvPr/>
        </p:nvGrpSpPr>
        <p:grpSpPr>
          <a:xfrm rot="8959860">
            <a:off x="9020937" y="3183826"/>
            <a:ext cx="171450" cy="28575"/>
            <a:chOff x="0" y="0"/>
            <a:chExt cx="228600" cy="38100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228600" cy="38100"/>
            </a:xfrm>
            <a:custGeom>
              <a:avLst/>
              <a:gdLst/>
              <a:ahLst/>
              <a:cxnLst/>
              <a:rect r="r" b="b" t="t" l="l"/>
              <a:pathLst>
                <a:path h="38100" w="228600">
                  <a:moveTo>
                    <a:pt x="19050" y="0"/>
                  </a:moveTo>
                  <a:lnTo>
                    <a:pt x="209550" y="0"/>
                  </a:lnTo>
                  <a:cubicBezTo>
                    <a:pt x="220091" y="0"/>
                    <a:pt x="228600" y="8509"/>
                    <a:pt x="228600" y="19050"/>
                  </a:cubicBezTo>
                  <a:cubicBezTo>
                    <a:pt x="228600" y="29591"/>
                    <a:pt x="220091" y="38100"/>
                    <a:pt x="209550" y="38100"/>
                  </a:cubicBezTo>
                  <a:lnTo>
                    <a:pt x="19050" y="38100"/>
                  </a:lnTo>
                  <a:cubicBezTo>
                    <a:pt x="8509" y="38100"/>
                    <a:pt x="0" y="29591"/>
                    <a:pt x="0" y="19050"/>
                  </a:cubicBezTo>
                  <a:cubicBezTo>
                    <a:pt x="0" y="8509"/>
                    <a:pt x="8509" y="0"/>
                    <a:pt x="19050" y="0"/>
                  </a:cubicBezTo>
                  <a:close/>
                </a:path>
              </a:pathLst>
            </a:custGeom>
            <a:solidFill>
              <a:srgbClr val="CCD7E4"/>
            </a:solidFill>
          </p:spPr>
        </p:sp>
      </p:grpSp>
      <p:grpSp>
        <p:nvGrpSpPr>
          <p:cNvPr name="Group 34" id="34"/>
          <p:cNvGrpSpPr/>
          <p:nvPr/>
        </p:nvGrpSpPr>
        <p:grpSpPr>
          <a:xfrm rot="0">
            <a:off x="10163175" y="2876550"/>
            <a:ext cx="552450" cy="552450"/>
            <a:chOff x="0" y="0"/>
            <a:chExt cx="736600" cy="736600"/>
          </a:xfrm>
        </p:grpSpPr>
        <p:sp>
          <p:nvSpPr>
            <p:cNvPr name="Freeform 35" id="35"/>
            <p:cNvSpPr/>
            <p:nvPr/>
          </p:nvSpPr>
          <p:spPr>
            <a:xfrm flipH="false" flipV="false" rot="0">
              <a:off x="0" y="0"/>
              <a:ext cx="736600" cy="736600"/>
            </a:xfrm>
            <a:custGeom>
              <a:avLst/>
              <a:gdLst/>
              <a:ahLst/>
              <a:cxnLst/>
              <a:rect r="r" b="b" t="t" l="l"/>
              <a:pathLst>
                <a:path h="736600" w="736600">
                  <a:moveTo>
                    <a:pt x="368300" y="0"/>
                  </a:moveTo>
                  <a:cubicBezTo>
                    <a:pt x="571754" y="0"/>
                    <a:pt x="736600" y="164846"/>
                    <a:pt x="736600" y="368300"/>
                  </a:cubicBezTo>
                  <a:cubicBezTo>
                    <a:pt x="736600" y="571754"/>
                    <a:pt x="571754" y="736600"/>
                    <a:pt x="368300" y="736600"/>
                  </a:cubicBezTo>
                  <a:cubicBezTo>
                    <a:pt x="164846" y="736600"/>
                    <a:pt x="0" y="571754"/>
                    <a:pt x="0" y="368300"/>
                  </a:cubicBezTo>
                  <a:cubicBezTo>
                    <a:pt x="0" y="164846"/>
                    <a:pt x="164846" y="0"/>
                    <a:pt x="368300" y="0"/>
                  </a:cubicBezTo>
                  <a:close/>
                </a:path>
              </a:pathLst>
            </a:custGeom>
            <a:solidFill>
              <a:srgbClr val="5753FA"/>
            </a:solidFill>
          </p:spPr>
        </p:sp>
      </p:grpSp>
      <p:sp>
        <p:nvSpPr>
          <p:cNvPr name="TextBox 36" id="36"/>
          <p:cNvSpPr txBox="true"/>
          <p:nvPr/>
        </p:nvSpPr>
        <p:spPr>
          <a:xfrm rot="0">
            <a:off x="10248900" y="2952750"/>
            <a:ext cx="381000" cy="3467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45"/>
              </a:lnSpc>
            </a:pPr>
            <a:r>
              <a:rPr lang="en-US" b="true" sz="2250">
                <a:solidFill>
                  <a:srgbClr val="FFFFFF"/>
                </a:solidFill>
                <a:latin typeface="DM Sans Bold"/>
                <a:ea typeface="DM Sans Bold"/>
                <a:cs typeface="DM Sans Bold"/>
                <a:sym typeface="DM Sans Bold"/>
              </a:rPr>
              <a:t>4</a:t>
            </a:r>
          </a:p>
        </p:txBody>
      </p:sp>
      <p:sp>
        <p:nvSpPr>
          <p:cNvPr name="TextBox 37" id="37"/>
          <p:cNvSpPr txBox="true"/>
          <p:nvPr/>
        </p:nvSpPr>
        <p:spPr>
          <a:xfrm rot="0">
            <a:off x="9296400" y="3629025"/>
            <a:ext cx="2286000" cy="6707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53"/>
              </a:lnSpc>
            </a:pPr>
            <a:r>
              <a:rPr lang="en-US" sz="2175" b="true">
                <a:solidFill>
                  <a:srgbClr val="151521"/>
                </a:solidFill>
                <a:latin typeface="DM Sans Bold"/>
                <a:ea typeface="DM Sans Bold"/>
                <a:cs typeface="DM Sans Bold"/>
                <a:sym typeface="DM Sans Bold"/>
              </a:rPr>
              <a:t>Try it again with</a:t>
            </a:r>
          </a:p>
          <a:p>
            <a:pPr algn="ctr">
              <a:lnSpc>
                <a:spcPts val="2653"/>
              </a:lnSpc>
            </a:pPr>
            <a:r>
              <a:rPr lang="en-US" b="true" sz="2175">
                <a:solidFill>
                  <a:srgbClr val="151521"/>
                </a:solidFill>
                <a:latin typeface="DM Sans Bold"/>
                <a:ea typeface="DM Sans Bold"/>
                <a:cs typeface="DM Sans Bold"/>
                <a:sym typeface="DM Sans Bold"/>
              </a:rPr>
              <a:t>fresh numbers</a:t>
            </a:r>
          </a:p>
        </p:txBody>
      </p:sp>
      <p:sp>
        <p:nvSpPr>
          <p:cNvPr name="TextBox 38" id="38"/>
          <p:cNvSpPr txBox="true"/>
          <p:nvPr/>
        </p:nvSpPr>
        <p:spPr>
          <a:xfrm rot="0">
            <a:off x="609600" y="5448300"/>
            <a:ext cx="10972800" cy="337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53"/>
              </a:lnSpc>
            </a:pPr>
            <a:r>
              <a:rPr lang="en-US" sz="2175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Answers choose the next step. Fresh problems check the return.</a:t>
            </a:r>
          </a:p>
        </p:txBody>
      </p:sp>
      <p:sp>
        <p:nvSpPr>
          <p:cNvPr name="AutoShape 39" id="39"/>
          <p:cNvSpPr/>
          <p:nvPr/>
        </p:nvSpPr>
        <p:spPr>
          <a:xfrm>
            <a:off x="609600" y="1381125"/>
            <a:ext cx="10972800" cy="0"/>
          </a:xfrm>
          <a:prstGeom prst="line">
            <a:avLst/>
          </a:prstGeom>
          <a:ln cap="flat" w="19050">
            <a:solidFill>
              <a:srgbClr val="CCD7E4"/>
            </a:solidFill>
            <a:prstDash val="solid"/>
            <a:headEnd type="none" len="sm" w="sm"/>
            <a:tailEnd type="none" len="sm" w="sm"/>
          </a:ln>
        </p:spPr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</p:spPr>
      </p:sp>
      <p:grpSp>
        <p:nvGrpSpPr>
          <p:cNvPr name="Group 3" id="3"/>
          <p:cNvGrpSpPr/>
          <p:nvPr/>
        </p:nvGrpSpPr>
        <p:grpSpPr>
          <a:xfrm rot="0">
            <a:off x="0" y="0"/>
            <a:ext cx="12192000" cy="6858000"/>
            <a:chOff x="0" y="0"/>
            <a:chExt cx="16256000" cy="91440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6256000" cy="9144000"/>
            </a:xfrm>
            <a:custGeom>
              <a:avLst/>
              <a:gdLst/>
              <a:ahLst/>
              <a:cxnLst/>
              <a:rect r="r" b="b" t="t" l="l"/>
              <a:pathLst>
                <a:path h="9144000" w="16256000">
                  <a:moveTo>
                    <a:pt x="0" y="0"/>
                  </a:moveTo>
                  <a:lnTo>
                    <a:pt x="16256000" y="0"/>
                  </a:lnTo>
                  <a:lnTo>
                    <a:pt x="16256000" y="9144000"/>
                  </a:lnTo>
                  <a:lnTo>
                    <a:pt x="0" y="9144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sp>
        <p:nvSpPr>
          <p:cNvPr name="Freeform 5" id="5"/>
          <p:cNvSpPr/>
          <p:nvPr/>
        </p:nvSpPr>
        <p:spPr>
          <a:xfrm flipH="false" flipV="false" rot="0">
            <a:off x="609600" y="4762500"/>
            <a:ext cx="10972800" cy="895350"/>
          </a:xfrm>
          <a:custGeom>
            <a:avLst/>
            <a:gdLst/>
            <a:ahLst/>
            <a:cxnLst/>
            <a:rect r="r" b="b" t="t" l="l"/>
            <a:pathLst>
              <a:path h="895350" w="10972800">
                <a:moveTo>
                  <a:pt x="0" y="0"/>
                </a:moveTo>
                <a:lnTo>
                  <a:pt x="10972800" y="0"/>
                </a:lnTo>
                <a:lnTo>
                  <a:pt x="10972800" y="895350"/>
                </a:lnTo>
                <a:lnTo>
                  <a:pt x="0" y="89535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AutoShape 6" id="6"/>
          <p:cNvSpPr/>
          <p:nvPr/>
        </p:nvSpPr>
        <p:spPr>
          <a:xfrm>
            <a:off x="609600" y="1381125"/>
            <a:ext cx="10972800" cy="0"/>
          </a:xfrm>
          <a:prstGeom prst="line">
            <a:avLst/>
          </a:prstGeom>
          <a:ln cap="flat" w="19050">
            <a:solidFill>
              <a:srgbClr val="CCD7E4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7" id="7"/>
          <p:cNvGrpSpPr/>
          <p:nvPr/>
        </p:nvGrpSpPr>
        <p:grpSpPr>
          <a:xfrm rot="0">
            <a:off x="609600" y="2571750"/>
            <a:ext cx="5029200" cy="2190750"/>
            <a:chOff x="0" y="0"/>
            <a:chExt cx="1986844" cy="865481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986844" cy="865481"/>
            </a:xfrm>
            <a:custGeom>
              <a:avLst/>
              <a:gdLst/>
              <a:ahLst/>
              <a:cxnLst/>
              <a:rect r="r" b="b" t="t" l="l"/>
              <a:pathLst>
                <a:path h="865481" w="1986844">
                  <a:moveTo>
                    <a:pt x="18473" y="0"/>
                  </a:moveTo>
                  <a:lnTo>
                    <a:pt x="1968372" y="0"/>
                  </a:lnTo>
                  <a:cubicBezTo>
                    <a:pt x="1973271" y="0"/>
                    <a:pt x="1977970" y="1946"/>
                    <a:pt x="1981434" y="5411"/>
                  </a:cubicBezTo>
                  <a:cubicBezTo>
                    <a:pt x="1984898" y="8875"/>
                    <a:pt x="1986844" y="13573"/>
                    <a:pt x="1986844" y="18473"/>
                  </a:cubicBezTo>
                  <a:lnTo>
                    <a:pt x="1986844" y="847009"/>
                  </a:lnTo>
                  <a:cubicBezTo>
                    <a:pt x="1986844" y="851908"/>
                    <a:pt x="1984898" y="856607"/>
                    <a:pt x="1981434" y="860071"/>
                  </a:cubicBezTo>
                  <a:cubicBezTo>
                    <a:pt x="1977970" y="863535"/>
                    <a:pt x="1973271" y="865481"/>
                    <a:pt x="1968372" y="865481"/>
                  </a:cubicBezTo>
                  <a:lnTo>
                    <a:pt x="18473" y="865481"/>
                  </a:lnTo>
                  <a:cubicBezTo>
                    <a:pt x="13573" y="865481"/>
                    <a:pt x="8875" y="863535"/>
                    <a:pt x="5411" y="860071"/>
                  </a:cubicBezTo>
                  <a:cubicBezTo>
                    <a:pt x="1946" y="856607"/>
                    <a:pt x="0" y="851908"/>
                    <a:pt x="0" y="847009"/>
                  </a:cubicBezTo>
                  <a:lnTo>
                    <a:pt x="0" y="18473"/>
                  </a:lnTo>
                  <a:cubicBezTo>
                    <a:pt x="0" y="13573"/>
                    <a:pt x="1946" y="8875"/>
                    <a:pt x="5411" y="5411"/>
                  </a:cubicBezTo>
                  <a:cubicBezTo>
                    <a:pt x="8875" y="1946"/>
                    <a:pt x="13573" y="0"/>
                    <a:pt x="18473" y="0"/>
                  </a:cubicBezTo>
                  <a:close/>
                </a:path>
              </a:pathLst>
            </a:custGeom>
            <a:solidFill>
              <a:srgbClr val="D9F2EA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0"/>
              <a:ext cx="1986844" cy="86548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372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6553200" y="2571750"/>
            <a:ext cx="5029200" cy="2190750"/>
            <a:chOff x="0" y="0"/>
            <a:chExt cx="1986844" cy="865481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986844" cy="865481"/>
            </a:xfrm>
            <a:custGeom>
              <a:avLst/>
              <a:gdLst/>
              <a:ahLst/>
              <a:cxnLst/>
              <a:rect r="r" b="b" t="t" l="l"/>
              <a:pathLst>
                <a:path h="865481" w="1986844">
                  <a:moveTo>
                    <a:pt x="18473" y="0"/>
                  </a:moveTo>
                  <a:lnTo>
                    <a:pt x="1968372" y="0"/>
                  </a:lnTo>
                  <a:cubicBezTo>
                    <a:pt x="1973271" y="0"/>
                    <a:pt x="1977970" y="1946"/>
                    <a:pt x="1981434" y="5411"/>
                  </a:cubicBezTo>
                  <a:cubicBezTo>
                    <a:pt x="1984898" y="8875"/>
                    <a:pt x="1986844" y="13573"/>
                    <a:pt x="1986844" y="18473"/>
                  </a:cubicBezTo>
                  <a:lnTo>
                    <a:pt x="1986844" y="847009"/>
                  </a:lnTo>
                  <a:cubicBezTo>
                    <a:pt x="1986844" y="851908"/>
                    <a:pt x="1984898" y="856607"/>
                    <a:pt x="1981434" y="860071"/>
                  </a:cubicBezTo>
                  <a:cubicBezTo>
                    <a:pt x="1977970" y="863535"/>
                    <a:pt x="1973271" y="865481"/>
                    <a:pt x="1968372" y="865481"/>
                  </a:cubicBezTo>
                  <a:lnTo>
                    <a:pt x="18473" y="865481"/>
                  </a:lnTo>
                  <a:cubicBezTo>
                    <a:pt x="13573" y="865481"/>
                    <a:pt x="8875" y="863535"/>
                    <a:pt x="5411" y="860071"/>
                  </a:cubicBezTo>
                  <a:cubicBezTo>
                    <a:pt x="1946" y="856607"/>
                    <a:pt x="0" y="851908"/>
                    <a:pt x="0" y="847009"/>
                  </a:cubicBezTo>
                  <a:lnTo>
                    <a:pt x="0" y="18473"/>
                  </a:lnTo>
                  <a:cubicBezTo>
                    <a:pt x="0" y="13573"/>
                    <a:pt x="1946" y="8875"/>
                    <a:pt x="5411" y="5411"/>
                  </a:cubicBezTo>
                  <a:cubicBezTo>
                    <a:pt x="8875" y="1946"/>
                    <a:pt x="13573" y="0"/>
                    <a:pt x="18473" y="0"/>
                  </a:cubicBezTo>
                  <a:close/>
                </a:path>
              </a:pathLst>
            </a:custGeom>
            <a:solidFill>
              <a:srgbClr val="F8EADF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0"/>
              <a:ext cx="1986844" cy="86548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372"/>
                </a:lnSpc>
              </a:pP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3429000" y="5619750"/>
            <a:ext cx="5334000" cy="809625"/>
            <a:chOff x="0" y="0"/>
            <a:chExt cx="2107259" cy="319852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2107259" cy="319852"/>
            </a:xfrm>
            <a:custGeom>
              <a:avLst/>
              <a:gdLst/>
              <a:ahLst/>
              <a:cxnLst/>
              <a:rect r="r" b="b" t="t" l="l"/>
              <a:pathLst>
                <a:path h="319852" w="2107259">
                  <a:moveTo>
                    <a:pt x="17417" y="0"/>
                  </a:moveTo>
                  <a:lnTo>
                    <a:pt x="2089842" y="0"/>
                  </a:lnTo>
                  <a:cubicBezTo>
                    <a:pt x="2094461" y="0"/>
                    <a:pt x="2098891" y="1835"/>
                    <a:pt x="2102158" y="5101"/>
                  </a:cubicBezTo>
                  <a:cubicBezTo>
                    <a:pt x="2105424" y="8368"/>
                    <a:pt x="2107259" y="12798"/>
                    <a:pt x="2107259" y="17417"/>
                  </a:cubicBezTo>
                  <a:lnTo>
                    <a:pt x="2107259" y="302435"/>
                  </a:lnTo>
                  <a:cubicBezTo>
                    <a:pt x="2107259" y="307054"/>
                    <a:pt x="2105424" y="311484"/>
                    <a:pt x="2102158" y="314750"/>
                  </a:cubicBezTo>
                  <a:cubicBezTo>
                    <a:pt x="2098891" y="318017"/>
                    <a:pt x="2094461" y="319852"/>
                    <a:pt x="2089842" y="319852"/>
                  </a:cubicBezTo>
                  <a:lnTo>
                    <a:pt x="17417" y="319852"/>
                  </a:lnTo>
                  <a:cubicBezTo>
                    <a:pt x="12798" y="319852"/>
                    <a:pt x="8368" y="318017"/>
                    <a:pt x="5101" y="314750"/>
                  </a:cubicBezTo>
                  <a:cubicBezTo>
                    <a:pt x="1835" y="311484"/>
                    <a:pt x="0" y="307054"/>
                    <a:pt x="0" y="302435"/>
                  </a:cubicBezTo>
                  <a:lnTo>
                    <a:pt x="0" y="17417"/>
                  </a:lnTo>
                  <a:cubicBezTo>
                    <a:pt x="0" y="12798"/>
                    <a:pt x="1835" y="8368"/>
                    <a:pt x="5101" y="5101"/>
                  </a:cubicBezTo>
                  <a:cubicBezTo>
                    <a:pt x="8368" y="1835"/>
                    <a:pt x="12798" y="0"/>
                    <a:pt x="17417" y="0"/>
                  </a:cubicBezTo>
                  <a:close/>
                </a:path>
              </a:pathLst>
            </a:custGeom>
            <a:solidFill>
              <a:srgbClr val="F0EFFF"/>
            </a:solidFill>
          </p:spPr>
        </p:sp>
        <p:sp>
          <p:nvSpPr>
            <p:cNvPr name="TextBox 15" id="15"/>
            <p:cNvSpPr txBox="true"/>
            <p:nvPr/>
          </p:nvSpPr>
          <p:spPr>
            <a:xfrm>
              <a:off x="0" y="0"/>
              <a:ext cx="2107259" cy="31985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372"/>
                </a:lnSpc>
              </a:pPr>
            </a:p>
          </p:txBody>
        </p:sp>
      </p:grpSp>
      <p:sp>
        <p:nvSpPr>
          <p:cNvPr name="TextBox 16" id="16"/>
          <p:cNvSpPr txBox="true"/>
          <p:nvPr/>
        </p:nvSpPr>
        <p:spPr>
          <a:xfrm rot="0">
            <a:off x="11239500" y="6353175"/>
            <a:ext cx="428625" cy="1685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72"/>
              </a:lnSpc>
            </a:pPr>
            <a:r>
              <a:rPr lang="en-US" sz="1125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04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609600" y="609600"/>
            <a:ext cx="10972800" cy="5901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58"/>
              </a:lnSpc>
            </a:pPr>
            <a:r>
              <a:rPr lang="en-US" b="true" sz="3900">
                <a:solidFill>
                  <a:srgbClr val="151521"/>
                </a:solidFill>
                <a:latin typeface="DM Sans Bold"/>
                <a:ea typeface="DM Sans Bold"/>
                <a:cs typeface="DM Sans Bold"/>
                <a:sym typeface="DM Sans Bold"/>
              </a:rPr>
              <a:t>Two wrong answers. Different help.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609600" y="1609725"/>
            <a:ext cx="10972800" cy="4591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60"/>
              </a:lnSpc>
            </a:pPr>
            <a:r>
              <a:rPr lang="en-US" b="true" sz="3000">
                <a:solidFill>
                  <a:srgbClr val="151521"/>
                </a:solidFill>
                <a:latin typeface="DM Sans Bold"/>
                <a:ea typeface="DM Sans Bold"/>
                <a:cs typeface="DM Sans Bold"/>
                <a:sym typeface="DM Sans Bold"/>
              </a:rPr>
              <a:t>For x² + 7x + 12 = 0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838200" y="2857500"/>
            <a:ext cx="4572000" cy="50622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904"/>
              </a:lnSpc>
              <a:spcBef>
                <a:spcPct val="0"/>
              </a:spcBef>
            </a:pPr>
            <a:r>
              <a:rPr lang="en-US" b="true" sz="3200">
                <a:solidFill>
                  <a:srgbClr val="151521"/>
                </a:solidFill>
                <a:latin typeface="DM Sans Bold"/>
                <a:ea typeface="DM Sans Bold"/>
                <a:cs typeface="DM Sans Bold"/>
                <a:sym typeface="DM Sans Bold"/>
              </a:rPr>
              <a:t>x = 3, 4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838200" y="3762375"/>
            <a:ext cx="4572000" cy="5478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96"/>
              </a:lnSpc>
            </a:pPr>
            <a:r>
              <a:rPr lang="en-US" b="true" sz="1800">
                <a:solidFill>
                  <a:srgbClr val="536073"/>
                </a:solidFill>
                <a:latin typeface="DM Sans Bold"/>
                <a:ea typeface="DM Sans Bold"/>
                <a:cs typeface="DM Sans Bold"/>
                <a:sym typeface="DM Sans Bold"/>
              </a:rPr>
              <a:t>Right pair, wrong signs.</a:t>
            </a:r>
          </a:p>
          <a:p>
            <a:pPr algn="ctr">
              <a:lnSpc>
                <a:spcPts val="2196"/>
              </a:lnSpc>
              <a:spcBef>
                <a:spcPct val="0"/>
              </a:spcBef>
            </a:pPr>
            <a:r>
              <a:rPr lang="en-US" b="true" sz="1800">
                <a:solidFill>
                  <a:srgbClr val="536073"/>
                </a:solidFill>
                <a:latin typeface="DM Sans Bold"/>
                <a:ea typeface="DM Sans Bold"/>
                <a:cs typeface="DM Sans Bold"/>
                <a:sym typeface="DM Sans Bold"/>
              </a:rPr>
              <a:t>Check signs and solutions.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6781800" y="2857500"/>
            <a:ext cx="4572000" cy="50622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904"/>
              </a:lnSpc>
              <a:spcBef>
                <a:spcPct val="0"/>
              </a:spcBef>
            </a:pPr>
            <a:r>
              <a:rPr lang="en-US" b="true" sz="3200">
                <a:solidFill>
                  <a:srgbClr val="151521"/>
                </a:solidFill>
                <a:latin typeface="DM Sans Bold"/>
                <a:ea typeface="DM Sans Bold"/>
                <a:cs typeface="DM Sans Bold"/>
                <a:sym typeface="DM Sans Bold"/>
              </a:rPr>
              <a:t>x = 2, 6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6781800" y="3762375"/>
            <a:ext cx="4572000" cy="5478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96"/>
              </a:lnSpc>
            </a:pPr>
            <a:r>
              <a:rPr lang="en-US" b="true" sz="1800">
                <a:solidFill>
                  <a:srgbClr val="536073"/>
                </a:solidFill>
                <a:latin typeface="DM Sans Bold"/>
                <a:ea typeface="DM Sans Bold"/>
                <a:cs typeface="DM Sans Bold"/>
                <a:sym typeface="DM Sans Bold"/>
              </a:rPr>
              <a:t>Wrong factor pair.</a:t>
            </a:r>
          </a:p>
          <a:p>
            <a:pPr algn="ctr">
              <a:lnSpc>
                <a:spcPts val="2196"/>
              </a:lnSpc>
              <a:spcBef>
                <a:spcPct val="0"/>
              </a:spcBef>
            </a:pPr>
            <a:r>
              <a:rPr lang="en-US" b="true" sz="1800">
                <a:solidFill>
                  <a:srgbClr val="536073"/>
                </a:solidFill>
                <a:latin typeface="DM Sans Bold"/>
                <a:ea typeface="DM Sans Bold"/>
                <a:cs typeface="DM Sans Bold"/>
                <a:sym typeface="DM Sans Bold"/>
              </a:rPr>
              <a:t>Check product and sum.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3619500" y="5800725"/>
            <a:ext cx="4953000" cy="37490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928"/>
              </a:lnSpc>
              <a:spcBef>
                <a:spcPct val="0"/>
              </a:spcBef>
            </a:pPr>
            <a:r>
              <a:rPr lang="en-US" b="true" sz="2400">
                <a:solidFill>
                  <a:srgbClr val="5753FA"/>
                </a:solidFill>
                <a:latin typeface="DM Sans Bold"/>
                <a:ea typeface="DM Sans Bold"/>
                <a:cs typeface="DM Sans Bold"/>
                <a:sym typeface="DM Sans Bold"/>
              </a:rPr>
              <a:t>Return with fresh numbers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</p:spPr>
      </p:sp>
      <p:grpSp>
        <p:nvGrpSpPr>
          <p:cNvPr name="Group 3" id="3"/>
          <p:cNvGrpSpPr/>
          <p:nvPr/>
        </p:nvGrpSpPr>
        <p:grpSpPr>
          <a:xfrm rot="0">
            <a:off x="0" y="0"/>
            <a:ext cx="12192000" cy="6858000"/>
            <a:chOff x="0" y="0"/>
            <a:chExt cx="16256000" cy="91440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6256000" cy="9144000"/>
            </a:xfrm>
            <a:custGeom>
              <a:avLst/>
              <a:gdLst/>
              <a:ahLst/>
              <a:cxnLst/>
              <a:rect r="r" b="b" t="t" l="l"/>
              <a:pathLst>
                <a:path h="9144000" w="16256000">
                  <a:moveTo>
                    <a:pt x="0" y="0"/>
                  </a:moveTo>
                  <a:lnTo>
                    <a:pt x="16256000" y="0"/>
                  </a:lnTo>
                  <a:lnTo>
                    <a:pt x="16256000" y="9144000"/>
                  </a:lnTo>
                  <a:lnTo>
                    <a:pt x="0" y="9144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sp>
        <p:nvSpPr>
          <p:cNvPr name="TextBox 5" id="5"/>
          <p:cNvSpPr txBox="true"/>
          <p:nvPr/>
        </p:nvSpPr>
        <p:spPr>
          <a:xfrm rot="0">
            <a:off x="11239500" y="6353175"/>
            <a:ext cx="428625" cy="1685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72"/>
              </a:lnSpc>
            </a:pPr>
            <a:r>
              <a:rPr lang="en-US" sz="1125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05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609600" y="600075"/>
            <a:ext cx="10972800" cy="5341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209"/>
              </a:lnSpc>
            </a:pPr>
            <a:r>
              <a:rPr lang="en-US" b="true" sz="3450">
                <a:solidFill>
                  <a:srgbClr val="151521"/>
                </a:solidFill>
                <a:latin typeface="DM Sans Bold"/>
                <a:ea typeface="DM Sans Bold"/>
                <a:cs typeface="DM Sans Bold"/>
                <a:sym typeface="DM Sans Bold"/>
              </a:rPr>
              <a:t>Khan material, focused on the missing step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4429125" y="1562100"/>
            <a:ext cx="3333750" cy="533400"/>
            <a:chOff x="0" y="0"/>
            <a:chExt cx="4445000" cy="7112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4445000" cy="711200"/>
            </a:xfrm>
            <a:custGeom>
              <a:avLst/>
              <a:gdLst/>
              <a:ahLst/>
              <a:cxnLst/>
              <a:rect r="r" b="b" t="t" l="l"/>
              <a:pathLst>
                <a:path h="711200" w="4445000">
                  <a:moveTo>
                    <a:pt x="0" y="0"/>
                  </a:moveTo>
                  <a:lnTo>
                    <a:pt x="4445000" y="0"/>
                  </a:lnTo>
                  <a:lnTo>
                    <a:pt x="4445000" y="711200"/>
                  </a:lnTo>
                  <a:lnTo>
                    <a:pt x="0" y="711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283" r="0" b="283"/>
              </a:stretch>
            </a:blipFill>
          </p:spPr>
        </p:sp>
      </p:grpSp>
      <p:sp>
        <p:nvSpPr>
          <p:cNvPr name="AutoShape 9" id="9"/>
          <p:cNvSpPr/>
          <p:nvPr/>
        </p:nvSpPr>
        <p:spPr>
          <a:xfrm rot="0">
            <a:off x="609600" y="2676525"/>
            <a:ext cx="3200400" cy="2381250"/>
          </a:xfrm>
          <a:prstGeom prst="rect">
            <a:avLst/>
          </a:prstGeom>
          <a:solidFill>
            <a:srgbClr val="F0EFFF"/>
          </a:solidFill>
        </p:spPr>
      </p:sp>
      <p:sp>
        <p:nvSpPr>
          <p:cNvPr name="TextBox 10" id="10"/>
          <p:cNvSpPr txBox="true"/>
          <p:nvPr/>
        </p:nvSpPr>
        <p:spPr>
          <a:xfrm rot="0">
            <a:off x="857250" y="2867025"/>
            <a:ext cx="571500" cy="3935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11"/>
              </a:lnSpc>
            </a:pPr>
            <a:r>
              <a:rPr lang="en-US" b="true" sz="2550">
                <a:solidFill>
                  <a:srgbClr val="5753FA"/>
                </a:solidFill>
                <a:latin typeface="DM Sans Bold"/>
                <a:ea typeface="DM Sans Bold"/>
                <a:cs typeface="DM Sans Bold"/>
                <a:sym typeface="DM Sans Bold"/>
              </a:rPr>
              <a:t>1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857250" y="3495675"/>
            <a:ext cx="2752725" cy="2996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70"/>
              </a:lnSpc>
            </a:pPr>
            <a:r>
              <a:rPr lang="en-US" b="true" sz="2025">
                <a:solidFill>
                  <a:srgbClr val="151521"/>
                </a:solidFill>
                <a:latin typeface="DM Sans Bold"/>
                <a:ea typeface="DM Sans Bold"/>
                <a:cs typeface="DM Sans Bold"/>
                <a:sym typeface="DM Sans Bold"/>
              </a:rPr>
              <a:t>Watch the key part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857250" y="4105275"/>
            <a:ext cx="2752725" cy="5478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96"/>
              </a:lnSpc>
            </a:pPr>
            <a:r>
              <a:rPr lang="en-US" sz="1800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1:34 focused segment</a:t>
            </a:r>
          </a:p>
          <a:p>
            <a:pPr algn="l">
              <a:lnSpc>
                <a:spcPts val="2196"/>
              </a:lnSpc>
            </a:pPr>
            <a:r>
              <a:rPr lang="en-US" sz="1800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Match sum and product</a:t>
            </a:r>
          </a:p>
        </p:txBody>
      </p:sp>
      <p:sp>
        <p:nvSpPr>
          <p:cNvPr name="AutoShape 13" id="13"/>
          <p:cNvSpPr/>
          <p:nvPr/>
        </p:nvSpPr>
        <p:spPr>
          <a:xfrm rot="0">
            <a:off x="3990975" y="3838575"/>
            <a:ext cx="238125" cy="38100"/>
          </a:xfrm>
          <a:prstGeom prst="rect">
            <a:avLst/>
          </a:prstGeom>
          <a:solidFill>
            <a:srgbClr val="CCD7E4"/>
          </a:solidFill>
        </p:spPr>
      </p:sp>
      <p:grpSp>
        <p:nvGrpSpPr>
          <p:cNvPr name="Group 14" id="14"/>
          <p:cNvGrpSpPr/>
          <p:nvPr/>
        </p:nvGrpSpPr>
        <p:grpSpPr>
          <a:xfrm rot="1840140">
            <a:off x="4171283" y="3802952"/>
            <a:ext cx="171450" cy="28575"/>
            <a:chOff x="0" y="0"/>
            <a:chExt cx="228600" cy="3810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228600" cy="38100"/>
            </a:xfrm>
            <a:custGeom>
              <a:avLst/>
              <a:gdLst/>
              <a:ahLst/>
              <a:cxnLst/>
              <a:rect r="r" b="b" t="t" l="l"/>
              <a:pathLst>
                <a:path h="38100" w="228600">
                  <a:moveTo>
                    <a:pt x="19050" y="0"/>
                  </a:moveTo>
                  <a:lnTo>
                    <a:pt x="209550" y="0"/>
                  </a:lnTo>
                  <a:cubicBezTo>
                    <a:pt x="220091" y="0"/>
                    <a:pt x="228600" y="8509"/>
                    <a:pt x="228600" y="19050"/>
                  </a:cubicBezTo>
                  <a:cubicBezTo>
                    <a:pt x="228600" y="29591"/>
                    <a:pt x="220091" y="38100"/>
                    <a:pt x="209550" y="38100"/>
                  </a:cubicBezTo>
                  <a:lnTo>
                    <a:pt x="19050" y="38100"/>
                  </a:lnTo>
                  <a:cubicBezTo>
                    <a:pt x="8509" y="38100"/>
                    <a:pt x="0" y="29591"/>
                    <a:pt x="0" y="19050"/>
                  </a:cubicBezTo>
                  <a:cubicBezTo>
                    <a:pt x="0" y="8509"/>
                    <a:pt x="8509" y="0"/>
                    <a:pt x="19050" y="0"/>
                  </a:cubicBezTo>
                  <a:close/>
                </a:path>
              </a:pathLst>
            </a:custGeom>
            <a:solidFill>
              <a:srgbClr val="CCD7E4"/>
            </a:solidFill>
          </p:spPr>
        </p:sp>
      </p:grpSp>
      <p:grpSp>
        <p:nvGrpSpPr>
          <p:cNvPr name="Group 16" id="16"/>
          <p:cNvGrpSpPr/>
          <p:nvPr/>
        </p:nvGrpSpPr>
        <p:grpSpPr>
          <a:xfrm rot="8959860">
            <a:off x="4163187" y="3888676"/>
            <a:ext cx="171450" cy="28575"/>
            <a:chOff x="0" y="0"/>
            <a:chExt cx="228600" cy="3810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228600" cy="38100"/>
            </a:xfrm>
            <a:custGeom>
              <a:avLst/>
              <a:gdLst/>
              <a:ahLst/>
              <a:cxnLst/>
              <a:rect r="r" b="b" t="t" l="l"/>
              <a:pathLst>
                <a:path h="38100" w="228600">
                  <a:moveTo>
                    <a:pt x="19050" y="0"/>
                  </a:moveTo>
                  <a:lnTo>
                    <a:pt x="209550" y="0"/>
                  </a:lnTo>
                  <a:cubicBezTo>
                    <a:pt x="220091" y="0"/>
                    <a:pt x="228600" y="8509"/>
                    <a:pt x="228600" y="19050"/>
                  </a:cubicBezTo>
                  <a:cubicBezTo>
                    <a:pt x="228600" y="29591"/>
                    <a:pt x="220091" y="38100"/>
                    <a:pt x="209550" y="38100"/>
                  </a:cubicBezTo>
                  <a:lnTo>
                    <a:pt x="19050" y="38100"/>
                  </a:lnTo>
                  <a:cubicBezTo>
                    <a:pt x="8509" y="38100"/>
                    <a:pt x="0" y="29591"/>
                    <a:pt x="0" y="19050"/>
                  </a:cubicBezTo>
                  <a:cubicBezTo>
                    <a:pt x="0" y="8509"/>
                    <a:pt x="8509" y="0"/>
                    <a:pt x="19050" y="0"/>
                  </a:cubicBezTo>
                  <a:close/>
                </a:path>
              </a:pathLst>
            </a:custGeom>
            <a:solidFill>
              <a:srgbClr val="CCD7E4"/>
            </a:solidFill>
          </p:spPr>
        </p:sp>
      </p:grpSp>
      <p:sp>
        <p:nvSpPr>
          <p:cNvPr name="AutoShape 18" id="18"/>
          <p:cNvSpPr/>
          <p:nvPr/>
        </p:nvSpPr>
        <p:spPr>
          <a:xfrm rot="0">
            <a:off x="4495800" y="2676525"/>
            <a:ext cx="3200400" cy="2381250"/>
          </a:xfrm>
          <a:prstGeom prst="rect">
            <a:avLst/>
          </a:prstGeom>
          <a:solidFill>
            <a:srgbClr val="D9F2EA"/>
          </a:solidFill>
        </p:spPr>
      </p:sp>
      <p:sp>
        <p:nvSpPr>
          <p:cNvPr name="TextBox 19" id="19"/>
          <p:cNvSpPr txBox="true"/>
          <p:nvPr/>
        </p:nvSpPr>
        <p:spPr>
          <a:xfrm rot="0">
            <a:off x="4743450" y="2867025"/>
            <a:ext cx="571500" cy="3935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11"/>
              </a:lnSpc>
            </a:pPr>
            <a:r>
              <a:rPr lang="en-US" b="true" sz="2550">
                <a:solidFill>
                  <a:srgbClr val="5753FA"/>
                </a:solidFill>
                <a:latin typeface="DM Sans Bold"/>
                <a:ea typeface="DM Sans Bold"/>
                <a:cs typeface="DM Sans Bold"/>
                <a:sym typeface="DM Sans Bold"/>
              </a:rPr>
              <a:t>2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4743450" y="3495675"/>
            <a:ext cx="2752725" cy="2996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70"/>
              </a:lnSpc>
            </a:pPr>
            <a:r>
              <a:rPr lang="en-US" b="true" sz="2025">
                <a:solidFill>
                  <a:srgbClr val="151521"/>
                </a:solidFill>
                <a:latin typeface="DM Sans Bold"/>
                <a:ea typeface="DM Sans Bold"/>
                <a:cs typeface="DM Sans Bold"/>
                <a:sym typeface="DM Sans Bold"/>
              </a:rPr>
              <a:t>Try the step here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4743450" y="4105275"/>
            <a:ext cx="2752725" cy="5478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96"/>
              </a:lnSpc>
            </a:pPr>
            <a:r>
              <a:rPr lang="en-US" sz="1800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Use the idea with different numbers</a:t>
            </a:r>
          </a:p>
        </p:txBody>
      </p:sp>
      <p:sp>
        <p:nvSpPr>
          <p:cNvPr name="AutoShape 22" id="22"/>
          <p:cNvSpPr/>
          <p:nvPr/>
        </p:nvSpPr>
        <p:spPr>
          <a:xfrm rot="0">
            <a:off x="7877175" y="3838575"/>
            <a:ext cx="238125" cy="38100"/>
          </a:xfrm>
          <a:prstGeom prst="rect">
            <a:avLst/>
          </a:prstGeom>
          <a:solidFill>
            <a:srgbClr val="CCD7E4"/>
          </a:solidFill>
        </p:spPr>
      </p:sp>
      <p:grpSp>
        <p:nvGrpSpPr>
          <p:cNvPr name="Group 23" id="23"/>
          <p:cNvGrpSpPr/>
          <p:nvPr/>
        </p:nvGrpSpPr>
        <p:grpSpPr>
          <a:xfrm rot="1840140">
            <a:off x="8057483" y="3802952"/>
            <a:ext cx="171450" cy="28575"/>
            <a:chOff x="0" y="0"/>
            <a:chExt cx="228600" cy="3810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228600" cy="38100"/>
            </a:xfrm>
            <a:custGeom>
              <a:avLst/>
              <a:gdLst/>
              <a:ahLst/>
              <a:cxnLst/>
              <a:rect r="r" b="b" t="t" l="l"/>
              <a:pathLst>
                <a:path h="38100" w="228600">
                  <a:moveTo>
                    <a:pt x="19050" y="0"/>
                  </a:moveTo>
                  <a:lnTo>
                    <a:pt x="209550" y="0"/>
                  </a:lnTo>
                  <a:cubicBezTo>
                    <a:pt x="220091" y="0"/>
                    <a:pt x="228600" y="8509"/>
                    <a:pt x="228600" y="19050"/>
                  </a:cubicBezTo>
                  <a:cubicBezTo>
                    <a:pt x="228600" y="29591"/>
                    <a:pt x="220091" y="38100"/>
                    <a:pt x="209550" y="38100"/>
                  </a:cubicBezTo>
                  <a:lnTo>
                    <a:pt x="19050" y="38100"/>
                  </a:lnTo>
                  <a:cubicBezTo>
                    <a:pt x="8509" y="38100"/>
                    <a:pt x="0" y="29591"/>
                    <a:pt x="0" y="19050"/>
                  </a:cubicBezTo>
                  <a:cubicBezTo>
                    <a:pt x="0" y="8509"/>
                    <a:pt x="8509" y="0"/>
                    <a:pt x="19050" y="0"/>
                  </a:cubicBezTo>
                  <a:close/>
                </a:path>
              </a:pathLst>
            </a:custGeom>
            <a:solidFill>
              <a:srgbClr val="CCD7E4"/>
            </a:solidFill>
          </p:spPr>
        </p:sp>
      </p:grpSp>
      <p:grpSp>
        <p:nvGrpSpPr>
          <p:cNvPr name="Group 25" id="25"/>
          <p:cNvGrpSpPr/>
          <p:nvPr/>
        </p:nvGrpSpPr>
        <p:grpSpPr>
          <a:xfrm rot="8959860">
            <a:off x="8049387" y="3888676"/>
            <a:ext cx="171450" cy="28575"/>
            <a:chOff x="0" y="0"/>
            <a:chExt cx="228600" cy="3810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228600" cy="38100"/>
            </a:xfrm>
            <a:custGeom>
              <a:avLst/>
              <a:gdLst/>
              <a:ahLst/>
              <a:cxnLst/>
              <a:rect r="r" b="b" t="t" l="l"/>
              <a:pathLst>
                <a:path h="38100" w="228600">
                  <a:moveTo>
                    <a:pt x="19050" y="0"/>
                  </a:moveTo>
                  <a:lnTo>
                    <a:pt x="209550" y="0"/>
                  </a:lnTo>
                  <a:cubicBezTo>
                    <a:pt x="220091" y="0"/>
                    <a:pt x="228600" y="8509"/>
                    <a:pt x="228600" y="19050"/>
                  </a:cubicBezTo>
                  <a:cubicBezTo>
                    <a:pt x="228600" y="29591"/>
                    <a:pt x="220091" y="38100"/>
                    <a:pt x="209550" y="38100"/>
                  </a:cubicBezTo>
                  <a:lnTo>
                    <a:pt x="19050" y="38100"/>
                  </a:lnTo>
                  <a:cubicBezTo>
                    <a:pt x="8509" y="38100"/>
                    <a:pt x="0" y="29591"/>
                    <a:pt x="0" y="19050"/>
                  </a:cubicBezTo>
                  <a:cubicBezTo>
                    <a:pt x="0" y="8509"/>
                    <a:pt x="8509" y="0"/>
                    <a:pt x="19050" y="0"/>
                  </a:cubicBezTo>
                  <a:close/>
                </a:path>
              </a:pathLst>
            </a:custGeom>
            <a:solidFill>
              <a:srgbClr val="CCD7E4"/>
            </a:solidFill>
          </p:spPr>
        </p:sp>
      </p:grpSp>
      <p:sp>
        <p:nvSpPr>
          <p:cNvPr name="AutoShape 27" id="27"/>
          <p:cNvSpPr/>
          <p:nvPr/>
        </p:nvSpPr>
        <p:spPr>
          <a:xfrm rot="0">
            <a:off x="8382000" y="2676525"/>
            <a:ext cx="3200400" cy="2381250"/>
          </a:xfrm>
          <a:prstGeom prst="rect">
            <a:avLst/>
          </a:prstGeom>
          <a:solidFill>
            <a:srgbClr val="F0EFFF"/>
          </a:solidFill>
        </p:spPr>
      </p:sp>
      <p:sp>
        <p:nvSpPr>
          <p:cNvPr name="TextBox 28" id="28"/>
          <p:cNvSpPr txBox="true"/>
          <p:nvPr/>
        </p:nvSpPr>
        <p:spPr>
          <a:xfrm rot="0">
            <a:off x="8629650" y="2867025"/>
            <a:ext cx="571500" cy="3935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11"/>
              </a:lnSpc>
            </a:pPr>
            <a:r>
              <a:rPr lang="en-US" b="true" sz="2550">
                <a:solidFill>
                  <a:srgbClr val="5753FA"/>
                </a:solidFill>
                <a:latin typeface="DM Sans Bold"/>
                <a:ea typeface="DM Sans Bold"/>
                <a:cs typeface="DM Sans Bold"/>
                <a:sym typeface="DM Sans Bold"/>
              </a:rPr>
              <a:t>3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8629650" y="3495675"/>
            <a:ext cx="2752725" cy="2996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70"/>
              </a:lnSpc>
            </a:pPr>
            <a:r>
              <a:rPr lang="en-US" b="true" sz="2025">
                <a:solidFill>
                  <a:srgbClr val="151521"/>
                </a:solidFill>
                <a:latin typeface="DM Sans Bold"/>
                <a:ea typeface="DM Sans Bold"/>
                <a:cs typeface="DM Sans Bold"/>
                <a:sym typeface="DM Sans Bold"/>
              </a:rPr>
              <a:t>Return to the goal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8629650" y="4105275"/>
            <a:ext cx="2752725" cy="5478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96"/>
              </a:lnSpc>
            </a:pPr>
            <a:r>
              <a:rPr lang="en-US" sz="1800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Solve a fresh quadratic equation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609600" y="5629275"/>
            <a:ext cx="10972800" cy="2996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70"/>
              </a:lnSpc>
            </a:pPr>
            <a:r>
              <a:rPr lang="en-US" sz="2025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Short enough to use now. More Khan practice when they need it.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609600" y="6410325"/>
            <a:ext cx="4667250" cy="1308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189"/>
              </a:lnSpc>
            </a:pPr>
            <a:r>
              <a:rPr lang="en-US" sz="975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  <a:hlinkClick r:id="rId5" tooltip="https://www.khanacademy.org/math/algebra/x2f8bb11595b61c86:quadratics-multiplying-factoring/x2f8bb11595b61c86:factor-quadratics-intro/v/factoring-simple-quadratic-expression"/>
              </a:rPr>
              <a:t>Khan Academy: factoring quadratics</a:t>
            </a:r>
          </a:p>
        </p:txBody>
      </p:sp>
      <p:sp>
        <p:nvSpPr>
          <p:cNvPr name="AutoShape 33" id="33"/>
          <p:cNvSpPr/>
          <p:nvPr/>
        </p:nvSpPr>
        <p:spPr>
          <a:xfrm>
            <a:off x="609600" y="1381125"/>
            <a:ext cx="10972800" cy="0"/>
          </a:xfrm>
          <a:prstGeom prst="line">
            <a:avLst/>
          </a:prstGeom>
          <a:ln cap="flat" w="19050">
            <a:solidFill>
              <a:srgbClr val="CCD7E4"/>
            </a:solidFill>
            <a:prstDash val="solid"/>
            <a:headEnd type="none" len="sm" w="sm"/>
            <a:tailEnd type="none" len="sm" w="sm"/>
          </a:ln>
        </p:spPr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</p:spPr>
      </p:sp>
      <p:grpSp>
        <p:nvGrpSpPr>
          <p:cNvPr name="Group 3" id="3"/>
          <p:cNvGrpSpPr/>
          <p:nvPr/>
        </p:nvGrpSpPr>
        <p:grpSpPr>
          <a:xfrm rot="0">
            <a:off x="0" y="0"/>
            <a:ext cx="12192000" cy="6858000"/>
            <a:chOff x="0" y="0"/>
            <a:chExt cx="16256000" cy="91440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6256000" cy="9144000"/>
            </a:xfrm>
            <a:custGeom>
              <a:avLst/>
              <a:gdLst/>
              <a:ahLst/>
              <a:cxnLst/>
              <a:rect r="r" b="b" t="t" l="l"/>
              <a:pathLst>
                <a:path h="9144000" w="16256000">
                  <a:moveTo>
                    <a:pt x="0" y="0"/>
                  </a:moveTo>
                  <a:lnTo>
                    <a:pt x="16256000" y="0"/>
                  </a:lnTo>
                  <a:lnTo>
                    <a:pt x="16256000" y="9144000"/>
                  </a:lnTo>
                  <a:lnTo>
                    <a:pt x="0" y="9144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sp>
        <p:nvSpPr>
          <p:cNvPr name="TextBox 5" id="5"/>
          <p:cNvSpPr txBox="true"/>
          <p:nvPr/>
        </p:nvSpPr>
        <p:spPr>
          <a:xfrm rot="0">
            <a:off x="11239500" y="6353175"/>
            <a:ext cx="428625" cy="1685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72"/>
              </a:lnSpc>
            </a:pPr>
            <a:r>
              <a:rPr lang="en-US" sz="1125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06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609600" y="609600"/>
            <a:ext cx="10972800" cy="5901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58"/>
              </a:lnSpc>
            </a:pPr>
            <a:r>
              <a:rPr lang="en-US" b="true" sz="3900">
                <a:solidFill>
                  <a:srgbClr val="151521"/>
                </a:solidFill>
                <a:latin typeface="DM Sans Bold"/>
                <a:ea typeface="DM Sans Bold"/>
                <a:cs typeface="DM Sans Bold"/>
                <a:sym typeface="DM Sans Bold"/>
              </a:rPr>
              <a:t>Back to the skill that stopped them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609600" y="2286000"/>
            <a:ext cx="10972800" cy="2343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30"/>
              </a:lnSpc>
            </a:pPr>
            <a:r>
              <a:rPr lang="en-US" b="true" sz="1500">
                <a:solidFill>
                  <a:srgbClr val="087E70"/>
                </a:solidFill>
                <a:latin typeface="DM Sans Bold"/>
                <a:ea typeface="DM Sans Bold"/>
                <a:cs typeface="DM Sans Bold"/>
                <a:sym typeface="DM Sans Bold"/>
              </a:rPr>
              <a:t>FRESH CURRENT-LEVEL TASK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609600" y="2933700"/>
            <a:ext cx="10972800" cy="89001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137"/>
              </a:lnSpc>
            </a:pPr>
            <a:r>
              <a:rPr lang="en-US" b="true" sz="5850">
                <a:solidFill>
                  <a:srgbClr val="151521"/>
                </a:solidFill>
                <a:latin typeface="DM Sans Bold"/>
                <a:ea typeface="DM Sans Bold"/>
                <a:cs typeface="DM Sans Bold"/>
                <a:sym typeface="DM Sans Bold"/>
              </a:rPr>
              <a:t>x² + 11x + 28 = 0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609600" y="4219575"/>
            <a:ext cx="10972800" cy="64674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032"/>
              </a:lnSpc>
            </a:pPr>
            <a:r>
              <a:rPr lang="en-US" b="true" sz="4125">
                <a:solidFill>
                  <a:srgbClr val="087E70"/>
                </a:solidFill>
                <a:latin typeface="DM Sans Bold"/>
                <a:ea typeface="DM Sans Bold"/>
                <a:cs typeface="DM Sans Bold"/>
                <a:sym typeface="DM Sans Bold"/>
              </a:rPr>
              <a:t>x = -4 or x = -7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609600" y="5715000"/>
            <a:ext cx="10972800" cy="337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53"/>
              </a:lnSpc>
            </a:pPr>
            <a:r>
              <a:rPr lang="en-US" sz="2175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New numbers. The same skill they came to recover.</a:t>
            </a:r>
          </a:p>
        </p:txBody>
      </p:sp>
      <p:sp>
        <p:nvSpPr>
          <p:cNvPr name="AutoShape 11" id="11"/>
          <p:cNvSpPr/>
          <p:nvPr/>
        </p:nvSpPr>
        <p:spPr>
          <a:xfrm>
            <a:off x="609600" y="1381125"/>
            <a:ext cx="10972800" cy="0"/>
          </a:xfrm>
          <a:prstGeom prst="line">
            <a:avLst/>
          </a:prstGeom>
          <a:ln cap="flat" w="19050">
            <a:solidFill>
              <a:srgbClr val="CCD7E4"/>
            </a:solidFill>
            <a:prstDash val="solid"/>
            <a:headEnd type="none" len="sm" w="sm"/>
            <a:tailEnd type="none" len="sm" w="sm"/>
          </a:ln>
        </p:spPr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</p:spPr>
      </p:sp>
      <p:grpSp>
        <p:nvGrpSpPr>
          <p:cNvPr name="Group 3" id="3"/>
          <p:cNvGrpSpPr/>
          <p:nvPr/>
        </p:nvGrpSpPr>
        <p:grpSpPr>
          <a:xfrm rot="0">
            <a:off x="0" y="0"/>
            <a:ext cx="12192000" cy="6858000"/>
            <a:chOff x="0" y="0"/>
            <a:chExt cx="16256000" cy="91440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6256000" cy="9144000"/>
            </a:xfrm>
            <a:custGeom>
              <a:avLst/>
              <a:gdLst/>
              <a:ahLst/>
              <a:cxnLst/>
              <a:rect r="r" b="b" t="t" l="l"/>
              <a:pathLst>
                <a:path h="9144000" w="16256000">
                  <a:moveTo>
                    <a:pt x="0" y="0"/>
                  </a:moveTo>
                  <a:lnTo>
                    <a:pt x="16256000" y="0"/>
                  </a:lnTo>
                  <a:lnTo>
                    <a:pt x="16256000" y="9144000"/>
                  </a:lnTo>
                  <a:lnTo>
                    <a:pt x="0" y="9144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grpSp>
        <p:nvGrpSpPr>
          <p:cNvPr name="Group 5" id="5"/>
          <p:cNvGrpSpPr/>
          <p:nvPr/>
        </p:nvGrpSpPr>
        <p:grpSpPr>
          <a:xfrm rot="0">
            <a:off x="609600" y="3648075"/>
            <a:ext cx="7029450" cy="1066800"/>
            <a:chOff x="0" y="0"/>
            <a:chExt cx="9372600" cy="14224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9372600" cy="1422400"/>
            </a:xfrm>
            <a:custGeom>
              <a:avLst/>
              <a:gdLst/>
              <a:ahLst/>
              <a:cxnLst/>
              <a:rect r="r" b="b" t="t" l="l"/>
              <a:pathLst>
                <a:path h="1422400" w="9372600">
                  <a:moveTo>
                    <a:pt x="127000" y="0"/>
                  </a:moveTo>
                  <a:lnTo>
                    <a:pt x="9245600" y="0"/>
                  </a:lnTo>
                  <a:cubicBezTo>
                    <a:pt x="9315704" y="0"/>
                    <a:pt x="9372600" y="56896"/>
                    <a:pt x="9372600" y="127000"/>
                  </a:cubicBezTo>
                  <a:lnTo>
                    <a:pt x="9372600" y="1295400"/>
                  </a:lnTo>
                  <a:cubicBezTo>
                    <a:pt x="9372600" y="1365504"/>
                    <a:pt x="9315704" y="1422400"/>
                    <a:pt x="9245600" y="1422400"/>
                  </a:cubicBezTo>
                  <a:lnTo>
                    <a:pt x="127000" y="1422400"/>
                  </a:lnTo>
                  <a:cubicBezTo>
                    <a:pt x="56896" y="1422400"/>
                    <a:pt x="0" y="1365504"/>
                    <a:pt x="0" y="1295400"/>
                  </a:cubicBezTo>
                  <a:lnTo>
                    <a:pt x="0" y="127000"/>
                  </a:lnTo>
                  <a:cubicBezTo>
                    <a:pt x="0" y="56896"/>
                    <a:pt x="56896" y="0"/>
                    <a:pt x="127000" y="0"/>
                  </a:cubicBezTo>
                  <a:close/>
                </a:path>
              </a:pathLst>
            </a:custGeom>
            <a:solidFill>
              <a:srgbClr val="5753FA"/>
            </a:solidFill>
          </p:spPr>
        </p:sp>
      </p:grpSp>
      <p:grpSp>
        <p:nvGrpSpPr>
          <p:cNvPr name="Group 7" id="7"/>
          <p:cNvGrpSpPr/>
          <p:nvPr/>
        </p:nvGrpSpPr>
        <p:grpSpPr>
          <a:xfrm rot="0">
            <a:off x="9039225" y="2990850"/>
            <a:ext cx="2238375" cy="2238375"/>
            <a:chOff x="0" y="0"/>
            <a:chExt cx="2984500" cy="29845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2984500" cy="2984500"/>
            </a:xfrm>
            <a:custGeom>
              <a:avLst/>
              <a:gdLst/>
              <a:ahLst/>
              <a:cxnLst/>
              <a:rect r="r" b="b" t="t" l="l"/>
              <a:pathLst>
                <a:path h="2984500" w="2984500">
                  <a:moveTo>
                    <a:pt x="0" y="0"/>
                  </a:moveTo>
                  <a:lnTo>
                    <a:pt x="2984500" y="0"/>
                  </a:lnTo>
                  <a:lnTo>
                    <a:pt x="2984500" y="2984500"/>
                  </a:lnTo>
                  <a:lnTo>
                    <a:pt x="0" y="29845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78303" t="0" r="-78303" b="0"/>
              </a:stretch>
            </a:blipFill>
          </p:spPr>
        </p:sp>
      </p:grpSp>
      <p:sp>
        <p:nvSpPr>
          <p:cNvPr name="AutoShape 9" id="9"/>
          <p:cNvSpPr/>
          <p:nvPr/>
        </p:nvSpPr>
        <p:spPr>
          <a:xfrm>
            <a:off x="609600" y="1381125"/>
            <a:ext cx="10972800" cy="0"/>
          </a:xfrm>
          <a:prstGeom prst="line">
            <a:avLst/>
          </a:prstGeom>
          <a:ln cap="flat" w="19050">
            <a:solidFill>
              <a:srgbClr val="CCD7E4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10" id="10">
            <a:hlinkClick r:id="rId6" tooltip="https://backtrack-learning.vercel.app/demo"/>
          </p:cNvPr>
          <p:cNvSpPr/>
          <p:nvPr/>
        </p:nvSpPr>
        <p:spPr>
          <a:xfrm flipH="false" flipV="false" rot="0">
            <a:off x="9039225" y="2990850"/>
            <a:ext cx="2238375" cy="2238375"/>
          </a:xfrm>
          <a:custGeom>
            <a:avLst/>
            <a:gdLst/>
            <a:ahLst/>
            <a:cxnLst/>
            <a:rect r="r" b="b" t="t" l="l"/>
            <a:pathLst>
              <a:path h="2238375" w="2238375">
                <a:moveTo>
                  <a:pt x="0" y="0"/>
                </a:moveTo>
                <a:lnTo>
                  <a:pt x="2238375" y="0"/>
                </a:lnTo>
                <a:lnTo>
                  <a:pt x="2238375" y="2238375"/>
                </a:lnTo>
                <a:lnTo>
                  <a:pt x="0" y="223837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TextBox 11" id="11"/>
          <p:cNvSpPr txBox="true"/>
          <p:nvPr/>
        </p:nvSpPr>
        <p:spPr>
          <a:xfrm rot="0">
            <a:off x="11239500" y="6353175"/>
            <a:ext cx="428625" cy="1685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72"/>
              </a:lnSpc>
            </a:pPr>
            <a:r>
              <a:rPr lang="en-US" sz="1125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07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609600" y="609600"/>
            <a:ext cx="10972800" cy="5901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58"/>
              </a:lnSpc>
            </a:pPr>
            <a:r>
              <a:rPr lang="en-US" b="true" sz="3900">
                <a:solidFill>
                  <a:srgbClr val="151521"/>
                </a:solidFill>
                <a:latin typeface="DM Sans Bold"/>
                <a:ea typeface="DM Sans Bold"/>
                <a:cs typeface="DM Sans Bold"/>
                <a:sym typeface="DM Sans Bold"/>
              </a:rPr>
              <a:t>Try the demo. Watch the route change.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609600" y="2257425"/>
            <a:ext cx="7219950" cy="8502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85"/>
              </a:lnSpc>
            </a:pPr>
            <a:r>
              <a:rPr lang="en-US" sz="2775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Compare two wrong answers.</a:t>
            </a:r>
          </a:p>
          <a:p>
            <a:pPr algn="l">
              <a:lnSpc>
                <a:spcPts val="3385"/>
              </a:lnSpc>
            </a:pPr>
            <a:r>
              <a:rPr lang="en-US" sz="2775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See why they get different repairs.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819150" y="3857625"/>
            <a:ext cx="6610350" cy="5341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209"/>
              </a:lnSpc>
            </a:pPr>
            <a:r>
              <a:rPr lang="en-US" b="true" sz="3450">
                <a:solidFill>
                  <a:srgbClr val="FFFFFF"/>
                </a:solidFill>
                <a:latin typeface="DM Sans Bold"/>
                <a:ea typeface="DM Sans Bold"/>
                <a:cs typeface="DM Sans Bold"/>
                <a:sym typeface="DM Sans Bold"/>
                <a:hlinkClick r:id="rId7" tooltip="https://backtrack-learning.vercel.app/demo"/>
              </a:rPr>
              <a:t>Try BACKTRACK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609600" y="5048250"/>
            <a:ext cx="7029450" cy="2809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87"/>
              </a:lnSpc>
            </a:pPr>
            <a:r>
              <a:rPr lang="en-US" sz="1875" u="sng">
                <a:solidFill>
                  <a:srgbClr val="5753FA"/>
                </a:solidFill>
                <a:latin typeface="DM Sans"/>
                <a:ea typeface="DM Sans"/>
                <a:cs typeface="DM Sans"/>
                <a:sym typeface="DM Sans"/>
                <a:hlinkClick r:id="rId8" tooltip="https://backtrack-learning.vercel.app/demo"/>
              </a:rPr>
              <a:t>backtrack-learning.vercel.app/demo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8743950" y="5429250"/>
            <a:ext cx="2828925" cy="24345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013"/>
              </a:lnSpc>
            </a:pPr>
            <a:r>
              <a:rPr lang="en-US" b="true" sz="1650">
                <a:solidFill>
                  <a:srgbClr val="536073"/>
                </a:solidFill>
                <a:latin typeface="DM Sans Bold"/>
                <a:ea typeface="DM Sans Bold"/>
                <a:cs typeface="DM Sans Bold"/>
                <a:sym typeface="DM Sans Bold"/>
              </a:rPr>
              <a:t>Scan to start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609600" y="5848350"/>
            <a:ext cx="7429500" cy="462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30"/>
              </a:lnSpc>
            </a:pPr>
            <a:r>
              <a:rPr lang="en-US" sz="1500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A few sample routes to help you picture BACKTRACK. The full product is still in development.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</p:spPr>
      </p:sp>
      <p:grpSp>
        <p:nvGrpSpPr>
          <p:cNvPr name="Group 3" id="3"/>
          <p:cNvGrpSpPr/>
          <p:nvPr/>
        </p:nvGrpSpPr>
        <p:grpSpPr>
          <a:xfrm rot="0">
            <a:off x="0" y="0"/>
            <a:ext cx="12192000" cy="6858000"/>
            <a:chOff x="0" y="0"/>
            <a:chExt cx="16256000" cy="91440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6256000" cy="9144000"/>
            </a:xfrm>
            <a:custGeom>
              <a:avLst/>
              <a:gdLst/>
              <a:ahLst/>
              <a:cxnLst/>
              <a:rect r="r" b="b" t="t" l="l"/>
              <a:pathLst>
                <a:path h="9144000" w="16256000">
                  <a:moveTo>
                    <a:pt x="0" y="0"/>
                  </a:moveTo>
                  <a:lnTo>
                    <a:pt x="16256000" y="0"/>
                  </a:lnTo>
                  <a:lnTo>
                    <a:pt x="16256000" y="9144000"/>
                  </a:lnTo>
                  <a:lnTo>
                    <a:pt x="0" y="9144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sp>
        <p:nvSpPr>
          <p:cNvPr name="TextBox 5" id="5"/>
          <p:cNvSpPr txBox="true"/>
          <p:nvPr/>
        </p:nvSpPr>
        <p:spPr>
          <a:xfrm rot="0">
            <a:off x="11239500" y="6353175"/>
            <a:ext cx="428625" cy="1685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72"/>
              </a:lnSpc>
            </a:pPr>
            <a:r>
              <a:rPr lang="en-US" sz="1125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08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609600" y="600075"/>
            <a:ext cx="10972800" cy="6465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124"/>
              </a:lnSpc>
            </a:pPr>
            <a:r>
              <a:rPr lang="en-US" b="true" sz="4200">
                <a:solidFill>
                  <a:srgbClr val="151521"/>
                </a:solidFill>
                <a:latin typeface="DM Sans Bold"/>
                <a:ea typeface="DM Sans Bold"/>
                <a:cs typeface="DM Sans Bold"/>
                <a:sym typeface="DM Sans Bold"/>
              </a:rPr>
              <a:t>Can they still do it next week?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1619250" y="2705100"/>
            <a:ext cx="552450" cy="552450"/>
            <a:chOff x="0" y="0"/>
            <a:chExt cx="736600" cy="7366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736600" cy="736600"/>
            </a:xfrm>
            <a:custGeom>
              <a:avLst/>
              <a:gdLst/>
              <a:ahLst/>
              <a:cxnLst/>
              <a:rect r="r" b="b" t="t" l="l"/>
              <a:pathLst>
                <a:path h="736600" w="736600">
                  <a:moveTo>
                    <a:pt x="368300" y="0"/>
                  </a:moveTo>
                  <a:cubicBezTo>
                    <a:pt x="571754" y="0"/>
                    <a:pt x="736600" y="164846"/>
                    <a:pt x="736600" y="368300"/>
                  </a:cubicBezTo>
                  <a:cubicBezTo>
                    <a:pt x="736600" y="571754"/>
                    <a:pt x="571754" y="736600"/>
                    <a:pt x="368300" y="736600"/>
                  </a:cubicBezTo>
                  <a:cubicBezTo>
                    <a:pt x="164846" y="736600"/>
                    <a:pt x="0" y="571754"/>
                    <a:pt x="0" y="368300"/>
                  </a:cubicBezTo>
                  <a:cubicBezTo>
                    <a:pt x="0" y="164846"/>
                    <a:pt x="164846" y="0"/>
                    <a:pt x="368300" y="0"/>
                  </a:cubicBezTo>
                  <a:close/>
                </a:path>
              </a:pathLst>
            </a:custGeom>
            <a:solidFill>
              <a:srgbClr val="C96331"/>
            </a:solidFill>
          </p:spPr>
        </p:sp>
      </p:grpSp>
      <p:sp>
        <p:nvSpPr>
          <p:cNvPr name="TextBox 9" id="9"/>
          <p:cNvSpPr txBox="true"/>
          <p:nvPr/>
        </p:nvSpPr>
        <p:spPr>
          <a:xfrm rot="0">
            <a:off x="1704975" y="2781300"/>
            <a:ext cx="381000" cy="3467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45"/>
              </a:lnSpc>
            </a:pPr>
            <a:r>
              <a:rPr lang="en-US" b="true" sz="2250">
                <a:solidFill>
                  <a:srgbClr val="FFFFFF"/>
                </a:solidFill>
                <a:latin typeface="DM Sans Bold"/>
                <a:ea typeface="DM Sans Bold"/>
                <a:cs typeface="DM Sans Bold"/>
                <a:sym typeface="DM Sans Bold"/>
              </a:rPr>
              <a:t>1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609600" y="3457575"/>
            <a:ext cx="2571750" cy="6707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53"/>
              </a:lnSpc>
            </a:pPr>
            <a:r>
              <a:rPr lang="en-US" b="true" sz="2175">
                <a:solidFill>
                  <a:srgbClr val="151521"/>
                </a:solidFill>
                <a:latin typeface="DM Sans Bold"/>
                <a:ea typeface="DM Sans Bold"/>
                <a:cs typeface="DM Sans Bold"/>
                <a:sym typeface="DM Sans Bold"/>
              </a:rPr>
              <a:t>Stuck before the route</a:t>
            </a:r>
          </a:p>
        </p:txBody>
      </p:sp>
      <p:sp>
        <p:nvSpPr>
          <p:cNvPr name="AutoShape 11" id="11"/>
          <p:cNvSpPr/>
          <p:nvPr/>
        </p:nvSpPr>
        <p:spPr>
          <a:xfrm rot="0">
            <a:off x="2838450" y="2962275"/>
            <a:ext cx="838200" cy="38100"/>
          </a:xfrm>
          <a:prstGeom prst="rect">
            <a:avLst/>
          </a:prstGeom>
          <a:solidFill>
            <a:srgbClr val="CCD7E4"/>
          </a:solidFill>
        </p:spPr>
      </p:sp>
      <p:grpSp>
        <p:nvGrpSpPr>
          <p:cNvPr name="Group 12" id="12"/>
          <p:cNvGrpSpPr/>
          <p:nvPr/>
        </p:nvGrpSpPr>
        <p:grpSpPr>
          <a:xfrm rot="1840140">
            <a:off x="3618833" y="2926652"/>
            <a:ext cx="171450" cy="28575"/>
            <a:chOff x="0" y="0"/>
            <a:chExt cx="228600" cy="381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228600" cy="38100"/>
            </a:xfrm>
            <a:custGeom>
              <a:avLst/>
              <a:gdLst/>
              <a:ahLst/>
              <a:cxnLst/>
              <a:rect r="r" b="b" t="t" l="l"/>
              <a:pathLst>
                <a:path h="38100" w="228600">
                  <a:moveTo>
                    <a:pt x="19050" y="0"/>
                  </a:moveTo>
                  <a:lnTo>
                    <a:pt x="209550" y="0"/>
                  </a:lnTo>
                  <a:cubicBezTo>
                    <a:pt x="220091" y="0"/>
                    <a:pt x="228600" y="8509"/>
                    <a:pt x="228600" y="19050"/>
                  </a:cubicBezTo>
                  <a:cubicBezTo>
                    <a:pt x="228600" y="29591"/>
                    <a:pt x="220091" y="38100"/>
                    <a:pt x="209550" y="38100"/>
                  </a:cubicBezTo>
                  <a:lnTo>
                    <a:pt x="19050" y="38100"/>
                  </a:lnTo>
                  <a:cubicBezTo>
                    <a:pt x="8509" y="38100"/>
                    <a:pt x="0" y="29591"/>
                    <a:pt x="0" y="19050"/>
                  </a:cubicBezTo>
                  <a:cubicBezTo>
                    <a:pt x="0" y="8509"/>
                    <a:pt x="8509" y="0"/>
                    <a:pt x="19050" y="0"/>
                  </a:cubicBezTo>
                  <a:close/>
                </a:path>
              </a:pathLst>
            </a:custGeom>
            <a:solidFill>
              <a:srgbClr val="CCD7E4"/>
            </a:solidFill>
          </p:spPr>
        </p:sp>
      </p:grpSp>
      <p:grpSp>
        <p:nvGrpSpPr>
          <p:cNvPr name="Group 14" id="14"/>
          <p:cNvGrpSpPr/>
          <p:nvPr/>
        </p:nvGrpSpPr>
        <p:grpSpPr>
          <a:xfrm rot="8959860">
            <a:off x="3610737" y="3012376"/>
            <a:ext cx="171450" cy="28575"/>
            <a:chOff x="0" y="0"/>
            <a:chExt cx="228600" cy="3810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228600" cy="38100"/>
            </a:xfrm>
            <a:custGeom>
              <a:avLst/>
              <a:gdLst/>
              <a:ahLst/>
              <a:cxnLst/>
              <a:rect r="r" b="b" t="t" l="l"/>
              <a:pathLst>
                <a:path h="38100" w="228600">
                  <a:moveTo>
                    <a:pt x="19050" y="0"/>
                  </a:moveTo>
                  <a:lnTo>
                    <a:pt x="209550" y="0"/>
                  </a:lnTo>
                  <a:cubicBezTo>
                    <a:pt x="220091" y="0"/>
                    <a:pt x="228600" y="8509"/>
                    <a:pt x="228600" y="19050"/>
                  </a:cubicBezTo>
                  <a:cubicBezTo>
                    <a:pt x="228600" y="29591"/>
                    <a:pt x="220091" y="38100"/>
                    <a:pt x="209550" y="38100"/>
                  </a:cubicBezTo>
                  <a:lnTo>
                    <a:pt x="19050" y="38100"/>
                  </a:lnTo>
                  <a:cubicBezTo>
                    <a:pt x="8509" y="38100"/>
                    <a:pt x="0" y="29591"/>
                    <a:pt x="0" y="19050"/>
                  </a:cubicBezTo>
                  <a:cubicBezTo>
                    <a:pt x="0" y="8509"/>
                    <a:pt x="8509" y="0"/>
                    <a:pt x="19050" y="0"/>
                  </a:cubicBezTo>
                  <a:close/>
                </a:path>
              </a:pathLst>
            </a:custGeom>
            <a:solidFill>
              <a:srgbClr val="CCD7E4"/>
            </a:solidFill>
          </p:spPr>
        </p:sp>
      </p:grpSp>
      <p:grpSp>
        <p:nvGrpSpPr>
          <p:cNvPr name="Group 16" id="16"/>
          <p:cNvGrpSpPr/>
          <p:nvPr/>
        </p:nvGrpSpPr>
        <p:grpSpPr>
          <a:xfrm rot="0">
            <a:off x="5505450" y="2705100"/>
            <a:ext cx="552450" cy="552450"/>
            <a:chOff x="0" y="0"/>
            <a:chExt cx="736600" cy="73660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736600" cy="736600"/>
            </a:xfrm>
            <a:custGeom>
              <a:avLst/>
              <a:gdLst/>
              <a:ahLst/>
              <a:cxnLst/>
              <a:rect r="r" b="b" t="t" l="l"/>
              <a:pathLst>
                <a:path h="736600" w="736600">
                  <a:moveTo>
                    <a:pt x="368300" y="0"/>
                  </a:moveTo>
                  <a:cubicBezTo>
                    <a:pt x="571754" y="0"/>
                    <a:pt x="736600" y="164846"/>
                    <a:pt x="736600" y="368300"/>
                  </a:cubicBezTo>
                  <a:cubicBezTo>
                    <a:pt x="736600" y="571754"/>
                    <a:pt x="571754" y="736600"/>
                    <a:pt x="368300" y="736600"/>
                  </a:cubicBezTo>
                  <a:cubicBezTo>
                    <a:pt x="164846" y="736600"/>
                    <a:pt x="0" y="571754"/>
                    <a:pt x="0" y="368300"/>
                  </a:cubicBezTo>
                  <a:cubicBezTo>
                    <a:pt x="0" y="164846"/>
                    <a:pt x="164846" y="0"/>
                    <a:pt x="368300" y="0"/>
                  </a:cubicBezTo>
                  <a:close/>
                </a:path>
              </a:pathLst>
            </a:custGeom>
            <a:solidFill>
              <a:srgbClr val="087E70"/>
            </a:solidFill>
          </p:spPr>
        </p:sp>
      </p:grpSp>
      <p:sp>
        <p:nvSpPr>
          <p:cNvPr name="TextBox 18" id="18"/>
          <p:cNvSpPr txBox="true"/>
          <p:nvPr/>
        </p:nvSpPr>
        <p:spPr>
          <a:xfrm rot="0">
            <a:off x="5591175" y="2781300"/>
            <a:ext cx="381000" cy="3467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45"/>
              </a:lnSpc>
            </a:pPr>
            <a:r>
              <a:rPr lang="en-US" b="true" sz="2250">
                <a:solidFill>
                  <a:srgbClr val="FFFFFF"/>
                </a:solidFill>
                <a:latin typeface="DM Sans Bold"/>
                <a:ea typeface="DM Sans Bold"/>
                <a:cs typeface="DM Sans Bold"/>
                <a:sym typeface="DM Sans Bold"/>
              </a:rPr>
              <a:t>2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4495800" y="3457575"/>
            <a:ext cx="2571750" cy="6707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53"/>
              </a:lnSpc>
            </a:pPr>
            <a:r>
              <a:rPr lang="en-US" b="true" sz="2175">
                <a:solidFill>
                  <a:srgbClr val="151521"/>
                </a:solidFill>
                <a:latin typeface="DM Sans Bold"/>
                <a:ea typeface="DM Sans Bold"/>
                <a:cs typeface="DM Sans Bold"/>
                <a:sym typeface="DM Sans Bold"/>
              </a:rPr>
              <a:t>Pass a fresh task after practice</a:t>
            </a:r>
          </a:p>
        </p:txBody>
      </p:sp>
      <p:sp>
        <p:nvSpPr>
          <p:cNvPr name="AutoShape 20" id="20"/>
          <p:cNvSpPr/>
          <p:nvPr/>
        </p:nvSpPr>
        <p:spPr>
          <a:xfrm rot="0">
            <a:off x="6724650" y="2962275"/>
            <a:ext cx="838200" cy="38100"/>
          </a:xfrm>
          <a:prstGeom prst="rect">
            <a:avLst/>
          </a:prstGeom>
          <a:solidFill>
            <a:srgbClr val="CCD7E4"/>
          </a:solidFill>
        </p:spPr>
      </p:sp>
      <p:grpSp>
        <p:nvGrpSpPr>
          <p:cNvPr name="Group 21" id="21"/>
          <p:cNvGrpSpPr/>
          <p:nvPr/>
        </p:nvGrpSpPr>
        <p:grpSpPr>
          <a:xfrm rot="1840140">
            <a:off x="7505033" y="2926652"/>
            <a:ext cx="171450" cy="28575"/>
            <a:chOff x="0" y="0"/>
            <a:chExt cx="228600" cy="3810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228600" cy="38100"/>
            </a:xfrm>
            <a:custGeom>
              <a:avLst/>
              <a:gdLst/>
              <a:ahLst/>
              <a:cxnLst/>
              <a:rect r="r" b="b" t="t" l="l"/>
              <a:pathLst>
                <a:path h="38100" w="228600">
                  <a:moveTo>
                    <a:pt x="19050" y="0"/>
                  </a:moveTo>
                  <a:lnTo>
                    <a:pt x="209550" y="0"/>
                  </a:lnTo>
                  <a:cubicBezTo>
                    <a:pt x="220091" y="0"/>
                    <a:pt x="228600" y="8509"/>
                    <a:pt x="228600" y="19050"/>
                  </a:cubicBezTo>
                  <a:cubicBezTo>
                    <a:pt x="228600" y="29591"/>
                    <a:pt x="220091" y="38100"/>
                    <a:pt x="209550" y="38100"/>
                  </a:cubicBezTo>
                  <a:lnTo>
                    <a:pt x="19050" y="38100"/>
                  </a:lnTo>
                  <a:cubicBezTo>
                    <a:pt x="8509" y="38100"/>
                    <a:pt x="0" y="29591"/>
                    <a:pt x="0" y="19050"/>
                  </a:cubicBezTo>
                  <a:cubicBezTo>
                    <a:pt x="0" y="8509"/>
                    <a:pt x="8509" y="0"/>
                    <a:pt x="19050" y="0"/>
                  </a:cubicBezTo>
                  <a:close/>
                </a:path>
              </a:pathLst>
            </a:custGeom>
            <a:solidFill>
              <a:srgbClr val="CCD7E4"/>
            </a:solidFill>
          </p:spPr>
        </p:sp>
      </p:grpSp>
      <p:grpSp>
        <p:nvGrpSpPr>
          <p:cNvPr name="Group 23" id="23"/>
          <p:cNvGrpSpPr/>
          <p:nvPr/>
        </p:nvGrpSpPr>
        <p:grpSpPr>
          <a:xfrm rot="8959860">
            <a:off x="7496937" y="3012376"/>
            <a:ext cx="171450" cy="28575"/>
            <a:chOff x="0" y="0"/>
            <a:chExt cx="228600" cy="3810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228600" cy="38100"/>
            </a:xfrm>
            <a:custGeom>
              <a:avLst/>
              <a:gdLst/>
              <a:ahLst/>
              <a:cxnLst/>
              <a:rect r="r" b="b" t="t" l="l"/>
              <a:pathLst>
                <a:path h="38100" w="228600">
                  <a:moveTo>
                    <a:pt x="19050" y="0"/>
                  </a:moveTo>
                  <a:lnTo>
                    <a:pt x="209550" y="0"/>
                  </a:lnTo>
                  <a:cubicBezTo>
                    <a:pt x="220091" y="0"/>
                    <a:pt x="228600" y="8509"/>
                    <a:pt x="228600" y="19050"/>
                  </a:cubicBezTo>
                  <a:cubicBezTo>
                    <a:pt x="228600" y="29591"/>
                    <a:pt x="220091" y="38100"/>
                    <a:pt x="209550" y="38100"/>
                  </a:cubicBezTo>
                  <a:lnTo>
                    <a:pt x="19050" y="38100"/>
                  </a:lnTo>
                  <a:cubicBezTo>
                    <a:pt x="8509" y="38100"/>
                    <a:pt x="0" y="29591"/>
                    <a:pt x="0" y="19050"/>
                  </a:cubicBezTo>
                  <a:cubicBezTo>
                    <a:pt x="0" y="8509"/>
                    <a:pt x="8509" y="0"/>
                    <a:pt x="19050" y="0"/>
                  </a:cubicBezTo>
                  <a:close/>
                </a:path>
              </a:pathLst>
            </a:custGeom>
            <a:solidFill>
              <a:srgbClr val="CCD7E4"/>
            </a:solidFill>
          </p:spPr>
        </p:sp>
      </p:grpSp>
      <p:grpSp>
        <p:nvGrpSpPr>
          <p:cNvPr name="Group 25" id="25"/>
          <p:cNvGrpSpPr/>
          <p:nvPr/>
        </p:nvGrpSpPr>
        <p:grpSpPr>
          <a:xfrm rot="0">
            <a:off x="9391650" y="2705100"/>
            <a:ext cx="552450" cy="552450"/>
            <a:chOff x="0" y="0"/>
            <a:chExt cx="736600" cy="73660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736600" cy="736600"/>
            </a:xfrm>
            <a:custGeom>
              <a:avLst/>
              <a:gdLst/>
              <a:ahLst/>
              <a:cxnLst/>
              <a:rect r="r" b="b" t="t" l="l"/>
              <a:pathLst>
                <a:path h="736600" w="736600">
                  <a:moveTo>
                    <a:pt x="368300" y="0"/>
                  </a:moveTo>
                  <a:cubicBezTo>
                    <a:pt x="571754" y="0"/>
                    <a:pt x="736600" y="164846"/>
                    <a:pt x="736600" y="368300"/>
                  </a:cubicBezTo>
                  <a:cubicBezTo>
                    <a:pt x="736600" y="571754"/>
                    <a:pt x="571754" y="736600"/>
                    <a:pt x="368300" y="736600"/>
                  </a:cubicBezTo>
                  <a:cubicBezTo>
                    <a:pt x="164846" y="736600"/>
                    <a:pt x="0" y="571754"/>
                    <a:pt x="0" y="368300"/>
                  </a:cubicBezTo>
                  <a:cubicBezTo>
                    <a:pt x="0" y="164846"/>
                    <a:pt x="164846" y="0"/>
                    <a:pt x="368300" y="0"/>
                  </a:cubicBezTo>
                  <a:close/>
                </a:path>
              </a:pathLst>
            </a:custGeom>
            <a:solidFill>
              <a:srgbClr val="5753FA"/>
            </a:solidFill>
          </p:spPr>
        </p:sp>
      </p:grpSp>
      <p:sp>
        <p:nvSpPr>
          <p:cNvPr name="TextBox 27" id="27"/>
          <p:cNvSpPr txBox="true"/>
          <p:nvPr/>
        </p:nvSpPr>
        <p:spPr>
          <a:xfrm rot="0">
            <a:off x="9477375" y="2781300"/>
            <a:ext cx="381000" cy="3467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45"/>
              </a:lnSpc>
            </a:pPr>
            <a:r>
              <a:rPr lang="en-US" b="true" sz="2250">
                <a:solidFill>
                  <a:srgbClr val="FFFFFF"/>
                </a:solidFill>
                <a:latin typeface="DM Sans Bold"/>
                <a:ea typeface="DM Sans Bold"/>
                <a:cs typeface="DM Sans Bold"/>
                <a:sym typeface="DM Sans Bold"/>
              </a:rPr>
              <a:t>3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8382000" y="3457575"/>
            <a:ext cx="2571750" cy="6707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53"/>
              </a:lnSpc>
            </a:pPr>
            <a:r>
              <a:rPr lang="en-US" b="true" sz="2175">
                <a:solidFill>
                  <a:srgbClr val="151521"/>
                </a:solidFill>
                <a:latin typeface="DM Sans Bold"/>
                <a:ea typeface="DM Sans Bold"/>
                <a:cs typeface="DM Sans Bold"/>
                <a:sym typeface="DM Sans Bold"/>
              </a:rPr>
              <a:t>Pass again 7-14 days later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609600" y="5324475"/>
            <a:ext cx="10972800" cy="3933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02"/>
              </a:lnSpc>
            </a:pPr>
            <a:r>
              <a:rPr lang="en-US" b="true" sz="2625">
                <a:solidFill>
                  <a:srgbClr val="087E70"/>
                </a:solidFill>
                <a:latin typeface="DM Sans Bold"/>
                <a:ea typeface="DM Sans Bold"/>
                <a:cs typeface="DM Sans Bold"/>
                <a:sym typeface="DM Sans Bold"/>
              </a:rPr>
              <a:t>Retained reentry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609600" y="5876925"/>
            <a:ext cx="10972800" cy="2809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87"/>
              </a:lnSpc>
            </a:pPr>
            <a:r>
              <a:rPr lang="en-US" sz="1875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Count everyone who started unable to do the task.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609600" y="6410325"/>
            <a:ext cx="4667250" cy="1308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189"/>
              </a:lnSpc>
            </a:pPr>
            <a:r>
              <a:rPr lang="en-US" sz="975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  <a:hlinkClick r:id="rId4" tooltip="https://doi.org/10.1038/s44159-022-00089-1"/>
              </a:rPr>
              <a:t>Spacing and retrieval · 2022</a:t>
            </a:r>
          </a:p>
        </p:txBody>
      </p:sp>
      <p:sp>
        <p:nvSpPr>
          <p:cNvPr name="AutoShape 32" id="32"/>
          <p:cNvSpPr/>
          <p:nvPr/>
        </p:nvSpPr>
        <p:spPr>
          <a:xfrm>
            <a:off x="609600" y="1381125"/>
            <a:ext cx="10972800" cy="0"/>
          </a:xfrm>
          <a:prstGeom prst="line">
            <a:avLst/>
          </a:prstGeom>
          <a:ln cap="flat" w="19050">
            <a:solidFill>
              <a:srgbClr val="CCD7E4"/>
            </a:solidFill>
            <a:prstDash val="solid"/>
            <a:headEnd type="none" len="sm" w="sm"/>
            <a:tailEnd type="none" len="sm" w="sm"/>
          </a:ln>
        </p:spPr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</p:spPr>
      </p:sp>
      <p:grpSp>
        <p:nvGrpSpPr>
          <p:cNvPr name="Group 3" id="3"/>
          <p:cNvGrpSpPr/>
          <p:nvPr/>
        </p:nvGrpSpPr>
        <p:grpSpPr>
          <a:xfrm rot="0">
            <a:off x="0" y="0"/>
            <a:ext cx="12192000" cy="6858000"/>
            <a:chOff x="0" y="0"/>
            <a:chExt cx="16256000" cy="91440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6256000" cy="9144000"/>
            </a:xfrm>
            <a:custGeom>
              <a:avLst/>
              <a:gdLst/>
              <a:ahLst/>
              <a:cxnLst/>
              <a:rect r="r" b="b" t="t" l="l"/>
              <a:pathLst>
                <a:path h="9144000" w="16256000">
                  <a:moveTo>
                    <a:pt x="0" y="0"/>
                  </a:moveTo>
                  <a:lnTo>
                    <a:pt x="16256000" y="0"/>
                  </a:lnTo>
                  <a:lnTo>
                    <a:pt x="16256000" y="9144000"/>
                  </a:lnTo>
                  <a:lnTo>
                    <a:pt x="0" y="9144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sp>
        <p:nvSpPr>
          <p:cNvPr name="TextBox 5" id="5"/>
          <p:cNvSpPr txBox="true"/>
          <p:nvPr/>
        </p:nvSpPr>
        <p:spPr>
          <a:xfrm rot="0">
            <a:off x="11239500" y="6353175"/>
            <a:ext cx="428625" cy="1685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72"/>
              </a:lnSpc>
            </a:pPr>
            <a:r>
              <a:rPr lang="en-US" sz="1125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09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609600" y="600075"/>
            <a:ext cx="10972800" cy="6558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215"/>
              </a:lnSpc>
            </a:pPr>
            <a:r>
              <a:rPr lang="en-US" b="true" sz="4275">
                <a:solidFill>
                  <a:srgbClr val="151521"/>
                </a:solidFill>
                <a:latin typeface="DM Sans Bold"/>
                <a:ea typeface="DM Sans Bold"/>
                <a:cs typeface="DM Sans Bold"/>
                <a:sym typeface="DM Sans Bold"/>
              </a:rPr>
              <a:t>A five-month school pilot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609600" y="1495425"/>
            <a:ext cx="10972800" cy="3465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36"/>
              </a:lnSpc>
            </a:pPr>
            <a:r>
              <a:rPr lang="en-US" sz="2325">
                <a:solidFill>
                  <a:srgbClr val="087E70"/>
                </a:solidFill>
                <a:latin typeface="DM Sans"/>
                <a:ea typeface="DM Sans"/>
                <a:cs typeface="DM Sans"/>
                <a:sym typeface="DM Sans"/>
              </a:rPr>
              <a:t>80-120 learners across 2-3 cohorts</a:t>
            </a:r>
          </a:p>
        </p:txBody>
      </p:sp>
      <p:sp>
        <p:nvSpPr>
          <p:cNvPr name="AutoShape 8" id="8"/>
          <p:cNvSpPr/>
          <p:nvPr/>
        </p:nvSpPr>
        <p:spPr>
          <a:xfrm rot="0">
            <a:off x="1409700" y="3209925"/>
            <a:ext cx="9172575" cy="38100"/>
          </a:xfrm>
          <a:prstGeom prst="rect">
            <a:avLst/>
          </a:prstGeom>
          <a:solidFill>
            <a:srgbClr val="CCD7E4"/>
          </a:solidFill>
        </p:spPr>
      </p:sp>
      <p:grpSp>
        <p:nvGrpSpPr>
          <p:cNvPr name="Group 9" id="9"/>
          <p:cNvGrpSpPr/>
          <p:nvPr/>
        </p:nvGrpSpPr>
        <p:grpSpPr>
          <a:xfrm rot="0">
            <a:off x="1066800" y="2828925"/>
            <a:ext cx="800100" cy="800100"/>
            <a:chOff x="0" y="0"/>
            <a:chExt cx="1066800" cy="106680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1066800" cy="1066800"/>
            </a:xfrm>
            <a:custGeom>
              <a:avLst/>
              <a:gdLst/>
              <a:ahLst/>
              <a:cxnLst/>
              <a:rect r="r" b="b" t="t" l="l"/>
              <a:pathLst>
                <a:path h="1066800" w="1066800">
                  <a:moveTo>
                    <a:pt x="533400" y="0"/>
                  </a:moveTo>
                  <a:cubicBezTo>
                    <a:pt x="828040" y="0"/>
                    <a:pt x="1066800" y="238760"/>
                    <a:pt x="1066800" y="533400"/>
                  </a:cubicBezTo>
                  <a:cubicBezTo>
                    <a:pt x="1066800" y="828040"/>
                    <a:pt x="828040" y="1066800"/>
                    <a:pt x="533400" y="1066800"/>
                  </a:cubicBezTo>
                  <a:cubicBezTo>
                    <a:pt x="238760" y="1066800"/>
                    <a:pt x="0" y="828040"/>
                    <a:pt x="0" y="533400"/>
                  </a:cubicBezTo>
                  <a:cubicBezTo>
                    <a:pt x="0" y="238760"/>
                    <a:pt x="238760" y="0"/>
                    <a:pt x="533400" y="0"/>
                  </a:cubicBezTo>
                  <a:close/>
                </a:path>
              </a:pathLst>
            </a:custGeom>
            <a:solidFill>
              <a:srgbClr val="D9F2EA"/>
            </a:solidFill>
          </p:spPr>
        </p:sp>
      </p:grpSp>
      <p:sp>
        <p:nvSpPr>
          <p:cNvPr name="TextBox 11" id="11"/>
          <p:cNvSpPr txBox="true"/>
          <p:nvPr/>
        </p:nvSpPr>
        <p:spPr>
          <a:xfrm rot="0">
            <a:off x="962025" y="3067050"/>
            <a:ext cx="1009650" cy="2716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96"/>
              </a:lnSpc>
            </a:pPr>
            <a:r>
              <a:rPr lang="en-US" b="true" sz="1800">
                <a:solidFill>
                  <a:srgbClr val="087E70"/>
                </a:solidFill>
                <a:latin typeface="DM Sans Bold"/>
                <a:ea typeface="DM Sans Bold"/>
                <a:cs typeface="DM Sans Bold"/>
                <a:sym typeface="DM Sans Bold"/>
              </a:rPr>
              <a:t>NOV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609600" y="4067175"/>
            <a:ext cx="2000250" cy="56673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87"/>
              </a:lnSpc>
            </a:pPr>
            <a:r>
              <a:rPr lang="en-US" b="true" sz="1875">
                <a:solidFill>
                  <a:srgbClr val="151521"/>
                </a:solidFill>
                <a:latin typeface="DM Sans Bold"/>
                <a:ea typeface="DM Sans Bold"/>
                <a:cs typeface="DM Sans Bold"/>
                <a:sym typeface="DM Sans Bold"/>
              </a:rPr>
              <a:t>Review maps + baseline</a:t>
            </a:r>
          </a:p>
        </p:txBody>
      </p:sp>
      <p:grpSp>
        <p:nvGrpSpPr>
          <p:cNvPr name="Group 13" id="13"/>
          <p:cNvGrpSpPr/>
          <p:nvPr/>
        </p:nvGrpSpPr>
        <p:grpSpPr>
          <a:xfrm rot="0">
            <a:off x="3352800" y="2828925"/>
            <a:ext cx="800100" cy="800100"/>
            <a:chOff x="0" y="0"/>
            <a:chExt cx="1066800" cy="106680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1066800" cy="1066800"/>
            </a:xfrm>
            <a:custGeom>
              <a:avLst/>
              <a:gdLst/>
              <a:ahLst/>
              <a:cxnLst/>
              <a:rect r="r" b="b" t="t" l="l"/>
              <a:pathLst>
                <a:path h="1066800" w="1066800">
                  <a:moveTo>
                    <a:pt x="533400" y="0"/>
                  </a:moveTo>
                  <a:cubicBezTo>
                    <a:pt x="828040" y="0"/>
                    <a:pt x="1066800" y="238760"/>
                    <a:pt x="1066800" y="533400"/>
                  </a:cubicBezTo>
                  <a:cubicBezTo>
                    <a:pt x="1066800" y="828040"/>
                    <a:pt x="828040" y="1066800"/>
                    <a:pt x="533400" y="1066800"/>
                  </a:cubicBezTo>
                  <a:cubicBezTo>
                    <a:pt x="238760" y="1066800"/>
                    <a:pt x="0" y="828040"/>
                    <a:pt x="0" y="533400"/>
                  </a:cubicBezTo>
                  <a:cubicBezTo>
                    <a:pt x="0" y="238760"/>
                    <a:pt x="238760" y="0"/>
                    <a:pt x="533400" y="0"/>
                  </a:cubicBezTo>
                  <a:close/>
                </a:path>
              </a:pathLst>
            </a:custGeom>
            <a:solidFill>
              <a:srgbClr val="F0EFFF"/>
            </a:solidFill>
          </p:spPr>
        </p:sp>
      </p:grpSp>
      <p:sp>
        <p:nvSpPr>
          <p:cNvPr name="TextBox 15" id="15"/>
          <p:cNvSpPr txBox="true"/>
          <p:nvPr/>
        </p:nvSpPr>
        <p:spPr>
          <a:xfrm rot="0">
            <a:off x="3248025" y="3067050"/>
            <a:ext cx="1009650" cy="2716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96"/>
              </a:lnSpc>
            </a:pPr>
            <a:r>
              <a:rPr lang="en-US" b="true" sz="1800">
                <a:solidFill>
                  <a:srgbClr val="5753FA"/>
                </a:solidFill>
                <a:latin typeface="DM Sans Bold"/>
                <a:ea typeface="DM Sans Bold"/>
                <a:cs typeface="DM Sans Bold"/>
                <a:sym typeface="DM Sans Bold"/>
              </a:rPr>
              <a:t>DEC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2895600" y="4067175"/>
            <a:ext cx="2000250" cy="56673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87"/>
              </a:lnSpc>
            </a:pPr>
            <a:r>
              <a:rPr lang="en-US" b="true" sz="1875">
                <a:solidFill>
                  <a:srgbClr val="151521"/>
                </a:solidFill>
                <a:latin typeface="DM Sans Bold"/>
                <a:ea typeface="DM Sans Bold"/>
                <a:cs typeface="DM Sans Bold"/>
                <a:sym typeface="DM Sans Bold"/>
              </a:rPr>
              <a:t>First school cycle</a:t>
            </a:r>
          </a:p>
        </p:txBody>
      </p:sp>
      <p:grpSp>
        <p:nvGrpSpPr>
          <p:cNvPr name="Group 17" id="17"/>
          <p:cNvGrpSpPr/>
          <p:nvPr/>
        </p:nvGrpSpPr>
        <p:grpSpPr>
          <a:xfrm rot="0">
            <a:off x="5638800" y="2828925"/>
            <a:ext cx="800100" cy="800100"/>
            <a:chOff x="0" y="0"/>
            <a:chExt cx="1066800" cy="106680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1066800" cy="1066800"/>
            </a:xfrm>
            <a:custGeom>
              <a:avLst/>
              <a:gdLst/>
              <a:ahLst/>
              <a:cxnLst/>
              <a:rect r="r" b="b" t="t" l="l"/>
              <a:pathLst>
                <a:path h="1066800" w="1066800">
                  <a:moveTo>
                    <a:pt x="533400" y="0"/>
                  </a:moveTo>
                  <a:cubicBezTo>
                    <a:pt x="828040" y="0"/>
                    <a:pt x="1066800" y="238760"/>
                    <a:pt x="1066800" y="533400"/>
                  </a:cubicBezTo>
                  <a:cubicBezTo>
                    <a:pt x="1066800" y="828040"/>
                    <a:pt x="828040" y="1066800"/>
                    <a:pt x="533400" y="1066800"/>
                  </a:cubicBezTo>
                  <a:cubicBezTo>
                    <a:pt x="238760" y="1066800"/>
                    <a:pt x="0" y="828040"/>
                    <a:pt x="0" y="533400"/>
                  </a:cubicBezTo>
                  <a:cubicBezTo>
                    <a:pt x="0" y="238760"/>
                    <a:pt x="238760" y="0"/>
                    <a:pt x="533400" y="0"/>
                  </a:cubicBezTo>
                  <a:close/>
                </a:path>
              </a:pathLst>
            </a:custGeom>
            <a:solidFill>
              <a:srgbClr val="D9F2EA"/>
            </a:solidFill>
          </p:spPr>
        </p:sp>
      </p:grpSp>
      <p:sp>
        <p:nvSpPr>
          <p:cNvPr name="TextBox 19" id="19"/>
          <p:cNvSpPr txBox="true"/>
          <p:nvPr/>
        </p:nvSpPr>
        <p:spPr>
          <a:xfrm rot="0">
            <a:off x="5534025" y="3067050"/>
            <a:ext cx="1009650" cy="2716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96"/>
              </a:lnSpc>
            </a:pPr>
            <a:r>
              <a:rPr lang="en-US" b="true" sz="1800">
                <a:solidFill>
                  <a:srgbClr val="087E70"/>
                </a:solidFill>
                <a:latin typeface="DM Sans Bold"/>
                <a:ea typeface="DM Sans Bold"/>
                <a:cs typeface="DM Sans Bold"/>
                <a:sym typeface="DM Sans Bold"/>
              </a:rPr>
              <a:t>JAN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5181600" y="4067175"/>
            <a:ext cx="2000250" cy="56673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87"/>
              </a:lnSpc>
            </a:pPr>
            <a:r>
              <a:rPr lang="en-US" b="true" sz="1875">
                <a:solidFill>
                  <a:srgbClr val="151521"/>
                </a:solidFill>
                <a:latin typeface="DM Sans Bold"/>
                <a:ea typeface="DM Sans Bold"/>
                <a:cs typeface="DM Sans Bold"/>
                <a:sym typeface="DM Sans Bold"/>
              </a:rPr>
              <a:t>Compare + improve</a:t>
            </a:r>
          </a:p>
        </p:txBody>
      </p:sp>
      <p:grpSp>
        <p:nvGrpSpPr>
          <p:cNvPr name="Group 21" id="21"/>
          <p:cNvGrpSpPr/>
          <p:nvPr/>
        </p:nvGrpSpPr>
        <p:grpSpPr>
          <a:xfrm rot="0">
            <a:off x="7924800" y="2828925"/>
            <a:ext cx="800100" cy="800100"/>
            <a:chOff x="0" y="0"/>
            <a:chExt cx="1066800" cy="106680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1066800" cy="1066800"/>
            </a:xfrm>
            <a:custGeom>
              <a:avLst/>
              <a:gdLst/>
              <a:ahLst/>
              <a:cxnLst/>
              <a:rect r="r" b="b" t="t" l="l"/>
              <a:pathLst>
                <a:path h="1066800" w="1066800">
                  <a:moveTo>
                    <a:pt x="533400" y="0"/>
                  </a:moveTo>
                  <a:cubicBezTo>
                    <a:pt x="828040" y="0"/>
                    <a:pt x="1066800" y="238760"/>
                    <a:pt x="1066800" y="533400"/>
                  </a:cubicBezTo>
                  <a:cubicBezTo>
                    <a:pt x="1066800" y="828040"/>
                    <a:pt x="828040" y="1066800"/>
                    <a:pt x="533400" y="1066800"/>
                  </a:cubicBezTo>
                  <a:cubicBezTo>
                    <a:pt x="238760" y="1066800"/>
                    <a:pt x="0" y="828040"/>
                    <a:pt x="0" y="533400"/>
                  </a:cubicBezTo>
                  <a:cubicBezTo>
                    <a:pt x="0" y="238760"/>
                    <a:pt x="238760" y="0"/>
                    <a:pt x="533400" y="0"/>
                  </a:cubicBezTo>
                  <a:close/>
                </a:path>
              </a:pathLst>
            </a:custGeom>
            <a:solidFill>
              <a:srgbClr val="F0EFFF"/>
            </a:solidFill>
          </p:spPr>
        </p:sp>
      </p:grpSp>
      <p:sp>
        <p:nvSpPr>
          <p:cNvPr name="TextBox 23" id="23"/>
          <p:cNvSpPr txBox="true"/>
          <p:nvPr/>
        </p:nvSpPr>
        <p:spPr>
          <a:xfrm rot="0">
            <a:off x="7820025" y="3067050"/>
            <a:ext cx="1009650" cy="2716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96"/>
              </a:lnSpc>
            </a:pPr>
            <a:r>
              <a:rPr lang="en-US" b="true" sz="1800">
                <a:solidFill>
                  <a:srgbClr val="5753FA"/>
                </a:solidFill>
                <a:latin typeface="DM Sans Bold"/>
                <a:ea typeface="DM Sans Bold"/>
                <a:cs typeface="DM Sans Bold"/>
                <a:sym typeface="DM Sans Bold"/>
              </a:rPr>
              <a:t>FEB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7467600" y="4067175"/>
            <a:ext cx="2000250" cy="56673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87"/>
              </a:lnSpc>
            </a:pPr>
            <a:r>
              <a:rPr lang="en-US" b="true" sz="1875">
                <a:solidFill>
                  <a:srgbClr val="151521"/>
                </a:solidFill>
                <a:latin typeface="DM Sans Bold"/>
                <a:ea typeface="DM Sans Bold"/>
                <a:cs typeface="DM Sans Bold"/>
                <a:sym typeface="DM Sans Bold"/>
              </a:rPr>
              <a:t>New educator + repeat</a:t>
            </a:r>
          </a:p>
        </p:txBody>
      </p:sp>
      <p:grpSp>
        <p:nvGrpSpPr>
          <p:cNvPr name="Group 25" id="25"/>
          <p:cNvGrpSpPr/>
          <p:nvPr/>
        </p:nvGrpSpPr>
        <p:grpSpPr>
          <a:xfrm rot="0">
            <a:off x="10210800" y="2828925"/>
            <a:ext cx="800100" cy="800100"/>
            <a:chOff x="0" y="0"/>
            <a:chExt cx="1066800" cy="106680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1066800" cy="1066800"/>
            </a:xfrm>
            <a:custGeom>
              <a:avLst/>
              <a:gdLst/>
              <a:ahLst/>
              <a:cxnLst/>
              <a:rect r="r" b="b" t="t" l="l"/>
              <a:pathLst>
                <a:path h="1066800" w="1066800">
                  <a:moveTo>
                    <a:pt x="533400" y="0"/>
                  </a:moveTo>
                  <a:cubicBezTo>
                    <a:pt x="828040" y="0"/>
                    <a:pt x="1066800" y="238760"/>
                    <a:pt x="1066800" y="533400"/>
                  </a:cubicBezTo>
                  <a:cubicBezTo>
                    <a:pt x="1066800" y="828040"/>
                    <a:pt x="828040" y="1066800"/>
                    <a:pt x="533400" y="1066800"/>
                  </a:cubicBezTo>
                  <a:cubicBezTo>
                    <a:pt x="238760" y="1066800"/>
                    <a:pt x="0" y="828040"/>
                    <a:pt x="0" y="533400"/>
                  </a:cubicBezTo>
                  <a:cubicBezTo>
                    <a:pt x="0" y="238760"/>
                    <a:pt x="238760" y="0"/>
                    <a:pt x="533400" y="0"/>
                  </a:cubicBezTo>
                  <a:close/>
                </a:path>
              </a:pathLst>
            </a:custGeom>
            <a:solidFill>
              <a:srgbClr val="D9F2EA"/>
            </a:solidFill>
          </p:spPr>
        </p:sp>
      </p:grpSp>
      <p:sp>
        <p:nvSpPr>
          <p:cNvPr name="TextBox 27" id="27"/>
          <p:cNvSpPr txBox="true"/>
          <p:nvPr/>
        </p:nvSpPr>
        <p:spPr>
          <a:xfrm rot="0">
            <a:off x="10106025" y="3067050"/>
            <a:ext cx="1009650" cy="2716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96"/>
              </a:lnSpc>
            </a:pPr>
            <a:r>
              <a:rPr lang="en-US" b="true" sz="1800">
                <a:solidFill>
                  <a:srgbClr val="087E70"/>
                </a:solidFill>
                <a:latin typeface="DM Sans Bold"/>
                <a:ea typeface="DM Sans Bold"/>
                <a:cs typeface="DM Sans Bold"/>
                <a:sym typeface="DM Sans Bold"/>
              </a:rPr>
              <a:t>MAR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9753600" y="4067175"/>
            <a:ext cx="2000250" cy="56673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87"/>
              </a:lnSpc>
            </a:pPr>
            <a:r>
              <a:rPr lang="en-US" b="true" sz="1875">
                <a:solidFill>
                  <a:srgbClr val="151521"/>
                </a:solidFill>
                <a:latin typeface="DM Sans Bold"/>
                <a:ea typeface="DM Sans Bold"/>
                <a:cs typeface="DM Sans Bold"/>
                <a:sym typeface="DM Sans Bold"/>
              </a:rPr>
              <a:t>Follow-up + handover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609600" y="5610225"/>
            <a:ext cx="10972800" cy="3465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36"/>
              </a:lnSpc>
            </a:pPr>
            <a:r>
              <a:rPr lang="en-US" b="true" sz="2325">
                <a:solidFill>
                  <a:srgbClr val="151521"/>
                </a:solidFill>
                <a:latin typeface="DM Sans Bold"/>
                <a:ea typeface="DM Sans Bold"/>
                <a:cs typeface="DM Sans Bold"/>
                <a:sym typeface="DM Sans Bold"/>
              </a:rPr>
              <a:t>November 2026-March 2027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609600" y="6105525"/>
            <a:ext cx="10382250" cy="24345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13"/>
              </a:lnSpc>
            </a:pPr>
            <a:r>
              <a:rPr lang="en-US" sz="1650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Pilot targets, fitted to each school’s access and timetable.</a:t>
            </a:r>
          </a:p>
        </p:txBody>
      </p:sp>
      <p:sp>
        <p:nvSpPr>
          <p:cNvPr name="AutoShape 31" id="31"/>
          <p:cNvSpPr/>
          <p:nvPr/>
        </p:nvSpPr>
        <p:spPr>
          <a:xfrm>
            <a:off x="609600" y="1381125"/>
            <a:ext cx="10972800" cy="0"/>
          </a:xfrm>
          <a:prstGeom prst="line">
            <a:avLst/>
          </a:prstGeom>
          <a:ln cap="flat" w="19050">
            <a:solidFill>
              <a:srgbClr val="CCD7E4"/>
            </a:solidFill>
            <a:prstDash val="solid"/>
            <a:headEnd type="none" len="sm" w="sm"/>
            <a:tailEnd type="none" len="sm" w="sm"/>
          </a:ln>
        </p:spPr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</p:spPr>
      </p:sp>
      <p:grpSp>
        <p:nvGrpSpPr>
          <p:cNvPr name="Group 3" id="3"/>
          <p:cNvGrpSpPr/>
          <p:nvPr/>
        </p:nvGrpSpPr>
        <p:grpSpPr>
          <a:xfrm rot="0">
            <a:off x="0" y="0"/>
            <a:ext cx="12192000" cy="6858000"/>
            <a:chOff x="0" y="0"/>
            <a:chExt cx="16256000" cy="91440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6256000" cy="9144000"/>
            </a:xfrm>
            <a:custGeom>
              <a:avLst/>
              <a:gdLst/>
              <a:ahLst/>
              <a:cxnLst/>
              <a:rect r="r" b="b" t="t" l="l"/>
              <a:pathLst>
                <a:path h="9144000" w="16256000">
                  <a:moveTo>
                    <a:pt x="0" y="0"/>
                  </a:moveTo>
                  <a:lnTo>
                    <a:pt x="16256000" y="0"/>
                  </a:lnTo>
                  <a:lnTo>
                    <a:pt x="16256000" y="9144000"/>
                  </a:lnTo>
                  <a:lnTo>
                    <a:pt x="0" y="9144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sp>
        <p:nvSpPr>
          <p:cNvPr name="TextBox 5" id="5"/>
          <p:cNvSpPr txBox="true"/>
          <p:nvPr/>
        </p:nvSpPr>
        <p:spPr>
          <a:xfrm rot="0">
            <a:off x="11239500" y="6353175"/>
            <a:ext cx="428625" cy="1685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72"/>
              </a:lnSpc>
            </a:pPr>
            <a:r>
              <a:rPr lang="en-US" sz="1125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10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609600" y="600075"/>
            <a:ext cx="10972800" cy="6558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215"/>
              </a:lnSpc>
            </a:pPr>
            <a:r>
              <a:rPr lang="en-US" b="true" sz="4275">
                <a:solidFill>
                  <a:srgbClr val="151521"/>
                </a:solidFill>
                <a:latin typeface="DM Sans Bold"/>
                <a:ea typeface="DM Sans Bold"/>
                <a:cs typeface="DM Sans Bold"/>
                <a:sym typeface="DM Sans Bold"/>
              </a:rPr>
              <a:t>Does the route add value?</a:t>
            </a:r>
          </a:p>
        </p:txBody>
      </p:sp>
      <p:sp>
        <p:nvSpPr>
          <p:cNvPr name="AutoShape 7" id="7"/>
          <p:cNvSpPr/>
          <p:nvPr/>
        </p:nvSpPr>
        <p:spPr>
          <a:xfrm rot="0">
            <a:off x="609600" y="2457450"/>
            <a:ext cx="5172075" cy="1447800"/>
          </a:xfrm>
          <a:prstGeom prst="rect">
            <a:avLst/>
          </a:prstGeom>
          <a:solidFill>
            <a:srgbClr val="D9F2EA"/>
          </a:solidFill>
        </p:spPr>
      </p:sp>
      <p:sp>
        <p:nvSpPr>
          <p:cNvPr name="AutoShape 8" id="8"/>
          <p:cNvSpPr/>
          <p:nvPr/>
        </p:nvSpPr>
        <p:spPr>
          <a:xfrm rot="0">
            <a:off x="6153150" y="2457450"/>
            <a:ext cx="5429250" cy="1447800"/>
          </a:xfrm>
          <a:prstGeom prst="rect">
            <a:avLst/>
          </a:prstGeom>
          <a:solidFill>
            <a:srgbClr val="F0EFFF"/>
          </a:solidFill>
        </p:spPr>
      </p:sp>
      <p:sp>
        <p:nvSpPr>
          <p:cNvPr name="TextBox 9" id="9"/>
          <p:cNvSpPr txBox="true"/>
          <p:nvPr/>
        </p:nvSpPr>
        <p:spPr>
          <a:xfrm rot="0">
            <a:off x="838200" y="2686050"/>
            <a:ext cx="4714875" cy="4215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85"/>
              </a:lnSpc>
            </a:pPr>
            <a:r>
              <a:rPr lang="en-US" b="true" sz="2775">
                <a:solidFill>
                  <a:srgbClr val="087E70"/>
                </a:solidFill>
                <a:latin typeface="DM Sans Bold"/>
                <a:ea typeface="DM Sans Bold"/>
                <a:cs typeface="DM Sans Bold"/>
                <a:sym typeface="DM Sans Bold"/>
              </a:rPr>
              <a:t>Khan practice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838200" y="3362325"/>
            <a:ext cx="4714875" cy="2716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96"/>
              </a:lnSpc>
            </a:pPr>
            <a:r>
              <a:rPr lang="en-US" sz="1800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Selected by the teacher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6381750" y="2686050"/>
            <a:ext cx="4972050" cy="4215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85"/>
              </a:lnSpc>
            </a:pPr>
            <a:r>
              <a:rPr lang="en-US" b="true" sz="2775">
                <a:solidFill>
                  <a:srgbClr val="5753FA"/>
                </a:solidFill>
                <a:latin typeface="DM Sans Bold"/>
                <a:ea typeface="DM Sans Bold"/>
                <a:cs typeface="DM Sans Bold"/>
                <a:sym typeface="DM Sans Bold"/>
              </a:rPr>
              <a:t>Khan + BACKTRACK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6381750" y="3362325"/>
            <a:ext cx="4972050" cy="2716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96"/>
              </a:lnSpc>
            </a:pPr>
            <a:r>
              <a:rPr lang="en-US" sz="1800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Practice tied to the recovery route</a:t>
            </a:r>
          </a:p>
        </p:txBody>
      </p:sp>
      <p:grpSp>
        <p:nvGrpSpPr>
          <p:cNvPr name="Group 13" id="13"/>
          <p:cNvGrpSpPr/>
          <p:nvPr/>
        </p:nvGrpSpPr>
        <p:grpSpPr>
          <a:xfrm rot="5400000">
            <a:off x="2876550" y="4200525"/>
            <a:ext cx="628650" cy="38100"/>
            <a:chOff x="0" y="0"/>
            <a:chExt cx="838200" cy="5080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838200" cy="50800"/>
            </a:xfrm>
            <a:custGeom>
              <a:avLst/>
              <a:gdLst/>
              <a:ahLst/>
              <a:cxnLst/>
              <a:rect r="r" b="b" t="t" l="l"/>
              <a:pathLst>
                <a:path h="50800" w="838200">
                  <a:moveTo>
                    <a:pt x="25400" y="0"/>
                  </a:moveTo>
                  <a:lnTo>
                    <a:pt x="812800" y="0"/>
                  </a:lnTo>
                  <a:cubicBezTo>
                    <a:pt x="826770" y="0"/>
                    <a:pt x="838200" y="11430"/>
                    <a:pt x="838200" y="25400"/>
                  </a:cubicBezTo>
                  <a:cubicBezTo>
                    <a:pt x="838200" y="39370"/>
                    <a:pt x="826770" y="50800"/>
                    <a:pt x="812800" y="50800"/>
                  </a:cubicBezTo>
                  <a:lnTo>
                    <a:pt x="25400" y="50800"/>
                  </a:lnTo>
                  <a:cubicBezTo>
                    <a:pt x="11430" y="50800"/>
                    <a:pt x="0" y="39370"/>
                    <a:pt x="0" y="25400"/>
                  </a:cubicBezTo>
                  <a:cubicBezTo>
                    <a:pt x="0" y="11430"/>
                    <a:pt x="11430" y="0"/>
                    <a:pt x="25400" y="0"/>
                  </a:cubicBezTo>
                  <a:close/>
                </a:path>
              </a:pathLst>
            </a:custGeom>
            <a:solidFill>
              <a:srgbClr val="087E70"/>
            </a:solidFill>
          </p:spPr>
        </p:sp>
      </p:grpSp>
      <p:grpSp>
        <p:nvGrpSpPr>
          <p:cNvPr name="Group 15" id="15"/>
          <p:cNvGrpSpPr/>
          <p:nvPr/>
        </p:nvGrpSpPr>
        <p:grpSpPr>
          <a:xfrm rot="0">
            <a:off x="3190875" y="4505325"/>
            <a:ext cx="2914650" cy="38100"/>
            <a:chOff x="0" y="0"/>
            <a:chExt cx="3886200" cy="508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3886200" cy="50800"/>
            </a:xfrm>
            <a:custGeom>
              <a:avLst/>
              <a:gdLst/>
              <a:ahLst/>
              <a:cxnLst/>
              <a:rect r="r" b="b" t="t" l="l"/>
              <a:pathLst>
                <a:path h="50800" w="3886200">
                  <a:moveTo>
                    <a:pt x="25400" y="0"/>
                  </a:moveTo>
                  <a:lnTo>
                    <a:pt x="3860800" y="0"/>
                  </a:lnTo>
                  <a:cubicBezTo>
                    <a:pt x="3874770" y="0"/>
                    <a:pt x="3886200" y="11430"/>
                    <a:pt x="3886200" y="25400"/>
                  </a:cubicBezTo>
                  <a:cubicBezTo>
                    <a:pt x="3886200" y="39370"/>
                    <a:pt x="3874770" y="50800"/>
                    <a:pt x="3860800" y="50800"/>
                  </a:cubicBezTo>
                  <a:lnTo>
                    <a:pt x="25400" y="50800"/>
                  </a:lnTo>
                  <a:cubicBezTo>
                    <a:pt x="11430" y="50800"/>
                    <a:pt x="0" y="39370"/>
                    <a:pt x="0" y="25400"/>
                  </a:cubicBezTo>
                  <a:cubicBezTo>
                    <a:pt x="0" y="11430"/>
                    <a:pt x="11430" y="0"/>
                    <a:pt x="25400" y="0"/>
                  </a:cubicBezTo>
                  <a:close/>
                </a:path>
              </a:pathLst>
            </a:custGeom>
            <a:solidFill>
              <a:srgbClr val="087E70"/>
            </a:solidFill>
          </p:spPr>
        </p:sp>
      </p:grpSp>
      <p:grpSp>
        <p:nvGrpSpPr>
          <p:cNvPr name="Group 17" id="17"/>
          <p:cNvGrpSpPr/>
          <p:nvPr/>
        </p:nvGrpSpPr>
        <p:grpSpPr>
          <a:xfrm rot="5400000">
            <a:off x="5872162" y="4729162"/>
            <a:ext cx="447675" cy="38100"/>
            <a:chOff x="0" y="0"/>
            <a:chExt cx="596900" cy="5080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596900" cy="50800"/>
            </a:xfrm>
            <a:custGeom>
              <a:avLst/>
              <a:gdLst/>
              <a:ahLst/>
              <a:cxnLst/>
              <a:rect r="r" b="b" t="t" l="l"/>
              <a:pathLst>
                <a:path h="50800" w="596900">
                  <a:moveTo>
                    <a:pt x="25400" y="0"/>
                  </a:moveTo>
                  <a:lnTo>
                    <a:pt x="571500" y="0"/>
                  </a:lnTo>
                  <a:cubicBezTo>
                    <a:pt x="585470" y="0"/>
                    <a:pt x="596900" y="11430"/>
                    <a:pt x="596900" y="25400"/>
                  </a:cubicBezTo>
                  <a:cubicBezTo>
                    <a:pt x="596900" y="39370"/>
                    <a:pt x="585470" y="50800"/>
                    <a:pt x="571500" y="50800"/>
                  </a:cubicBezTo>
                  <a:lnTo>
                    <a:pt x="25400" y="50800"/>
                  </a:lnTo>
                  <a:cubicBezTo>
                    <a:pt x="11430" y="50800"/>
                    <a:pt x="0" y="39370"/>
                    <a:pt x="0" y="25400"/>
                  </a:cubicBezTo>
                  <a:cubicBezTo>
                    <a:pt x="0" y="11430"/>
                    <a:pt x="11430" y="0"/>
                    <a:pt x="25400" y="0"/>
                  </a:cubicBezTo>
                  <a:close/>
                </a:path>
              </a:pathLst>
            </a:custGeom>
            <a:solidFill>
              <a:srgbClr val="087E70"/>
            </a:solidFill>
          </p:spPr>
        </p:sp>
      </p:grpSp>
      <p:grpSp>
        <p:nvGrpSpPr>
          <p:cNvPr name="Group 19" id="19"/>
          <p:cNvGrpSpPr/>
          <p:nvPr/>
        </p:nvGrpSpPr>
        <p:grpSpPr>
          <a:xfrm rot="5400000">
            <a:off x="8543925" y="4200525"/>
            <a:ext cx="628650" cy="38100"/>
            <a:chOff x="0" y="0"/>
            <a:chExt cx="838200" cy="5080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838200" cy="50800"/>
            </a:xfrm>
            <a:custGeom>
              <a:avLst/>
              <a:gdLst/>
              <a:ahLst/>
              <a:cxnLst/>
              <a:rect r="r" b="b" t="t" l="l"/>
              <a:pathLst>
                <a:path h="50800" w="838200">
                  <a:moveTo>
                    <a:pt x="25400" y="0"/>
                  </a:moveTo>
                  <a:lnTo>
                    <a:pt x="812800" y="0"/>
                  </a:lnTo>
                  <a:cubicBezTo>
                    <a:pt x="826770" y="0"/>
                    <a:pt x="838200" y="11430"/>
                    <a:pt x="838200" y="25400"/>
                  </a:cubicBezTo>
                  <a:cubicBezTo>
                    <a:pt x="838200" y="39370"/>
                    <a:pt x="826770" y="50800"/>
                    <a:pt x="812800" y="50800"/>
                  </a:cubicBezTo>
                  <a:lnTo>
                    <a:pt x="25400" y="50800"/>
                  </a:lnTo>
                  <a:cubicBezTo>
                    <a:pt x="11430" y="50800"/>
                    <a:pt x="0" y="39370"/>
                    <a:pt x="0" y="25400"/>
                  </a:cubicBezTo>
                  <a:cubicBezTo>
                    <a:pt x="0" y="11430"/>
                    <a:pt x="11430" y="0"/>
                    <a:pt x="25400" y="0"/>
                  </a:cubicBezTo>
                  <a:close/>
                </a:path>
              </a:pathLst>
            </a:custGeom>
            <a:solidFill>
              <a:srgbClr val="5753FA"/>
            </a:solidFill>
          </p:spPr>
        </p:sp>
      </p:grpSp>
      <p:grpSp>
        <p:nvGrpSpPr>
          <p:cNvPr name="Group 21" id="21"/>
          <p:cNvGrpSpPr/>
          <p:nvPr/>
        </p:nvGrpSpPr>
        <p:grpSpPr>
          <a:xfrm rot="-10800000">
            <a:off x="6086475" y="4505325"/>
            <a:ext cx="2771775" cy="38100"/>
            <a:chOff x="0" y="0"/>
            <a:chExt cx="3695700" cy="5080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3695700" cy="50800"/>
            </a:xfrm>
            <a:custGeom>
              <a:avLst/>
              <a:gdLst/>
              <a:ahLst/>
              <a:cxnLst/>
              <a:rect r="r" b="b" t="t" l="l"/>
              <a:pathLst>
                <a:path h="50800" w="3695700">
                  <a:moveTo>
                    <a:pt x="25400" y="0"/>
                  </a:moveTo>
                  <a:lnTo>
                    <a:pt x="3670300" y="0"/>
                  </a:lnTo>
                  <a:cubicBezTo>
                    <a:pt x="3684270" y="0"/>
                    <a:pt x="3695700" y="11430"/>
                    <a:pt x="3695700" y="25400"/>
                  </a:cubicBezTo>
                  <a:cubicBezTo>
                    <a:pt x="3695700" y="39370"/>
                    <a:pt x="3684270" y="50800"/>
                    <a:pt x="3670300" y="50800"/>
                  </a:cubicBezTo>
                  <a:lnTo>
                    <a:pt x="25400" y="50800"/>
                  </a:lnTo>
                  <a:cubicBezTo>
                    <a:pt x="11430" y="50800"/>
                    <a:pt x="0" y="39370"/>
                    <a:pt x="0" y="25400"/>
                  </a:cubicBezTo>
                  <a:cubicBezTo>
                    <a:pt x="0" y="11430"/>
                    <a:pt x="11430" y="0"/>
                    <a:pt x="25400" y="0"/>
                  </a:cubicBezTo>
                  <a:close/>
                </a:path>
              </a:pathLst>
            </a:custGeom>
            <a:solidFill>
              <a:srgbClr val="5753FA"/>
            </a:solidFill>
          </p:spPr>
        </p:sp>
      </p:grpSp>
      <p:sp>
        <p:nvSpPr>
          <p:cNvPr name="AutoShape 23" id="23"/>
          <p:cNvSpPr/>
          <p:nvPr/>
        </p:nvSpPr>
        <p:spPr>
          <a:xfrm rot="0">
            <a:off x="1809750" y="4962525"/>
            <a:ext cx="8572500" cy="819150"/>
          </a:xfrm>
          <a:prstGeom prst="rect">
            <a:avLst/>
          </a:prstGeom>
          <a:solidFill>
            <a:srgbClr val="087E70"/>
          </a:solidFill>
        </p:spPr>
      </p:sp>
      <p:sp>
        <p:nvSpPr>
          <p:cNvPr name="TextBox 24" id="24"/>
          <p:cNvSpPr txBox="true"/>
          <p:nvPr/>
        </p:nvSpPr>
        <p:spPr>
          <a:xfrm rot="0">
            <a:off x="2028825" y="5153025"/>
            <a:ext cx="8134350" cy="4309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76"/>
              </a:lnSpc>
            </a:pPr>
            <a:r>
              <a:rPr lang="en-US" b="true" sz="2850">
                <a:solidFill>
                  <a:srgbClr val="FFFFFF"/>
                </a:solidFill>
                <a:latin typeface="DM Sans Bold"/>
                <a:ea typeface="DM Sans Bold"/>
                <a:cs typeface="DM Sans Bold"/>
                <a:sym typeface="DM Sans Bold"/>
              </a:rPr>
              <a:t>The same fresh assessments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609600" y="6124575"/>
            <a:ext cx="10972800" cy="2716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96"/>
              </a:lnSpc>
            </a:pPr>
            <a:r>
              <a:rPr lang="en-US" sz="1800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After practice, then 7-14 days later. Similar time and support.</a:t>
            </a:r>
          </a:p>
        </p:txBody>
      </p:sp>
      <p:sp>
        <p:nvSpPr>
          <p:cNvPr name="AutoShape 26" id="26"/>
          <p:cNvSpPr/>
          <p:nvPr/>
        </p:nvSpPr>
        <p:spPr>
          <a:xfrm>
            <a:off x="609600" y="1381125"/>
            <a:ext cx="10972800" cy="0"/>
          </a:xfrm>
          <a:prstGeom prst="line">
            <a:avLst/>
          </a:prstGeom>
          <a:ln cap="flat" w="19050">
            <a:solidFill>
              <a:srgbClr val="CCD7E4"/>
            </a:solidFill>
            <a:prstDash val="solid"/>
            <a:headEnd type="none" len="sm" w="sm"/>
            <a:tailEnd type="none" len="sm" w="sm"/>
          </a:ln>
        </p:spPr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</p:spPr>
      </p:sp>
      <p:grpSp>
        <p:nvGrpSpPr>
          <p:cNvPr name="Group 3" id="3"/>
          <p:cNvGrpSpPr/>
          <p:nvPr/>
        </p:nvGrpSpPr>
        <p:grpSpPr>
          <a:xfrm rot="0">
            <a:off x="0" y="0"/>
            <a:ext cx="12192000" cy="6858000"/>
            <a:chOff x="0" y="0"/>
            <a:chExt cx="16256000" cy="91440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6256000" cy="9144000"/>
            </a:xfrm>
            <a:custGeom>
              <a:avLst/>
              <a:gdLst/>
              <a:ahLst/>
              <a:cxnLst/>
              <a:rect r="r" b="b" t="t" l="l"/>
              <a:pathLst>
                <a:path h="9144000" w="16256000">
                  <a:moveTo>
                    <a:pt x="0" y="0"/>
                  </a:moveTo>
                  <a:lnTo>
                    <a:pt x="16256000" y="0"/>
                  </a:lnTo>
                  <a:lnTo>
                    <a:pt x="16256000" y="9144000"/>
                  </a:lnTo>
                  <a:lnTo>
                    <a:pt x="0" y="9144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sp>
        <p:nvSpPr>
          <p:cNvPr name="TextBox 5" id="5"/>
          <p:cNvSpPr txBox="true"/>
          <p:nvPr/>
        </p:nvSpPr>
        <p:spPr>
          <a:xfrm rot="0">
            <a:off x="11239500" y="6353175"/>
            <a:ext cx="428625" cy="1685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72"/>
              </a:lnSpc>
            </a:pPr>
            <a:r>
              <a:rPr lang="en-US" sz="1125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11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609600" y="600075"/>
            <a:ext cx="10972800" cy="72142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764"/>
              </a:lnSpc>
            </a:pPr>
            <a:r>
              <a:rPr lang="en-US" b="true" sz="4725">
                <a:solidFill>
                  <a:srgbClr val="151521"/>
                </a:solidFill>
                <a:latin typeface="DM Sans Bold"/>
                <a:ea typeface="DM Sans Bold"/>
                <a:cs typeface="DM Sans Bold"/>
                <a:sym typeface="DM Sans Bold"/>
              </a:rPr>
              <a:t>Skip the review you don’t need.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609600" y="2114550"/>
            <a:ext cx="4095750" cy="24364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21"/>
              </a:lnSpc>
            </a:pPr>
            <a:r>
              <a:rPr lang="en-US" b="true" sz="1575">
                <a:solidFill>
                  <a:srgbClr val="536073"/>
                </a:solidFill>
                <a:latin typeface="DM Sans Bold"/>
                <a:ea typeface="DM Sans Bold"/>
                <a:cs typeface="DM Sans Bold"/>
                <a:sym typeface="DM Sans Bold"/>
              </a:rPr>
              <a:t>What the learner does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6610350" y="2114550"/>
            <a:ext cx="4953000" cy="24364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21"/>
              </a:lnSpc>
            </a:pPr>
            <a:r>
              <a:rPr lang="en-US" b="true" sz="1575">
                <a:solidFill>
                  <a:srgbClr val="536073"/>
                </a:solidFill>
                <a:latin typeface="DM Sans Bold"/>
                <a:ea typeface="DM Sans Bold"/>
                <a:cs typeface="DM Sans Bold"/>
                <a:sym typeface="DM Sans Bold"/>
              </a:rPr>
              <a:t>What changes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609600" y="2886075"/>
            <a:ext cx="4191000" cy="3935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11"/>
              </a:lnSpc>
            </a:pPr>
            <a:r>
              <a:rPr lang="en-US" b="true" sz="2550">
                <a:solidFill>
                  <a:srgbClr val="087E70"/>
                </a:solidFill>
                <a:latin typeface="DM Sans Bold"/>
                <a:ea typeface="DM Sans Bold"/>
                <a:cs typeface="DM Sans Bold"/>
                <a:sym typeface="DM Sans Bold"/>
              </a:rPr>
              <a:t>Know the step</a:t>
            </a:r>
          </a:p>
        </p:txBody>
      </p:sp>
      <p:sp>
        <p:nvSpPr>
          <p:cNvPr name="AutoShape 10" id="10"/>
          <p:cNvSpPr/>
          <p:nvPr/>
        </p:nvSpPr>
        <p:spPr>
          <a:xfrm rot="0">
            <a:off x="4981575" y="3105150"/>
            <a:ext cx="981075" cy="38100"/>
          </a:xfrm>
          <a:prstGeom prst="rect">
            <a:avLst/>
          </a:prstGeom>
          <a:solidFill>
            <a:srgbClr val="087E70"/>
          </a:solidFill>
        </p:spPr>
      </p:sp>
      <p:grpSp>
        <p:nvGrpSpPr>
          <p:cNvPr name="Group 11" id="11"/>
          <p:cNvGrpSpPr/>
          <p:nvPr/>
        </p:nvGrpSpPr>
        <p:grpSpPr>
          <a:xfrm rot="1840140">
            <a:off x="5904833" y="3069526"/>
            <a:ext cx="171450" cy="28575"/>
            <a:chOff x="0" y="0"/>
            <a:chExt cx="228600" cy="3810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228600" cy="38100"/>
            </a:xfrm>
            <a:custGeom>
              <a:avLst/>
              <a:gdLst/>
              <a:ahLst/>
              <a:cxnLst/>
              <a:rect r="r" b="b" t="t" l="l"/>
              <a:pathLst>
                <a:path h="38100" w="228600">
                  <a:moveTo>
                    <a:pt x="19050" y="0"/>
                  </a:moveTo>
                  <a:lnTo>
                    <a:pt x="209550" y="0"/>
                  </a:lnTo>
                  <a:cubicBezTo>
                    <a:pt x="220091" y="0"/>
                    <a:pt x="228600" y="8509"/>
                    <a:pt x="228600" y="19050"/>
                  </a:cubicBezTo>
                  <a:cubicBezTo>
                    <a:pt x="228600" y="29591"/>
                    <a:pt x="220091" y="38100"/>
                    <a:pt x="209550" y="38100"/>
                  </a:cubicBezTo>
                  <a:lnTo>
                    <a:pt x="19050" y="38100"/>
                  </a:lnTo>
                  <a:cubicBezTo>
                    <a:pt x="8509" y="38100"/>
                    <a:pt x="0" y="29591"/>
                    <a:pt x="0" y="19050"/>
                  </a:cubicBezTo>
                  <a:cubicBezTo>
                    <a:pt x="0" y="8509"/>
                    <a:pt x="8509" y="0"/>
                    <a:pt x="19050" y="0"/>
                  </a:cubicBezTo>
                  <a:close/>
                </a:path>
              </a:pathLst>
            </a:custGeom>
            <a:solidFill>
              <a:srgbClr val="087E70"/>
            </a:solidFill>
          </p:spPr>
        </p:sp>
      </p:grpSp>
      <p:grpSp>
        <p:nvGrpSpPr>
          <p:cNvPr name="Group 13" id="13"/>
          <p:cNvGrpSpPr/>
          <p:nvPr/>
        </p:nvGrpSpPr>
        <p:grpSpPr>
          <a:xfrm rot="8959860">
            <a:off x="5896737" y="3155252"/>
            <a:ext cx="171450" cy="28575"/>
            <a:chOff x="0" y="0"/>
            <a:chExt cx="228600" cy="3810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228600" cy="38100"/>
            </a:xfrm>
            <a:custGeom>
              <a:avLst/>
              <a:gdLst/>
              <a:ahLst/>
              <a:cxnLst/>
              <a:rect r="r" b="b" t="t" l="l"/>
              <a:pathLst>
                <a:path h="38100" w="228600">
                  <a:moveTo>
                    <a:pt x="19050" y="0"/>
                  </a:moveTo>
                  <a:lnTo>
                    <a:pt x="209550" y="0"/>
                  </a:lnTo>
                  <a:cubicBezTo>
                    <a:pt x="220091" y="0"/>
                    <a:pt x="228600" y="8509"/>
                    <a:pt x="228600" y="19050"/>
                  </a:cubicBezTo>
                  <a:cubicBezTo>
                    <a:pt x="228600" y="29591"/>
                    <a:pt x="220091" y="38100"/>
                    <a:pt x="209550" y="38100"/>
                  </a:cubicBezTo>
                  <a:lnTo>
                    <a:pt x="19050" y="38100"/>
                  </a:lnTo>
                  <a:cubicBezTo>
                    <a:pt x="8509" y="38100"/>
                    <a:pt x="0" y="29591"/>
                    <a:pt x="0" y="19050"/>
                  </a:cubicBezTo>
                  <a:cubicBezTo>
                    <a:pt x="0" y="8509"/>
                    <a:pt x="8509" y="0"/>
                    <a:pt x="19050" y="0"/>
                  </a:cubicBezTo>
                  <a:close/>
                </a:path>
              </a:pathLst>
            </a:custGeom>
            <a:solidFill>
              <a:srgbClr val="087E70"/>
            </a:solidFill>
          </p:spPr>
        </p:sp>
      </p:grpSp>
      <p:sp>
        <p:nvSpPr>
          <p:cNvPr name="TextBox 15" id="15"/>
          <p:cNvSpPr txBox="true"/>
          <p:nvPr/>
        </p:nvSpPr>
        <p:spPr>
          <a:xfrm rot="0">
            <a:off x="6610350" y="2886075"/>
            <a:ext cx="4972050" cy="3935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11"/>
              </a:lnSpc>
            </a:pPr>
            <a:r>
              <a:rPr lang="en-US" b="true" sz="2550">
                <a:solidFill>
                  <a:srgbClr val="151521"/>
                </a:solidFill>
                <a:latin typeface="DM Sans Bold"/>
                <a:ea typeface="DM Sans Bold"/>
                <a:cs typeface="DM Sans Bold"/>
                <a:sym typeface="DM Sans Bold"/>
              </a:rPr>
              <a:t>Skip its review</a:t>
            </a:r>
          </a:p>
        </p:txBody>
      </p:sp>
      <p:sp>
        <p:nvSpPr>
          <p:cNvPr name="AutoShape 16" id="16"/>
          <p:cNvSpPr/>
          <p:nvPr/>
        </p:nvSpPr>
        <p:spPr>
          <a:xfrm rot="0">
            <a:off x="609600" y="3686175"/>
            <a:ext cx="10972800" cy="9525"/>
          </a:xfrm>
          <a:prstGeom prst="rect">
            <a:avLst/>
          </a:prstGeom>
          <a:solidFill>
            <a:srgbClr val="CCD7E4"/>
          </a:solidFill>
        </p:spPr>
      </p:sp>
      <p:sp>
        <p:nvSpPr>
          <p:cNvPr name="TextBox 17" id="17"/>
          <p:cNvSpPr txBox="true"/>
          <p:nvPr/>
        </p:nvSpPr>
        <p:spPr>
          <a:xfrm rot="0">
            <a:off x="609600" y="3971925"/>
            <a:ext cx="4191000" cy="3935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11"/>
              </a:lnSpc>
            </a:pPr>
            <a:r>
              <a:rPr lang="en-US" b="true" sz="2550">
                <a:solidFill>
                  <a:srgbClr val="C96331"/>
                </a:solidFill>
                <a:latin typeface="DM Sans Bold"/>
                <a:ea typeface="DM Sans Bold"/>
                <a:cs typeface="DM Sans Bold"/>
                <a:sym typeface="DM Sans Bold"/>
              </a:rPr>
              <a:t>Repair a gap</a:t>
            </a:r>
          </a:p>
        </p:txBody>
      </p:sp>
      <p:sp>
        <p:nvSpPr>
          <p:cNvPr name="AutoShape 18" id="18"/>
          <p:cNvSpPr/>
          <p:nvPr/>
        </p:nvSpPr>
        <p:spPr>
          <a:xfrm rot="0">
            <a:off x="4981575" y="4191000"/>
            <a:ext cx="981075" cy="38100"/>
          </a:xfrm>
          <a:prstGeom prst="rect">
            <a:avLst/>
          </a:prstGeom>
          <a:solidFill>
            <a:srgbClr val="C96331"/>
          </a:solidFill>
        </p:spPr>
      </p:sp>
      <p:grpSp>
        <p:nvGrpSpPr>
          <p:cNvPr name="Group 19" id="19"/>
          <p:cNvGrpSpPr/>
          <p:nvPr/>
        </p:nvGrpSpPr>
        <p:grpSpPr>
          <a:xfrm rot="1840140">
            <a:off x="5904833" y="4155376"/>
            <a:ext cx="171450" cy="28575"/>
            <a:chOff x="0" y="0"/>
            <a:chExt cx="228600" cy="3810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228600" cy="38100"/>
            </a:xfrm>
            <a:custGeom>
              <a:avLst/>
              <a:gdLst/>
              <a:ahLst/>
              <a:cxnLst/>
              <a:rect r="r" b="b" t="t" l="l"/>
              <a:pathLst>
                <a:path h="38100" w="228600">
                  <a:moveTo>
                    <a:pt x="19050" y="0"/>
                  </a:moveTo>
                  <a:lnTo>
                    <a:pt x="209550" y="0"/>
                  </a:lnTo>
                  <a:cubicBezTo>
                    <a:pt x="220091" y="0"/>
                    <a:pt x="228600" y="8509"/>
                    <a:pt x="228600" y="19050"/>
                  </a:cubicBezTo>
                  <a:cubicBezTo>
                    <a:pt x="228600" y="29591"/>
                    <a:pt x="220091" y="38100"/>
                    <a:pt x="209550" y="38100"/>
                  </a:cubicBezTo>
                  <a:lnTo>
                    <a:pt x="19050" y="38100"/>
                  </a:lnTo>
                  <a:cubicBezTo>
                    <a:pt x="8509" y="38100"/>
                    <a:pt x="0" y="29591"/>
                    <a:pt x="0" y="19050"/>
                  </a:cubicBezTo>
                  <a:cubicBezTo>
                    <a:pt x="0" y="8509"/>
                    <a:pt x="8509" y="0"/>
                    <a:pt x="19050" y="0"/>
                  </a:cubicBezTo>
                  <a:close/>
                </a:path>
              </a:pathLst>
            </a:custGeom>
            <a:solidFill>
              <a:srgbClr val="C96331"/>
            </a:solidFill>
          </p:spPr>
        </p:sp>
      </p:grpSp>
      <p:grpSp>
        <p:nvGrpSpPr>
          <p:cNvPr name="Group 21" id="21"/>
          <p:cNvGrpSpPr/>
          <p:nvPr/>
        </p:nvGrpSpPr>
        <p:grpSpPr>
          <a:xfrm rot="8959860">
            <a:off x="5896737" y="4241102"/>
            <a:ext cx="171450" cy="28575"/>
            <a:chOff x="0" y="0"/>
            <a:chExt cx="228600" cy="3810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228600" cy="38100"/>
            </a:xfrm>
            <a:custGeom>
              <a:avLst/>
              <a:gdLst/>
              <a:ahLst/>
              <a:cxnLst/>
              <a:rect r="r" b="b" t="t" l="l"/>
              <a:pathLst>
                <a:path h="38100" w="228600">
                  <a:moveTo>
                    <a:pt x="19050" y="0"/>
                  </a:moveTo>
                  <a:lnTo>
                    <a:pt x="209550" y="0"/>
                  </a:lnTo>
                  <a:cubicBezTo>
                    <a:pt x="220091" y="0"/>
                    <a:pt x="228600" y="8509"/>
                    <a:pt x="228600" y="19050"/>
                  </a:cubicBezTo>
                  <a:cubicBezTo>
                    <a:pt x="228600" y="29591"/>
                    <a:pt x="220091" y="38100"/>
                    <a:pt x="209550" y="38100"/>
                  </a:cubicBezTo>
                  <a:lnTo>
                    <a:pt x="19050" y="38100"/>
                  </a:lnTo>
                  <a:cubicBezTo>
                    <a:pt x="8509" y="38100"/>
                    <a:pt x="0" y="29591"/>
                    <a:pt x="0" y="19050"/>
                  </a:cubicBezTo>
                  <a:cubicBezTo>
                    <a:pt x="0" y="8509"/>
                    <a:pt x="8509" y="0"/>
                    <a:pt x="19050" y="0"/>
                  </a:cubicBezTo>
                  <a:close/>
                </a:path>
              </a:pathLst>
            </a:custGeom>
            <a:solidFill>
              <a:srgbClr val="C96331"/>
            </a:solidFill>
          </p:spPr>
        </p:sp>
      </p:grpSp>
      <p:sp>
        <p:nvSpPr>
          <p:cNvPr name="TextBox 23" id="23"/>
          <p:cNvSpPr txBox="true"/>
          <p:nvPr/>
        </p:nvSpPr>
        <p:spPr>
          <a:xfrm rot="0">
            <a:off x="6610350" y="3971925"/>
            <a:ext cx="4972050" cy="3935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11"/>
              </a:lnSpc>
            </a:pPr>
            <a:r>
              <a:rPr lang="en-US" b="true" sz="2550">
                <a:solidFill>
                  <a:srgbClr val="151521"/>
                </a:solidFill>
                <a:latin typeface="DM Sans Bold"/>
                <a:ea typeface="DM Sans Bold"/>
                <a:cs typeface="DM Sans Bold"/>
                <a:sym typeface="DM Sans Bold"/>
              </a:rPr>
              <a:t>Move closer to the goal</a:t>
            </a:r>
          </a:p>
        </p:txBody>
      </p:sp>
      <p:sp>
        <p:nvSpPr>
          <p:cNvPr name="AutoShape 24" id="24"/>
          <p:cNvSpPr/>
          <p:nvPr/>
        </p:nvSpPr>
        <p:spPr>
          <a:xfrm rot="0">
            <a:off x="609600" y="4772025"/>
            <a:ext cx="10972800" cy="9525"/>
          </a:xfrm>
          <a:prstGeom prst="rect">
            <a:avLst/>
          </a:prstGeom>
          <a:solidFill>
            <a:srgbClr val="CCD7E4"/>
          </a:solidFill>
        </p:spPr>
      </p:sp>
      <p:sp>
        <p:nvSpPr>
          <p:cNvPr name="TextBox 25" id="25"/>
          <p:cNvSpPr txBox="true"/>
          <p:nvPr/>
        </p:nvSpPr>
        <p:spPr>
          <a:xfrm rot="0">
            <a:off x="609600" y="5057775"/>
            <a:ext cx="4191000" cy="3935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11"/>
              </a:lnSpc>
            </a:pPr>
            <a:r>
              <a:rPr lang="en-US" b="true" sz="2550">
                <a:solidFill>
                  <a:srgbClr val="5753FA"/>
                </a:solidFill>
                <a:latin typeface="DM Sans Bold"/>
                <a:ea typeface="DM Sans Bold"/>
                <a:cs typeface="DM Sans Bold"/>
                <a:sym typeface="DM Sans Bold"/>
              </a:rPr>
              <a:t>Come back later</a:t>
            </a:r>
          </a:p>
        </p:txBody>
      </p:sp>
      <p:sp>
        <p:nvSpPr>
          <p:cNvPr name="AutoShape 26" id="26"/>
          <p:cNvSpPr/>
          <p:nvPr/>
        </p:nvSpPr>
        <p:spPr>
          <a:xfrm rot="0">
            <a:off x="4981575" y="5276850"/>
            <a:ext cx="981075" cy="38100"/>
          </a:xfrm>
          <a:prstGeom prst="rect">
            <a:avLst/>
          </a:prstGeom>
          <a:solidFill>
            <a:srgbClr val="5753FA"/>
          </a:solidFill>
        </p:spPr>
      </p:sp>
      <p:grpSp>
        <p:nvGrpSpPr>
          <p:cNvPr name="Group 27" id="27"/>
          <p:cNvGrpSpPr/>
          <p:nvPr/>
        </p:nvGrpSpPr>
        <p:grpSpPr>
          <a:xfrm rot="1840140">
            <a:off x="5904833" y="5241226"/>
            <a:ext cx="171450" cy="28575"/>
            <a:chOff x="0" y="0"/>
            <a:chExt cx="228600" cy="38100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228600" cy="38100"/>
            </a:xfrm>
            <a:custGeom>
              <a:avLst/>
              <a:gdLst/>
              <a:ahLst/>
              <a:cxnLst/>
              <a:rect r="r" b="b" t="t" l="l"/>
              <a:pathLst>
                <a:path h="38100" w="228600">
                  <a:moveTo>
                    <a:pt x="19050" y="0"/>
                  </a:moveTo>
                  <a:lnTo>
                    <a:pt x="209550" y="0"/>
                  </a:lnTo>
                  <a:cubicBezTo>
                    <a:pt x="220091" y="0"/>
                    <a:pt x="228600" y="8509"/>
                    <a:pt x="228600" y="19050"/>
                  </a:cubicBezTo>
                  <a:cubicBezTo>
                    <a:pt x="228600" y="29591"/>
                    <a:pt x="220091" y="38100"/>
                    <a:pt x="209550" y="38100"/>
                  </a:cubicBezTo>
                  <a:lnTo>
                    <a:pt x="19050" y="38100"/>
                  </a:lnTo>
                  <a:cubicBezTo>
                    <a:pt x="8509" y="38100"/>
                    <a:pt x="0" y="29591"/>
                    <a:pt x="0" y="19050"/>
                  </a:cubicBezTo>
                  <a:cubicBezTo>
                    <a:pt x="0" y="8509"/>
                    <a:pt x="8509" y="0"/>
                    <a:pt x="19050" y="0"/>
                  </a:cubicBezTo>
                  <a:close/>
                </a:path>
              </a:pathLst>
            </a:custGeom>
            <a:solidFill>
              <a:srgbClr val="5753FA"/>
            </a:solidFill>
          </p:spPr>
        </p:sp>
      </p:grpSp>
      <p:grpSp>
        <p:nvGrpSpPr>
          <p:cNvPr name="Group 29" id="29"/>
          <p:cNvGrpSpPr/>
          <p:nvPr/>
        </p:nvGrpSpPr>
        <p:grpSpPr>
          <a:xfrm rot="8959860">
            <a:off x="5896737" y="5326952"/>
            <a:ext cx="171450" cy="28575"/>
            <a:chOff x="0" y="0"/>
            <a:chExt cx="228600" cy="38100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228600" cy="38100"/>
            </a:xfrm>
            <a:custGeom>
              <a:avLst/>
              <a:gdLst/>
              <a:ahLst/>
              <a:cxnLst/>
              <a:rect r="r" b="b" t="t" l="l"/>
              <a:pathLst>
                <a:path h="38100" w="228600">
                  <a:moveTo>
                    <a:pt x="19050" y="0"/>
                  </a:moveTo>
                  <a:lnTo>
                    <a:pt x="209550" y="0"/>
                  </a:lnTo>
                  <a:cubicBezTo>
                    <a:pt x="220091" y="0"/>
                    <a:pt x="228600" y="8509"/>
                    <a:pt x="228600" y="19050"/>
                  </a:cubicBezTo>
                  <a:cubicBezTo>
                    <a:pt x="228600" y="29591"/>
                    <a:pt x="220091" y="38100"/>
                    <a:pt x="209550" y="38100"/>
                  </a:cubicBezTo>
                  <a:lnTo>
                    <a:pt x="19050" y="38100"/>
                  </a:lnTo>
                  <a:cubicBezTo>
                    <a:pt x="8509" y="38100"/>
                    <a:pt x="0" y="29591"/>
                    <a:pt x="0" y="19050"/>
                  </a:cubicBezTo>
                  <a:cubicBezTo>
                    <a:pt x="0" y="8509"/>
                    <a:pt x="8509" y="0"/>
                    <a:pt x="19050" y="0"/>
                  </a:cubicBezTo>
                  <a:close/>
                </a:path>
              </a:pathLst>
            </a:custGeom>
            <a:solidFill>
              <a:srgbClr val="5753FA"/>
            </a:solidFill>
          </p:spPr>
        </p:sp>
      </p:grpSp>
      <p:sp>
        <p:nvSpPr>
          <p:cNvPr name="TextBox 31" id="31"/>
          <p:cNvSpPr txBox="true"/>
          <p:nvPr/>
        </p:nvSpPr>
        <p:spPr>
          <a:xfrm rot="0">
            <a:off x="6610350" y="5057775"/>
            <a:ext cx="4972050" cy="3935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11"/>
              </a:lnSpc>
            </a:pPr>
            <a:r>
              <a:rPr lang="en-US" b="true" sz="2550">
                <a:solidFill>
                  <a:srgbClr val="151521"/>
                </a:solidFill>
                <a:latin typeface="DM Sans Bold"/>
                <a:ea typeface="DM Sans Bold"/>
                <a:cs typeface="DM Sans Bold"/>
                <a:sym typeface="DM Sans Bold"/>
              </a:rPr>
              <a:t>Keep earlier progress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609600" y="6200775"/>
            <a:ext cx="10572750" cy="2809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87"/>
              </a:lnSpc>
            </a:pPr>
            <a:r>
              <a:rPr lang="en-US" sz="1875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Progress changes what you need to do next.</a:t>
            </a:r>
          </a:p>
        </p:txBody>
      </p:sp>
      <p:sp>
        <p:nvSpPr>
          <p:cNvPr name="AutoShape 33" id="33"/>
          <p:cNvSpPr/>
          <p:nvPr/>
        </p:nvSpPr>
        <p:spPr>
          <a:xfrm>
            <a:off x="609600" y="1381125"/>
            <a:ext cx="10972800" cy="0"/>
          </a:xfrm>
          <a:prstGeom prst="line">
            <a:avLst/>
          </a:prstGeom>
          <a:ln cap="flat" w="19050">
            <a:solidFill>
              <a:srgbClr val="CCD7E4"/>
            </a:solidFill>
            <a:prstDash val="solid"/>
            <a:headEnd type="none" len="sm" w="sm"/>
            <a:tailEnd type="none" len="sm" w="sm"/>
          </a:ln>
        </p:spPr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</p:spPr>
      </p:sp>
      <p:grpSp>
        <p:nvGrpSpPr>
          <p:cNvPr name="Group 3" id="3"/>
          <p:cNvGrpSpPr/>
          <p:nvPr/>
        </p:nvGrpSpPr>
        <p:grpSpPr>
          <a:xfrm rot="0">
            <a:off x="0" y="0"/>
            <a:ext cx="12192000" cy="6858000"/>
            <a:chOff x="0" y="0"/>
            <a:chExt cx="16256000" cy="91440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6256000" cy="9144000"/>
            </a:xfrm>
            <a:custGeom>
              <a:avLst/>
              <a:gdLst/>
              <a:ahLst/>
              <a:cxnLst/>
              <a:rect r="r" b="b" t="t" l="l"/>
              <a:pathLst>
                <a:path h="9144000" w="16256000">
                  <a:moveTo>
                    <a:pt x="0" y="0"/>
                  </a:moveTo>
                  <a:lnTo>
                    <a:pt x="16256000" y="0"/>
                  </a:lnTo>
                  <a:lnTo>
                    <a:pt x="16256000" y="9144000"/>
                  </a:lnTo>
                  <a:lnTo>
                    <a:pt x="0" y="9144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sp>
        <p:nvSpPr>
          <p:cNvPr name="TextBox 5" id="5"/>
          <p:cNvSpPr txBox="true"/>
          <p:nvPr/>
        </p:nvSpPr>
        <p:spPr>
          <a:xfrm rot="0">
            <a:off x="11239500" y="6353175"/>
            <a:ext cx="428625" cy="1685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72"/>
              </a:lnSpc>
            </a:pPr>
            <a:r>
              <a:rPr lang="en-US" sz="1125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12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609600" y="600075"/>
            <a:ext cx="10972800" cy="6090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849"/>
              </a:lnSpc>
            </a:pPr>
            <a:r>
              <a:rPr lang="en-US" b="true" sz="3975">
                <a:solidFill>
                  <a:srgbClr val="151521"/>
                </a:solidFill>
                <a:latin typeface="DM Sans Bold"/>
                <a:ea typeface="DM Sans Bold"/>
                <a:cs typeface="DM Sans Bold"/>
                <a:sym typeface="DM Sans Bold"/>
              </a:rPr>
              <a:t>One routine. Many learning goals.</a:t>
            </a:r>
          </a:p>
        </p:txBody>
      </p:sp>
      <p:sp>
        <p:nvSpPr>
          <p:cNvPr name="AutoShape 7" id="7"/>
          <p:cNvSpPr/>
          <p:nvPr/>
        </p:nvSpPr>
        <p:spPr>
          <a:xfrm rot="0">
            <a:off x="609600" y="2333625"/>
            <a:ext cx="3200400" cy="885825"/>
          </a:xfrm>
          <a:prstGeom prst="rect">
            <a:avLst/>
          </a:prstGeom>
          <a:solidFill>
            <a:srgbClr val="D9F2EA"/>
          </a:solidFill>
        </p:spPr>
      </p:sp>
      <p:sp>
        <p:nvSpPr>
          <p:cNvPr name="TextBox 8" id="8"/>
          <p:cNvSpPr txBox="true"/>
          <p:nvPr/>
        </p:nvSpPr>
        <p:spPr>
          <a:xfrm rot="0">
            <a:off x="762000" y="2543175"/>
            <a:ext cx="2895600" cy="3933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02"/>
              </a:lnSpc>
            </a:pPr>
            <a:r>
              <a:rPr lang="en-US" b="true" sz="2625">
                <a:solidFill>
                  <a:srgbClr val="087E70"/>
                </a:solidFill>
                <a:latin typeface="DM Sans Bold"/>
                <a:ea typeface="DM Sans Bold"/>
                <a:cs typeface="DM Sans Bold"/>
                <a:sym typeface="DM Sans Bold"/>
              </a:rPr>
              <a:t>Fractions</a:t>
            </a:r>
          </a:p>
        </p:txBody>
      </p:sp>
      <p:sp>
        <p:nvSpPr>
          <p:cNvPr name="AutoShape 9" id="9"/>
          <p:cNvSpPr/>
          <p:nvPr/>
        </p:nvSpPr>
        <p:spPr>
          <a:xfrm rot="0">
            <a:off x="4495800" y="2333625"/>
            <a:ext cx="3200400" cy="885825"/>
          </a:xfrm>
          <a:prstGeom prst="rect">
            <a:avLst/>
          </a:prstGeom>
          <a:solidFill>
            <a:srgbClr val="F0EFFF"/>
          </a:solidFill>
        </p:spPr>
      </p:sp>
      <p:sp>
        <p:nvSpPr>
          <p:cNvPr name="TextBox 10" id="10"/>
          <p:cNvSpPr txBox="true"/>
          <p:nvPr/>
        </p:nvSpPr>
        <p:spPr>
          <a:xfrm rot="0">
            <a:off x="4648200" y="2543175"/>
            <a:ext cx="2895600" cy="3933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02"/>
              </a:lnSpc>
            </a:pPr>
            <a:r>
              <a:rPr lang="en-US" b="true" sz="2625">
                <a:solidFill>
                  <a:srgbClr val="5753FA"/>
                </a:solidFill>
                <a:latin typeface="DM Sans Bold"/>
                <a:ea typeface="DM Sans Bold"/>
                <a:cs typeface="DM Sans Bold"/>
                <a:sym typeface="DM Sans Bold"/>
              </a:rPr>
              <a:t>Algebra</a:t>
            </a:r>
          </a:p>
        </p:txBody>
      </p:sp>
      <p:sp>
        <p:nvSpPr>
          <p:cNvPr name="AutoShape 11" id="11"/>
          <p:cNvSpPr/>
          <p:nvPr/>
        </p:nvSpPr>
        <p:spPr>
          <a:xfrm rot="0">
            <a:off x="8382000" y="2333625"/>
            <a:ext cx="3200400" cy="885825"/>
          </a:xfrm>
          <a:prstGeom prst="rect">
            <a:avLst/>
          </a:prstGeom>
          <a:solidFill>
            <a:srgbClr val="D9F2EA"/>
          </a:solidFill>
        </p:spPr>
      </p:sp>
      <p:sp>
        <p:nvSpPr>
          <p:cNvPr name="TextBox 12" id="12"/>
          <p:cNvSpPr txBox="true"/>
          <p:nvPr/>
        </p:nvSpPr>
        <p:spPr>
          <a:xfrm rot="0">
            <a:off x="8534400" y="2543175"/>
            <a:ext cx="2895600" cy="3933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02"/>
              </a:lnSpc>
            </a:pPr>
            <a:r>
              <a:rPr lang="en-US" b="true" sz="2625">
                <a:solidFill>
                  <a:srgbClr val="087E70"/>
                </a:solidFill>
                <a:latin typeface="DM Sans Bold"/>
                <a:ea typeface="DM Sans Bold"/>
                <a:cs typeface="DM Sans Bold"/>
                <a:sym typeface="DM Sans Bold"/>
              </a:rPr>
              <a:t>Graphs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609600" y="3752850"/>
            <a:ext cx="10972800" cy="38423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019"/>
              </a:lnSpc>
            </a:pPr>
            <a:r>
              <a:rPr lang="en-US" b="true" sz="2475">
                <a:solidFill>
                  <a:srgbClr val="151521"/>
                </a:solidFill>
                <a:latin typeface="DM Sans Bold"/>
                <a:ea typeface="DM Sans Bold"/>
                <a:cs typeface="DM Sans Bold"/>
                <a:sym typeface="DM Sans Bold"/>
              </a:rPr>
              <a:t>Every new destination uses a reusable kit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609600" y="4381500"/>
            <a:ext cx="10972800" cy="3280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562"/>
              </a:lnSpc>
            </a:pPr>
            <a:r>
              <a:rPr lang="en-US" sz="2100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A reviewed map + fresh checks + matched Khan material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609600" y="5372100"/>
            <a:ext cx="10972800" cy="3467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45"/>
              </a:lnSpc>
            </a:pPr>
            <a:r>
              <a:rPr lang="en-US" b="true" sz="2250">
                <a:solidFill>
                  <a:srgbClr val="087E70"/>
                </a:solidFill>
                <a:latin typeface="DM Sans Bold"/>
                <a:ea typeface="DM Sans Bold"/>
                <a:cs typeface="DM Sans Bold"/>
                <a:sym typeface="DM Sans Bold"/>
              </a:rPr>
              <a:t>Another educator can run the same recovery routine.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609600" y="5972175"/>
            <a:ext cx="10972800" cy="2809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87"/>
              </a:lnSpc>
            </a:pPr>
            <a:r>
              <a:rPr lang="en-US" sz="1875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For classes, self-study, and the next topic a learner needs.</a:t>
            </a:r>
          </a:p>
        </p:txBody>
      </p:sp>
      <p:sp>
        <p:nvSpPr>
          <p:cNvPr name="AutoShape 17" id="17"/>
          <p:cNvSpPr/>
          <p:nvPr/>
        </p:nvSpPr>
        <p:spPr>
          <a:xfrm>
            <a:off x="609600" y="1381125"/>
            <a:ext cx="10972800" cy="0"/>
          </a:xfrm>
          <a:prstGeom prst="line">
            <a:avLst/>
          </a:prstGeom>
          <a:ln cap="flat" w="19050">
            <a:solidFill>
              <a:srgbClr val="CCD7E4"/>
            </a:solidFill>
            <a:prstDash val="solid"/>
            <a:headEnd type="none" len="sm" w="sm"/>
            <a:tailEnd type="none" len="sm" w="sm"/>
          </a:ln>
        </p:spPr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</p:spPr>
      </p:sp>
      <p:grpSp>
        <p:nvGrpSpPr>
          <p:cNvPr name="Group 3" id="3"/>
          <p:cNvGrpSpPr/>
          <p:nvPr/>
        </p:nvGrpSpPr>
        <p:grpSpPr>
          <a:xfrm rot="0">
            <a:off x="0" y="0"/>
            <a:ext cx="12192000" cy="6858000"/>
            <a:chOff x="0" y="0"/>
            <a:chExt cx="16256000" cy="91440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6256000" cy="9144000"/>
            </a:xfrm>
            <a:custGeom>
              <a:avLst/>
              <a:gdLst/>
              <a:ahLst/>
              <a:cxnLst/>
              <a:rect r="r" b="b" t="t" l="l"/>
              <a:pathLst>
                <a:path h="9144000" w="16256000">
                  <a:moveTo>
                    <a:pt x="0" y="0"/>
                  </a:moveTo>
                  <a:lnTo>
                    <a:pt x="16256000" y="0"/>
                  </a:lnTo>
                  <a:lnTo>
                    <a:pt x="16256000" y="9144000"/>
                  </a:lnTo>
                  <a:lnTo>
                    <a:pt x="0" y="9144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sp>
        <p:nvSpPr>
          <p:cNvPr name="TextBox 5" id="5"/>
          <p:cNvSpPr txBox="true"/>
          <p:nvPr/>
        </p:nvSpPr>
        <p:spPr>
          <a:xfrm rot="0">
            <a:off x="11239500" y="6353175"/>
            <a:ext cx="428625" cy="1685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72"/>
              </a:lnSpc>
            </a:pPr>
            <a:r>
              <a:rPr lang="en-US" sz="1125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13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609600" y="600075"/>
            <a:ext cx="10972800" cy="61836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941"/>
              </a:lnSpc>
            </a:pPr>
            <a:r>
              <a:rPr lang="en-US" b="true" sz="4050">
                <a:solidFill>
                  <a:srgbClr val="151521"/>
                </a:solidFill>
                <a:latin typeface="DM Sans Bold"/>
                <a:ea typeface="DM Sans Bold"/>
                <a:cs typeface="DM Sans Bold"/>
                <a:sym typeface="DM Sans Bold"/>
              </a:rPr>
              <a:t>A budget built around learners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609600" y="2076450"/>
            <a:ext cx="5429250" cy="5433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392"/>
              </a:lnSpc>
            </a:pPr>
            <a:r>
              <a:rPr lang="en-US" b="true" sz="3600">
                <a:solidFill>
                  <a:srgbClr val="151521"/>
                </a:solidFill>
                <a:latin typeface="DM Sans Bold"/>
                <a:ea typeface="DM Sans Bold"/>
                <a:cs typeface="DM Sans Bold"/>
                <a:sym typeface="DM Sans Bold"/>
              </a:rPr>
              <a:t>PHP 100,000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609600" y="2933700"/>
            <a:ext cx="5334000" cy="133997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0614"/>
              </a:lnSpc>
            </a:pPr>
            <a:r>
              <a:rPr lang="en-US" b="true" sz="8700">
                <a:solidFill>
                  <a:srgbClr val="087E70"/>
                </a:solidFill>
                <a:latin typeface="DM Sans Bold"/>
                <a:ea typeface="DM Sans Bold"/>
                <a:cs typeface="DM Sans Bold"/>
                <a:sym typeface="DM Sans Bold"/>
              </a:rPr>
              <a:t>60%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609600" y="4448175"/>
            <a:ext cx="5105400" cy="69894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36"/>
              </a:lnSpc>
            </a:pPr>
            <a:r>
              <a:rPr lang="en-US" b="true" sz="2325">
                <a:solidFill>
                  <a:srgbClr val="151521"/>
                </a:solidFill>
                <a:latin typeface="DM Sans Bold"/>
                <a:ea typeface="DM Sans Bold"/>
                <a:cs typeface="DM Sans Bold"/>
                <a:sym typeface="DM Sans Bold"/>
              </a:rPr>
              <a:t>for learning review, access and evaluation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609600" y="5724525"/>
            <a:ext cx="5524500" cy="2809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87"/>
              </a:lnSpc>
            </a:pPr>
            <a:r>
              <a:rPr lang="en-US" sz="1875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Learner access stays free.</a:t>
            </a:r>
          </a:p>
        </p:txBody>
      </p:sp>
      <p:grpSp>
        <p:nvGrpSpPr>
          <p:cNvPr name="Group 11" id="11"/>
          <p:cNvGrpSpPr/>
          <p:nvPr/>
        </p:nvGrpSpPr>
        <p:grpSpPr>
          <a:xfrm rot="0">
            <a:off x="6338888" y="2043112"/>
            <a:ext cx="3581400" cy="436588"/>
            <a:chOff x="0" y="0"/>
            <a:chExt cx="4775200" cy="582117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4775200" cy="582117"/>
            </a:xfrm>
            <a:custGeom>
              <a:avLst/>
              <a:gdLst/>
              <a:ahLst/>
              <a:cxnLst/>
              <a:rect r="r" b="b" t="t" l="l"/>
              <a:pathLst>
                <a:path h="582117" w="4775200">
                  <a:moveTo>
                    <a:pt x="0" y="0"/>
                  </a:moveTo>
                  <a:lnTo>
                    <a:pt x="4775200" y="0"/>
                  </a:lnTo>
                  <a:lnTo>
                    <a:pt x="4775200" y="582117"/>
                  </a:lnTo>
                  <a:lnTo>
                    <a:pt x="0" y="58211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0EFFF"/>
            </a:solidFill>
          </p:spPr>
        </p:sp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4775200" cy="582117"/>
            </a:xfrm>
            <a:custGeom>
              <a:avLst/>
              <a:gdLst/>
              <a:ahLst/>
              <a:cxnLst/>
              <a:rect r="r" b="b" t="t" l="l"/>
              <a:pathLst>
                <a:path h="582117" w="4775200">
                  <a:moveTo>
                    <a:pt x="0" y="0"/>
                  </a:moveTo>
                  <a:lnTo>
                    <a:pt x="4775200" y="0"/>
                  </a:lnTo>
                  <a:lnTo>
                    <a:pt x="4775200" y="582117"/>
                  </a:lnTo>
                  <a:lnTo>
                    <a:pt x="0" y="58211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9525" cap="sq">
              <a:solidFill>
                <a:srgbClr val="CCD7E4"/>
              </a:solidFill>
              <a:prstDash val="solid"/>
              <a:miter/>
            </a:ln>
          </p:spPr>
        </p:sp>
        <p:sp>
          <p:nvSpPr>
            <p:cNvPr name="TextBox 14" id="14"/>
            <p:cNvSpPr txBox="true"/>
            <p:nvPr/>
          </p:nvSpPr>
          <p:spPr>
            <a:xfrm>
              <a:off x="0" y="-19050"/>
              <a:ext cx="4775200" cy="601167"/>
            </a:xfrm>
            <a:prstGeom prst="rect">
              <a:avLst/>
            </a:prstGeom>
          </p:spPr>
          <p:txBody>
            <a:bodyPr anchor="ctr" rtlCol="false" tIns="107950" lIns="107950" bIns="107950" rIns="107950"/>
            <a:lstStyle/>
            <a:p>
              <a:pPr algn="l">
                <a:lnSpc>
                  <a:spcPts val="1889"/>
                </a:lnSpc>
              </a:pPr>
              <a:r>
                <a:rPr lang="en-US" b="true" sz="1350">
                  <a:solidFill>
                    <a:srgbClr val="151521"/>
                  </a:solidFill>
                  <a:latin typeface="DM Sans Bold"/>
                  <a:ea typeface="DM Sans Bold"/>
                  <a:cs typeface="DM Sans Bold"/>
                  <a:sym typeface="DM Sans Bold"/>
                </a:rPr>
                <a:t>Allocation</a:t>
              </a: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9920288" y="2043112"/>
            <a:ext cx="1600200" cy="436588"/>
            <a:chOff x="0" y="0"/>
            <a:chExt cx="2133600" cy="582117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2133600" cy="582117"/>
            </a:xfrm>
            <a:custGeom>
              <a:avLst/>
              <a:gdLst/>
              <a:ahLst/>
              <a:cxnLst/>
              <a:rect r="r" b="b" t="t" l="l"/>
              <a:pathLst>
                <a:path h="582117" w="2133600">
                  <a:moveTo>
                    <a:pt x="0" y="0"/>
                  </a:moveTo>
                  <a:lnTo>
                    <a:pt x="2133600" y="0"/>
                  </a:lnTo>
                  <a:lnTo>
                    <a:pt x="2133600" y="582117"/>
                  </a:lnTo>
                  <a:lnTo>
                    <a:pt x="0" y="58211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0EFFF"/>
            </a:solidFill>
          </p:spPr>
        </p:sp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2133600" cy="582117"/>
            </a:xfrm>
            <a:custGeom>
              <a:avLst/>
              <a:gdLst/>
              <a:ahLst/>
              <a:cxnLst/>
              <a:rect r="r" b="b" t="t" l="l"/>
              <a:pathLst>
                <a:path h="582117" w="2133600">
                  <a:moveTo>
                    <a:pt x="0" y="0"/>
                  </a:moveTo>
                  <a:lnTo>
                    <a:pt x="2133600" y="0"/>
                  </a:lnTo>
                  <a:lnTo>
                    <a:pt x="2133600" y="582117"/>
                  </a:lnTo>
                  <a:lnTo>
                    <a:pt x="0" y="58211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9525" cap="sq">
              <a:solidFill>
                <a:srgbClr val="CCD7E4"/>
              </a:solidFill>
              <a:prstDash val="solid"/>
              <a:miter/>
            </a:ln>
          </p:spPr>
        </p:sp>
        <p:sp>
          <p:nvSpPr>
            <p:cNvPr name="TextBox 18" id="18"/>
            <p:cNvSpPr txBox="true"/>
            <p:nvPr/>
          </p:nvSpPr>
          <p:spPr>
            <a:xfrm>
              <a:off x="0" y="-19050"/>
              <a:ext cx="2133600" cy="601167"/>
            </a:xfrm>
            <a:prstGeom prst="rect">
              <a:avLst/>
            </a:prstGeom>
          </p:spPr>
          <p:txBody>
            <a:bodyPr anchor="ctr" rtlCol="false" tIns="107950" lIns="107950" bIns="107950" rIns="107950"/>
            <a:lstStyle/>
            <a:p>
              <a:pPr algn="l">
                <a:lnSpc>
                  <a:spcPts val="1889"/>
                </a:lnSpc>
              </a:pPr>
              <a:r>
                <a:rPr lang="en-US" b="true" sz="1350">
                  <a:solidFill>
                    <a:srgbClr val="151521"/>
                  </a:solidFill>
                  <a:latin typeface="DM Sans Bold"/>
                  <a:ea typeface="DM Sans Bold"/>
                  <a:cs typeface="DM Sans Bold"/>
                  <a:sym typeface="DM Sans Bold"/>
                </a:rPr>
                <a:t>PHP</a:t>
              </a:r>
            </a:p>
          </p:txBody>
        </p:sp>
      </p:grpSp>
      <p:grpSp>
        <p:nvGrpSpPr>
          <p:cNvPr name="Group 19" id="19"/>
          <p:cNvGrpSpPr/>
          <p:nvPr/>
        </p:nvGrpSpPr>
        <p:grpSpPr>
          <a:xfrm rot="0">
            <a:off x="6338888" y="2443162"/>
            <a:ext cx="3581400" cy="440474"/>
            <a:chOff x="0" y="0"/>
            <a:chExt cx="4775200" cy="587299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4775200" cy="587299"/>
            </a:xfrm>
            <a:custGeom>
              <a:avLst/>
              <a:gdLst/>
              <a:ahLst/>
              <a:cxnLst/>
              <a:rect r="r" b="b" t="t" l="l"/>
              <a:pathLst>
                <a:path h="587299" w="4775200">
                  <a:moveTo>
                    <a:pt x="0" y="0"/>
                  </a:moveTo>
                  <a:lnTo>
                    <a:pt x="4775200" y="0"/>
                  </a:lnTo>
                  <a:lnTo>
                    <a:pt x="4775200" y="587299"/>
                  </a:lnTo>
                  <a:lnTo>
                    <a:pt x="0" y="5872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4775200" cy="587299"/>
            </a:xfrm>
            <a:custGeom>
              <a:avLst/>
              <a:gdLst/>
              <a:ahLst/>
              <a:cxnLst/>
              <a:rect r="r" b="b" t="t" l="l"/>
              <a:pathLst>
                <a:path h="587299" w="4775200">
                  <a:moveTo>
                    <a:pt x="0" y="0"/>
                  </a:moveTo>
                  <a:lnTo>
                    <a:pt x="4775200" y="0"/>
                  </a:lnTo>
                  <a:lnTo>
                    <a:pt x="4775200" y="587299"/>
                  </a:lnTo>
                  <a:lnTo>
                    <a:pt x="0" y="5872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9525" cap="sq">
              <a:solidFill>
                <a:srgbClr val="CCD7E4"/>
              </a:solidFill>
              <a:prstDash val="solid"/>
              <a:miter/>
            </a:ln>
          </p:spPr>
        </p:sp>
        <p:sp>
          <p:nvSpPr>
            <p:cNvPr name="TextBox 22" id="22"/>
            <p:cNvSpPr txBox="true"/>
            <p:nvPr/>
          </p:nvSpPr>
          <p:spPr>
            <a:xfrm>
              <a:off x="0" y="-28575"/>
              <a:ext cx="4775200" cy="615874"/>
            </a:xfrm>
            <a:prstGeom prst="rect">
              <a:avLst/>
            </a:prstGeom>
          </p:spPr>
          <p:txBody>
            <a:bodyPr anchor="ctr" rtlCol="false" tIns="76200" lIns="76200" bIns="76200" rIns="76200"/>
            <a:lstStyle/>
            <a:p>
              <a:pPr algn="l">
                <a:lnSpc>
                  <a:spcPts val="2310"/>
                </a:lnSpc>
              </a:pPr>
              <a:r>
                <a:rPr lang="en-US" sz="1650">
                  <a:solidFill>
                    <a:srgbClr val="151521"/>
                  </a:solidFill>
                  <a:latin typeface="DM Sans"/>
                  <a:ea typeface="DM Sans"/>
                  <a:cs typeface="DM Sans"/>
                  <a:sym typeface="DM Sans"/>
                </a:rPr>
                <a:t>Learning review</a:t>
              </a:r>
            </a:p>
          </p:txBody>
        </p:sp>
      </p:grpSp>
      <p:grpSp>
        <p:nvGrpSpPr>
          <p:cNvPr name="Group 23" id="23"/>
          <p:cNvGrpSpPr/>
          <p:nvPr/>
        </p:nvGrpSpPr>
        <p:grpSpPr>
          <a:xfrm rot="0">
            <a:off x="9920288" y="2443162"/>
            <a:ext cx="1600200" cy="440474"/>
            <a:chOff x="0" y="0"/>
            <a:chExt cx="2133600" cy="587299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2133600" cy="587299"/>
            </a:xfrm>
            <a:custGeom>
              <a:avLst/>
              <a:gdLst/>
              <a:ahLst/>
              <a:cxnLst/>
              <a:rect r="r" b="b" t="t" l="l"/>
              <a:pathLst>
                <a:path h="587299" w="2133600">
                  <a:moveTo>
                    <a:pt x="0" y="0"/>
                  </a:moveTo>
                  <a:lnTo>
                    <a:pt x="2133600" y="0"/>
                  </a:lnTo>
                  <a:lnTo>
                    <a:pt x="2133600" y="587299"/>
                  </a:lnTo>
                  <a:lnTo>
                    <a:pt x="0" y="5872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2133600" cy="587299"/>
            </a:xfrm>
            <a:custGeom>
              <a:avLst/>
              <a:gdLst/>
              <a:ahLst/>
              <a:cxnLst/>
              <a:rect r="r" b="b" t="t" l="l"/>
              <a:pathLst>
                <a:path h="587299" w="2133600">
                  <a:moveTo>
                    <a:pt x="0" y="0"/>
                  </a:moveTo>
                  <a:lnTo>
                    <a:pt x="2133600" y="0"/>
                  </a:lnTo>
                  <a:lnTo>
                    <a:pt x="2133600" y="587299"/>
                  </a:lnTo>
                  <a:lnTo>
                    <a:pt x="0" y="5872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9525" cap="sq">
              <a:solidFill>
                <a:srgbClr val="CCD7E4"/>
              </a:solidFill>
              <a:prstDash val="solid"/>
              <a:miter/>
            </a:ln>
          </p:spPr>
        </p:sp>
        <p:sp>
          <p:nvSpPr>
            <p:cNvPr name="TextBox 26" id="26"/>
            <p:cNvSpPr txBox="true"/>
            <p:nvPr/>
          </p:nvSpPr>
          <p:spPr>
            <a:xfrm>
              <a:off x="0" y="-28575"/>
              <a:ext cx="2133600" cy="615874"/>
            </a:xfrm>
            <a:prstGeom prst="rect">
              <a:avLst/>
            </a:prstGeom>
          </p:spPr>
          <p:txBody>
            <a:bodyPr anchor="ctr" rtlCol="false" tIns="76200" lIns="76200" bIns="76200" rIns="76200"/>
            <a:lstStyle/>
            <a:p>
              <a:pPr algn="l">
                <a:lnSpc>
                  <a:spcPts val="2310"/>
                </a:lnSpc>
              </a:pPr>
              <a:r>
                <a:rPr lang="en-US" b="true" sz="1650">
                  <a:solidFill>
                    <a:srgbClr val="151521"/>
                  </a:solidFill>
                  <a:latin typeface="DM Sans Bold"/>
                  <a:ea typeface="DM Sans Bold"/>
                  <a:cs typeface="DM Sans Bold"/>
                  <a:sym typeface="DM Sans Bold"/>
                </a:rPr>
                <a:t>24,000</a:t>
              </a:r>
            </a:p>
          </p:txBody>
        </p:sp>
      </p:grpSp>
      <p:grpSp>
        <p:nvGrpSpPr>
          <p:cNvPr name="Group 27" id="27"/>
          <p:cNvGrpSpPr/>
          <p:nvPr/>
        </p:nvGrpSpPr>
        <p:grpSpPr>
          <a:xfrm rot="0">
            <a:off x="6338888" y="2843212"/>
            <a:ext cx="3581400" cy="440474"/>
            <a:chOff x="0" y="0"/>
            <a:chExt cx="4775200" cy="587299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4775200" cy="587299"/>
            </a:xfrm>
            <a:custGeom>
              <a:avLst/>
              <a:gdLst/>
              <a:ahLst/>
              <a:cxnLst/>
              <a:rect r="r" b="b" t="t" l="l"/>
              <a:pathLst>
                <a:path h="587299" w="4775200">
                  <a:moveTo>
                    <a:pt x="0" y="0"/>
                  </a:moveTo>
                  <a:lnTo>
                    <a:pt x="4775200" y="0"/>
                  </a:lnTo>
                  <a:lnTo>
                    <a:pt x="4775200" y="587299"/>
                  </a:lnTo>
                  <a:lnTo>
                    <a:pt x="0" y="5872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4775200" cy="587299"/>
            </a:xfrm>
            <a:custGeom>
              <a:avLst/>
              <a:gdLst/>
              <a:ahLst/>
              <a:cxnLst/>
              <a:rect r="r" b="b" t="t" l="l"/>
              <a:pathLst>
                <a:path h="587299" w="4775200">
                  <a:moveTo>
                    <a:pt x="0" y="0"/>
                  </a:moveTo>
                  <a:lnTo>
                    <a:pt x="4775200" y="0"/>
                  </a:lnTo>
                  <a:lnTo>
                    <a:pt x="4775200" y="587299"/>
                  </a:lnTo>
                  <a:lnTo>
                    <a:pt x="0" y="5872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9525" cap="sq">
              <a:solidFill>
                <a:srgbClr val="CCD7E4"/>
              </a:solidFill>
              <a:prstDash val="solid"/>
              <a:miter/>
            </a:ln>
          </p:spPr>
        </p:sp>
        <p:sp>
          <p:nvSpPr>
            <p:cNvPr name="TextBox 30" id="30"/>
            <p:cNvSpPr txBox="true"/>
            <p:nvPr/>
          </p:nvSpPr>
          <p:spPr>
            <a:xfrm>
              <a:off x="0" y="-28575"/>
              <a:ext cx="4775200" cy="615874"/>
            </a:xfrm>
            <a:prstGeom prst="rect">
              <a:avLst/>
            </a:prstGeom>
          </p:spPr>
          <p:txBody>
            <a:bodyPr anchor="ctr" rtlCol="false" tIns="76200" lIns="76200" bIns="76200" rIns="76200"/>
            <a:lstStyle/>
            <a:p>
              <a:pPr algn="l">
                <a:lnSpc>
                  <a:spcPts val="2310"/>
                </a:lnSpc>
              </a:pPr>
              <a:r>
                <a:rPr lang="en-US" sz="1650">
                  <a:solidFill>
                    <a:srgbClr val="151521"/>
                  </a:solidFill>
                  <a:latin typeface="DM Sans"/>
                  <a:ea typeface="DM Sans"/>
                  <a:cs typeface="DM Sans"/>
                  <a:sym typeface="DM Sans"/>
                </a:rPr>
                <a:t>Access support</a:t>
              </a:r>
            </a:p>
          </p:txBody>
        </p:sp>
      </p:grpSp>
      <p:grpSp>
        <p:nvGrpSpPr>
          <p:cNvPr name="Group 31" id="31"/>
          <p:cNvGrpSpPr/>
          <p:nvPr/>
        </p:nvGrpSpPr>
        <p:grpSpPr>
          <a:xfrm rot="0">
            <a:off x="9920288" y="2843212"/>
            <a:ext cx="1600200" cy="440474"/>
            <a:chOff x="0" y="0"/>
            <a:chExt cx="2133600" cy="587299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2133600" cy="587299"/>
            </a:xfrm>
            <a:custGeom>
              <a:avLst/>
              <a:gdLst/>
              <a:ahLst/>
              <a:cxnLst/>
              <a:rect r="r" b="b" t="t" l="l"/>
              <a:pathLst>
                <a:path h="587299" w="2133600">
                  <a:moveTo>
                    <a:pt x="0" y="0"/>
                  </a:moveTo>
                  <a:lnTo>
                    <a:pt x="2133600" y="0"/>
                  </a:lnTo>
                  <a:lnTo>
                    <a:pt x="2133600" y="587299"/>
                  </a:lnTo>
                  <a:lnTo>
                    <a:pt x="0" y="5872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2133600" cy="587299"/>
            </a:xfrm>
            <a:custGeom>
              <a:avLst/>
              <a:gdLst/>
              <a:ahLst/>
              <a:cxnLst/>
              <a:rect r="r" b="b" t="t" l="l"/>
              <a:pathLst>
                <a:path h="587299" w="2133600">
                  <a:moveTo>
                    <a:pt x="0" y="0"/>
                  </a:moveTo>
                  <a:lnTo>
                    <a:pt x="2133600" y="0"/>
                  </a:lnTo>
                  <a:lnTo>
                    <a:pt x="2133600" y="587299"/>
                  </a:lnTo>
                  <a:lnTo>
                    <a:pt x="0" y="5872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9525" cap="sq">
              <a:solidFill>
                <a:srgbClr val="CCD7E4"/>
              </a:solidFill>
              <a:prstDash val="solid"/>
              <a:miter/>
            </a:ln>
          </p:spPr>
        </p:sp>
        <p:sp>
          <p:nvSpPr>
            <p:cNvPr name="TextBox 34" id="34"/>
            <p:cNvSpPr txBox="true"/>
            <p:nvPr/>
          </p:nvSpPr>
          <p:spPr>
            <a:xfrm>
              <a:off x="0" y="-28575"/>
              <a:ext cx="2133600" cy="615874"/>
            </a:xfrm>
            <a:prstGeom prst="rect">
              <a:avLst/>
            </a:prstGeom>
          </p:spPr>
          <p:txBody>
            <a:bodyPr anchor="ctr" rtlCol="false" tIns="76200" lIns="76200" bIns="76200" rIns="76200"/>
            <a:lstStyle/>
            <a:p>
              <a:pPr algn="l">
                <a:lnSpc>
                  <a:spcPts val="2310"/>
                </a:lnSpc>
              </a:pPr>
              <a:r>
                <a:rPr lang="en-US" b="true" sz="1650">
                  <a:solidFill>
                    <a:srgbClr val="151521"/>
                  </a:solidFill>
                  <a:latin typeface="DM Sans Bold"/>
                  <a:ea typeface="DM Sans Bold"/>
                  <a:cs typeface="DM Sans Bold"/>
                  <a:sym typeface="DM Sans Bold"/>
                </a:rPr>
                <a:t>18,000</a:t>
              </a:r>
            </a:p>
          </p:txBody>
        </p:sp>
      </p:grpSp>
      <p:grpSp>
        <p:nvGrpSpPr>
          <p:cNvPr name="Group 35" id="35"/>
          <p:cNvGrpSpPr/>
          <p:nvPr/>
        </p:nvGrpSpPr>
        <p:grpSpPr>
          <a:xfrm rot="0">
            <a:off x="6338888" y="3243262"/>
            <a:ext cx="3581400" cy="440474"/>
            <a:chOff x="0" y="0"/>
            <a:chExt cx="4775200" cy="587299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4775200" cy="587299"/>
            </a:xfrm>
            <a:custGeom>
              <a:avLst/>
              <a:gdLst/>
              <a:ahLst/>
              <a:cxnLst/>
              <a:rect r="r" b="b" t="t" l="l"/>
              <a:pathLst>
                <a:path h="587299" w="4775200">
                  <a:moveTo>
                    <a:pt x="0" y="0"/>
                  </a:moveTo>
                  <a:lnTo>
                    <a:pt x="4775200" y="0"/>
                  </a:lnTo>
                  <a:lnTo>
                    <a:pt x="4775200" y="587299"/>
                  </a:lnTo>
                  <a:lnTo>
                    <a:pt x="0" y="5872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4775200" cy="587299"/>
            </a:xfrm>
            <a:custGeom>
              <a:avLst/>
              <a:gdLst/>
              <a:ahLst/>
              <a:cxnLst/>
              <a:rect r="r" b="b" t="t" l="l"/>
              <a:pathLst>
                <a:path h="587299" w="4775200">
                  <a:moveTo>
                    <a:pt x="0" y="0"/>
                  </a:moveTo>
                  <a:lnTo>
                    <a:pt x="4775200" y="0"/>
                  </a:lnTo>
                  <a:lnTo>
                    <a:pt x="4775200" y="587299"/>
                  </a:lnTo>
                  <a:lnTo>
                    <a:pt x="0" y="5872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9525" cap="sq">
              <a:solidFill>
                <a:srgbClr val="CCD7E4"/>
              </a:solidFill>
              <a:prstDash val="solid"/>
              <a:miter/>
            </a:ln>
          </p:spPr>
        </p:sp>
        <p:sp>
          <p:nvSpPr>
            <p:cNvPr name="TextBox 38" id="38"/>
            <p:cNvSpPr txBox="true"/>
            <p:nvPr/>
          </p:nvSpPr>
          <p:spPr>
            <a:xfrm>
              <a:off x="0" y="-28575"/>
              <a:ext cx="4775200" cy="615874"/>
            </a:xfrm>
            <a:prstGeom prst="rect">
              <a:avLst/>
            </a:prstGeom>
          </p:spPr>
          <p:txBody>
            <a:bodyPr anchor="ctr" rtlCol="false" tIns="76200" lIns="76200" bIns="76200" rIns="76200"/>
            <a:lstStyle/>
            <a:p>
              <a:pPr algn="l">
                <a:lnSpc>
                  <a:spcPts val="2310"/>
                </a:lnSpc>
              </a:pPr>
              <a:r>
                <a:rPr lang="en-US" sz="1650">
                  <a:solidFill>
                    <a:srgbClr val="151521"/>
                  </a:solidFill>
                  <a:latin typeface="DM Sans"/>
                  <a:ea typeface="DM Sans"/>
                  <a:cs typeface="DM Sans"/>
                  <a:sym typeface="DM Sans"/>
                </a:rPr>
                <a:t>Evaluation</a:t>
              </a:r>
            </a:p>
          </p:txBody>
        </p:sp>
      </p:grpSp>
      <p:grpSp>
        <p:nvGrpSpPr>
          <p:cNvPr name="Group 39" id="39"/>
          <p:cNvGrpSpPr/>
          <p:nvPr/>
        </p:nvGrpSpPr>
        <p:grpSpPr>
          <a:xfrm rot="0">
            <a:off x="9920288" y="3243262"/>
            <a:ext cx="1600200" cy="440474"/>
            <a:chOff x="0" y="0"/>
            <a:chExt cx="2133600" cy="587299"/>
          </a:xfrm>
        </p:grpSpPr>
        <p:sp>
          <p:nvSpPr>
            <p:cNvPr name="Freeform 40" id="40"/>
            <p:cNvSpPr/>
            <p:nvPr/>
          </p:nvSpPr>
          <p:spPr>
            <a:xfrm flipH="false" flipV="false" rot="0">
              <a:off x="0" y="0"/>
              <a:ext cx="2133600" cy="587299"/>
            </a:xfrm>
            <a:custGeom>
              <a:avLst/>
              <a:gdLst/>
              <a:ahLst/>
              <a:cxnLst/>
              <a:rect r="r" b="b" t="t" l="l"/>
              <a:pathLst>
                <a:path h="587299" w="2133600">
                  <a:moveTo>
                    <a:pt x="0" y="0"/>
                  </a:moveTo>
                  <a:lnTo>
                    <a:pt x="2133600" y="0"/>
                  </a:lnTo>
                  <a:lnTo>
                    <a:pt x="2133600" y="587299"/>
                  </a:lnTo>
                  <a:lnTo>
                    <a:pt x="0" y="5872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41" id="41"/>
            <p:cNvSpPr/>
            <p:nvPr/>
          </p:nvSpPr>
          <p:spPr>
            <a:xfrm flipH="false" flipV="false" rot="0">
              <a:off x="0" y="0"/>
              <a:ext cx="2133600" cy="587299"/>
            </a:xfrm>
            <a:custGeom>
              <a:avLst/>
              <a:gdLst/>
              <a:ahLst/>
              <a:cxnLst/>
              <a:rect r="r" b="b" t="t" l="l"/>
              <a:pathLst>
                <a:path h="587299" w="2133600">
                  <a:moveTo>
                    <a:pt x="0" y="0"/>
                  </a:moveTo>
                  <a:lnTo>
                    <a:pt x="2133600" y="0"/>
                  </a:lnTo>
                  <a:lnTo>
                    <a:pt x="2133600" y="587299"/>
                  </a:lnTo>
                  <a:lnTo>
                    <a:pt x="0" y="5872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9525" cap="sq">
              <a:solidFill>
                <a:srgbClr val="CCD7E4"/>
              </a:solidFill>
              <a:prstDash val="solid"/>
              <a:miter/>
            </a:ln>
          </p:spPr>
        </p:sp>
        <p:sp>
          <p:nvSpPr>
            <p:cNvPr name="TextBox 42" id="42"/>
            <p:cNvSpPr txBox="true"/>
            <p:nvPr/>
          </p:nvSpPr>
          <p:spPr>
            <a:xfrm>
              <a:off x="0" y="-28575"/>
              <a:ext cx="2133600" cy="615874"/>
            </a:xfrm>
            <a:prstGeom prst="rect">
              <a:avLst/>
            </a:prstGeom>
          </p:spPr>
          <p:txBody>
            <a:bodyPr anchor="ctr" rtlCol="false" tIns="76200" lIns="76200" bIns="76200" rIns="76200"/>
            <a:lstStyle/>
            <a:p>
              <a:pPr algn="l">
                <a:lnSpc>
                  <a:spcPts val="2310"/>
                </a:lnSpc>
              </a:pPr>
              <a:r>
                <a:rPr lang="en-US" b="true" sz="1650">
                  <a:solidFill>
                    <a:srgbClr val="151521"/>
                  </a:solidFill>
                  <a:latin typeface="DM Sans Bold"/>
                  <a:ea typeface="DM Sans Bold"/>
                  <a:cs typeface="DM Sans Bold"/>
                  <a:sym typeface="DM Sans Bold"/>
                </a:rPr>
                <a:t>18,000</a:t>
              </a:r>
            </a:p>
          </p:txBody>
        </p:sp>
      </p:grpSp>
      <p:grpSp>
        <p:nvGrpSpPr>
          <p:cNvPr name="Group 43" id="43"/>
          <p:cNvGrpSpPr/>
          <p:nvPr/>
        </p:nvGrpSpPr>
        <p:grpSpPr>
          <a:xfrm rot="0">
            <a:off x="6338888" y="3643312"/>
            <a:ext cx="3581400" cy="440474"/>
            <a:chOff x="0" y="0"/>
            <a:chExt cx="4775200" cy="587299"/>
          </a:xfrm>
        </p:grpSpPr>
        <p:sp>
          <p:nvSpPr>
            <p:cNvPr name="Freeform 44" id="44"/>
            <p:cNvSpPr/>
            <p:nvPr/>
          </p:nvSpPr>
          <p:spPr>
            <a:xfrm flipH="false" flipV="false" rot="0">
              <a:off x="0" y="0"/>
              <a:ext cx="4775200" cy="587299"/>
            </a:xfrm>
            <a:custGeom>
              <a:avLst/>
              <a:gdLst/>
              <a:ahLst/>
              <a:cxnLst/>
              <a:rect r="r" b="b" t="t" l="l"/>
              <a:pathLst>
                <a:path h="587299" w="4775200">
                  <a:moveTo>
                    <a:pt x="0" y="0"/>
                  </a:moveTo>
                  <a:lnTo>
                    <a:pt x="4775200" y="0"/>
                  </a:lnTo>
                  <a:lnTo>
                    <a:pt x="4775200" y="587299"/>
                  </a:lnTo>
                  <a:lnTo>
                    <a:pt x="0" y="5872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45" id="45"/>
            <p:cNvSpPr/>
            <p:nvPr/>
          </p:nvSpPr>
          <p:spPr>
            <a:xfrm flipH="false" flipV="false" rot="0">
              <a:off x="0" y="0"/>
              <a:ext cx="4775200" cy="587299"/>
            </a:xfrm>
            <a:custGeom>
              <a:avLst/>
              <a:gdLst/>
              <a:ahLst/>
              <a:cxnLst/>
              <a:rect r="r" b="b" t="t" l="l"/>
              <a:pathLst>
                <a:path h="587299" w="4775200">
                  <a:moveTo>
                    <a:pt x="0" y="0"/>
                  </a:moveTo>
                  <a:lnTo>
                    <a:pt x="4775200" y="0"/>
                  </a:lnTo>
                  <a:lnTo>
                    <a:pt x="4775200" y="587299"/>
                  </a:lnTo>
                  <a:lnTo>
                    <a:pt x="0" y="5872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9525" cap="sq">
              <a:solidFill>
                <a:srgbClr val="CCD7E4"/>
              </a:solidFill>
              <a:prstDash val="solid"/>
              <a:miter/>
            </a:ln>
          </p:spPr>
        </p:sp>
        <p:sp>
          <p:nvSpPr>
            <p:cNvPr name="TextBox 46" id="46"/>
            <p:cNvSpPr txBox="true"/>
            <p:nvPr/>
          </p:nvSpPr>
          <p:spPr>
            <a:xfrm>
              <a:off x="0" y="-28575"/>
              <a:ext cx="4775200" cy="615874"/>
            </a:xfrm>
            <a:prstGeom prst="rect">
              <a:avLst/>
            </a:prstGeom>
          </p:spPr>
          <p:txBody>
            <a:bodyPr anchor="ctr" rtlCol="false" tIns="76200" lIns="76200" bIns="76200" rIns="76200"/>
            <a:lstStyle/>
            <a:p>
              <a:pPr algn="l">
                <a:lnSpc>
                  <a:spcPts val="2310"/>
                </a:lnSpc>
              </a:pPr>
              <a:r>
                <a:rPr lang="en-US" sz="1650">
                  <a:solidFill>
                    <a:srgbClr val="151521"/>
                  </a:solidFill>
                  <a:latin typeface="DM Sans"/>
                  <a:ea typeface="DM Sans"/>
                  <a:cs typeface="DM Sans"/>
                  <a:sym typeface="DM Sans"/>
                </a:rPr>
                <a:t>Deployment</a:t>
              </a:r>
            </a:p>
          </p:txBody>
        </p:sp>
      </p:grpSp>
      <p:grpSp>
        <p:nvGrpSpPr>
          <p:cNvPr name="Group 47" id="47"/>
          <p:cNvGrpSpPr/>
          <p:nvPr/>
        </p:nvGrpSpPr>
        <p:grpSpPr>
          <a:xfrm rot="0">
            <a:off x="9920288" y="3643312"/>
            <a:ext cx="1600200" cy="440474"/>
            <a:chOff x="0" y="0"/>
            <a:chExt cx="2133600" cy="587299"/>
          </a:xfrm>
        </p:grpSpPr>
        <p:sp>
          <p:nvSpPr>
            <p:cNvPr name="Freeform 48" id="48"/>
            <p:cNvSpPr/>
            <p:nvPr/>
          </p:nvSpPr>
          <p:spPr>
            <a:xfrm flipH="false" flipV="false" rot="0">
              <a:off x="0" y="0"/>
              <a:ext cx="2133600" cy="587299"/>
            </a:xfrm>
            <a:custGeom>
              <a:avLst/>
              <a:gdLst/>
              <a:ahLst/>
              <a:cxnLst/>
              <a:rect r="r" b="b" t="t" l="l"/>
              <a:pathLst>
                <a:path h="587299" w="2133600">
                  <a:moveTo>
                    <a:pt x="0" y="0"/>
                  </a:moveTo>
                  <a:lnTo>
                    <a:pt x="2133600" y="0"/>
                  </a:lnTo>
                  <a:lnTo>
                    <a:pt x="2133600" y="587299"/>
                  </a:lnTo>
                  <a:lnTo>
                    <a:pt x="0" y="5872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49" id="49"/>
            <p:cNvSpPr/>
            <p:nvPr/>
          </p:nvSpPr>
          <p:spPr>
            <a:xfrm flipH="false" flipV="false" rot="0">
              <a:off x="0" y="0"/>
              <a:ext cx="2133600" cy="587299"/>
            </a:xfrm>
            <a:custGeom>
              <a:avLst/>
              <a:gdLst/>
              <a:ahLst/>
              <a:cxnLst/>
              <a:rect r="r" b="b" t="t" l="l"/>
              <a:pathLst>
                <a:path h="587299" w="2133600">
                  <a:moveTo>
                    <a:pt x="0" y="0"/>
                  </a:moveTo>
                  <a:lnTo>
                    <a:pt x="2133600" y="0"/>
                  </a:lnTo>
                  <a:lnTo>
                    <a:pt x="2133600" y="587299"/>
                  </a:lnTo>
                  <a:lnTo>
                    <a:pt x="0" y="5872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9525" cap="sq">
              <a:solidFill>
                <a:srgbClr val="CCD7E4"/>
              </a:solidFill>
              <a:prstDash val="solid"/>
              <a:miter/>
            </a:ln>
          </p:spPr>
        </p:sp>
        <p:sp>
          <p:nvSpPr>
            <p:cNvPr name="TextBox 50" id="50"/>
            <p:cNvSpPr txBox="true"/>
            <p:nvPr/>
          </p:nvSpPr>
          <p:spPr>
            <a:xfrm>
              <a:off x="0" y="-28575"/>
              <a:ext cx="2133600" cy="615874"/>
            </a:xfrm>
            <a:prstGeom prst="rect">
              <a:avLst/>
            </a:prstGeom>
          </p:spPr>
          <p:txBody>
            <a:bodyPr anchor="ctr" rtlCol="false" tIns="76200" lIns="76200" bIns="76200" rIns="76200"/>
            <a:lstStyle/>
            <a:p>
              <a:pPr algn="l">
                <a:lnSpc>
                  <a:spcPts val="2310"/>
                </a:lnSpc>
              </a:pPr>
              <a:r>
                <a:rPr lang="en-US" b="true" sz="1650">
                  <a:solidFill>
                    <a:srgbClr val="151521"/>
                  </a:solidFill>
                  <a:latin typeface="DM Sans Bold"/>
                  <a:ea typeface="DM Sans Bold"/>
                  <a:cs typeface="DM Sans Bold"/>
                  <a:sym typeface="DM Sans Bold"/>
                </a:rPr>
                <a:t>16,000</a:t>
              </a:r>
            </a:p>
          </p:txBody>
        </p:sp>
      </p:grpSp>
      <p:grpSp>
        <p:nvGrpSpPr>
          <p:cNvPr name="Group 51" id="51"/>
          <p:cNvGrpSpPr/>
          <p:nvPr/>
        </p:nvGrpSpPr>
        <p:grpSpPr>
          <a:xfrm rot="0">
            <a:off x="6338888" y="4043362"/>
            <a:ext cx="3581400" cy="440474"/>
            <a:chOff x="0" y="0"/>
            <a:chExt cx="4775200" cy="587299"/>
          </a:xfrm>
        </p:grpSpPr>
        <p:sp>
          <p:nvSpPr>
            <p:cNvPr name="Freeform 52" id="52"/>
            <p:cNvSpPr/>
            <p:nvPr/>
          </p:nvSpPr>
          <p:spPr>
            <a:xfrm flipH="false" flipV="false" rot="0">
              <a:off x="0" y="0"/>
              <a:ext cx="4775200" cy="587299"/>
            </a:xfrm>
            <a:custGeom>
              <a:avLst/>
              <a:gdLst/>
              <a:ahLst/>
              <a:cxnLst/>
              <a:rect r="r" b="b" t="t" l="l"/>
              <a:pathLst>
                <a:path h="587299" w="4775200">
                  <a:moveTo>
                    <a:pt x="0" y="0"/>
                  </a:moveTo>
                  <a:lnTo>
                    <a:pt x="4775200" y="0"/>
                  </a:lnTo>
                  <a:lnTo>
                    <a:pt x="4775200" y="587299"/>
                  </a:lnTo>
                  <a:lnTo>
                    <a:pt x="0" y="5872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53" id="53"/>
            <p:cNvSpPr/>
            <p:nvPr/>
          </p:nvSpPr>
          <p:spPr>
            <a:xfrm flipH="false" flipV="false" rot="0">
              <a:off x="0" y="0"/>
              <a:ext cx="4775200" cy="587299"/>
            </a:xfrm>
            <a:custGeom>
              <a:avLst/>
              <a:gdLst/>
              <a:ahLst/>
              <a:cxnLst/>
              <a:rect r="r" b="b" t="t" l="l"/>
              <a:pathLst>
                <a:path h="587299" w="4775200">
                  <a:moveTo>
                    <a:pt x="0" y="0"/>
                  </a:moveTo>
                  <a:lnTo>
                    <a:pt x="4775200" y="0"/>
                  </a:lnTo>
                  <a:lnTo>
                    <a:pt x="4775200" y="587299"/>
                  </a:lnTo>
                  <a:lnTo>
                    <a:pt x="0" y="5872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9525" cap="sq">
              <a:solidFill>
                <a:srgbClr val="CCD7E4"/>
              </a:solidFill>
              <a:prstDash val="solid"/>
              <a:miter/>
            </a:ln>
          </p:spPr>
        </p:sp>
        <p:sp>
          <p:nvSpPr>
            <p:cNvPr name="TextBox 54" id="54"/>
            <p:cNvSpPr txBox="true"/>
            <p:nvPr/>
          </p:nvSpPr>
          <p:spPr>
            <a:xfrm>
              <a:off x="0" y="-28575"/>
              <a:ext cx="4775200" cy="615874"/>
            </a:xfrm>
            <a:prstGeom prst="rect">
              <a:avLst/>
            </a:prstGeom>
          </p:spPr>
          <p:txBody>
            <a:bodyPr anchor="ctr" rtlCol="false" tIns="76200" lIns="76200" bIns="76200" rIns="76200"/>
            <a:lstStyle/>
            <a:p>
              <a:pPr algn="l">
                <a:lnSpc>
                  <a:spcPts val="2310"/>
                </a:lnSpc>
              </a:pPr>
              <a:r>
                <a:rPr lang="en-US" sz="1650">
                  <a:solidFill>
                    <a:srgbClr val="151521"/>
                  </a:solidFill>
                  <a:latin typeface="DM Sans"/>
                  <a:ea typeface="DM Sans"/>
                  <a:cs typeface="DM Sans"/>
                  <a:sym typeface="DM Sans"/>
                </a:rPr>
                <a:t>Product operations</a:t>
              </a:r>
            </a:p>
          </p:txBody>
        </p:sp>
      </p:grpSp>
      <p:grpSp>
        <p:nvGrpSpPr>
          <p:cNvPr name="Group 55" id="55"/>
          <p:cNvGrpSpPr/>
          <p:nvPr/>
        </p:nvGrpSpPr>
        <p:grpSpPr>
          <a:xfrm rot="0">
            <a:off x="9920288" y="4043362"/>
            <a:ext cx="1600200" cy="440474"/>
            <a:chOff x="0" y="0"/>
            <a:chExt cx="2133600" cy="587299"/>
          </a:xfrm>
        </p:grpSpPr>
        <p:sp>
          <p:nvSpPr>
            <p:cNvPr name="Freeform 56" id="56"/>
            <p:cNvSpPr/>
            <p:nvPr/>
          </p:nvSpPr>
          <p:spPr>
            <a:xfrm flipH="false" flipV="false" rot="0">
              <a:off x="0" y="0"/>
              <a:ext cx="2133600" cy="587299"/>
            </a:xfrm>
            <a:custGeom>
              <a:avLst/>
              <a:gdLst/>
              <a:ahLst/>
              <a:cxnLst/>
              <a:rect r="r" b="b" t="t" l="l"/>
              <a:pathLst>
                <a:path h="587299" w="2133600">
                  <a:moveTo>
                    <a:pt x="0" y="0"/>
                  </a:moveTo>
                  <a:lnTo>
                    <a:pt x="2133600" y="0"/>
                  </a:lnTo>
                  <a:lnTo>
                    <a:pt x="2133600" y="587299"/>
                  </a:lnTo>
                  <a:lnTo>
                    <a:pt x="0" y="5872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57" id="57"/>
            <p:cNvSpPr/>
            <p:nvPr/>
          </p:nvSpPr>
          <p:spPr>
            <a:xfrm flipH="false" flipV="false" rot="0">
              <a:off x="0" y="0"/>
              <a:ext cx="2133600" cy="587299"/>
            </a:xfrm>
            <a:custGeom>
              <a:avLst/>
              <a:gdLst/>
              <a:ahLst/>
              <a:cxnLst/>
              <a:rect r="r" b="b" t="t" l="l"/>
              <a:pathLst>
                <a:path h="587299" w="2133600">
                  <a:moveTo>
                    <a:pt x="0" y="0"/>
                  </a:moveTo>
                  <a:lnTo>
                    <a:pt x="2133600" y="0"/>
                  </a:lnTo>
                  <a:lnTo>
                    <a:pt x="2133600" y="587299"/>
                  </a:lnTo>
                  <a:lnTo>
                    <a:pt x="0" y="5872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9525" cap="sq">
              <a:solidFill>
                <a:srgbClr val="CCD7E4"/>
              </a:solidFill>
              <a:prstDash val="solid"/>
              <a:miter/>
            </a:ln>
          </p:spPr>
        </p:sp>
        <p:sp>
          <p:nvSpPr>
            <p:cNvPr name="TextBox 58" id="58"/>
            <p:cNvSpPr txBox="true"/>
            <p:nvPr/>
          </p:nvSpPr>
          <p:spPr>
            <a:xfrm>
              <a:off x="0" y="-28575"/>
              <a:ext cx="2133600" cy="615874"/>
            </a:xfrm>
            <a:prstGeom prst="rect">
              <a:avLst/>
            </a:prstGeom>
          </p:spPr>
          <p:txBody>
            <a:bodyPr anchor="ctr" rtlCol="false" tIns="76200" lIns="76200" bIns="76200" rIns="76200"/>
            <a:lstStyle/>
            <a:p>
              <a:pPr algn="l">
                <a:lnSpc>
                  <a:spcPts val="2310"/>
                </a:lnSpc>
              </a:pPr>
              <a:r>
                <a:rPr lang="en-US" b="true" sz="1650">
                  <a:solidFill>
                    <a:srgbClr val="151521"/>
                  </a:solidFill>
                  <a:latin typeface="DM Sans Bold"/>
                  <a:ea typeface="DM Sans Bold"/>
                  <a:cs typeface="DM Sans Bold"/>
                  <a:sym typeface="DM Sans Bold"/>
                </a:rPr>
                <a:t>8,000</a:t>
              </a:r>
            </a:p>
          </p:txBody>
        </p:sp>
      </p:grpSp>
      <p:grpSp>
        <p:nvGrpSpPr>
          <p:cNvPr name="Group 59" id="59"/>
          <p:cNvGrpSpPr/>
          <p:nvPr/>
        </p:nvGrpSpPr>
        <p:grpSpPr>
          <a:xfrm rot="0">
            <a:off x="6338888" y="4443412"/>
            <a:ext cx="3581400" cy="440474"/>
            <a:chOff x="0" y="0"/>
            <a:chExt cx="4775200" cy="587299"/>
          </a:xfrm>
        </p:grpSpPr>
        <p:sp>
          <p:nvSpPr>
            <p:cNvPr name="Freeform 60" id="60"/>
            <p:cNvSpPr/>
            <p:nvPr/>
          </p:nvSpPr>
          <p:spPr>
            <a:xfrm flipH="false" flipV="false" rot="0">
              <a:off x="0" y="0"/>
              <a:ext cx="4775200" cy="587299"/>
            </a:xfrm>
            <a:custGeom>
              <a:avLst/>
              <a:gdLst/>
              <a:ahLst/>
              <a:cxnLst/>
              <a:rect r="r" b="b" t="t" l="l"/>
              <a:pathLst>
                <a:path h="587299" w="4775200">
                  <a:moveTo>
                    <a:pt x="0" y="0"/>
                  </a:moveTo>
                  <a:lnTo>
                    <a:pt x="4775200" y="0"/>
                  </a:lnTo>
                  <a:lnTo>
                    <a:pt x="4775200" y="587299"/>
                  </a:lnTo>
                  <a:lnTo>
                    <a:pt x="0" y="5872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61" id="61"/>
            <p:cNvSpPr/>
            <p:nvPr/>
          </p:nvSpPr>
          <p:spPr>
            <a:xfrm flipH="false" flipV="false" rot="0">
              <a:off x="0" y="0"/>
              <a:ext cx="4775200" cy="587299"/>
            </a:xfrm>
            <a:custGeom>
              <a:avLst/>
              <a:gdLst/>
              <a:ahLst/>
              <a:cxnLst/>
              <a:rect r="r" b="b" t="t" l="l"/>
              <a:pathLst>
                <a:path h="587299" w="4775200">
                  <a:moveTo>
                    <a:pt x="0" y="0"/>
                  </a:moveTo>
                  <a:lnTo>
                    <a:pt x="4775200" y="0"/>
                  </a:lnTo>
                  <a:lnTo>
                    <a:pt x="4775200" y="587299"/>
                  </a:lnTo>
                  <a:lnTo>
                    <a:pt x="0" y="5872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9525" cap="sq">
              <a:solidFill>
                <a:srgbClr val="CCD7E4"/>
              </a:solidFill>
              <a:prstDash val="solid"/>
              <a:miter/>
            </a:ln>
          </p:spPr>
        </p:sp>
        <p:sp>
          <p:nvSpPr>
            <p:cNvPr name="TextBox 62" id="62"/>
            <p:cNvSpPr txBox="true"/>
            <p:nvPr/>
          </p:nvSpPr>
          <p:spPr>
            <a:xfrm>
              <a:off x="0" y="-28575"/>
              <a:ext cx="4775200" cy="615874"/>
            </a:xfrm>
            <a:prstGeom prst="rect">
              <a:avLst/>
            </a:prstGeom>
          </p:spPr>
          <p:txBody>
            <a:bodyPr anchor="ctr" rtlCol="false" tIns="76200" lIns="76200" bIns="76200" rIns="76200"/>
            <a:lstStyle/>
            <a:p>
              <a:pPr algn="l">
                <a:lnSpc>
                  <a:spcPts val="2310"/>
                </a:lnSpc>
              </a:pPr>
              <a:r>
                <a:rPr lang="en-US" sz="1650">
                  <a:solidFill>
                    <a:srgbClr val="151521"/>
                  </a:solidFill>
                  <a:latin typeface="DM Sans"/>
                  <a:ea typeface="DM Sans"/>
                  <a:cs typeface="DM Sans"/>
                  <a:sym typeface="DM Sans"/>
                </a:rPr>
                <a:t>Teacher onboarding</a:t>
              </a:r>
            </a:p>
          </p:txBody>
        </p:sp>
      </p:grpSp>
      <p:grpSp>
        <p:nvGrpSpPr>
          <p:cNvPr name="Group 63" id="63"/>
          <p:cNvGrpSpPr/>
          <p:nvPr/>
        </p:nvGrpSpPr>
        <p:grpSpPr>
          <a:xfrm rot="0">
            <a:off x="9920288" y="4443412"/>
            <a:ext cx="1600200" cy="440474"/>
            <a:chOff x="0" y="0"/>
            <a:chExt cx="2133600" cy="587299"/>
          </a:xfrm>
        </p:grpSpPr>
        <p:sp>
          <p:nvSpPr>
            <p:cNvPr name="Freeform 64" id="64"/>
            <p:cNvSpPr/>
            <p:nvPr/>
          </p:nvSpPr>
          <p:spPr>
            <a:xfrm flipH="false" flipV="false" rot="0">
              <a:off x="0" y="0"/>
              <a:ext cx="2133600" cy="587299"/>
            </a:xfrm>
            <a:custGeom>
              <a:avLst/>
              <a:gdLst/>
              <a:ahLst/>
              <a:cxnLst/>
              <a:rect r="r" b="b" t="t" l="l"/>
              <a:pathLst>
                <a:path h="587299" w="2133600">
                  <a:moveTo>
                    <a:pt x="0" y="0"/>
                  </a:moveTo>
                  <a:lnTo>
                    <a:pt x="2133600" y="0"/>
                  </a:lnTo>
                  <a:lnTo>
                    <a:pt x="2133600" y="587299"/>
                  </a:lnTo>
                  <a:lnTo>
                    <a:pt x="0" y="5872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65" id="65"/>
            <p:cNvSpPr/>
            <p:nvPr/>
          </p:nvSpPr>
          <p:spPr>
            <a:xfrm flipH="false" flipV="false" rot="0">
              <a:off x="0" y="0"/>
              <a:ext cx="2133600" cy="587299"/>
            </a:xfrm>
            <a:custGeom>
              <a:avLst/>
              <a:gdLst/>
              <a:ahLst/>
              <a:cxnLst/>
              <a:rect r="r" b="b" t="t" l="l"/>
              <a:pathLst>
                <a:path h="587299" w="2133600">
                  <a:moveTo>
                    <a:pt x="0" y="0"/>
                  </a:moveTo>
                  <a:lnTo>
                    <a:pt x="2133600" y="0"/>
                  </a:lnTo>
                  <a:lnTo>
                    <a:pt x="2133600" y="587299"/>
                  </a:lnTo>
                  <a:lnTo>
                    <a:pt x="0" y="5872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9525" cap="sq">
              <a:solidFill>
                <a:srgbClr val="CCD7E4"/>
              </a:solidFill>
              <a:prstDash val="solid"/>
              <a:miter/>
            </a:ln>
          </p:spPr>
        </p:sp>
        <p:sp>
          <p:nvSpPr>
            <p:cNvPr name="TextBox 66" id="66"/>
            <p:cNvSpPr txBox="true"/>
            <p:nvPr/>
          </p:nvSpPr>
          <p:spPr>
            <a:xfrm>
              <a:off x="0" y="-28575"/>
              <a:ext cx="2133600" cy="615874"/>
            </a:xfrm>
            <a:prstGeom prst="rect">
              <a:avLst/>
            </a:prstGeom>
          </p:spPr>
          <p:txBody>
            <a:bodyPr anchor="ctr" rtlCol="false" tIns="76200" lIns="76200" bIns="76200" rIns="76200"/>
            <a:lstStyle/>
            <a:p>
              <a:pPr algn="l">
                <a:lnSpc>
                  <a:spcPts val="2310"/>
                </a:lnSpc>
              </a:pPr>
              <a:r>
                <a:rPr lang="en-US" b="true" sz="1650">
                  <a:solidFill>
                    <a:srgbClr val="151521"/>
                  </a:solidFill>
                  <a:latin typeface="DM Sans Bold"/>
                  <a:ea typeface="DM Sans Bold"/>
                  <a:cs typeface="DM Sans Bold"/>
                  <a:sym typeface="DM Sans Bold"/>
                </a:rPr>
                <a:t>8,000</a:t>
              </a:r>
            </a:p>
          </p:txBody>
        </p:sp>
      </p:grpSp>
      <p:grpSp>
        <p:nvGrpSpPr>
          <p:cNvPr name="Group 67" id="67"/>
          <p:cNvGrpSpPr/>
          <p:nvPr/>
        </p:nvGrpSpPr>
        <p:grpSpPr>
          <a:xfrm rot="0">
            <a:off x="6338888" y="4843462"/>
            <a:ext cx="3581400" cy="440474"/>
            <a:chOff x="0" y="0"/>
            <a:chExt cx="4775200" cy="587299"/>
          </a:xfrm>
        </p:grpSpPr>
        <p:sp>
          <p:nvSpPr>
            <p:cNvPr name="Freeform 68" id="68"/>
            <p:cNvSpPr/>
            <p:nvPr/>
          </p:nvSpPr>
          <p:spPr>
            <a:xfrm flipH="false" flipV="false" rot="0">
              <a:off x="0" y="0"/>
              <a:ext cx="4775200" cy="587299"/>
            </a:xfrm>
            <a:custGeom>
              <a:avLst/>
              <a:gdLst/>
              <a:ahLst/>
              <a:cxnLst/>
              <a:rect r="r" b="b" t="t" l="l"/>
              <a:pathLst>
                <a:path h="587299" w="4775200">
                  <a:moveTo>
                    <a:pt x="0" y="0"/>
                  </a:moveTo>
                  <a:lnTo>
                    <a:pt x="4775200" y="0"/>
                  </a:lnTo>
                  <a:lnTo>
                    <a:pt x="4775200" y="587299"/>
                  </a:lnTo>
                  <a:lnTo>
                    <a:pt x="0" y="5872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69" id="69"/>
            <p:cNvSpPr/>
            <p:nvPr/>
          </p:nvSpPr>
          <p:spPr>
            <a:xfrm flipH="false" flipV="false" rot="0">
              <a:off x="0" y="0"/>
              <a:ext cx="4775200" cy="587299"/>
            </a:xfrm>
            <a:custGeom>
              <a:avLst/>
              <a:gdLst/>
              <a:ahLst/>
              <a:cxnLst/>
              <a:rect r="r" b="b" t="t" l="l"/>
              <a:pathLst>
                <a:path h="587299" w="4775200">
                  <a:moveTo>
                    <a:pt x="0" y="0"/>
                  </a:moveTo>
                  <a:lnTo>
                    <a:pt x="4775200" y="0"/>
                  </a:lnTo>
                  <a:lnTo>
                    <a:pt x="4775200" y="587299"/>
                  </a:lnTo>
                  <a:lnTo>
                    <a:pt x="0" y="5872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9525" cap="sq">
              <a:solidFill>
                <a:srgbClr val="CCD7E4"/>
              </a:solidFill>
              <a:prstDash val="solid"/>
              <a:miter/>
            </a:ln>
          </p:spPr>
        </p:sp>
        <p:sp>
          <p:nvSpPr>
            <p:cNvPr name="TextBox 70" id="70"/>
            <p:cNvSpPr txBox="true"/>
            <p:nvPr/>
          </p:nvSpPr>
          <p:spPr>
            <a:xfrm>
              <a:off x="0" y="-28575"/>
              <a:ext cx="4775200" cy="615874"/>
            </a:xfrm>
            <a:prstGeom prst="rect">
              <a:avLst/>
            </a:prstGeom>
          </p:spPr>
          <p:txBody>
            <a:bodyPr anchor="ctr" rtlCol="false" tIns="76200" lIns="76200" bIns="76200" rIns="76200"/>
            <a:lstStyle/>
            <a:p>
              <a:pPr algn="l">
                <a:lnSpc>
                  <a:spcPts val="2310"/>
                </a:lnSpc>
              </a:pPr>
              <a:r>
                <a:rPr lang="en-US" sz="1650">
                  <a:solidFill>
                    <a:srgbClr val="151521"/>
                  </a:solidFill>
                  <a:latin typeface="DM Sans"/>
                  <a:ea typeface="DM Sans"/>
                  <a:cs typeface="DM Sans"/>
                  <a:sym typeface="DM Sans"/>
                </a:rPr>
                <a:t>Recruitment content</a:t>
              </a:r>
            </a:p>
          </p:txBody>
        </p:sp>
      </p:grpSp>
      <p:grpSp>
        <p:nvGrpSpPr>
          <p:cNvPr name="Group 71" id="71"/>
          <p:cNvGrpSpPr/>
          <p:nvPr/>
        </p:nvGrpSpPr>
        <p:grpSpPr>
          <a:xfrm rot="0">
            <a:off x="9920288" y="4843462"/>
            <a:ext cx="1600200" cy="440474"/>
            <a:chOff x="0" y="0"/>
            <a:chExt cx="2133600" cy="587299"/>
          </a:xfrm>
        </p:grpSpPr>
        <p:sp>
          <p:nvSpPr>
            <p:cNvPr name="Freeform 72" id="72"/>
            <p:cNvSpPr/>
            <p:nvPr/>
          </p:nvSpPr>
          <p:spPr>
            <a:xfrm flipH="false" flipV="false" rot="0">
              <a:off x="0" y="0"/>
              <a:ext cx="2133600" cy="587299"/>
            </a:xfrm>
            <a:custGeom>
              <a:avLst/>
              <a:gdLst/>
              <a:ahLst/>
              <a:cxnLst/>
              <a:rect r="r" b="b" t="t" l="l"/>
              <a:pathLst>
                <a:path h="587299" w="2133600">
                  <a:moveTo>
                    <a:pt x="0" y="0"/>
                  </a:moveTo>
                  <a:lnTo>
                    <a:pt x="2133600" y="0"/>
                  </a:lnTo>
                  <a:lnTo>
                    <a:pt x="2133600" y="587299"/>
                  </a:lnTo>
                  <a:lnTo>
                    <a:pt x="0" y="5872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73" id="73"/>
            <p:cNvSpPr/>
            <p:nvPr/>
          </p:nvSpPr>
          <p:spPr>
            <a:xfrm flipH="false" flipV="false" rot="0">
              <a:off x="0" y="0"/>
              <a:ext cx="2133600" cy="587299"/>
            </a:xfrm>
            <a:custGeom>
              <a:avLst/>
              <a:gdLst/>
              <a:ahLst/>
              <a:cxnLst/>
              <a:rect r="r" b="b" t="t" l="l"/>
              <a:pathLst>
                <a:path h="587299" w="2133600">
                  <a:moveTo>
                    <a:pt x="0" y="0"/>
                  </a:moveTo>
                  <a:lnTo>
                    <a:pt x="2133600" y="0"/>
                  </a:lnTo>
                  <a:lnTo>
                    <a:pt x="2133600" y="587299"/>
                  </a:lnTo>
                  <a:lnTo>
                    <a:pt x="0" y="5872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9525" cap="sq">
              <a:solidFill>
                <a:srgbClr val="CCD7E4"/>
              </a:solidFill>
              <a:prstDash val="solid"/>
              <a:miter/>
            </a:ln>
          </p:spPr>
        </p:sp>
        <p:sp>
          <p:nvSpPr>
            <p:cNvPr name="TextBox 74" id="74"/>
            <p:cNvSpPr txBox="true"/>
            <p:nvPr/>
          </p:nvSpPr>
          <p:spPr>
            <a:xfrm>
              <a:off x="0" y="-28575"/>
              <a:ext cx="2133600" cy="615874"/>
            </a:xfrm>
            <a:prstGeom prst="rect">
              <a:avLst/>
            </a:prstGeom>
          </p:spPr>
          <p:txBody>
            <a:bodyPr anchor="ctr" rtlCol="false" tIns="76200" lIns="76200" bIns="76200" rIns="76200"/>
            <a:lstStyle/>
            <a:p>
              <a:pPr algn="l">
                <a:lnSpc>
                  <a:spcPts val="2310"/>
                </a:lnSpc>
              </a:pPr>
              <a:r>
                <a:rPr lang="en-US" b="true" sz="1650">
                  <a:solidFill>
                    <a:srgbClr val="151521"/>
                  </a:solidFill>
                  <a:latin typeface="DM Sans Bold"/>
                  <a:ea typeface="DM Sans Bold"/>
                  <a:cs typeface="DM Sans Bold"/>
                  <a:sym typeface="DM Sans Bold"/>
                </a:rPr>
                <a:t>3,000</a:t>
              </a:r>
            </a:p>
          </p:txBody>
        </p:sp>
      </p:grpSp>
      <p:grpSp>
        <p:nvGrpSpPr>
          <p:cNvPr name="Group 75" id="75"/>
          <p:cNvGrpSpPr/>
          <p:nvPr/>
        </p:nvGrpSpPr>
        <p:grpSpPr>
          <a:xfrm rot="0">
            <a:off x="6338888" y="5243512"/>
            <a:ext cx="3581400" cy="440474"/>
            <a:chOff x="0" y="0"/>
            <a:chExt cx="4775200" cy="587299"/>
          </a:xfrm>
        </p:grpSpPr>
        <p:sp>
          <p:nvSpPr>
            <p:cNvPr name="Freeform 76" id="76"/>
            <p:cNvSpPr/>
            <p:nvPr/>
          </p:nvSpPr>
          <p:spPr>
            <a:xfrm flipH="false" flipV="false" rot="0">
              <a:off x="0" y="0"/>
              <a:ext cx="4775200" cy="587299"/>
            </a:xfrm>
            <a:custGeom>
              <a:avLst/>
              <a:gdLst/>
              <a:ahLst/>
              <a:cxnLst/>
              <a:rect r="r" b="b" t="t" l="l"/>
              <a:pathLst>
                <a:path h="587299" w="4775200">
                  <a:moveTo>
                    <a:pt x="0" y="0"/>
                  </a:moveTo>
                  <a:lnTo>
                    <a:pt x="4775200" y="0"/>
                  </a:lnTo>
                  <a:lnTo>
                    <a:pt x="4775200" y="587299"/>
                  </a:lnTo>
                  <a:lnTo>
                    <a:pt x="0" y="5872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77" id="77"/>
            <p:cNvSpPr/>
            <p:nvPr/>
          </p:nvSpPr>
          <p:spPr>
            <a:xfrm flipH="false" flipV="false" rot="0">
              <a:off x="0" y="0"/>
              <a:ext cx="4775200" cy="587299"/>
            </a:xfrm>
            <a:custGeom>
              <a:avLst/>
              <a:gdLst/>
              <a:ahLst/>
              <a:cxnLst/>
              <a:rect r="r" b="b" t="t" l="l"/>
              <a:pathLst>
                <a:path h="587299" w="4775200">
                  <a:moveTo>
                    <a:pt x="0" y="0"/>
                  </a:moveTo>
                  <a:lnTo>
                    <a:pt x="4775200" y="0"/>
                  </a:lnTo>
                  <a:lnTo>
                    <a:pt x="4775200" y="587299"/>
                  </a:lnTo>
                  <a:lnTo>
                    <a:pt x="0" y="5872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9525" cap="sq">
              <a:solidFill>
                <a:srgbClr val="CCD7E4"/>
              </a:solidFill>
              <a:prstDash val="solid"/>
              <a:miter/>
            </a:ln>
          </p:spPr>
        </p:sp>
        <p:sp>
          <p:nvSpPr>
            <p:cNvPr name="TextBox 78" id="78"/>
            <p:cNvSpPr txBox="true"/>
            <p:nvPr/>
          </p:nvSpPr>
          <p:spPr>
            <a:xfrm>
              <a:off x="0" y="-28575"/>
              <a:ext cx="4775200" cy="615874"/>
            </a:xfrm>
            <a:prstGeom prst="rect">
              <a:avLst/>
            </a:prstGeom>
          </p:spPr>
          <p:txBody>
            <a:bodyPr anchor="ctr" rtlCol="false" tIns="76200" lIns="76200" bIns="76200" rIns="76200"/>
            <a:lstStyle/>
            <a:p>
              <a:pPr algn="l">
                <a:lnSpc>
                  <a:spcPts val="2310"/>
                </a:lnSpc>
              </a:pPr>
              <a:r>
                <a:rPr lang="en-US" sz="1650">
                  <a:solidFill>
                    <a:srgbClr val="151521"/>
                  </a:solidFill>
                  <a:latin typeface="DM Sans"/>
                  <a:ea typeface="DM Sans"/>
                  <a:cs typeface="DM Sans"/>
                  <a:sym typeface="DM Sans"/>
                </a:rPr>
                <a:t>Contingency</a:t>
              </a:r>
            </a:p>
          </p:txBody>
        </p:sp>
      </p:grpSp>
      <p:grpSp>
        <p:nvGrpSpPr>
          <p:cNvPr name="Group 79" id="79"/>
          <p:cNvGrpSpPr/>
          <p:nvPr/>
        </p:nvGrpSpPr>
        <p:grpSpPr>
          <a:xfrm rot="0">
            <a:off x="9920288" y="5243512"/>
            <a:ext cx="1600200" cy="440474"/>
            <a:chOff x="0" y="0"/>
            <a:chExt cx="2133600" cy="587299"/>
          </a:xfrm>
        </p:grpSpPr>
        <p:sp>
          <p:nvSpPr>
            <p:cNvPr name="Freeform 80" id="80"/>
            <p:cNvSpPr/>
            <p:nvPr/>
          </p:nvSpPr>
          <p:spPr>
            <a:xfrm flipH="false" flipV="false" rot="0">
              <a:off x="0" y="0"/>
              <a:ext cx="2133600" cy="587299"/>
            </a:xfrm>
            <a:custGeom>
              <a:avLst/>
              <a:gdLst/>
              <a:ahLst/>
              <a:cxnLst/>
              <a:rect r="r" b="b" t="t" l="l"/>
              <a:pathLst>
                <a:path h="587299" w="2133600">
                  <a:moveTo>
                    <a:pt x="0" y="0"/>
                  </a:moveTo>
                  <a:lnTo>
                    <a:pt x="2133600" y="0"/>
                  </a:lnTo>
                  <a:lnTo>
                    <a:pt x="2133600" y="587299"/>
                  </a:lnTo>
                  <a:lnTo>
                    <a:pt x="0" y="5872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81" id="81"/>
            <p:cNvSpPr/>
            <p:nvPr/>
          </p:nvSpPr>
          <p:spPr>
            <a:xfrm flipH="false" flipV="false" rot="0">
              <a:off x="0" y="0"/>
              <a:ext cx="2133600" cy="587299"/>
            </a:xfrm>
            <a:custGeom>
              <a:avLst/>
              <a:gdLst/>
              <a:ahLst/>
              <a:cxnLst/>
              <a:rect r="r" b="b" t="t" l="l"/>
              <a:pathLst>
                <a:path h="587299" w="2133600">
                  <a:moveTo>
                    <a:pt x="0" y="0"/>
                  </a:moveTo>
                  <a:lnTo>
                    <a:pt x="2133600" y="0"/>
                  </a:lnTo>
                  <a:lnTo>
                    <a:pt x="2133600" y="587299"/>
                  </a:lnTo>
                  <a:lnTo>
                    <a:pt x="0" y="5872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9525" cap="sq">
              <a:solidFill>
                <a:srgbClr val="CCD7E4"/>
              </a:solidFill>
              <a:prstDash val="solid"/>
              <a:miter/>
            </a:ln>
          </p:spPr>
        </p:sp>
        <p:sp>
          <p:nvSpPr>
            <p:cNvPr name="TextBox 82" id="82"/>
            <p:cNvSpPr txBox="true"/>
            <p:nvPr/>
          </p:nvSpPr>
          <p:spPr>
            <a:xfrm>
              <a:off x="0" y="-28575"/>
              <a:ext cx="2133600" cy="615874"/>
            </a:xfrm>
            <a:prstGeom prst="rect">
              <a:avLst/>
            </a:prstGeom>
          </p:spPr>
          <p:txBody>
            <a:bodyPr anchor="ctr" rtlCol="false" tIns="76200" lIns="76200" bIns="76200" rIns="76200"/>
            <a:lstStyle/>
            <a:p>
              <a:pPr algn="l">
                <a:lnSpc>
                  <a:spcPts val="2310"/>
                </a:lnSpc>
              </a:pPr>
              <a:r>
                <a:rPr lang="en-US" b="true" sz="1650">
                  <a:solidFill>
                    <a:srgbClr val="151521"/>
                  </a:solidFill>
                  <a:latin typeface="DM Sans Bold"/>
                  <a:ea typeface="DM Sans Bold"/>
                  <a:cs typeface="DM Sans Bold"/>
                  <a:sym typeface="DM Sans Bold"/>
                </a:rPr>
                <a:t>5,000</a:t>
              </a:r>
            </a:p>
          </p:txBody>
        </p:sp>
      </p:grpSp>
      <p:grpSp>
        <p:nvGrpSpPr>
          <p:cNvPr name="Group 83" id="83"/>
          <p:cNvGrpSpPr/>
          <p:nvPr/>
        </p:nvGrpSpPr>
        <p:grpSpPr>
          <a:xfrm rot="0">
            <a:off x="6338888" y="5643562"/>
            <a:ext cx="3581400" cy="440474"/>
            <a:chOff x="0" y="0"/>
            <a:chExt cx="4775200" cy="587299"/>
          </a:xfrm>
        </p:grpSpPr>
        <p:sp>
          <p:nvSpPr>
            <p:cNvPr name="Freeform 84" id="84"/>
            <p:cNvSpPr/>
            <p:nvPr/>
          </p:nvSpPr>
          <p:spPr>
            <a:xfrm flipH="false" flipV="false" rot="0">
              <a:off x="0" y="0"/>
              <a:ext cx="4775200" cy="587299"/>
            </a:xfrm>
            <a:custGeom>
              <a:avLst/>
              <a:gdLst/>
              <a:ahLst/>
              <a:cxnLst/>
              <a:rect r="r" b="b" t="t" l="l"/>
              <a:pathLst>
                <a:path h="587299" w="4775200">
                  <a:moveTo>
                    <a:pt x="0" y="0"/>
                  </a:moveTo>
                  <a:lnTo>
                    <a:pt x="4775200" y="0"/>
                  </a:lnTo>
                  <a:lnTo>
                    <a:pt x="4775200" y="587299"/>
                  </a:lnTo>
                  <a:lnTo>
                    <a:pt x="0" y="5872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0EFFF"/>
            </a:solidFill>
          </p:spPr>
        </p:sp>
        <p:sp>
          <p:nvSpPr>
            <p:cNvPr name="Freeform 85" id="85"/>
            <p:cNvSpPr/>
            <p:nvPr/>
          </p:nvSpPr>
          <p:spPr>
            <a:xfrm flipH="false" flipV="false" rot="0">
              <a:off x="0" y="0"/>
              <a:ext cx="4775200" cy="587299"/>
            </a:xfrm>
            <a:custGeom>
              <a:avLst/>
              <a:gdLst/>
              <a:ahLst/>
              <a:cxnLst/>
              <a:rect r="r" b="b" t="t" l="l"/>
              <a:pathLst>
                <a:path h="587299" w="4775200">
                  <a:moveTo>
                    <a:pt x="0" y="0"/>
                  </a:moveTo>
                  <a:lnTo>
                    <a:pt x="4775200" y="0"/>
                  </a:lnTo>
                  <a:lnTo>
                    <a:pt x="4775200" y="587299"/>
                  </a:lnTo>
                  <a:lnTo>
                    <a:pt x="0" y="5872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9525" cap="sq">
              <a:solidFill>
                <a:srgbClr val="CCD7E4"/>
              </a:solidFill>
              <a:prstDash val="solid"/>
              <a:miter/>
            </a:ln>
          </p:spPr>
        </p:sp>
        <p:sp>
          <p:nvSpPr>
            <p:cNvPr name="TextBox 86" id="86"/>
            <p:cNvSpPr txBox="true"/>
            <p:nvPr/>
          </p:nvSpPr>
          <p:spPr>
            <a:xfrm>
              <a:off x="0" y="-28575"/>
              <a:ext cx="4775200" cy="615874"/>
            </a:xfrm>
            <a:prstGeom prst="rect">
              <a:avLst/>
            </a:prstGeom>
          </p:spPr>
          <p:txBody>
            <a:bodyPr anchor="ctr" rtlCol="false" tIns="76200" lIns="76200" bIns="76200" rIns="76200"/>
            <a:lstStyle/>
            <a:p>
              <a:pPr algn="l">
                <a:lnSpc>
                  <a:spcPts val="2310"/>
                </a:lnSpc>
              </a:pPr>
              <a:r>
                <a:rPr lang="en-US" b="true" sz="1650">
                  <a:solidFill>
                    <a:srgbClr val="5753FA"/>
                  </a:solidFill>
                  <a:latin typeface="DM Sans Bold"/>
                  <a:ea typeface="DM Sans Bold"/>
                  <a:cs typeface="DM Sans Bold"/>
                  <a:sym typeface="DM Sans Bold"/>
                </a:rPr>
                <a:t>Total</a:t>
              </a:r>
            </a:p>
          </p:txBody>
        </p:sp>
      </p:grpSp>
      <p:grpSp>
        <p:nvGrpSpPr>
          <p:cNvPr name="Group 87" id="87"/>
          <p:cNvGrpSpPr/>
          <p:nvPr/>
        </p:nvGrpSpPr>
        <p:grpSpPr>
          <a:xfrm rot="0">
            <a:off x="9920288" y="5643562"/>
            <a:ext cx="1600200" cy="440474"/>
            <a:chOff x="0" y="0"/>
            <a:chExt cx="2133600" cy="587299"/>
          </a:xfrm>
        </p:grpSpPr>
        <p:sp>
          <p:nvSpPr>
            <p:cNvPr name="Freeform 88" id="88"/>
            <p:cNvSpPr/>
            <p:nvPr/>
          </p:nvSpPr>
          <p:spPr>
            <a:xfrm flipH="false" flipV="false" rot="0">
              <a:off x="0" y="0"/>
              <a:ext cx="2133600" cy="587299"/>
            </a:xfrm>
            <a:custGeom>
              <a:avLst/>
              <a:gdLst/>
              <a:ahLst/>
              <a:cxnLst/>
              <a:rect r="r" b="b" t="t" l="l"/>
              <a:pathLst>
                <a:path h="587299" w="2133600">
                  <a:moveTo>
                    <a:pt x="0" y="0"/>
                  </a:moveTo>
                  <a:lnTo>
                    <a:pt x="2133600" y="0"/>
                  </a:lnTo>
                  <a:lnTo>
                    <a:pt x="2133600" y="587299"/>
                  </a:lnTo>
                  <a:lnTo>
                    <a:pt x="0" y="5872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0EFFF"/>
            </a:solidFill>
          </p:spPr>
        </p:sp>
        <p:sp>
          <p:nvSpPr>
            <p:cNvPr name="Freeform 89" id="89"/>
            <p:cNvSpPr/>
            <p:nvPr/>
          </p:nvSpPr>
          <p:spPr>
            <a:xfrm flipH="false" flipV="false" rot="0">
              <a:off x="0" y="0"/>
              <a:ext cx="2133600" cy="587299"/>
            </a:xfrm>
            <a:custGeom>
              <a:avLst/>
              <a:gdLst/>
              <a:ahLst/>
              <a:cxnLst/>
              <a:rect r="r" b="b" t="t" l="l"/>
              <a:pathLst>
                <a:path h="587299" w="2133600">
                  <a:moveTo>
                    <a:pt x="0" y="0"/>
                  </a:moveTo>
                  <a:lnTo>
                    <a:pt x="2133600" y="0"/>
                  </a:lnTo>
                  <a:lnTo>
                    <a:pt x="2133600" y="587299"/>
                  </a:lnTo>
                  <a:lnTo>
                    <a:pt x="0" y="5872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9525" cap="sq">
              <a:solidFill>
                <a:srgbClr val="CCD7E4"/>
              </a:solidFill>
              <a:prstDash val="solid"/>
              <a:miter/>
            </a:ln>
          </p:spPr>
        </p:sp>
        <p:sp>
          <p:nvSpPr>
            <p:cNvPr name="TextBox 90" id="90"/>
            <p:cNvSpPr txBox="true"/>
            <p:nvPr/>
          </p:nvSpPr>
          <p:spPr>
            <a:xfrm>
              <a:off x="0" y="-28575"/>
              <a:ext cx="2133600" cy="615874"/>
            </a:xfrm>
            <a:prstGeom prst="rect">
              <a:avLst/>
            </a:prstGeom>
          </p:spPr>
          <p:txBody>
            <a:bodyPr anchor="ctr" rtlCol="false" tIns="76200" lIns="76200" bIns="76200" rIns="76200"/>
            <a:lstStyle/>
            <a:p>
              <a:pPr algn="l">
                <a:lnSpc>
                  <a:spcPts val="2310"/>
                </a:lnSpc>
              </a:pPr>
              <a:r>
                <a:rPr lang="en-US" b="true" sz="1650">
                  <a:solidFill>
                    <a:srgbClr val="5753FA"/>
                  </a:solidFill>
                  <a:latin typeface="DM Sans Bold"/>
                  <a:ea typeface="DM Sans Bold"/>
                  <a:cs typeface="DM Sans Bold"/>
                  <a:sym typeface="DM Sans Bold"/>
                </a:rPr>
                <a:t>100,000</a:t>
              </a:r>
            </a:p>
          </p:txBody>
        </p:sp>
      </p:grpSp>
      <p:sp>
        <p:nvSpPr>
          <p:cNvPr name="TextBox 91" id="91"/>
          <p:cNvSpPr txBox="true"/>
          <p:nvPr/>
        </p:nvSpPr>
        <p:spPr>
          <a:xfrm rot="0">
            <a:off x="609600" y="6410325"/>
            <a:ext cx="4667250" cy="1308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189"/>
              </a:lnSpc>
            </a:pPr>
            <a:r>
              <a:rPr lang="en-US" sz="975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Planning allocation</a:t>
            </a:r>
          </a:p>
        </p:txBody>
      </p:sp>
      <p:sp>
        <p:nvSpPr>
          <p:cNvPr name="AutoShape 92" id="92"/>
          <p:cNvSpPr/>
          <p:nvPr/>
        </p:nvSpPr>
        <p:spPr>
          <a:xfrm>
            <a:off x="609600" y="1381125"/>
            <a:ext cx="10972800" cy="0"/>
          </a:xfrm>
          <a:prstGeom prst="line">
            <a:avLst/>
          </a:prstGeom>
          <a:ln cap="flat" w="19050">
            <a:solidFill>
              <a:srgbClr val="CCD7E4"/>
            </a:solidFill>
            <a:prstDash val="solid"/>
            <a:headEnd type="none" len="sm" w="sm"/>
            <a:tailEnd type="none" len="sm" w="sm"/>
          </a:ln>
        </p:spPr>
      </p:sp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</p:spPr>
      </p:sp>
      <p:grpSp>
        <p:nvGrpSpPr>
          <p:cNvPr name="Group 3" id="3"/>
          <p:cNvGrpSpPr/>
          <p:nvPr/>
        </p:nvGrpSpPr>
        <p:grpSpPr>
          <a:xfrm rot="0">
            <a:off x="0" y="0"/>
            <a:ext cx="12192000" cy="6858000"/>
            <a:chOff x="0" y="0"/>
            <a:chExt cx="16256000" cy="91440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6256000" cy="9144000"/>
            </a:xfrm>
            <a:custGeom>
              <a:avLst/>
              <a:gdLst/>
              <a:ahLst/>
              <a:cxnLst/>
              <a:rect r="r" b="b" t="t" l="l"/>
              <a:pathLst>
                <a:path h="9144000" w="16256000">
                  <a:moveTo>
                    <a:pt x="0" y="0"/>
                  </a:moveTo>
                  <a:lnTo>
                    <a:pt x="16256000" y="0"/>
                  </a:lnTo>
                  <a:lnTo>
                    <a:pt x="16256000" y="9144000"/>
                  </a:lnTo>
                  <a:lnTo>
                    <a:pt x="0" y="9144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sp>
        <p:nvSpPr>
          <p:cNvPr name="Freeform 5" id="5"/>
          <p:cNvSpPr/>
          <p:nvPr/>
        </p:nvSpPr>
        <p:spPr>
          <a:xfrm flipH="false" flipV="false" rot="0">
            <a:off x="1619250" y="3238500"/>
            <a:ext cx="9525000" cy="1400735"/>
          </a:xfrm>
          <a:custGeom>
            <a:avLst/>
            <a:gdLst/>
            <a:ahLst/>
            <a:cxnLst/>
            <a:rect r="r" b="b" t="t" l="l"/>
            <a:pathLst>
              <a:path h="1400735" w="9525000">
                <a:moveTo>
                  <a:pt x="0" y="0"/>
                </a:moveTo>
                <a:lnTo>
                  <a:pt x="9525000" y="0"/>
                </a:lnTo>
                <a:lnTo>
                  <a:pt x="9525000" y="1400735"/>
                </a:lnTo>
                <a:lnTo>
                  <a:pt x="0" y="140073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11239500" y="6353175"/>
            <a:ext cx="428625" cy="1685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72"/>
              </a:lnSpc>
            </a:pPr>
            <a:r>
              <a:rPr lang="en-US" sz="1125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14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609600" y="533400"/>
            <a:ext cx="5715000" cy="3933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02"/>
              </a:lnSpc>
            </a:pPr>
            <a:r>
              <a:rPr lang="en-US" b="true" sz="2625">
                <a:solidFill>
                  <a:srgbClr val="087E70"/>
                </a:solidFill>
                <a:latin typeface="DM Sans Bold"/>
                <a:ea typeface="DM Sans Bold"/>
                <a:cs typeface="DM Sans Bold"/>
                <a:sym typeface="DM Sans Bold"/>
              </a:rPr>
              <a:t>backtrack.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609600" y="1276350"/>
            <a:ext cx="10972800" cy="189890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503"/>
              </a:lnSpc>
            </a:pPr>
            <a:r>
              <a:rPr lang="en-US" sz="6150" b="true">
                <a:solidFill>
                  <a:srgbClr val="5753FA"/>
                </a:solidFill>
                <a:latin typeface="DM Sans Bold"/>
                <a:ea typeface="DM Sans Bold"/>
                <a:cs typeface="DM Sans Bold"/>
                <a:sym typeface="DM Sans Bold"/>
              </a:rPr>
              <a:t>A route back to</a:t>
            </a:r>
          </a:p>
          <a:p>
            <a:pPr algn="l">
              <a:lnSpc>
                <a:spcPts val="7503"/>
              </a:lnSpc>
            </a:pPr>
            <a:r>
              <a:rPr lang="en-US" b="true" sz="6150">
                <a:solidFill>
                  <a:srgbClr val="5753FA"/>
                </a:solidFill>
                <a:latin typeface="DM Sans Bold"/>
                <a:ea typeface="DM Sans Bold"/>
                <a:cs typeface="DM Sans Bold"/>
                <a:sym typeface="DM Sans Bold"/>
              </a:rPr>
              <a:t>today’s lesson.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609600" y="4848225"/>
            <a:ext cx="10972800" cy="3465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36"/>
              </a:lnSpc>
            </a:pPr>
            <a:r>
              <a:rPr lang="en-US" b="true" sz="2325">
                <a:solidFill>
                  <a:srgbClr val="151521"/>
                </a:solidFill>
                <a:latin typeface="DM Sans Bold"/>
                <a:ea typeface="DM Sans Bold"/>
                <a:cs typeface="DM Sans Bold"/>
                <a:sym typeface="DM Sans Bold"/>
              </a:rPr>
              <a:t>University of the Philippines Manila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609600" y="5448300"/>
            <a:ext cx="10972800" cy="2996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70"/>
              </a:lnSpc>
            </a:pPr>
            <a:r>
              <a:rPr lang="en-US" sz="2025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Matthew Labrador, Paul Recio, Harry Gomez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609600" y="5991225"/>
            <a:ext cx="10972800" cy="2716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96"/>
              </a:lnSpc>
            </a:pPr>
            <a:r>
              <a:rPr lang="en-US" sz="1800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Coach: Justin Mesias</a:t>
            </a:r>
          </a:p>
        </p:txBody>
      </p:sp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</p:spPr>
      </p:sp>
      <p:grpSp>
        <p:nvGrpSpPr>
          <p:cNvPr name="Group 3" id="3"/>
          <p:cNvGrpSpPr/>
          <p:nvPr/>
        </p:nvGrpSpPr>
        <p:grpSpPr>
          <a:xfrm rot="0">
            <a:off x="0" y="0"/>
            <a:ext cx="12192000" cy="6858000"/>
            <a:chOff x="0" y="0"/>
            <a:chExt cx="16256000" cy="91440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6256000" cy="9144000"/>
            </a:xfrm>
            <a:custGeom>
              <a:avLst/>
              <a:gdLst/>
              <a:ahLst/>
              <a:cxnLst/>
              <a:rect r="r" b="b" t="t" l="l"/>
              <a:pathLst>
                <a:path h="9144000" w="16256000">
                  <a:moveTo>
                    <a:pt x="0" y="0"/>
                  </a:moveTo>
                  <a:lnTo>
                    <a:pt x="16256000" y="0"/>
                  </a:lnTo>
                  <a:lnTo>
                    <a:pt x="16256000" y="9144000"/>
                  </a:lnTo>
                  <a:lnTo>
                    <a:pt x="0" y="9144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sp>
        <p:nvSpPr>
          <p:cNvPr name="TextBox 5" id="5"/>
          <p:cNvSpPr txBox="true"/>
          <p:nvPr/>
        </p:nvSpPr>
        <p:spPr>
          <a:xfrm rot="0">
            <a:off x="11239500" y="6353175"/>
            <a:ext cx="428625" cy="1685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72"/>
              </a:lnSpc>
            </a:pPr>
            <a:r>
              <a:rPr lang="en-US" sz="1125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15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609600" y="600075"/>
            <a:ext cx="10972800" cy="61836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941"/>
              </a:lnSpc>
            </a:pPr>
            <a:r>
              <a:rPr lang="en-US" b="true" sz="4050">
                <a:solidFill>
                  <a:srgbClr val="151521"/>
                </a:solidFill>
                <a:latin typeface="DM Sans Bold"/>
                <a:ea typeface="DM Sans Bold"/>
                <a:cs typeface="DM Sans Bold"/>
                <a:sym typeface="DM Sans Bold"/>
              </a:rPr>
              <a:t>Research behind the approach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609600" y="2305050"/>
            <a:ext cx="5095875" cy="2716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96"/>
              </a:lnSpc>
            </a:pPr>
            <a:r>
              <a:rPr lang="en-US" sz="1800">
                <a:solidFill>
                  <a:srgbClr val="5753FA"/>
                </a:solidFill>
                <a:latin typeface="DM Sans"/>
                <a:ea typeface="DM Sans"/>
                <a:cs typeface="DM Sans"/>
                <a:sym typeface="DM Sans"/>
                <a:hlinkClick r:id="rId4" tooltip="https://support.khanacademy.org/hc/en-us/articles/360031129891-What-reporting-options-are-available-on-Khan-Academy-for-teachers-to-track-student-performance"/>
              </a:rPr>
              <a:t>Khan Academy teacher reports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609600" y="3238500"/>
            <a:ext cx="5095875" cy="2716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96"/>
              </a:lnSpc>
            </a:pPr>
            <a:r>
              <a:rPr lang="en-US" sz="1800">
                <a:solidFill>
                  <a:srgbClr val="5753FA"/>
                </a:solidFill>
                <a:latin typeface="DM Sans"/>
                <a:ea typeface="DM Sans"/>
                <a:cs typeface="DM Sans"/>
                <a:sym typeface="DM Sans"/>
                <a:hlinkClick r:id="rId5" tooltip="https://www.mheducation.com/unitas/school/explore/sites/aleks/customizing-custom-objectives.pdf"/>
              </a:rPr>
              <a:t>ALEKS custom objectives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609600" y="4171950"/>
            <a:ext cx="5095875" cy="2716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96"/>
              </a:lnSpc>
            </a:pPr>
            <a:r>
              <a:rPr lang="en-US" sz="1800">
                <a:solidFill>
                  <a:srgbClr val="5753FA"/>
                </a:solidFill>
                <a:latin typeface="DM Sans"/>
                <a:ea typeface="DM Sans"/>
                <a:cs typeface="DM Sans"/>
                <a:sym typeface="DM Sans"/>
                <a:hlinkClick r:id="rId6" tooltip="https://blog.google/innovation-and-ai/products/gemini-app/gemini-study-notebooks/"/>
              </a:rPr>
              <a:t>Gemini study notebooks · 2026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609600" y="5105400"/>
            <a:ext cx="5095875" cy="2716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96"/>
              </a:lnSpc>
            </a:pPr>
            <a:r>
              <a:rPr lang="en-US" sz="1800">
                <a:solidFill>
                  <a:srgbClr val="5753FA"/>
                </a:solidFill>
                <a:latin typeface="DM Sans"/>
                <a:ea typeface="DM Sans"/>
                <a:cs typeface="DM Sans"/>
                <a:sym typeface="DM Sans"/>
                <a:hlinkClick r:id="rId7" tooltip="https://ies.ed.gov/ncee/wwc/practiceguide/1"/>
              </a:rPr>
              <a:t>IES learning practice guide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6486525" y="2305050"/>
            <a:ext cx="5095875" cy="2716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96"/>
              </a:lnSpc>
            </a:pPr>
            <a:r>
              <a:rPr lang="en-US" sz="1800">
                <a:solidFill>
                  <a:srgbClr val="5753FA"/>
                </a:solidFill>
                <a:latin typeface="DM Sans"/>
                <a:ea typeface="DM Sans"/>
                <a:cs typeface="DM Sans"/>
                <a:sym typeface="DM Sans"/>
                <a:hlinkClick r:id="rId8" tooltip="https://doi.org/10.1038/s44159-022-00089-1"/>
              </a:rPr>
              <a:t>Spacing and retrieval · 2022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6486525" y="3238500"/>
            <a:ext cx="5095875" cy="2716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96"/>
              </a:lnSpc>
            </a:pPr>
            <a:r>
              <a:rPr lang="en-US" sz="1800">
                <a:solidFill>
                  <a:srgbClr val="5753FA"/>
                </a:solidFill>
                <a:latin typeface="DM Sans"/>
                <a:ea typeface="DM Sans"/>
                <a:cs typeface="DM Sans"/>
                <a:sym typeface="DM Sans"/>
                <a:hlinkClick r:id="rId9" tooltip="https://doi.org/10.1007/s10763-021-10207-9"/>
              </a:rPr>
              <a:t>Confidence assessment · Foster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6486525" y="4171950"/>
            <a:ext cx="5095875" cy="2716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96"/>
              </a:lnSpc>
            </a:pPr>
            <a:r>
              <a:rPr lang="en-US" sz="1800">
                <a:solidFill>
                  <a:srgbClr val="5753FA"/>
                </a:solidFill>
                <a:latin typeface="DM Sans"/>
                <a:ea typeface="DM Sans"/>
                <a:cs typeface="DM Sans"/>
                <a:sym typeface="DM Sans"/>
                <a:hlinkClick r:id="rId10" tooltip="https://selfdeterminationtheory.org/topics/application-education/"/>
              </a:rPr>
              <a:t>Self-Determination Theory in education</a:t>
            </a:r>
          </a:p>
        </p:txBody>
      </p:sp>
      <p:sp>
        <p:nvSpPr>
          <p:cNvPr name="AutoShape 14" id="14"/>
          <p:cNvSpPr/>
          <p:nvPr/>
        </p:nvSpPr>
        <p:spPr>
          <a:xfrm>
            <a:off x="609600" y="1381125"/>
            <a:ext cx="10972800" cy="0"/>
          </a:xfrm>
          <a:prstGeom prst="line">
            <a:avLst/>
          </a:prstGeom>
          <a:ln cap="flat" w="19050">
            <a:solidFill>
              <a:srgbClr val="CCD7E4"/>
            </a:solidFill>
            <a:prstDash val="solid"/>
            <a:headEnd type="none" len="sm" w="sm"/>
            <a:tailEnd type="none" len="sm" w="sm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ns0:coreProperties xmlns:dc="http://purl.org/dc/elements/1.1/" xmlns:ns0="http://schemas.openxmlformats.org/package/2006/metadata/core-properties" xmlns:ns1="http://purl.org/dc/terms/" xmlns:xsi="http://www.w3.org/2001/XMLSchema-instance">
  <ns1:created xsi:type="dcterms:W3CDTF">2006-08-16T00:00:00Z</ns1:created>
  <ns1:modified xsi:type="dcterms:W3CDTF">2011-08-01T06:04:30Z</ns1:modified>
  <ns0:revision>1</ns0:revision>
  <dc:title>BACKTRACK - Competition pitch</dc:title>
</ns0:coreProperties>
</file>