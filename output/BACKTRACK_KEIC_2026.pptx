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charset="1" panose="00000000000000000000"/>
      <p:regular r:id="rId24"/>
    </p:embeddedFont>
    <p:embeddedFont>
      <p:font typeface="DM Sans Bold" charset="1" panose="00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svg" Type="http://schemas.openxmlformats.org/officeDocument/2006/relationships/image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https://backtrack-learning.vercel.app/demo" TargetMode="External" Type="http://schemas.openxmlformats.org/officeDocument/2006/relationships/hyperlink"/><Relationship Id="rId12" Target="https://backtrack-learning.vercel.app/demo" TargetMode="External" Type="http://schemas.openxmlformats.org/officeDocument/2006/relationships/hyperlink"/><Relationship Id="rId13" Target="https://backtrack-learning.vercel.app/demo" TargetMode="External" Type="http://schemas.openxmlformats.org/officeDocument/2006/relationships/hyperlink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4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mheducation.com/unitas/school/explore/sites/aleks/customizing-custom-objectives.pdf" TargetMode="External" Type="http://schemas.openxmlformats.org/officeDocument/2006/relationships/hyperlink"/><Relationship Id="rId11" Target="https://blog.google/innovation-and-ai/products/gemini-app/gemini-study-notebooks/" TargetMode="External" Type="http://schemas.openxmlformats.org/officeDocument/2006/relationships/hyperlink"/><Relationship Id="rId12" Target="https://ies.ed.gov/ncee/wwc/practiceguide/1" TargetMode="External" Type="http://schemas.openxmlformats.org/officeDocument/2006/relationships/hyperlink"/><Relationship Id="rId13" Target="https://doi.org/10.1038/s44159-022-00089-1" TargetMode="External" Type="http://schemas.openxmlformats.org/officeDocument/2006/relationships/hyperlink"/><Relationship Id="rId14" Target="https://doi.org/10.1007/s10763-021-10207-9" TargetMode="External" Type="http://schemas.openxmlformats.org/officeDocument/2006/relationships/hyperlink"/><Relationship Id="rId15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https://support.khanacademy.org/hc/en-us/articles/360031129891-What-reporting-options-are-available-on-Khan-Academy-for-teachers-to-track-student-performance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524000" y="4095750"/>
            <a:ext cx="9715500" cy="1428750"/>
          </a:xfrm>
          <a:custGeom>
            <a:avLst/>
            <a:gdLst/>
            <a:ahLst/>
            <a:cxnLst/>
            <a:rect r="r" b="b" t="t" l="l"/>
            <a:pathLst>
              <a:path h="1428750" w="9715500">
                <a:moveTo>
                  <a:pt x="0" y="0"/>
                </a:moveTo>
                <a:lnTo>
                  <a:pt x="9715500" y="0"/>
                </a:lnTo>
                <a:lnTo>
                  <a:pt x="9715500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5581650" y="5295900"/>
            <a:ext cx="266700" cy="266700"/>
            <a:chOff x="0" y="0"/>
            <a:chExt cx="105363" cy="10536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81150" y="4438650"/>
            <a:ext cx="266700" cy="266700"/>
            <a:chOff x="0" y="0"/>
            <a:chExt cx="105363" cy="10536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9734550" y="3829050"/>
            <a:ext cx="342900" cy="457755"/>
          </a:xfrm>
          <a:custGeom>
            <a:avLst/>
            <a:gdLst/>
            <a:ahLst/>
            <a:cxnLst/>
            <a:rect r="r" b="b" t="t" l="l"/>
            <a:pathLst>
              <a:path h="457755" w="342900">
                <a:moveTo>
                  <a:pt x="0" y="0"/>
                </a:moveTo>
                <a:lnTo>
                  <a:pt x="342900" y="0"/>
                </a:lnTo>
                <a:lnTo>
                  <a:pt x="342900" y="457755"/>
                </a:lnTo>
                <a:lnTo>
                  <a:pt x="0" y="45775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9600" y="10572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true" sz="44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Find the missing skill.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9600" y="17430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true" sz="44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Get back to today’s lesson.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9600" y="2733675"/>
            <a:ext cx="10972800" cy="65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 PROBLEM</a:t>
            </a:r>
          </a:p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student gets stuck, but doesn’t know which earlier skill to review.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6448425"/>
            <a:ext cx="9525000" cy="215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8"/>
              </a:lnSpc>
            </a:pPr>
            <a:r>
              <a:rPr lang="en-US" sz="14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85750" y="3790950"/>
            <a:ext cx="2857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true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Check today’s</a:t>
            </a:r>
          </a:p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task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619500" y="5610225"/>
            <a:ext cx="41910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true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Practice the missing skill</a:t>
            </a:r>
          </a:p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with Khan Academy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86750" y="4629150"/>
            <a:ext cx="3238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to today’s lesson</a:t>
            </a:r>
          </a:p>
          <a:p>
            <a:pPr algn="ctr">
              <a:lnSpc>
                <a:spcPts val="2440"/>
              </a:lnSpc>
            </a:pPr>
            <a:r>
              <a:rPr lang="en-US" b="true" sz="20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with a fresh check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true" sz="38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The search can become the study session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true" sz="157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01  WHAT THEY NEED TO FINISH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3" id="13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Solve this equation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true" sz="31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x² + 7x + 12 = 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7" id="17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9" id="19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true" sz="15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02  WHAT MAY BE BLOCKING IT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23" id="23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Find the factor pair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Multiply to 12. Add to 7.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true" sz="24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BACKTRACK checks the gap before choosing the repair.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How BACKTRACK gets a learner unstuck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today’s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task</a:t>
            </a:r>
          </a:p>
        </p:txBody>
      </p:sp>
      <p:sp>
        <p:nvSpPr>
          <p:cNvPr name="AutoShape 15" id="15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6" id="16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8" id="18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Check earlier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skills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5" id="25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7" id="27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4008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Practice with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Khan Academy</a:t>
            </a:r>
          </a:p>
        </p:txBody>
      </p:sp>
      <p:sp>
        <p:nvSpPr>
          <p:cNvPr name="AutoShape 33" id="33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4" id="34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6" id="36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4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true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it again with</a:t>
            </a:r>
          </a:p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fresh numbers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Answers choose the next step. Fresh problems check the return.</a:t>
            </a:r>
          </a:p>
        </p:txBody>
      </p:sp>
      <p:sp>
        <p:nvSpPr>
          <p:cNvPr name="AutoShape 43" id="4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609600" y="4762500"/>
            <a:ext cx="10972800" cy="895350"/>
          </a:xfrm>
          <a:custGeom>
            <a:avLst/>
            <a:gdLst/>
            <a:ahLst/>
            <a:cxnLst/>
            <a:rect r="r" b="b" t="t" l="l"/>
            <a:pathLst>
              <a:path h="895350" w="10972800">
                <a:moveTo>
                  <a:pt x="0" y="0"/>
                </a:moveTo>
                <a:lnTo>
                  <a:pt x="10972800" y="0"/>
                </a:lnTo>
                <a:lnTo>
                  <a:pt x="10972800" y="895350"/>
                </a:lnTo>
                <a:lnTo>
                  <a:pt x="0" y="8953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609600" y="2571750"/>
            <a:ext cx="5029200" cy="2190750"/>
            <a:chOff x="0" y="0"/>
            <a:chExt cx="1986844" cy="86548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53200" y="2571750"/>
            <a:ext cx="5029200" cy="2190750"/>
            <a:chOff x="0" y="0"/>
            <a:chExt cx="1986844" cy="86548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F8EAD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429000" y="5619750"/>
            <a:ext cx="5334000" cy="809625"/>
            <a:chOff x="0" y="0"/>
            <a:chExt cx="2107259" cy="31985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07259" cy="319852"/>
            </a:xfrm>
            <a:custGeom>
              <a:avLst/>
              <a:gdLst/>
              <a:ahLst/>
              <a:cxnLst/>
              <a:rect r="r" b="b" t="t" l="l"/>
              <a:pathLst>
                <a:path h="319852" w="2107259">
                  <a:moveTo>
                    <a:pt x="17417" y="0"/>
                  </a:moveTo>
                  <a:lnTo>
                    <a:pt x="2089842" y="0"/>
                  </a:lnTo>
                  <a:cubicBezTo>
                    <a:pt x="2094461" y="0"/>
                    <a:pt x="2098891" y="1835"/>
                    <a:pt x="2102158" y="5101"/>
                  </a:cubicBezTo>
                  <a:cubicBezTo>
                    <a:pt x="2105424" y="8368"/>
                    <a:pt x="2107259" y="12798"/>
                    <a:pt x="2107259" y="17417"/>
                  </a:cubicBezTo>
                  <a:lnTo>
                    <a:pt x="2107259" y="302435"/>
                  </a:lnTo>
                  <a:cubicBezTo>
                    <a:pt x="2107259" y="307054"/>
                    <a:pt x="2105424" y="311484"/>
                    <a:pt x="2102158" y="314750"/>
                  </a:cubicBezTo>
                  <a:cubicBezTo>
                    <a:pt x="2098891" y="318017"/>
                    <a:pt x="2094461" y="319852"/>
                    <a:pt x="2089842" y="319852"/>
                  </a:cubicBezTo>
                  <a:lnTo>
                    <a:pt x="17417" y="319852"/>
                  </a:lnTo>
                  <a:cubicBezTo>
                    <a:pt x="12798" y="319852"/>
                    <a:pt x="8368" y="318017"/>
                    <a:pt x="5101" y="314750"/>
                  </a:cubicBezTo>
                  <a:cubicBezTo>
                    <a:pt x="1835" y="311484"/>
                    <a:pt x="0" y="307054"/>
                    <a:pt x="0" y="302435"/>
                  </a:cubicBezTo>
                  <a:lnTo>
                    <a:pt x="0" y="17417"/>
                  </a:lnTo>
                  <a:cubicBezTo>
                    <a:pt x="0" y="12798"/>
                    <a:pt x="1835" y="8368"/>
                    <a:pt x="5101" y="5101"/>
                  </a:cubicBezTo>
                  <a:cubicBezTo>
                    <a:pt x="8368" y="1835"/>
                    <a:pt x="12798" y="0"/>
                    <a:pt x="17417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2107259" cy="3198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Two wrong answers. Different help.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09600" y="1609725"/>
            <a:ext cx="1097280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0"/>
              </a:lnSpc>
            </a:pPr>
            <a:r>
              <a:rPr lang="en-US" b="true" sz="30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For x² + 7x + 12 = 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382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true" sz="3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 = 3, 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82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Right pair, wrong signs.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Check signs and solutions.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7818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true" sz="3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 = 2, 6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7818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Wrong factor pair.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true" sz="180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Check product and sum.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619500" y="5800725"/>
            <a:ext cx="4953000" cy="374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28"/>
              </a:lnSpc>
              <a:spcBef>
                <a:spcPct val="0"/>
              </a:spcBef>
            </a:pPr>
            <a:r>
              <a:rPr lang="en-US" b="true" sz="24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with fresh numbers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true" sz="34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Khan material, focused on the missing step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283" r="0" b="283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Watch the key part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8" id="18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2" id="22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23" id="23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the step here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31" id="31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32" id="32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true" sz="20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Return to the goal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10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7" id="3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Back to the skill that stopped them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true" sz="15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FRESH CURRENT-LEVEL TASK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true" sz="58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x² + 11x + 28 = 0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true" sz="41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x = -4 or x = -7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5" id="15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78303" t="0" r="-78303" b="0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4" id="14">
            <a:hlinkClick r:id="rId11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true" sz="39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Try the demo. Watch the route change.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true" sz="34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  <a:hlinkClick r:id="rId12" tooltip="https://backtrack-learning.vercel.app/demo"/>
              </a:rPr>
              <a:t>Try BACKTRACK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3" tooltip="https://backtrack-learning.vercel.app/demo"/>
              </a:rPr>
              <a:t>backtrack-learning.vercel.app/demo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true" sz="1650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Scan to start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true" sz="42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Can they still do it next week?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Stuck before the route</a:t>
            </a:r>
          </a:p>
        </p:txBody>
      </p:sp>
      <p:sp>
        <p:nvSpPr>
          <p:cNvPr name="AutoShape 15" id="15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6" id="16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8" id="18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Pass a fresh task after practice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5" id="25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7" id="27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true" sz="21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Pass again 7-14 days later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Retained reentry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38/s44159-022-00089-1"/>
              </a:rPr>
              <a:t>Spacing and retrieval · 2022</a:t>
            </a:r>
          </a:p>
        </p:txBody>
      </p:sp>
      <p:sp>
        <p:nvSpPr>
          <p:cNvPr name="AutoShape 36" id="3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true" sz="42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five-month school pilot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3" id="13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NOV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Review maps + baseline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DEC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First school cycle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JAN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Compare + improve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FEB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New educator + repeat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true" sz="18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MAR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true" sz="18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Follow-up + handover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November 2026-March 2027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5" id="35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true" sz="42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Does the route add value?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12" id="12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3" id="13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77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Khan practice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77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Khan + BACKTRACK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7" id="17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23" id="23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5" id="25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true" sz="285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The same fresh assessments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30" id="30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true" sz="47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Skip the review you don’t need.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true" sz="1575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What the learner does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true" sz="1575">
                <a:solidFill>
                  <a:srgbClr val="536073"/>
                </a:solidFill>
                <a:latin typeface="DM Sans Bold"/>
                <a:ea typeface="DM Sans Bold"/>
                <a:cs typeface="DM Sans Bold"/>
                <a:sym typeface="DM Sans Bold"/>
              </a:rPr>
              <a:t>What changes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Know the step</a:t>
            </a:r>
          </a:p>
        </p:txBody>
      </p:sp>
      <p:sp>
        <p:nvSpPr>
          <p:cNvPr name="AutoShape 14" id="14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5" id="15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Skip its review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1" id="21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C96331"/>
                </a:solidFill>
                <a:latin typeface="DM Sans Bold"/>
                <a:ea typeface="DM Sans Bold"/>
                <a:cs typeface="DM Sans Bold"/>
                <a:sym typeface="DM Sans Bold"/>
              </a:rPr>
              <a:t>Repair a gap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Move closer to the goal</a:t>
            </a:r>
          </a:p>
        </p:txBody>
      </p:sp>
      <p:sp>
        <p:nvSpPr>
          <p:cNvPr name="AutoShape 28" id="28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9" id="29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Come back later</a:t>
            </a:r>
          </a:p>
        </p:txBody>
      </p:sp>
      <p:sp>
        <p:nvSpPr>
          <p:cNvPr name="AutoShape 30" id="30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31" id="31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33" id="33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true" sz="25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Keep earlier progress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true" sz="39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One routine. Many learning goals.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Fractions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Algebra</a:t>
            </a:r>
          </a:p>
        </p:txBody>
      </p:sp>
      <p:sp>
        <p:nvSpPr>
          <p:cNvPr name="AutoShape 15" id="15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6" id="16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true" sz="2625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Graphs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true" sz="247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Every new destination uses a reusable kit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true" sz="225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Another educator can run the same recovery routine.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21" id="2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true" sz="40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A budget built around learners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true" sz="360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PHP 100,000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true" sz="8700">
                <a:solidFill>
                  <a:srgbClr val="087E70"/>
                </a:solidFill>
                <a:latin typeface="DM Sans Bold"/>
                <a:ea typeface="DM Sans Bold"/>
                <a:cs typeface="DM Sans Bold"/>
                <a:sym typeface="DM Sans Bold"/>
              </a:rPr>
              <a:t>60%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for learning review, access and evaluation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true" sz="13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Allocation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true" sz="13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PHP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24,000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18,000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18,000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16,000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8,000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8,000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3,000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151521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5,000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5753FA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Total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4" id="9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true" sz="1650">
                  <a:solidFill>
                    <a:srgbClr val="5753FA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100,000</a:t>
              </a:r>
            </a:p>
          </p:txBody>
        </p:sp>
      </p:grpSp>
      <p:sp>
        <p:nvSpPr>
          <p:cNvPr name="TextBox 95" id="95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6" id="9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619250" y="3238500"/>
            <a:ext cx="9525000" cy="1400735"/>
          </a:xfrm>
          <a:custGeom>
            <a:avLst/>
            <a:gdLst/>
            <a:ahLst/>
            <a:cxnLst/>
            <a:rect r="r" b="b" t="t" l="l"/>
            <a:pathLst>
              <a:path h="1400735" w="9525000">
                <a:moveTo>
                  <a:pt x="0" y="0"/>
                </a:moveTo>
                <a:lnTo>
                  <a:pt x="9525000" y="0"/>
                </a:lnTo>
                <a:lnTo>
                  <a:pt x="9525000" y="1400735"/>
                </a:lnTo>
                <a:lnTo>
                  <a:pt x="0" y="140073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667875" y="2971800"/>
            <a:ext cx="342900" cy="457755"/>
          </a:xfrm>
          <a:custGeom>
            <a:avLst/>
            <a:gdLst/>
            <a:ahLst/>
            <a:cxnLst/>
            <a:rect r="r" b="b" t="t" l="l"/>
            <a:pathLst>
              <a:path h="457755" w="342900">
                <a:moveTo>
                  <a:pt x="0" y="0"/>
                </a:moveTo>
                <a:lnTo>
                  <a:pt x="342900" y="0"/>
                </a:lnTo>
                <a:lnTo>
                  <a:pt x="342900" y="457755"/>
                </a:lnTo>
                <a:lnTo>
                  <a:pt x="0" y="45775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127635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sz="6150" b="true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A route back to</a:t>
            </a:r>
          </a:p>
          <a:p>
            <a:pPr algn="l">
              <a:lnSpc>
                <a:spcPts val="7503"/>
              </a:lnSpc>
            </a:pPr>
            <a:r>
              <a:rPr lang="en-US" b="true" sz="6150">
                <a:solidFill>
                  <a:srgbClr val="5753FA"/>
                </a:solidFill>
                <a:latin typeface="DM Sans Bold"/>
                <a:ea typeface="DM Sans Bold"/>
                <a:cs typeface="DM Sans Bold"/>
                <a:sym typeface="DM Sans Bold"/>
              </a:rPr>
              <a:t>today’s lesson.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true" sz="2325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University of the Philippines Manila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true" sz="4050">
                <a:solidFill>
                  <a:srgbClr val="151521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behind the approach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1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2" tooltip="https://ies.ed.gov/ncee/wwc/practiceguide/1"/>
              </a:rPr>
              <a:t>IES learning practice guide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3" tooltip="https://doi.org/10.1038/s44159-022-00089-1"/>
              </a:rPr>
              <a:t>Spacing and retrieval · 2022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4" tooltip="https://doi.org/10.1007/s10763-021-10207-9"/>
              </a:rPr>
              <a:t>Confidence assessment · Foster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5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8" id="18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1="http://purl.org/dc/terms/" xmlns:xsi="http://www.w3.org/2001/XMLSchema-instance">
  <ns1:created xsi:type="dcterms:W3CDTF">2006-08-16T00:00:00Z</ns1:created>
  <ns1:modified xsi:type="dcterms:W3CDTF">2011-08-01T06:04:30Z</ns1:modified>
  <ns0:revision>1</ns0:revision>
  <dc:title>BACKTRACK - Competition pitch</dc:title>
</ns0:coreProperties>
</file>