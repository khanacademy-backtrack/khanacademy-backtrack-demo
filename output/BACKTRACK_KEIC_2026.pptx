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embeddedFontLst>
    <p:embeddedFont>
      <p:font typeface="DM Sans" charset="1" panose="00000000000000000000"/>
      <p:regular r:id="rId24"/>
    </p:embeddedFont>
    <p:embeddedFont>
      <p:font typeface="DM Sans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Stuck on today’s lesson. Unsure what to review.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Today’s task can hide an earlier gap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Four steps back to the lesson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Your answers change the route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Khan material, focused on the missing step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Back to the skill that stopped them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Try BACKTRACK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Can they still do it next week?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A five-month school pilot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Does the route add value?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The route is the reward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One routine. Many learning goals.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A budget built around learners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A route back to today’s lesson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BACKTRACK: Research behind the approach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https://www.khanacademy.org/math/algebra/x2f8bb11595b61c86:quadratics-multiplying-factoring/x2f8bb11595b61c86:factor-quadratics-intro/v/factoring-simple-quadratic-expression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https://backtrack-learning.vercel.app/demo" TargetMode="External" Type="http://schemas.openxmlformats.org/officeDocument/2006/relationships/hyperlink"/><Relationship Id="rId7" Target="https://backtrack-learning.vercel.app/demo" TargetMode="External" Type="http://schemas.openxmlformats.org/officeDocument/2006/relationships/hyperlink"/><Relationship Id="rId8" Target="https://backtrack-learning.vercel.app/demo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https://doi.org/10.1038/s44159-022-00089-1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selfdeterminationtheory.org/topics/application-education/" TargetMode="External" Type="http://schemas.openxmlformats.org/officeDocument/2006/relationships/hyperlink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https://support.khanacademy.org/hc/en-us/articles/360031129891-What-reporting-options-are-available-on-Khan-Academy-for-teachers-to-track-student-performance" TargetMode="External" Type="http://schemas.openxmlformats.org/officeDocument/2006/relationships/hyperlink"/><Relationship Id="rId5" Target="https://www.mheducation.com/unitas/school/explore/sites/aleks/customizing-custom-objectives.pdf" TargetMode="External" Type="http://schemas.openxmlformats.org/officeDocument/2006/relationships/hyperlink"/><Relationship Id="rId6" Target="https://blog.google/innovation-and-ai/products/gemini-app/gemini-study-notebooks/" TargetMode="External" Type="http://schemas.openxmlformats.org/officeDocument/2006/relationships/hyperlink"/><Relationship Id="rId7" Target="https://ies.ed.gov/ncee/wwc/practiceguide/1" TargetMode="External" Type="http://schemas.openxmlformats.org/officeDocument/2006/relationships/hyperlink"/><Relationship Id="rId8" Target="https://doi.org/10.1038/s44159-022-00089-1" TargetMode="External" Type="http://schemas.openxmlformats.org/officeDocument/2006/relationships/hyperlink"/><Relationship Id="rId9" Target="https://doi.org/10.1007/s10763-021-10207-9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>
            <a:off x="1714500" y="4476750"/>
            <a:ext cx="8763000" cy="914864"/>
          </a:xfrm>
          <a:custGeom>
            <a:avLst/>
            <a:gdLst/>
            <a:ahLst/>
            <a:cxnLst/>
            <a:rect r="r" b="b" t="t" l="l"/>
            <a:pathLst>
              <a:path h="914864" w="8763000">
                <a:moveTo>
                  <a:pt x="0" y="0"/>
                </a:moveTo>
                <a:quadBezTo>
                  <a:pt x="4381500" y="1829728"/>
                  <a:pt x="8763000" y="0"/>
                </a:quadBezTo>
              </a:path>
            </a:pathLst>
          </a:custGeom>
          <a:ln cap="rnd" w="66675">
            <a:solidFill>
              <a:srgbClr val="C96331"/>
            </a:solidFill>
            <a:prstDash val="solid"/>
            <a:headEnd type="oval" len="lg" w="lg"/>
            <a:tailEnd type="arrow" len="sm" w="med"/>
          </a:ln>
        </p:spPr>
      </p:sp>
      <p:grpSp>
        <p:nvGrpSpPr>
          <p:cNvPr name="Group 6" id="6"/>
          <p:cNvGrpSpPr/>
          <p:nvPr/>
        </p:nvGrpSpPr>
        <p:grpSpPr>
          <a:xfrm rot="0">
            <a:off x="5962650" y="5248275"/>
            <a:ext cx="266700" cy="266700"/>
            <a:chOff x="0" y="0"/>
            <a:chExt cx="105363" cy="1053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363" cy="105363"/>
            </a:xfrm>
            <a:custGeom>
              <a:avLst/>
              <a:gdLst/>
              <a:ahLst/>
              <a:cxnLst/>
              <a:rect r="r" b="b" t="t" l="l"/>
              <a:pathLst>
                <a:path h="105363" w="105363">
                  <a:moveTo>
                    <a:pt x="52681" y="0"/>
                  </a:moveTo>
                  <a:cubicBezTo>
                    <a:pt x="23586" y="0"/>
                    <a:pt x="0" y="23586"/>
                    <a:pt x="0" y="52681"/>
                  </a:cubicBezTo>
                  <a:cubicBezTo>
                    <a:pt x="0" y="81777"/>
                    <a:pt x="23586" y="105363"/>
                    <a:pt x="52681" y="105363"/>
                  </a:cubicBezTo>
                  <a:cubicBezTo>
                    <a:pt x="81777" y="105363"/>
                    <a:pt x="105363" y="81777"/>
                    <a:pt x="105363" y="52681"/>
                  </a:cubicBezTo>
                  <a:cubicBezTo>
                    <a:pt x="105363" y="23586"/>
                    <a:pt x="81777" y="0"/>
                    <a:pt x="52681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9878" y="9878"/>
              <a:ext cx="85607" cy="85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7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600" y="533400"/>
            <a:ext cx="5715000" cy="39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b="true" sz="2625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backtrack.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9600" y="1057275"/>
            <a:ext cx="10972800" cy="6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8"/>
              </a:lnSpc>
            </a:pPr>
            <a:r>
              <a:rPr lang="en-US" b="true" sz="440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Find the missing skill.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9600" y="1743075"/>
            <a:ext cx="10972800" cy="6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8"/>
              </a:lnSpc>
            </a:pPr>
            <a:r>
              <a:rPr lang="en-US" b="true" sz="4400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Get back to today’s lesson.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9600" y="2733675"/>
            <a:ext cx="10972800" cy="65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THE PROBLEM</a:t>
            </a:r>
          </a:p>
          <a:p>
            <a:pPr algn="l">
              <a:lnSpc>
                <a:spcPts val="2562"/>
              </a:lnSpc>
            </a:pPr>
            <a:r>
              <a:rPr lang="en-US" sz="21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A student gets stuck, but doesn’t know which earlier skill to review.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9600" y="6448425"/>
            <a:ext cx="9525000" cy="21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4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University of the Philippines Manila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5750" y="3695700"/>
            <a:ext cx="2857500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0"/>
              </a:lnSpc>
            </a:pPr>
            <a:r>
              <a:rPr lang="en-US" sz="2000" b="true">
                <a:solidFill>
                  <a:srgbClr val="536073"/>
                </a:solidFill>
                <a:latin typeface="DM Sans Bold"/>
                <a:ea typeface="DM Sans Bold"/>
                <a:cs typeface="DM Sans Bold"/>
                <a:sym typeface="DM Sans Bold"/>
              </a:rPr>
              <a:t>Check today’s</a:t>
            </a:r>
          </a:p>
          <a:p>
            <a:pPr algn="ctr">
              <a:lnSpc>
                <a:spcPts val="2440"/>
              </a:lnSpc>
            </a:pPr>
            <a:r>
              <a:rPr lang="en-US" b="true" sz="2000">
                <a:solidFill>
                  <a:srgbClr val="536073"/>
                </a:solidFill>
                <a:latin typeface="DM Sans Bold"/>
                <a:ea typeface="DM Sans Bold"/>
                <a:cs typeface="DM Sans Bold"/>
                <a:sym typeface="DM Sans Bold"/>
              </a:rPr>
              <a:t>task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00500" y="5562600"/>
            <a:ext cx="4191000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0"/>
              </a:lnSpc>
            </a:pPr>
            <a:r>
              <a:rPr lang="en-US" sz="2000" b="true">
                <a:solidFill>
                  <a:srgbClr val="536073"/>
                </a:solidFill>
                <a:latin typeface="DM Sans Bold"/>
                <a:ea typeface="DM Sans Bold"/>
                <a:cs typeface="DM Sans Bold"/>
                <a:sym typeface="DM Sans Bold"/>
              </a:rPr>
              <a:t>Practice the missing skill</a:t>
            </a:r>
          </a:p>
          <a:p>
            <a:pPr algn="ctr">
              <a:lnSpc>
                <a:spcPts val="2440"/>
              </a:lnSpc>
            </a:pPr>
            <a:r>
              <a:rPr lang="en-US" b="true" sz="2000">
                <a:solidFill>
                  <a:srgbClr val="536073"/>
                </a:solidFill>
                <a:latin typeface="DM Sans Bold"/>
                <a:ea typeface="DM Sans Bold"/>
                <a:cs typeface="DM Sans Bold"/>
                <a:sym typeface="DM Sans Bold"/>
              </a:rPr>
              <a:t>with Khan Academy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58250" y="3695700"/>
            <a:ext cx="3238500" cy="6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0"/>
              </a:lnSpc>
            </a:pPr>
            <a:r>
              <a:rPr lang="en-US" b="true" sz="200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Return to today’s lesson</a:t>
            </a:r>
          </a:p>
          <a:p>
            <a:pPr algn="ctr">
              <a:lnSpc>
                <a:spcPts val="2440"/>
              </a:lnSpc>
            </a:pPr>
            <a:r>
              <a:rPr lang="en-US" b="true" sz="200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with a fresh check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0075"/>
            <a:ext cx="10972800" cy="590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6"/>
              </a:lnSpc>
            </a:pPr>
            <a:r>
              <a:rPr lang="en-US" b="true" sz="382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The search can become the study session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600" y="2219325"/>
            <a:ext cx="4648200" cy="24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1"/>
              </a:lnSpc>
            </a:pPr>
            <a:r>
              <a:rPr lang="en-US" b="true" sz="1575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01  WHAT THEY NEED TO FINISH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609600" y="2714625"/>
            <a:ext cx="4648200" cy="2190750"/>
          </a:xfrm>
          <a:prstGeom prst="rect">
            <a:avLst/>
          </a:prstGeom>
          <a:solidFill>
            <a:srgbClr val="F0EFFF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838200" y="2971800"/>
            <a:ext cx="4191000" cy="33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b="true" sz="21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Solve this equation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200" y="3609975"/>
            <a:ext cx="4191000" cy="48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3"/>
              </a:lnSpc>
            </a:pPr>
            <a:r>
              <a:rPr lang="en-US" b="true" sz="315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x² + 7x + 12 = 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8200" y="4371975"/>
            <a:ext cx="4191000" cy="2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18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They search “quadratics”.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5562600" y="3800475"/>
            <a:ext cx="876300" cy="38100"/>
          </a:xfrm>
          <a:prstGeom prst="rect">
            <a:avLst/>
          </a:prstGeom>
          <a:solidFill>
            <a:srgbClr val="C96331"/>
          </a:solidFill>
        </p:spPr>
      </p:sp>
      <p:grpSp>
        <p:nvGrpSpPr>
          <p:cNvPr name="Group 13" id="13"/>
          <p:cNvGrpSpPr/>
          <p:nvPr/>
        </p:nvGrpSpPr>
        <p:grpSpPr>
          <a:xfrm rot="1840140">
            <a:off x="6381083" y="3764852"/>
            <a:ext cx="171450" cy="28575"/>
            <a:chOff x="0" y="0"/>
            <a:chExt cx="22860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8959860">
            <a:off x="6372987" y="3850576"/>
            <a:ext cx="171450" cy="28575"/>
            <a:chOff x="0" y="0"/>
            <a:chExt cx="228600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34200" y="2219325"/>
            <a:ext cx="4648200" cy="24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1"/>
              </a:lnSpc>
            </a:pPr>
            <a:r>
              <a:rPr lang="en-US" b="true" sz="1575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02  WHAT MAY BE BLOCKING IT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6934200" y="2714625"/>
            <a:ext cx="4648200" cy="2190750"/>
          </a:xfrm>
          <a:prstGeom prst="rect">
            <a:avLst/>
          </a:prstGeom>
          <a:solidFill>
            <a:srgbClr val="D9F2EA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7162800" y="2971800"/>
            <a:ext cx="4191000" cy="33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b="true" sz="21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Find the factor pair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62800" y="3552825"/>
            <a:ext cx="41910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1"/>
              </a:lnSpc>
            </a:pPr>
            <a:r>
              <a:rPr lang="en-US" b="true" sz="255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Multiply to 12. Add to 7.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9600" y="5543550"/>
            <a:ext cx="10972800" cy="38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9"/>
              </a:lnSpc>
            </a:pPr>
            <a:r>
              <a:rPr lang="en-US" b="true" sz="2475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BACKTRACK checks the gap before choosing the repair.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9600"/>
            <a:ext cx="10972800" cy="59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b="true" sz="390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How BACKTRACK gets a learner unstuck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6375" y="2876550"/>
            <a:ext cx="552450" cy="552450"/>
            <a:chOff x="0" y="0"/>
            <a:chExt cx="736600" cy="736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68300" y="0"/>
                  </a:moveTo>
                  <a:cubicBezTo>
                    <a:pt x="571754" y="0"/>
                    <a:pt x="736600" y="164846"/>
                    <a:pt x="736600" y="368300"/>
                  </a:cubicBezTo>
                  <a:cubicBezTo>
                    <a:pt x="736600" y="571754"/>
                    <a:pt x="571754" y="736600"/>
                    <a:pt x="368300" y="736600"/>
                  </a:cubicBezTo>
                  <a:cubicBezTo>
                    <a:pt x="164846" y="736600"/>
                    <a:pt x="0" y="571754"/>
                    <a:pt x="0" y="368300"/>
                  </a:cubicBezTo>
                  <a:cubicBezTo>
                    <a:pt x="0" y="164846"/>
                    <a:pt x="164846" y="0"/>
                    <a:pt x="368300" y="0"/>
                  </a:cubicBezTo>
                  <a:close/>
                </a:path>
              </a:pathLst>
            </a:custGeom>
            <a:solidFill>
              <a:srgbClr val="087E7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62100" y="2952750"/>
            <a:ext cx="3810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b="true" sz="225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600" y="3629025"/>
            <a:ext cx="2286000" cy="33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b="true" sz="21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Try today’s task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2419350" y="3133725"/>
            <a:ext cx="876300" cy="38100"/>
          </a:xfrm>
          <a:prstGeom prst="rect">
            <a:avLst/>
          </a:prstGeom>
          <a:solidFill>
            <a:srgbClr val="CCD7E4"/>
          </a:solidFill>
        </p:spPr>
      </p:sp>
      <p:grpSp>
        <p:nvGrpSpPr>
          <p:cNvPr name="Group 12" id="12"/>
          <p:cNvGrpSpPr/>
          <p:nvPr/>
        </p:nvGrpSpPr>
        <p:grpSpPr>
          <a:xfrm rot="1840140">
            <a:off x="3237833" y="3098102"/>
            <a:ext cx="171450" cy="28575"/>
            <a:chOff x="0" y="0"/>
            <a:chExt cx="2286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8959860">
            <a:off x="3229737" y="3183826"/>
            <a:ext cx="171450" cy="28575"/>
            <a:chOff x="0" y="0"/>
            <a:chExt cx="2286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371975" y="2876550"/>
            <a:ext cx="552450" cy="552450"/>
            <a:chOff x="0" y="0"/>
            <a:chExt cx="736600" cy="736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68300" y="0"/>
                  </a:moveTo>
                  <a:cubicBezTo>
                    <a:pt x="571754" y="0"/>
                    <a:pt x="736600" y="164846"/>
                    <a:pt x="736600" y="368300"/>
                  </a:cubicBezTo>
                  <a:cubicBezTo>
                    <a:pt x="736600" y="571754"/>
                    <a:pt x="571754" y="736600"/>
                    <a:pt x="368300" y="736600"/>
                  </a:cubicBezTo>
                  <a:cubicBezTo>
                    <a:pt x="164846" y="736600"/>
                    <a:pt x="0" y="571754"/>
                    <a:pt x="0" y="368300"/>
                  </a:cubicBezTo>
                  <a:cubicBezTo>
                    <a:pt x="0" y="164846"/>
                    <a:pt x="164846" y="0"/>
                    <a:pt x="368300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457700" y="2952750"/>
            <a:ext cx="3810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b="true" sz="225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05200" y="3629025"/>
            <a:ext cx="2286000" cy="67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sz="2175" b="true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Check earlier</a:t>
            </a:r>
          </a:p>
          <a:p>
            <a:pPr algn="ctr">
              <a:lnSpc>
                <a:spcPts val="2653"/>
              </a:lnSpc>
            </a:pPr>
            <a:r>
              <a:rPr lang="en-US" b="true" sz="21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skills</a:t>
            </a:r>
          </a:p>
        </p:txBody>
      </p:sp>
      <p:sp>
        <p:nvSpPr>
          <p:cNvPr name="AutoShape 20" id="20"/>
          <p:cNvSpPr/>
          <p:nvPr/>
        </p:nvSpPr>
        <p:spPr>
          <a:xfrm rot="0">
            <a:off x="5314950" y="3133725"/>
            <a:ext cx="876300" cy="38100"/>
          </a:xfrm>
          <a:prstGeom prst="rect">
            <a:avLst/>
          </a:prstGeom>
          <a:solidFill>
            <a:srgbClr val="CCD7E4"/>
          </a:solidFill>
        </p:spPr>
      </p:sp>
      <p:grpSp>
        <p:nvGrpSpPr>
          <p:cNvPr name="Group 21" id="21"/>
          <p:cNvGrpSpPr/>
          <p:nvPr/>
        </p:nvGrpSpPr>
        <p:grpSpPr>
          <a:xfrm rot="1840140">
            <a:off x="6133433" y="3098102"/>
            <a:ext cx="171450" cy="28575"/>
            <a:chOff x="0" y="0"/>
            <a:chExt cx="22860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8959860">
            <a:off x="6125337" y="3183826"/>
            <a:ext cx="171450" cy="28575"/>
            <a:chOff x="0" y="0"/>
            <a:chExt cx="228600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267575" y="2876550"/>
            <a:ext cx="552450" cy="552450"/>
            <a:chOff x="0" y="0"/>
            <a:chExt cx="736600" cy="736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68300" y="0"/>
                  </a:moveTo>
                  <a:cubicBezTo>
                    <a:pt x="571754" y="0"/>
                    <a:pt x="736600" y="164846"/>
                    <a:pt x="736600" y="368300"/>
                  </a:cubicBezTo>
                  <a:cubicBezTo>
                    <a:pt x="736600" y="571754"/>
                    <a:pt x="571754" y="736600"/>
                    <a:pt x="368300" y="736600"/>
                  </a:cubicBezTo>
                  <a:cubicBezTo>
                    <a:pt x="164846" y="736600"/>
                    <a:pt x="0" y="571754"/>
                    <a:pt x="0" y="368300"/>
                  </a:cubicBezTo>
                  <a:cubicBezTo>
                    <a:pt x="0" y="164846"/>
                    <a:pt x="164846" y="0"/>
                    <a:pt x="368300" y="0"/>
                  </a:cubicBezTo>
                  <a:close/>
                </a:path>
              </a:pathLst>
            </a:custGeom>
            <a:solidFill>
              <a:srgbClr val="087E7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353300" y="2952750"/>
            <a:ext cx="3810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b="true" sz="225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00800" y="3629025"/>
            <a:ext cx="2286000" cy="100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sz="2175" b="true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Practice the step</a:t>
            </a:r>
          </a:p>
          <a:p>
            <a:pPr algn="ctr">
              <a:lnSpc>
                <a:spcPts val="2653"/>
              </a:lnSpc>
            </a:pPr>
            <a:r>
              <a:rPr lang="en-US" b="true" sz="21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with Khan</a:t>
            </a:r>
          </a:p>
        </p:txBody>
      </p:sp>
      <p:sp>
        <p:nvSpPr>
          <p:cNvPr name="AutoShape 29" id="29"/>
          <p:cNvSpPr/>
          <p:nvPr/>
        </p:nvSpPr>
        <p:spPr>
          <a:xfrm rot="0">
            <a:off x="8210550" y="3133725"/>
            <a:ext cx="876300" cy="38100"/>
          </a:xfrm>
          <a:prstGeom prst="rect">
            <a:avLst/>
          </a:prstGeom>
          <a:solidFill>
            <a:srgbClr val="CCD7E4"/>
          </a:solidFill>
        </p:spPr>
      </p:sp>
      <p:grpSp>
        <p:nvGrpSpPr>
          <p:cNvPr name="Group 30" id="30"/>
          <p:cNvGrpSpPr/>
          <p:nvPr/>
        </p:nvGrpSpPr>
        <p:grpSpPr>
          <a:xfrm rot="1840140">
            <a:off x="9029033" y="3098102"/>
            <a:ext cx="171450" cy="28575"/>
            <a:chOff x="0" y="0"/>
            <a:chExt cx="228600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8959860">
            <a:off x="9020937" y="3183826"/>
            <a:ext cx="171450" cy="28575"/>
            <a:chOff x="0" y="0"/>
            <a:chExt cx="228600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163175" y="2876550"/>
            <a:ext cx="552450" cy="552450"/>
            <a:chOff x="0" y="0"/>
            <a:chExt cx="736600" cy="736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68300" y="0"/>
                  </a:moveTo>
                  <a:cubicBezTo>
                    <a:pt x="571754" y="0"/>
                    <a:pt x="736600" y="164846"/>
                    <a:pt x="736600" y="368300"/>
                  </a:cubicBezTo>
                  <a:cubicBezTo>
                    <a:pt x="736600" y="571754"/>
                    <a:pt x="571754" y="736600"/>
                    <a:pt x="368300" y="736600"/>
                  </a:cubicBezTo>
                  <a:cubicBezTo>
                    <a:pt x="164846" y="736600"/>
                    <a:pt x="0" y="571754"/>
                    <a:pt x="0" y="368300"/>
                  </a:cubicBezTo>
                  <a:cubicBezTo>
                    <a:pt x="0" y="164846"/>
                    <a:pt x="164846" y="0"/>
                    <a:pt x="368300" y="0"/>
                  </a:cubicBezTo>
                  <a:close/>
                </a:path>
              </a:pathLst>
            </a:custGeom>
            <a:solidFill>
              <a:srgbClr val="5753FA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248900" y="2952750"/>
            <a:ext cx="3810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b="true" sz="225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96400" y="3629025"/>
            <a:ext cx="2286000" cy="67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sz="2175" b="true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Try it again with</a:t>
            </a:r>
          </a:p>
          <a:p>
            <a:pPr algn="ctr">
              <a:lnSpc>
                <a:spcPts val="2653"/>
              </a:lnSpc>
            </a:pPr>
            <a:r>
              <a:rPr lang="en-US" b="true" sz="21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fresh numbers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09600" y="5448300"/>
            <a:ext cx="10972800" cy="33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sz="21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Answers choose the next step. Fresh problems check the return.</a:t>
            </a:r>
          </a:p>
        </p:txBody>
      </p:sp>
      <p:sp>
        <p:nvSpPr>
          <p:cNvPr name="AutoShape 39" id="39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9600"/>
            <a:ext cx="10972800" cy="59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b="true" sz="390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Two wrong answers. Different help.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600" y="2505075"/>
            <a:ext cx="3190875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Tried x = 3, 4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3762375" y="2724150"/>
            <a:ext cx="1428750" cy="38100"/>
          </a:xfrm>
          <a:prstGeom prst="rect">
            <a:avLst/>
          </a:prstGeom>
          <a:solidFill>
            <a:srgbClr val="087E70"/>
          </a:solidFill>
        </p:spPr>
      </p:sp>
      <p:grpSp>
        <p:nvGrpSpPr>
          <p:cNvPr name="Group 9" id="9"/>
          <p:cNvGrpSpPr/>
          <p:nvPr/>
        </p:nvGrpSpPr>
        <p:grpSpPr>
          <a:xfrm rot="1840140">
            <a:off x="5133308" y="2688526"/>
            <a:ext cx="171450" cy="28575"/>
            <a:chOff x="0" y="0"/>
            <a:chExt cx="2286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087E7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8959860">
            <a:off x="5125212" y="2774252"/>
            <a:ext cx="171450" cy="28575"/>
            <a:chOff x="0" y="0"/>
            <a:chExt cx="2286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087E70"/>
            </a:solidFill>
          </p:spPr>
        </p:sp>
      </p:grpSp>
      <p:sp>
        <p:nvSpPr>
          <p:cNvPr name="AutoShape 13" id="13"/>
          <p:cNvSpPr/>
          <p:nvPr/>
        </p:nvSpPr>
        <p:spPr>
          <a:xfrm rot="0">
            <a:off x="5610225" y="2286000"/>
            <a:ext cx="5972175" cy="942975"/>
          </a:xfrm>
          <a:prstGeom prst="rect">
            <a:avLst/>
          </a:prstGeom>
          <a:solidFill>
            <a:srgbClr val="D9F2EA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5810250" y="2495550"/>
            <a:ext cx="5572125" cy="43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b="true" sz="285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Check signs → fresh goal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9600" y="4162425"/>
            <a:ext cx="28575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C96331"/>
                </a:solidFill>
                <a:latin typeface="DM Sans Bold"/>
                <a:ea typeface="DM Sans Bold"/>
                <a:cs typeface="DM Sans Bold"/>
                <a:sym typeface="DM Sans Bold"/>
              </a:rPr>
              <a:t>Tried x = 2, 6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3495675" y="4410075"/>
            <a:ext cx="1019175" cy="38100"/>
          </a:xfrm>
          <a:prstGeom prst="rect">
            <a:avLst/>
          </a:prstGeom>
          <a:solidFill>
            <a:srgbClr val="C96331"/>
          </a:solidFill>
        </p:spPr>
      </p:sp>
      <p:grpSp>
        <p:nvGrpSpPr>
          <p:cNvPr name="Group 17" id="17"/>
          <p:cNvGrpSpPr/>
          <p:nvPr/>
        </p:nvGrpSpPr>
        <p:grpSpPr>
          <a:xfrm rot="1840140">
            <a:off x="4457033" y="4374452"/>
            <a:ext cx="171450" cy="28575"/>
            <a:chOff x="0" y="0"/>
            <a:chExt cx="228600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8959860">
            <a:off x="4448937" y="4460176"/>
            <a:ext cx="171450" cy="28575"/>
            <a:chOff x="0" y="0"/>
            <a:chExt cx="228600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</p:grpSp>
      <p:sp>
        <p:nvSpPr>
          <p:cNvPr name="AutoShape 21" id="21"/>
          <p:cNvSpPr/>
          <p:nvPr/>
        </p:nvSpPr>
        <p:spPr>
          <a:xfrm rot="0">
            <a:off x="4857750" y="3952875"/>
            <a:ext cx="2914650" cy="971550"/>
          </a:xfrm>
          <a:prstGeom prst="rect">
            <a:avLst/>
          </a:prstGeom>
          <a:solidFill>
            <a:srgbClr val="F8EADF"/>
          </a:solidFill>
        </p:spPr>
      </p:sp>
      <p:sp>
        <p:nvSpPr>
          <p:cNvPr name="TextBox 22" id="22"/>
          <p:cNvSpPr txBox="true"/>
          <p:nvPr/>
        </p:nvSpPr>
        <p:spPr>
          <a:xfrm rot="0">
            <a:off x="5010150" y="4229100"/>
            <a:ext cx="2609850" cy="34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6"/>
              </a:lnSpc>
            </a:pPr>
            <a:r>
              <a:rPr lang="en-US" b="true" sz="2325">
                <a:solidFill>
                  <a:srgbClr val="C96331"/>
                </a:solidFill>
                <a:latin typeface="DM Sans Bold"/>
                <a:ea typeface="DM Sans Bold"/>
                <a:cs typeface="DM Sans Bold"/>
                <a:sym typeface="DM Sans Bold"/>
              </a:rPr>
              <a:t>Check factors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8029575" y="4410075"/>
            <a:ext cx="771525" cy="38100"/>
          </a:xfrm>
          <a:prstGeom prst="rect">
            <a:avLst/>
          </a:prstGeom>
          <a:solidFill>
            <a:srgbClr val="C96331"/>
          </a:solidFill>
        </p:spPr>
      </p:sp>
      <p:grpSp>
        <p:nvGrpSpPr>
          <p:cNvPr name="Group 24" id="24"/>
          <p:cNvGrpSpPr/>
          <p:nvPr/>
        </p:nvGrpSpPr>
        <p:grpSpPr>
          <a:xfrm rot="1840140">
            <a:off x="8743283" y="4374452"/>
            <a:ext cx="171450" cy="28575"/>
            <a:chOff x="0" y="0"/>
            <a:chExt cx="2286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8959860">
            <a:off x="8735187" y="4460176"/>
            <a:ext cx="171450" cy="28575"/>
            <a:chOff x="0" y="0"/>
            <a:chExt cx="2286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</p:grpSp>
      <p:sp>
        <p:nvSpPr>
          <p:cNvPr name="AutoShape 28" id="28"/>
          <p:cNvSpPr/>
          <p:nvPr/>
        </p:nvSpPr>
        <p:spPr>
          <a:xfrm rot="0">
            <a:off x="9144000" y="3952875"/>
            <a:ext cx="2438400" cy="971550"/>
          </a:xfrm>
          <a:prstGeom prst="rect">
            <a:avLst/>
          </a:prstGeom>
          <a:solidFill>
            <a:srgbClr val="F0EFFF"/>
          </a:solidFill>
        </p:spPr>
      </p:sp>
      <p:sp>
        <p:nvSpPr>
          <p:cNvPr name="TextBox 29" id="29"/>
          <p:cNvSpPr txBox="true"/>
          <p:nvPr/>
        </p:nvSpPr>
        <p:spPr>
          <a:xfrm rot="0">
            <a:off x="9220200" y="4219575"/>
            <a:ext cx="22860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b="true" sz="2250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Fresh goal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9600" y="5791200"/>
            <a:ext cx="10972800" cy="39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2"/>
              </a:lnSpc>
            </a:pPr>
            <a:r>
              <a:rPr lang="en-US" b="true" sz="262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The mistake points to the starting check.</a:t>
            </a:r>
          </a:p>
        </p:txBody>
      </p:sp>
      <p:sp>
        <p:nvSpPr>
          <p:cNvPr name="AutoShape 31" id="31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0075"/>
            <a:ext cx="10972800" cy="534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9"/>
              </a:lnSpc>
            </a:pPr>
            <a:r>
              <a:rPr lang="en-US" b="true" sz="345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Khan material, focused on the missing step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429125" y="1562100"/>
            <a:ext cx="3333750" cy="533400"/>
            <a:chOff x="0" y="0"/>
            <a:chExt cx="44450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711200"/>
            </a:xfrm>
            <a:custGeom>
              <a:avLst/>
              <a:gdLst/>
              <a:ahLst/>
              <a:cxnLst/>
              <a:rect r="r" b="b" t="t" l="l"/>
              <a:pathLst>
                <a:path h="7112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283" r="0" b="283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rot="0">
            <a:off x="609600" y="2676525"/>
            <a:ext cx="3200400" cy="2381250"/>
          </a:xfrm>
          <a:prstGeom prst="rect">
            <a:avLst/>
          </a:prstGeom>
          <a:solidFill>
            <a:srgbClr val="F0EFFF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857250" y="2867025"/>
            <a:ext cx="5715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3495675"/>
            <a:ext cx="2752725" cy="29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0"/>
              </a:lnSpc>
            </a:pPr>
            <a:r>
              <a:rPr lang="en-US" b="true" sz="202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Watch the key part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4105275"/>
            <a:ext cx="2752725" cy="54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1:34 focused segment</a:t>
            </a:r>
          </a:p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Match sum and product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3990975" y="3838575"/>
            <a:ext cx="238125" cy="38100"/>
          </a:xfrm>
          <a:prstGeom prst="rect">
            <a:avLst/>
          </a:prstGeom>
          <a:solidFill>
            <a:srgbClr val="CCD7E4"/>
          </a:solidFill>
        </p:spPr>
      </p:sp>
      <p:grpSp>
        <p:nvGrpSpPr>
          <p:cNvPr name="Group 14" id="14"/>
          <p:cNvGrpSpPr/>
          <p:nvPr/>
        </p:nvGrpSpPr>
        <p:grpSpPr>
          <a:xfrm rot="1840140">
            <a:off x="4171283" y="3802952"/>
            <a:ext cx="171450" cy="28575"/>
            <a:chOff x="0" y="0"/>
            <a:chExt cx="2286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8959860">
            <a:off x="4163187" y="3888676"/>
            <a:ext cx="171450" cy="28575"/>
            <a:chOff x="0" y="0"/>
            <a:chExt cx="228600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sp>
        <p:nvSpPr>
          <p:cNvPr name="AutoShape 18" id="18"/>
          <p:cNvSpPr/>
          <p:nvPr/>
        </p:nvSpPr>
        <p:spPr>
          <a:xfrm rot="0">
            <a:off x="4495800" y="2676525"/>
            <a:ext cx="3200400" cy="2381250"/>
          </a:xfrm>
          <a:prstGeom prst="rect">
            <a:avLst/>
          </a:prstGeom>
          <a:solidFill>
            <a:srgbClr val="D9F2EA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4743450" y="2867025"/>
            <a:ext cx="5715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43450" y="3495675"/>
            <a:ext cx="2752725" cy="29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0"/>
              </a:lnSpc>
            </a:pPr>
            <a:r>
              <a:rPr lang="en-US" b="true" sz="202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Try the step here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43450" y="4105275"/>
            <a:ext cx="2752725" cy="54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Use the idea with different numbers</a:t>
            </a:r>
          </a:p>
        </p:txBody>
      </p:sp>
      <p:sp>
        <p:nvSpPr>
          <p:cNvPr name="AutoShape 22" id="22"/>
          <p:cNvSpPr/>
          <p:nvPr/>
        </p:nvSpPr>
        <p:spPr>
          <a:xfrm rot="0">
            <a:off x="7877175" y="3838575"/>
            <a:ext cx="238125" cy="38100"/>
          </a:xfrm>
          <a:prstGeom prst="rect">
            <a:avLst/>
          </a:prstGeom>
          <a:solidFill>
            <a:srgbClr val="CCD7E4"/>
          </a:solidFill>
        </p:spPr>
      </p:sp>
      <p:grpSp>
        <p:nvGrpSpPr>
          <p:cNvPr name="Group 23" id="23"/>
          <p:cNvGrpSpPr/>
          <p:nvPr/>
        </p:nvGrpSpPr>
        <p:grpSpPr>
          <a:xfrm rot="1840140">
            <a:off x="8057483" y="3802952"/>
            <a:ext cx="171450" cy="28575"/>
            <a:chOff x="0" y="0"/>
            <a:chExt cx="228600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8959860">
            <a:off x="8049387" y="3888676"/>
            <a:ext cx="171450" cy="28575"/>
            <a:chOff x="0" y="0"/>
            <a:chExt cx="228600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sp>
        <p:nvSpPr>
          <p:cNvPr name="AutoShape 27" id="27"/>
          <p:cNvSpPr/>
          <p:nvPr/>
        </p:nvSpPr>
        <p:spPr>
          <a:xfrm rot="0">
            <a:off x="8382000" y="2676525"/>
            <a:ext cx="3200400" cy="2381250"/>
          </a:xfrm>
          <a:prstGeom prst="rect">
            <a:avLst/>
          </a:prstGeom>
          <a:solidFill>
            <a:srgbClr val="F0EFFF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8629650" y="2867025"/>
            <a:ext cx="5715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29650" y="3495675"/>
            <a:ext cx="2752725" cy="29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0"/>
              </a:lnSpc>
            </a:pPr>
            <a:r>
              <a:rPr lang="en-US" b="true" sz="202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Return to the goal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29650" y="4105275"/>
            <a:ext cx="2752725" cy="54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Solve a fresh quadratic equation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9600" y="5629275"/>
            <a:ext cx="10972800" cy="29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  <a:r>
              <a:rPr lang="en-US" sz="20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Short enough to use now. More Khan practice when they need it.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9600" y="6410325"/>
            <a:ext cx="4667250" cy="13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9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  <a:hlinkClick r:id="rId5" tooltip="https://www.khanacademy.org/math/algebra/x2f8bb11595b61c86:quadratics-multiplying-factoring/x2f8bb11595b61c86:factor-quadratics-intro/v/factoring-simple-quadratic-expression"/>
              </a:rPr>
              <a:t>Khan Academy: factoring quadratics</a:t>
            </a:r>
          </a:p>
        </p:txBody>
      </p:sp>
      <p:sp>
        <p:nvSpPr>
          <p:cNvPr name="AutoShape 33" id="33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9600"/>
            <a:ext cx="10972800" cy="59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b="true" sz="390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Back to the skill that stopped them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600" y="2286000"/>
            <a:ext cx="10972800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0"/>
              </a:lnSpc>
            </a:pPr>
            <a:r>
              <a:rPr lang="en-US" b="true" sz="150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FRESH CURRENT-LEVEL TASK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600" y="2933700"/>
            <a:ext cx="10972800" cy="89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7"/>
              </a:lnSpc>
            </a:pPr>
            <a:r>
              <a:rPr lang="en-US" b="true" sz="585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x² + 11x + 28 = 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600" y="4219575"/>
            <a:ext cx="10972800" cy="64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b="true" sz="4125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x = -4 or x = -7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600" y="5715000"/>
            <a:ext cx="10972800" cy="33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sz="21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New numbers. The same skill they came to recover.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09600" y="3648075"/>
            <a:ext cx="7029450" cy="1066800"/>
            <a:chOff x="0" y="0"/>
            <a:chExt cx="9372600" cy="142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726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9372600">
                  <a:moveTo>
                    <a:pt x="127000" y="0"/>
                  </a:moveTo>
                  <a:lnTo>
                    <a:pt x="9245600" y="0"/>
                  </a:lnTo>
                  <a:cubicBezTo>
                    <a:pt x="9315704" y="0"/>
                    <a:pt x="9372600" y="56896"/>
                    <a:pt x="9372600" y="127000"/>
                  </a:cubicBezTo>
                  <a:lnTo>
                    <a:pt x="9372600" y="1295400"/>
                  </a:lnTo>
                  <a:cubicBezTo>
                    <a:pt x="9372600" y="1365504"/>
                    <a:pt x="9315704" y="1422400"/>
                    <a:pt x="9245600" y="1422400"/>
                  </a:cubicBezTo>
                  <a:lnTo>
                    <a:pt x="127000" y="1422400"/>
                  </a:lnTo>
                  <a:cubicBezTo>
                    <a:pt x="56896" y="1422400"/>
                    <a:pt x="0" y="1365504"/>
                    <a:pt x="0" y="12954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5753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039225" y="2990850"/>
            <a:ext cx="2238375" cy="2238375"/>
            <a:chOff x="0" y="0"/>
            <a:chExt cx="2984500" cy="2984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84500" cy="2984500"/>
            </a:xfrm>
            <a:custGeom>
              <a:avLst/>
              <a:gdLst/>
              <a:ahLst/>
              <a:cxnLst/>
              <a:rect r="r" b="b" t="t" l="l"/>
              <a:pathLst>
                <a:path h="2984500" w="2984500">
                  <a:moveTo>
                    <a:pt x="0" y="0"/>
                  </a:moveTo>
                  <a:lnTo>
                    <a:pt x="2984500" y="0"/>
                  </a:lnTo>
                  <a:lnTo>
                    <a:pt x="2984500" y="2984500"/>
                  </a:lnTo>
                  <a:lnTo>
                    <a:pt x="0" y="298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8303" t="0" r="-78303" b="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>
            <a:hlinkClick r:id="rId6" tooltip="https://backtrack-learning.vercel.app/demo"/>
          </p:cNvPr>
          <p:cNvSpPr/>
          <p:nvPr/>
        </p:nvSpPr>
        <p:spPr>
          <a:xfrm flipH="false" flipV="false" rot="0">
            <a:off x="9039225" y="2990850"/>
            <a:ext cx="2238375" cy="2238375"/>
          </a:xfrm>
          <a:custGeom>
            <a:avLst/>
            <a:gdLst/>
            <a:ahLst/>
            <a:cxnLst/>
            <a:rect r="r" b="b" t="t" l="l"/>
            <a:pathLst>
              <a:path h="2238375" w="2238375">
                <a:moveTo>
                  <a:pt x="0" y="0"/>
                </a:moveTo>
                <a:lnTo>
                  <a:pt x="2238375" y="0"/>
                </a:lnTo>
                <a:lnTo>
                  <a:pt x="2238375" y="2238375"/>
                </a:lnTo>
                <a:lnTo>
                  <a:pt x="0" y="2238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07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9600" y="609600"/>
            <a:ext cx="10972800" cy="59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b="true" sz="390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Try the demo. Watch the route change.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9600" y="2257425"/>
            <a:ext cx="7219950" cy="85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7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Compare two wrong answers.</a:t>
            </a:r>
          </a:p>
          <a:p>
            <a:pPr algn="l">
              <a:lnSpc>
                <a:spcPts val="3385"/>
              </a:lnSpc>
            </a:pPr>
            <a:r>
              <a:rPr lang="en-US" sz="27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See why they get different repairs.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9150" y="3857625"/>
            <a:ext cx="6610350" cy="534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9"/>
              </a:lnSpc>
            </a:pPr>
            <a:r>
              <a:rPr lang="en-US" b="true" sz="345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  <a:hlinkClick r:id="rId7" tooltip="https://backtrack-learning.vercel.app/demo"/>
              </a:rPr>
              <a:t>Try BACKTRACK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9600" y="5048250"/>
            <a:ext cx="7029450" cy="2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1875" u="sng">
                <a:solidFill>
                  <a:srgbClr val="5753FA"/>
                </a:solidFill>
                <a:latin typeface="DM Sans"/>
                <a:ea typeface="DM Sans"/>
                <a:cs typeface="DM Sans"/>
                <a:sym typeface="DM Sans"/>
                <a:hlinkClick r:id="rId8" tooltip="https://backtrack-learning.vercel.app/demo"/>
              </a:rPr>
              <a:t>backtrack-learning.vercel.app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43950" y="5429250"/>
            <a:ext cx="2828925" cy="24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3"/>
              </a:lnSpc>
            </a:pPr>
            <a:r>
              <a:rPr lang="en-US" b="true" sz="1650">
                <a:solidFill>
                  <a:srgbClr val="536073"/>
                </a:solidFill>
                <a:latin typeface="DM Sans Bold"/>
                <a:ea typeface="DM Sans Bold"/>
                <a:cs typeface="DM Sans Bold"/>
                <a:sym typeface="DM Sans Bold"/>
              </a:rPr>
              <a:t>Scan to start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9600" y="5848350"/>
            <a:ext cx="7429500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A few sample routes to help you picture BACKTRACK. The full product is still in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0075"/>
            <a:ext cx="10972800" cy="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b="true" sz="420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Can they still do it next week?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19250" y="2705100"/>
            <a:ext cx="552450" cy="552450"/>
            <a:chOff x="0" y="0"/>
            <a:chExt cx="736600" cy="736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68300" y="0"/>
                  </a:moveTo>
                  <a:cubicBezTo>
                    <a:pt x="571754" y="0"/>
                    <a:pt x="736600" y="164846"/>
                    <a:pt x="736600" y="368300"/>
                  </a:cubicBezTo>
                  <a:cubicBezTo>
                    <a:pt x="736600" y="571754"/>
                    <a:pt x="571754" y="736600"/>
                    <a:pt x="368300" y="736600"/>
                  </a:cubicBezTo>
                  <a:cubicBezTo>
                    <a:pt x="164846" y="736600"/>
                    <a:pt x="0" y="571754"/>
                    <a:pt x="0" y="368300"/>
                  </a:cubicBezTo>
                  <a:cubicBezTo>
                    <a:pt x="0" y="164846"/>
                    <a:pt x="164846" y="0"/>
                    <a:pt x="368300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04975" y="2781300"/>
            <a:ext cx="3810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b="true" sz="225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600" y="3457575"/>
            <a:ext cx="2571750" cy="67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b="true" sz="21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Stuck before the route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2838450" y="2962275"/>
            <a:ext cx="838200" cy="38100"/>
          </a:xfrm>
          <a:prstGeom prst="rect">
            <a:avLst/>
          </a:prstGeom>
          <a:solidFill>
            <a:srgbClr val="CCD7E4"/>
          </a:solidFill>
        </p:spPr>
      </p:sp>
      <p:grpSp>
        <p:nvGrpSpPr>
          <p:cNvPr name="Group 12" id="12"/>
          <p:cNvGrpSpPr/>
          <p:nvPr/>
        </p:nvGrpSpPr>
        <p:grpSpPr>
          <a:xfrm rot="1840140">
            <a:off x="3618833" y="2926652"/>
            <a:ext cx="171450" cy="28575"/>
            <a:chOff x="0" y="0"/>
            <a:chExt cx="2286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8959860">
            <a:off x="3610737" y="3012376"/>
            <a:ext cx="171450" cy="28575"/>
            <a:chOff x="0" y="0"/>
            <a:chExt cx="2286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505450" y="2705100"/>
            <a:ext cx="552450" cy="552450"/>
            <a:chOff x="0" y="0"/>
            <a:chExt cx="736600" cy="736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68300" y="0"/>
                  </a:moveTo>
                  <a:cubicBezTo>
                    <a:pt x="571754" y="0"/>
                    <a:pt x="736600" y="164846"/>
                    <a:pt x="736600" y="368300"/>
                  </a:cubicBezTo>
                  <a:cubicBezTo>
                    <a:pt x="736600" y="571754"/>
                    <a:pt x="571754" y="736600"/>
                    <a:pt x="368300" y="736600"/>
                  </a:cubicBezTo>
                  <a:cubicBezTo>
                    <a:pt x="164846" y="736600"/>
                    <a:pt x="0" y="571754"/>
                    <a:pt x="0" y="368300"/>
                  </a:cubicBezTo>
                  <a:cubicBezTo>
                    <a:pt x="0" y="164846"/>
                    <a:pt x="164846" y="0"/>
                    <a:pt x="368300" y="0"/>
                  </a:cubicBezTo>
                  <a:close/>
                </a:path>
              </a:pathLst>
            </a:custGeom>
            <a:solidFill>
              <a:srgbClr val="087E7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591175" y="2781300"/>
            <a:ext cx="3810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b="true" sz="225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95800" y="3457575"/>
            <a:ext cx="2571750" cy="67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b="true" sz="21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Pass a fresh task after practice</a:t>
            </a:r>
          </a:p>
        </p:txBody>
      </p:sp>
      <p:sp>
        <p:nvSpPr>
          <p:cNvPr name="AutoShape 20" id="20"/>
          <p:cNvSpPr/>
          <p:nvPr/>
        </p:nvSpPr>
        <p:spPr>
          <a:xfrm rot="0">
            <a:off x="6724650" y="2962275"/>
            <a:ext cx="838200" cy="38100"/>
          </a:xfrm>
          <a:prstGeom prst="rect">
            <a:avLst/>
          </a:prstGeom>
          <a:solidFill>
            <a:srgbClr val="CCD7E4"/>
          </a:solidFill>
        </p:spPr>
      </p:sp>
      <p:grpSp>
        <p:nvGrpSpPr>
          <p:cNvPr name="Group 21" id="21"/>
          <p:cNvGrpSpPr/>
          <p:nvPr/>
        </p:nvGrpSpPr>
        <p:grpSpPr>
          <a:xfrm rot="1840140">
            <a:off x="7505033" y="2926652"/>
            <a:ext cx="171450" cy="28575"/>
            <a:chOff x="0" y="0"/>
            <a:chExt cx="22860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8959860">
            <a:off x="7496937" y="3012376"/>
            <a:ext cx="171450" cy="28575"/>
            <a:chOff x="0" y="0"/>
            <a:chExt cx="228600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CD7E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91650" y="2705100"/>
            <a:ext cx="552450" cy="552450"/>
            <a:chOff x="0" y="0"/>
            <a:chExt cx="736600" cy="736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68300" y="0"/>
                  </a:moveTo>
                  <a:cubicBezTo>
                    <a:pt x="571754" y="0"/>
                    <a:pt x="736600" y="164846"/>
                    <a:pt x="736600" y="368300"/>
                  </a:cubicBezTo>
                  <a:cubicBezTo>
                    <a:pt x="736600" y="571754"/>
                    <a:pt x="571754" y="736600"/>
                    <a:pt x="368300" y="736600"/>
                  </a:cubicBezTo>
                  <a:cubicBezTo>
                    <a:pt x="164846" y="736600"/>
                    <a:pt x="0" y="571754"/>
                    <a:pt x="0" y="368300"/>
                  </a:cubicBezTo>
                  <a:cubicBezTo>
                    <a:pt x="0" y="164846"/>
                    <a:pt x="164846" y="0"/>
                    <a:pt x="368300" y="0"/>
                  </a:cubicBezTo>
                  <a:close/>
                </a:path>
              </a:pathLst>
            </a:custGeom>
            <a:solidFill>
              <a:srgbClr val="5753F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477375" y="2781300"/>
            <a:ext cx="3810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b="true" sz="225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82000" y="3457575"/>
            <a:ext cx="2571750" cy="67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3"/>
              </a:lnSpc>
            </a:pPr>
            <a:r>
              <a:rPr lang="en-US" b="true" sz="21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Pass again 7-14 days later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9600" y="5324475"/>
            <a:ext cx="10972800" cy="39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2"/>
              </a:lnSpc>
            </a:pPr>
            <a:r>
              <a:rPr lang="en-US" b="true" sz="2625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Retained reentry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9600" y="5876925"/>
            <a:ext cx="10972800" cy="2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18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Count everyone who started unable to do the task.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9600" y="6410325"/>
            <a:ext cx="4667250" cy="13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9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  <a:hlinkClick r:id="rId4" tooltip="https://doi.org/10.1038/s44159-022-00089-1"/>
              </a:rPr>
              <a:t>Spacing and retrieval · 2022</a:t>
            </a:r>
          </a:p>
        </p:txBody>
      </p:sp>
      <p:sp>
        <p:nvSpPr>
          <p:cNvPr name="AutoShape 32" id="32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0075"/>
            <a:ext cx="10972800" cy="65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5"/>
              </a:lnSpc>
            </a:pPr>
            <a:r>
              <a:rPr lang="en-US" b="true" sz="42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A five-month school pilot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600" y="1495425"/>
            <a:ext cx="10972800" cy="34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325">
                <a:solidFill>
                  <a:srgbClr val="087E70"/>
                </a:solidFill>
                <a:latin typeface="DM Sans"/>
                <a:ea typeface="DM Sans"/>
                <a:cs typeface="DM Sans"/>
                <a:sym typeface="DM Sans"/>
              </a:rPr>
              <a:t>80-120 learners across 2-3 cohorts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409700" y="3209925"/>
            <a:ext cx="9172575" cy="38100"/>
          </a:xfrm>
          <a:prstGeom prst="rect">
            <a:avLst/>
          </a:prstGeom>
          <a:solidFill>
            <a:srgbClr val="CCD7E4"/>
          </a:solidFill>
        </p:spPr>
      </p:sp>
      <p:grpSp>
        <p:nvGrpSpPr>
          <p:cNvPr name="Group 9" id="9"/>
          <p:cNvGrpSpPr/>
          <p:nvPr/>
        </p:nvGrpSpPr>
        <p:grpSpPr>
          <a:xfrm rot="0">
            <a:off x="1066800" y="2828925"/>
            <a:ext cx="800100" cy="800100"/>
            <a:chOff x="0" y="0"/>
            <a:chExt cx="1066800" cy="1066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ubicBezTo>
                    <a:pt x="0" y="238760"/>
                    <a:pt x="238760" y="0"/>
                    <a:pt x="533400" y="0"/>
                  </a:cubicBezTo>
                  <a:close/>
                </a:path>
              </a:pathLst>
            </a:custGeom>
            <a:solidFill>
              <a:srgbClr val="D9F2E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2025" y="3067050"/>
            <a:ext cx="1009650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b="true" sz="180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NOV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9600" y="4067175"/>
            <a:ext cx="2000250" cy="56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b="true" sz="18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Review maps + baseline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352800" y="2828925"/>
            <a:ext cx="800100" cy="800100"/>
            <a:chOff x="0" y="0"/>
            <a:chExt cx="1066800" cy="106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ubicBezTo>
                    <a:pt x="0" y="238760"/>
                    <a:pt x="238760" y="0"/>
                    <a:pt x="533400" y="0"/>
                  </a:cubicBezTo>
                  <a:close/>
                </a:path>
              </a:pathLst>
            </a:custGeom>
            <a:solidFill>
              <a:srgbClr val="F0E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248025" y="3067050"/>
            <a:ext cx="1009650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b="true" sz="1800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DEC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95600" y="4067175"/>
            <a:ext cx="2000250" cy="56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b="true" sz="18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First school cycle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638800" y="2828925"/>
            <a:ext cx="800100" cy="800100"/>
            <a:chOff x="0" y="0"/>
            <a:chExt cx="1066800" cy="1066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ubicBezTo>
                    <a:pt x="0" y="238760"/>
                    <a:pt x="238760" y="0"/>
                    <a:pt x="533400" y="0"/>
                  </a:cubicBezTo>
                  <a:close/>
                </a:path>
              </a:pathLst>
            </a:custGeom>
            <a:solidFill>
              <a:srgbClr val="D9F2E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534025" y="3067050"/>
            <a:ext cx="1009650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b="true" sz="180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JAN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81600" y="4067175"/>
            <a:ext cx="2000250" cy="56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b="true" sz="18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Compare + improve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924800" y="2828925"/>
            <a:ext cx="800100" cy="800100"/>
            <a:chOff x="0" y="0"/>
            <a:chExt cx="1066800" cy="1066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ubicBezTo>
                    <a:pt x="0" y="238760"/>
                    <a:pt x="238760" y="0"/>
                    <a:pt x="533400" y="0"/>
                  </a:cubicBezTo>
                  <a:close/>
                </a:path>
              </a:pathLst>
            </a:custGeom>
            <a:solidFill>
              <a:srgbClr val="F0EF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820025" y="3067050"/>
            <a:ext cx="1009650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b="true" sz="1800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FEB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67600" y="4067175"/>
            <a:ext cx="2000250" cy="56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b="true" sz="18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New educator + repeat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10800" y="2828925"/>
            <a:ext cx="800100" cy="800100"/>
            <a:chOff x="0" y="0"/>
            <a:chExt cx="1066800" cy="1066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ubicBezTo>
                    <a:pt x="0" y="238760"/>
                    <a:pt x="238760" y="0"/>
                    <a:pt x="533400" y="0"/>
                  </a:cubicBezTo>
                  <a:close/>
                </a:path>
              </a:pathLst>
            </a:custGeom>
            <a:solidFill>
              <a:srgbClr val="D9F2E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106025" y="3067050"/>
            <a:ext cx="1009650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b="true" sz="180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MAR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53600" y="4067175"/>
            <a:ext cx="2000250" cy="56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b="true" sz="18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Follow-up + handover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9600" y="5610225"/>
            <a:ext cx="10972800" cy="34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b="true" sz="232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November 2026-March 2027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9600" y="6105525"/>
            <a:ext cx="10382250" cy="24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</a:pPr>
            <a:r>
              <a:rPr lang="en-US" sz="165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Pilot targets, fitted to each school’s access and timetable.</a:t>
            </a:r>
          </a:p>
        </p:txBody>
      </p:sp>
      <p:sp>
        <p:nvSpPr>
          <p:cNvPr name="AutoShape 31" id="31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0075"/>
            <a:ext cx="10972800" cy="65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5"/>
              </a:lnSpc>
            </a:pPr>
            <a:r>
              <a:rPr lang="en-US" b="true" sz="42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Does the route add value?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609600" y="2457450"/>
            <a:ext cx="5172075" cy="1447800"/>
          </a:xfrm>
          <a:prstGeom prst="rect">
            <a:avLst/>
          </a:prstGeom>
          <a:solidFill>
            <a:srgbClr val="D9F2EA"/>
          </a:solidFill>
        </p:spPr>
      </p:sp>
      <p:sp>
        <p:nvSpPr>
          <p:cNvPr name="AutoShape 8" id="8"/>
          <p:cNvSpPr/>
          <p:nvPr/>
        </p:nvSpPr>
        <p:spPr>
          <a:xfrm rot="0">
            <a:off x="6153150" y="2457450"/>
            <a:ext cx="5429250" cy="1447800"/>
          </a:xfrm>
          <a:prstGeom prst="rect">
            <a:avLst/>
          </a:prstGeom>
          <a:solidFill>
            <a:srgbClr val="F0EFFF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838200" y="2686050"/>
            <a:ext cx="4714875" cy="42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5"/>
              </a:lnSpc>
            </a:pPr>
            <a:r>
              <a:rPr lang="en-US" b="true" sz="2775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Khan practice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200" y="3362325"/>
            <a:ext cx="4714875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sz="18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Selected by the teacher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81750" y="2686050"/>
            <a:ext cx="4972050" cy="42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5"/>
              </a:lnSpc>
            </a:pPr>
            <a:r>
              <a:rPr lang="en-US" b="true" sz="2775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Khan + BACKTRACK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81750" y="3362325"/>
            <a:ext cx="4972050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sz="18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Practice tied to the recovery route</a:t>
            </a: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2876550" y="4200525"/>
            <a:ext cx="628650" cy="38100"/>
            <a:chOff x="0" y="0"/>
            <a:chExt cx="83820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8200" cy="50800"/>
            </a:xfrm>
            <a:custGeom>
              <a:avLst/>
              <a:gdLst/>
              <a:ahLst/>
              <a:cxnLst/>
              <a:rect r="r" b="b" t="t" l="l"/>
              <a:pathLst>
                <a:path h="50800" w="838200">
                  <a:moveTo>
                    <a:pt x="25400" y="0"/>
                  </a:moveTo>
                  <a:lnTo>
                    <a:pt x="812800" y="0"/>
                  </a:lnTo>
                  <a:cubicBezTo>
                    <a:pt x="826770" y="0"/>
                    <a:pt x="838200" y="11430"/>
                    <a:pt x="838200" y="25400"/>
                  </a:cubicBezTo>
                  <a:cubicBezTo>
                    <a:pt x="838200" y="39370"/>
                    <a:pt x="826770" y="50800"/>
                    <a:pt x="81280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087E7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190875" y="4505325"/>
            <a:ext cx="2914650" cy="38100"/>
            <a:chOff x="0" y="0"/>
            <a:chExt cx="3886200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86200" cy="50800"/>
            </a:xfrm>
            <a:custGeom>
              <a:avLst/>
              <a:gdLst/>
              <a:ahLst/>
              <a:cxnLst/>
              <a:rect r="r" b="b" t="t" l="l"/>
              <a:pathLst>
                <a:path h="50800" w="3886200">
                  <a:moveTo>
                    <a:pt x="25400" y="0"/>
                  </a:moveTo>
                  <a:lnTo>
                    <a:pt x="3860800" y="0"/>
                  </a:lnTo>
                  <a:cubicBezTo>
                    <a:pt x="3874770" y="0"/>
                    <a:pt x="3886200" y="11430"/>
                    <a:pt x="3886200" y="25400"/>
                  </a:cubicBezTo>
                  <a:cubicBezTo>
                    <a:pt x="3886200" y="39370"/>
                    <a:pt x="3874770" y="50800"/>
                    <a:pt x="386080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087E7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5872162" y="4729162"/>
            <a:ext cx="447675" cy="38100"/>
            <a:chOff x="0" y="0"/>
            <a:chExt cx="596900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6900" cy="50800"/>
            </a:xfrm>
            <a:custGeom>
              <a:avLst/>
              <a:gdLst/>
              <a:ahLst/>
              <a:cxnLst/>
              <a:rect r="r" b="b" t="t" l="l"/>
              <a:pathLst>
                <a:path h="50800" w="596900">
                  <a:moveTo>
                    <a:pt x="25400" y="0"/>
                  </a:moveTo>
                  <a:lnTo>
                    <a:pt x="571500" y="0"/>
                  </a:lnTo>
                  <a:cubicBezTo>
                    <a:pt x="585470" y="0"/>
                    <a:pt x="596900" y="11430"/>
                    <a:pt x="596900" y="25400"/>
                  </a:cubicBezTo>
                  <a:cubicBezTo>
                    <a:pt x="596900" y="39370"/>
                    <a:pt x="585470" y="50800"/>
                    <a:pt x="57150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087E7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5400000">
            <a:off x="8543925" y="4200525"/>
            <a:ext cx="628650" cy="38100"/>
            <a:chOff x="0" y="0"/>
            <a:chExt cx="838200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8200" cy="50800"/>
            </a:xfrm>
            <a:custGeom>
              <a:avLst/>
              <a:gdLst/>
              <a:ahLst/>
              <a:cxnLst/>
              <a:rect r="r" b="b" t="t" l="l"/>
              <a:pathLst>
                <a:path h="50800" w="838200">
                  <a:moveTo>
                    <a:pt x="25400" y="0"/>
                  </a:moveTo>
                  <a:lnTo>
                    <a:pt x="812800" y="0"/>
                  </a:lnTo>
                  <a:cubicBezTo>
                    <a:pt x="826770" y="0"/>
                    <a:pt x="838200" y="11430"/>
                    <a:pt x="838200" y="25400"/>
                  </a:cubicBezTo>
                  <a:cubicBezTo>
                    <a:pt x="838200" y="39370"/>
                    <a:pt x="826770" y="50800"/>
                    <a:pt x="81280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5753F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-10800000">
            <a:off x="6086475" y="4505325"/>
            <a:ext cx="2771775" cy="38100"/>
            <a:chOff x="0" y="0"/>
            <a:chExt cx="3695700" cy="50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95700" cy="50800"/>
            </a:xfrm>
            <a:custGeom>
              <a:avLst/>
              <a:gdLst/>
              <a:ahLst/>
              <a:cxnLst/>
              <a:rect r="r" b="b" t="t" l="l"/>
              <a:pathLst>
                <a:path h="50800" w="3695700">
                  <a:moveTo>
                    <a:pt x="25400" y="0"/>
                  </a:moveTo>
                  <a:lnTo>
                    <a:pt x="3670300" y="0"/>
                  </a:lnTo>
                  <a:cubicBezTo>
                    <a:pt x="3684270" y="0"/>
                    <a:pt x="3695700" y="11430"/>
                    <a:pt x="3695700" y="25400"/>
                  </a:cubicBezTo>
                  <a:cubicBezTo>
                    <a:pt x="3695700" y="39370"/>
                    <a:pt x="3684270" y="50800"/>
                    <a:pt x="367030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ubicBezTo>
                    <a:pt x="0" y="11430"/>
                    <a:pt x="11430" y="0"/>
                    <a:pt x="25400" y="0"/>
                  </a:cubicBezTo>
                  <a:close/>
                </a:path>
              </a:pathLst>
            </a:custGeom>
            <a:solidFill>
              <a:srgbClr val="5753FA"/>
            </a:solidFill>
          </p:spPr>
        </p:sp>
      </p:grpSp>
      <p:sp>
        <p:nvSpPr>
          <p:cNvPr name="AutoShape 23" id="23"/>
          <p:cNvSpPr/>
          <p:nvPr/>
        </p:nvSpPr>
        <p:spPr>
          <a:xfrm rot="0">
            <a:off x="1809750" y="4962525"/>
            <a:ext cx="8572500" cy="819150"/>
          </a:xfrm>
          <a:prstGeom prst="rect">
            <a:avLst/>
          </a:prstGeom>
          <a:solidFill>
            <a:srgbClr val="087E70"/>
          </a:solidFill>
        </p:spPr>
      </p:sp>
      <p:sp>
        <p:nvSpPr>
          <p:cNvPr name="TextBox 24" id="24"/>
          <p:cNvSpPr txBox="true"/>
          <p:nvPr/>
        </p:nvSpPr>
        <p:spPr>
          <a:xfrm rot="0">
            <a:off x="2028825" y="5153025"/>
            <a:ext cx="8134350" cy="43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6"/>
              </a:lnSpc>
            </a:pPr>
            <a:r>
              <a:rPr lang="en-US" b="true" sz="285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The same fresh assessments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9600" y="6124575"/>
            <a:ext cx="10972800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sz="18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After practice, then 7-14 days later. Similar time and support.</a:t>
            </a:r>
          </a:p>
        </p:txBody>
      </p:sp>
      <p:sp>
        <p:nvSpPr>
          <p:cNvPr name="AutoShape 26" id="26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0075"/>
            <a:ext cx="10972800" cy="72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72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Skip the review you don’t need.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600" y="2114550"/>
            <a:ext cx="4095750" cy="24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b="true" sz="1575">
                <a:solidFill>
                  <a:srgbClr val="536073"/>
                </a:solidFill>
                <a:latin typeface="DM Sans Bold"/>
                <a:ea typeface="DM Sans Bold"/>
                <a:cs typeface="DM Sans Bold"/>
                <a:sym typeface="DM Sans Bold"/>
              </a:rPr>
              <a:t>What the learner does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10350" y="2114550"/>
            <a:ext cx="4953000" cy="24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b="true" sz="1575">
                <a:solidFill>
                  <a:srgbClr val="536073"/>
                </a:solidFill>
                <a:latin typeface="DM Sans Bold"/>
                <a:ea typeface="DM Sans Bold"/>
                <a:cs typeface="DM Sans Bold"/>
                <a:sym typeface="DM Sans Bold"/>
              </a:rPr>
              <a:t>What changes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600" y="2886075"/>
            <a:ext cx="41910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Know the step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4981575" y="3105150"/>
            <a:ext cx="981075" cy="38100"/>
          </a:xfrm>
          <a:prstGeom prst="rect">
            <a:avLst/>
          </a:prstGeom>
          <a:solidFill>
            <a:srgbClr val="087E70"/>
          </a:solidFill>
        </p:spPr>
      </p:sp>
      <p:grpSp>
        <p:nvGrpSpPr>
          <p:cNvPr name="Group 11" id="11"/>
          <p:cNvGrpSpPr/>
          <p:nvPr/>
        </p:nvGrpSpPr>
        <p:grpSpPr>
          <a:xfrm rot="1840140">
            <a:off x="5904833" y="3069526"/>
            <a:ext cx="171450" cy="28575"/>
            <a:chOff x="0" y="0"/>
            <a:chExt cx="2286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087E7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8959860">
            <a:off x="5896737" y="3155252"/>
            <a:ext cx="171450" cy="28575"/>
            <a:chOff x="0" y="0"/>
            <a:chExt cx="22860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087E7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10350" y="2886075"/>
            <a:ext cx="497205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Skip its review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609600" y="3686175"/>
            <a:ext cx="10972800" cy="9525"/>
          </a:xfrm>
          <a:prstGeom prst="rect">
            <a:avLst/>
          </a:prstGeom>
          <a:solidFill>
            <a:srgbClr val="CCD7E4"/>
          </a:solidFill>
        </p:spPr>
      </p:sp>
      <p:sp>
        <p:nvSpPr>
          <p:cNvPr name="TextBox 17" id="17"/>
          <p:cNvSpPr txBox="true"/>
          <p:nvPr/>
        </p:nvSpPr>
        <p:spPr>
          <a:xfrm rot="0">
            <a:off x="609600" y="3971925"/>
            <a:ext cx="41910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C96331"/>
                </a:solidFill>
                <a:latin typeface="DM Sans Bold"/>
                <a:ea typeface="DM Sans Bold"/>
                <a:cs typeface="DM Sans Bold"/>
                <a:sym typeface="DM Sans Bold"/>
              </a:rPr>
              <a:t>Repair a gap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4981575" y="4191000"/>
            <a:ext cx="981075" cy="38100"/>
          </a:xfrm>
          <a:prstGeom prst="rect">
            <a:avLst/>
          </a:prstGeom>
          <a:solidFill>
            <a:srgbClr val="C96331"/>
          </a:solidFill>
        </p:spPr>
      </p:sp>
      <p:grpSp>
        <p:nvGrpSpPr>
          <p:cNvPr name="Group 19" id="19"/>
          <p:cNvGrpSpPr/>
          <p:nvPr/>
        </p:nvGrpSpPr>
        <p:grpSpPr>
          <a:xfrm rot="1840140">
            <a:off x="5904833" y="4155376"/>
            <a:ext cx="171450" cy="28575"/>
            <a:chOff x="0" y="0"/>
            <a:chExt cx="228600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8959860">
            <a:off x="5896737" y="4241102"/>
            <a:ext cx="171450" cy="28575"/>
            <a:chOff x="0" y="0"/>
            <a:chExt cx="22860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C9633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610350" y="3971925"/>
            <a:ext cx="497205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Move closer to the goal</a:t>
            </a:r>
          </a:p>
        </p:txBody>
      </p:sp>
      <p:sp>
        <p:nvSpPr>
          <p:cNvPr name="AutoShape 24" id="24"/>
          <p:cNvSpPr/>
          <p:nvPr/>
        </p:nvSpPr>
        <p:spPr>
          <a:xfrm rot="0">
            <a:off x="609600" y="4772025"/>
            <a:ext cx="10972800" cy="9525"/>
          </a:xfrm>
          <a:prstGeom prst="rect">
            <a:avLst/>
          </a:prstGeom>
          <a:solidFill>
            <a:srgbClr val="CCD7E4"/>
          </a:solidFill>
        </p:spPr>
      </p:sp>
      <p:sp>
        <p:nvSpPr>
          <p:cNvPr name="TextBox 25" id="25"/>
          <p:cNvSpPr txBox="true"/>
          <p:nvPr/>
        </p:nvSpPr>
        <p:spPr>
          <a:xfrm rot="0">
            <a:off x="609600" y="5057775"/>
            <a:ext cx="419100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Come back later</a:t>
            </a:r>
          </a:p>
        </p:txBody>
      </p:sp>
      <p:sp>
        <p:nvSpPr>
          <p:cNvPr name="AutoShape 26" id="26"/>
          <p:cNvSpPr/>
          <p:nvPr/>
        </p:nvSpPr>
        <p:spPr>
          <a:xfrm rot="0">
            <a:off x="4981575" y="5276850"/>
            <a:ext cx="981075" cy="38100"/>
          </a:xfrm>
          <a:prstGeom prst="rect">
            <a:avLst/>
          </a:prstGeom>
          <a:solidFill>
            <a:srgbClr val="5753FA"/>
          </a:solidFill>
        </p:spPr>
      </p:sp>
      <p:grpSp>
        <p:nvGrpSpPr>
          <p:cNvPr name="Group 27" id="27"/>
          <p:cNvGrpSpPr/>
          <p:nvPr/>
        </p:nvGrpSpPr>
        <p:grpSpPr>
          <a:xfrm rot="1840140">
            <a:off x="5904833" y="5241226"/>
            <a:ext cx="171450" cy="28575"/>
            <a:chOff x="0" y="0"/>
            <a:chExt cx="228600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5753F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8959860">
            <a:off x="5896737" y="5326952"/>
            <a:ext cx="171450" cy="28575"/>
            <a:chOff x="0" y="0"/>
            <a:chExt cx="228600" cy="38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600" cy="38100"/>
            </a:xfrm>
            <a:custGeom>
              <a:avLst/>
              <a:gdLst/>
              <a:ahLst/>
              <a:cxnLst/>
              <a:rect r="r" b="b" t="t" l="l"/>
              <a:pathLst>
                <a:path h="38100" w="228600">
                  <a:moveTo>
                    <a:pt x="19050" y="0"/>
                  </a:moveTo>
                  <a:lnTo>
                    <a:pt x="209550" y="0"/>
                  </a:lnTo>
                  <a:cubicBezTo>
                    <a:pt x="220091" y="0"/>
                    <a:pt x="228600" y="8509"/>
                    <a:pt x="228600" y="19050"/>
                  </a:cubicBezTo>
                  <a:cubicBezTo>
                    <a:pt x="228600" y="29591"/>
                    <a:pt x="220091" y="38100"/>
                    <a:pt x="2095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ubicBezTo>
                    <a:pt x="0" y="8509"/>
                    <a:pt x="8509" y="0"/>
                    <a:pt x="19050" y="0"/>
                  </a:cubicBezTo>
                  <a:close/>
                </a:path>
              </a:pathLst>
            </a:custGeom>
            <a:solidFill>
              <a:srgbClr val="5753FA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610350" y="5057775"/>
            <a:ext cx="4972050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255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Keep earlier progress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9600" y="6200775"/>
            <a:ext cx="10572750" cy="2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18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Progress changes what you need to do next.</a:t>
            </a:r>
          </a:p>
        </p:txBody>
      </p:sp>
      <p:sp>
        <p:nvSpPr>
          <p:cNvPr name="AutoShape 33" id="33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0075"/>
            <a:ext cx="10972800" cy="60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b="true" sz="39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One routine. Many learning goals.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609600" y="2333625"/>
            <a:ext cx="3200400" cy="885825"/>
          </a:xfrm>
          <a:prstGeom prst="rect">
            <a:avLst/>
          </a:prstGeom>
          <a:solidFill>
            <a:srgbClr val="D9F2EA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762000" y="2543175"/>
            <a:ext cx="2895600" cy="39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2"/>
              </a:lnSpc>
            </a:pPr>
            <a:r>
              <a:rPr lang="en-US" b="true" sz="2625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Fractions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4495800" y="2333625"/>
            <a:ext cx="3200400" cy="885825"/>
          </a:xfrm>
          <a:prstGeom prst="rect">
            <a:avLst/>
          </a:prstGeom>
          <a:solidFill>
            <a:srgbClr val="F0EFFF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4648200" y="2543175"/>
            <a:ext cx="2895600" cy="39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2"/>
              </a:lnSpc>
            </a:pPr>
            <a:r>
              <a:rPr lang="en-US" b="true" sz="2625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Algebra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8382000" y="2333625"/>
            <a:ext cx="3200400" cy="885825"/>
          </a:xfrm>
          <a:prstGeom prst="rect">
            <a:avLst/>
          </a:prstGeom>
          <a:solidFill>
            <a:srgbClr val="D9F2EA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8534400" y="2543175"/>
            <a:ext cx="2895600" cy="39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2"/>
              </a:lnSpc>
            </a:pPr>
            <a:r>
              <a:rPr lang="en-US" b="true" sz="2625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Graphs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9600" y="3752850"/>
            <a:ext cx="10972800" cy="38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9"/>
              </a:lnSpc>
            </a:pPr>
            <a:r>
              <a:rPr lang="en-US" b="true" sz="247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Every new destination uses a reusable kit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9600" y="4381500"/>
            <a:ext cx="10972800" cy="3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1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A reviewed map + fresh checks + matched Khan material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9600" y="5372100"/>
            <a:ext cx="10972800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b="true" sz="225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Another educator can run the same recovery routine.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9600" y="5972175"/>
            <a:ext cx="10972800" cy="2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18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For classes, self-study, and the next topic a learner needs.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0075"/>
            <a:ext cx="10972800" cy="61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b="true" sz="405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A budget built around learners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600" y="2076450"/>
            <a:ext cx="5429250" cy="5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2"/>
              </a:lnSpc>
            </a:pPr>
            <a:r>
              <a:rPr lang="en-US" b="true" sz="360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PHP 100,000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600" y="2933700"/>
            <a:ext cx="5334000" cy="1339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</a:pPr>
            <a:r>
              <a:rPr lang="en-US" b="true" sz="8700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60%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600" y="4448175"/>
            <a:ext cx="5105400" cy="69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b="true" sz="232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for learning review, access and evaluation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600" y="5724525"/>
            <a:ext cx="5524500" cy="28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18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Learner access stays free.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338888" y="2043112"/>
            <a:ext cx="3581400" cy="436588"/>
            <a:chOff x="0" y="0"/>
            <a:chExt cx="4775200" cy="5821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75200" cy="582117"/>
            </a:xfrm>
            <a:custGeom>
              <a:avLst/>
              <a:gdLst/>
              <a:ahLst/>
              <a:cxnLst/>
              <a:rect r="r" b="b" t="t" l="l"/>
              <a:pathLst>
                <a:path h="582117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2117"/>
                  </a:lnTo>
                  <a:lnTo>
                    <a:pt x="0" y="58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75200" cy="582117"/>
            </a:xfrm>
            <a:custGeom>
              <a:avLst/>
              <a:gdLst/>
              <a:ahLst/>
              <a:cxnLst/>
              <a:rect r="r" b="b" t="t" l="l"/>
              <a:pathLst>
                <a:path h="582117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2117"/>
                  </a:lnTo>
                  <a:lnTo>
                    <a:pt x="0" y="58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775200" cy="601167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889"/>
                </a:lnSpc>
              </a:pPr>
              <a:r>
                <a:rPr lang="en-US" b="true" sz="1350">
                  <a:solidFill>
                    <a:srgbClr val="15152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Allocation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20288" y="2043112"/>
            <a:ext cx="1600200" cy="436588"/>
            <a:chOff x="0" y="0"/>
            <a:chExt cx="2133600" cy="5821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" cy="582117"/>
            </a:xfrm>
            <a:custGeom>
              <a:avLst/>
              <a:gdLst/>
              <a:ahLst/>
              <a:cxnLst/>
              <a:rect r="r" b="b" t="t" l="l"/>
              <a:pathLst>
                <a:path h="582117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2117"/>
                  </a:lnTo>
                  <a:lnTo>
                    <a:pt x="0" y="58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3600" cy="582117"/>
            </a:xfrm>
            <a:custGeom>
              <a:avLst/>
              <a:gdLst/>
              <a:ahLst/>
              <a:cxnLst/>
              <a:rect r="r" b="b" t="t" l="l"/>
              <a:pathLst>
                <a:path h="582117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2117"/>
                  </a:lnTo>
                  <a:lnTo>
                    <a:pt x="0" y="58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33600" cy="601167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889"/>
                </a:lnSpc>
              </a:pPr>
              <a:r>
                <a:rPr lang="en-US" b="true" sz="1350">
                  <a:solidFill>
                    <a:srgbClr val="15152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38888" y="2443162"/>
            <a:ext cx="3581400" cy="440474"/>
            <a:chOff x="0" y="0"/>
            <a:chExt cx="4775200" cy="5872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7752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151521"/>
                  </a:solidFill>
                  <a:latin typeface="DM Sans"/>
                  <a:ea typeface="DM Sans"/>
                  <a:cs typeface="DM Sans"/>
                  <a:sym typeface="DM Sans"/>
                </a:rPr>
                <a:t>Learning review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20288" y="2443162"/>
            <a:ext cx="1600200" cy="440474"/>
            <a:chOff x="0" y="0"/>
            <a:chExt cx="2133600" cy="5872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1336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15152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24,000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38888" y="2843212"/>
            <a:ext cx="3581400" cy="440474"/>
            <a:chOff x="0" y="0"/>
            <a:chExt cx="4775200" cy="5872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47752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151521"/>
                  </a:solidFill>
                  <a:latin typeface="DM Sans"/>
                  <a:ea typeface="DM Sans"/>
                  <a:cs typeface="DM Sans"/>
                  <a:sym typeface="DM Sans"/>
                </a:rPr>
                <a:t>Access support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920288" y="2843212"/>
            <a:ext cx="1600200" cy="440474"/>
            <a:chOff x="0" y="0"/>
            <a:chExt cx="2133600" cy="5872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1336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15152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18,000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338888" y="3243262"/>
            <a:ext cx="3581400" cy="440474"/>
            <a:chOff x="0" y="0"/>
            <a:chExt cx="4775200" cy="5872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7752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151521"/>
                  </a:solidFill>
                  <a:latin typeface="DM Sans"/>
                  <a:ea typeface="DM Sans"/>
                  <a:cs typeface="DM Sans"/>
                  <a:sym typeface="DM Sans"/>
                </a:rPr>
                <a:t>Evaluation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920288" y="3243262"/>
            <a:ext cx="1600200" cy="440474"/>
            <a:chOff x="0" y="0"/>
            <a:chExt cx="2133600" cy="58729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21336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15152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18,000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338888" y="3643312"/>
            <a:ext cx="3581400" cy="440474"/>
            <a:chOff x="0" y="0"/>
            <a:chExt cx="4775200" cy="58729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7752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151521"/>
                  </a:solidFill>
                  <a:latin typeface="DM Sans"/>
                  <a:ea typeface="DM Sans"/>
                  <a:cs typeface="DM Sans"/>
                  <a:sym typeface="DM Sans"/>
                </a:rPr>
                <a:t>Deployment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20288" y="3643312"/>
            <a:ext cx="1600200" cy="440474"/>
            <a:chOff x="0" y="0"/>
            <a:chExt cx="2133600" cy="5872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1336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15152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16,000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338888" y="4043362"/>
            <a:ext cx="3581400" cy="440474"/>
            <a:chOff x="0" y="0"/>
            <a:chExt cx="4775200" cy="58729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47752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151521"/>
                  </a:solidFill>
                  <a:latin typeface="DM Sans"/>
                  <a:ea typeface="DM Sans"/>
                  <a:cs typeface="DM Sans"/>
                  <a:sym typeface="DM Sans"/>
                </a:rPr>
                <a:t>Product operations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920288" y="4043362"/>
            <a:ext cx="1600200" cy="440474"/>
            <a:chOff x="0" y="0"/>
            <a:chExt cx="2133600" cy="58729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21336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15152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8,000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38888" y="4443412"/>
            <a:ext cx="3581400" cy="440474"/>
            <a:chOff x="0" y="0"/>
            <a:chExt cx="4775200" cy="58729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47752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151521"/>
                  </a:solidFill>
                  <a:latin typeface="DM Sans"/>
                  <a:ea typeface="DM Sans"/>
                  <a:cs typeface="DM Sans"/>
                  <a:sym typeface="DM Sans"/>
                </a:rPr>
                <a:t>Teacher onboarding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920288" y="4443412"/>
            <a:ext cx="1600200" cy="440474"/>
            <a:chOff x="0" y="0"/>
            <a:chExt cx="2133600" cy="58729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21336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15152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8,000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338888" y="4843462"/>
            <a:ext cx="3581400" cy="440474"/>
            <a:chOff x="0" y="0"/>
            <a:chExt cx="4775200" cy="58729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47752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151521"/>
                  </a:solidFill>
                  <a:latin typeface="DM Sans"/>
                  <a:ea typeface="DM Sans"/>
                  <a:cs typeface="DM Sans"/>
                  <a:sym typeface="DM Sans"/>
                </a:rPr>
                <a:t>Recruitment content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920288" y="4843462"/>
            <a:ext cx="1600200" cy="440474"/>
            <a:chOff x="0" y="0"/>
            <a:chExt cx="2133600" cy="58729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1336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15152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3,000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338888" y="5243512"/>
            <a:ext cx="3581400" cy="440474"/>
            <a:chOff x="0" y="0"/>
            <a:chExt cx="4775200" cy="58729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47752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151521"/>
                  </a:solidFill>
                  <a:latin typeface="DM Sans"/>
                  <a:ea typeface="DM Sans"/>
                  <a:cs typeface="DM Sans"/>
                  <a:sym typeface="DM Sans"/>
                </a:rPr>
                <a:t>Contingency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920288" y="5243512"/>
            <a:ext cx="1600200" cy="440474"/>
            <a:chOff x="0" y="0"/>
            <a:chExt cx="2133600" cy="58729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1336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15152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5,000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338888" y="5643562"/>
            <a:ext cx="3581400" cy="440474"/>
            <a:chOff x="0" y="0"/>
            <a:chExt cx="4775200" cy="58729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775200" cy="587299"/>
            </a:xfrm>
            <a:custGeom>
              <a:avLst/>
              <a:gdLst/>
              <a:ahLst/>
              <a:cxnLst/>
              <a:rect r="r" b="b" t="t" l="l"/>
              <a:pathLst>
                <a:path h="587299" w="4775200">
                  <a:moveTo>
                    <a:pt x="0" y="0"/>
                  </a:moveTo>
                  <a:lnTo>
                    <a:pt x="4775200" y="0"/>
                  </a:lnTo>
                  <a:lnTo>
                    <a:pt x="47752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47752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5753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Total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920288" y="5643562"/>
            <a:ext cx="1600200" cy="440474"/>
            <a:chOff x="0" y="0"/>
            <a:chExt cx="2133600" cy="58729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FFF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133600" cy="587299"/>
            </a:xfrm>
            <a:custGeom>
              <a:avLst/>
              <a:gdLst/>
              <a:ahLst/>
              <a:cxnLst/>
              <a:rect r="r" b="b" t="t" l="l"/>
              <a:pathLst>
                <a:path h="58729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587299"/>
                  </a:lnTo>
                  <a:lnTo>
                    <a:pt x="0" y="5872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CD7E4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2133600" cy="615874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2310"/>
                </a:lnSpc>
              </a:pPr>
              <a:r>
                <a:rPr lang="en-US" b="true" sz="1650">
                  <a:solidFill>
                    <a:srgbClr val="5753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100,000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609600" y="6410325"/>
            <a:ext cx="4667250" cy="13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"/>
              </a:lnSpc>
            </a:pPr>
            <a:r>
              <a:rPr lang="en-US" sz="97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Planning allocation</a:t>
            </a:r>
          </a:p>
        </p:txBody>
      </p:sp>
      <p:sp>
        <p:nvSpPr>
          <p:cNvPr name="AutoShape 92" id="92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533400"/>
            <a:ext cx="5715000" cy="39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b="true" sz="2625">
                <a:solidFill>
                  <a:srgbClr val="087E70"/>
                </a:solidFill>
                <a:latin typeface="DM Sans Bold"/>
                <a:ea typeface="DM Sans Bold"/>
                <a:cs typeface="DM Sans Bold"/>
                <a:sym typeface="DM Sans Bold"/>
              </a:rPr>
              <a:t>backtrack.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600" y="1276350"/>
            <a:ext cx="10972800" cy="1898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3"/>
              </a:lnSpc>
            </a:pPr>
            <a:r>
              <a:rPr lang="en-US" b="true" sz="6150">
                <a:solidFill>
                  <a:srgbClr val="5753FA"/>
                </a:solidFill>
                <a:latin typeface="DM Sans Bold"/>
                <a:ea typeface="DM Sans Bold"/>
                <a:cs typeface="DM Sans Bold"/>
                <a:sym typeface="DM Sans Bold"/>
              </a:rPr>
              <a:t>A route back to today’s lesson.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600" y="4848225"/>
            <a:ext cx="10972800" cy="34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b="true" sz="2325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University of the Philippines Manila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600" y="5448300"/>
            <a:ext cx="10972800" cy="29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0"/>
              </a:lnSpc>
            </a:pPr>
            <a:r>
              <a:rPr lang="en-US" sz="20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Matthew Labrador, Paul Recio, Harry Gomez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600" y="5991225"/>
            <a:ext cx="10972800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Coach: Justin Mesias</a:t>
            </a:r>
          </a:p>
        </p:txBody>
      </p:sp>
      <p:sp>
        <p:nvSpPr>
          <p:cNvPr name="Freeform 11" id="11"/>
          <p:cNvSpPr/>
          <p:nvPr/>
        </p:nvSpPr>
        <p:spPr>
          <a:xfrm>
            <a:off x="1714500" y="3714750"/>
            <a:ext cx="8763000" cy="914864"/>
          </a:xfrm>
          <a:custGeom>
            <a:avLst/>
            <a:gdLst/>
            <a:ahLst/>
            <a:cxnLst/>
            <a:rect r="r" b="b" t="t" l="l"/>
            <a:pathLst>
              <a:path h="914864" w="8763000">
                <a:moveTo>
                  <a:pt x="0" y="0"/>
                </a:moveTo>
                <a:quadBezTo>
                  <a:pt x="4381500" y="1829728"/>
                  <a:pt x="8763000" y="0"/>
                </a:quadBezTo>
              </a:path>
            </a:pathLst>
          </a:custGeom>
          <a:ln cap="rnd" w="66675">
            <a:solidFill>
              <a:srgbClr val="C96331"/>
            </a:solidFill>
            <a:prstDash val="solid"/>
            <a:headEnd type="oval" len="lg" w="lg"/>
            <a:tailEnd type="arrow" len="sm" w="med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239500" y="6353175"/>
            <a:ext cx="428625" cy="1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2"/>
              </a:lnSpc>
            </a:pPr>
            <a:r>
              <a:rPr lang="en-US" sz="1125">
                <a:solidFill>
                  <a:srgbClr val="536073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600" y="600075"/>
            <a:ext cx="10972800" cy="61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b="true" sz="4050">
                <a:solidFill>
                  <a:srgbClr val="151521"/>
                </a:solidFill>
                <a:latin typeface="DM Sans Bold"/>
                <a:ea typeface="DM Sans Bold"/>
                <a:cs typeface="DM Sans Bold"/>
                <a:sym typeface="DM Sans Bold"/>
              </a:rPr>
              <a:t>Research behind the 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600" y="2305050"/>
            <a:ext cx="5095875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753FA"/>
                </a:solidFill>
                <a:latin typeface="DM Sans"/>
                <a:ea typeface="DM Sans"/>
                <a:cs typeface="DM Sans"/>
                <a:sym typeface="DM Sans"/>
                <a:hlinkClick r:id="rId4" tooltip="https://support.khanacademy.org/hc/en-us/articles/360031129891-What-reporting-options-are-available-on-Khan-Academy-for-teachers-to-track-student-performance"/>
              </a:rPr>
              <a:t>Khan Academy teacher reports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600" y="3238500"/>
            <a:ext cx="5095875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753FA"/>
                </a:solidFill>
                <a:latin typeface="DM Sans"/>
                <a:ea typeface="DM Sans"/>
                <a:cs typeface="DM Sans"/>
                <a:sym typeface="DM Sans"/>
                <a:hlinkClick r:id="rId5" tooltip="https://www.mheducation.com/unitas/school/explore/sites/aleks/customizing-custom-objectives.pdf"/>
              </a:rPr>
              <a:t>ALEKS custom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600" y="4171950"/>
            <a:ext cx="5095875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753FA"/>
                </a:solidFill>
                <a:latin typeface="DM Sans"/>
                <a:ea typeface="DM Sans"/>
                <a:cs typeface="DM Sans"/>
                <a:sym typeface="DM Sans"/>
                <a:hlinkClick r:id="rId6" tooltip="https://blog.google/innovation-and-ai/products/gemini-app/gemini-study-notebooks/"/>
              </a:rPr>
              <a:t>Gemini study notebooks ·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600" y="5105400"/>
            <a:ext cx="5095875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753FA"/>
                </a:solidFill>
                <a:latin typeface="DM Sans"/>
                <a:ea typeface="DM Sans"/>
                <a:cs typeface="DM Sans"/>
                <a:sym typeface="DM Sans"/>
                <a:hlinkClick r:id="rId7" tooltip="https://ies.ed.gov/ncee/wwc/practiceguide/1"/>
              </a:rPr>
              <a:t>IES learning practice guide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86525" y="2305050"/>
            <a:ext cx="5095875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753FA"/>
                </a:solidFill>
                <a:latin typeface="DM Sans"/>
                <a:ea typeface="DM Sans"/>
                <a:cs typeface="DM Sans"/>
                <a:sym typeface="DM Sans"/>
                <a:hlinkClick r:id="rId8" tooltip="https://doi.org/10.1038/s44159-022-00089-1"/>
              </a:rPr>
              <a:t>Spacing and retrieval · 2022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86525" y="3238500"/>
            <a:ext cx="5095875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753FA"/>
                </a:solidFill>
                <a:latin typeface="DM Sans"/>
                <a:ea typeface="DM Sans"/>
                <a:cs typeface="DM Sans"/>
                <a:sym typeface="DM Sans"/>
                <a:hlinkClick r:id="rId9" tooltip="https://doi.org/10.1007/s10763-021-10207-9"/>
              </a:rPr>
              <a:t>Confidence assessment · Foster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86525" y="4171950"/>
            <a:ext cx="5095875" cy="27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>
                <a:solidFill>
                  <a:srgbClr val="5753FA"/>
                </a:solidFill>
                <a:latin typeface="DM Sans"/>
                <a:ea typeface="DM Sans"/>
                <a:cs typeface="DM Sans"/>
                <a:sym typeface="DM Sans"/>
                <a:hlinkClick r:id="rId10" tooltip="https://selfdeterminationtheory.org/topics/application-education/"/>
              </a:rPr>
              <a:t>Self-Determination Theory in education</a:t>
            </a:r>
          </a:p>
        </p:txBody>
      </p:sp>
      <p:sp>
        <p:nvSpPr>
          <p:cNvPr name="AutoShape 14" id="14"/>
          <p:cNvSpPr/>
          <p:nvPr/>
        </p:nvSpPr>
        <p:spPr>
          <a:xfrm>
            <a:off x="609600" y="1381125"/>
            <a:ext cx="10972800" cy="0"/>
          </a:xfrm>
          <a:prstGeom prst="line">
            <a:avLst/>
          </a:prstGeom>
          <a:ln cap="flat" w="19050">
            <a:solidFill>
              <a:srgbClr val="CCD7E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DAHUwYwVdj0</dc:identifier>
  <dcterms:modified xsi:type="dcterms:W3CDTF">2011-08-01T06:04:30Z</dcterms:modified>
  <cp:revision>1</cp:revision>
  <dc:title>BACKTRACK - Competition pitch</dc:title>
</cp:coreProperties>
</file>