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embeddedFontLst>
    <p:embeddedFont>
      <p:font typeface="DM Sans" pitchFamily="34" charset="0"/>
      <p:regular r:id="rIdBacktrackFont1"/>
      <p:bold r:id="rIdBacktrackFont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6" Target="notesSlides/notesSlide2.xml" Type="http://schemas.openxmlformats.org/officeDocument/2006/relationships/notesSlide"/><Relationship Id="rId27" Target="notesSlides/notesSlide3.xml" Type="http://schemas.openxmlformats.org/officeDocument/2006/relationships/notesSlide"/><Relationship Id="rId28" Target="notesSlides/notesSlide4.xml" Type="http://schemas.openxmlformats.org/officeDocument/2006/relationships/notesSlide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38" Target="notesSlides/notesSlide14.xml" Type="http://schemas.openxmlformats.org/officeDocument/2006/relationships/notesSlide"/><Relationship Id="rId39" Target="notesSlides/notesSlide15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Relationship Id="rIdBacktrackFont1" Type="http://schemas.openxmlformats.org/officeDocument/2006/relationships/font" Target="fonts/font1.fntdata"/><Relationship Id="rIdBacktrackFont2" Type="http://schemas.openxmlformats.org/officeDocument/2006/relationships/font" Target="fonts/font2.fntdata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Stuck on today’s lesson. Unsure what to review.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Today’s task can hide an earlier gap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Four steps back to the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Your answers change the route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Khan material, focused on the missing step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Back to the skill that stopped them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Try BACKTRACK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Can they still do it next week?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five-month school pilot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Does the route add value?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The route is the reward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One routine. Many learning goals.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budget built around learners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route back to today’s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Research behind the approach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6.png" Type="http://schemas.openxmlformats.org/officeDocument/2006/relationships/image"/><Relationship Id="rId5" Target="https://www.khanacademy.org/math/algebra/x2f8bb11595b61c86:quadratics-multiplying-factoring/x2f8bb11595b61c86:factor-quadratics-intro/v/factoring-simple-quadratic-expression" TargetMode="External" Type="http://schemas.openxmlformats.org/officeDocument/2006/relationships/hyperlink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7.jpeg" Type="http://schemas.openxmlformats.org/officeDocument/2006/relationships/image"/><Relationship Id="rId5" Target="../media/image8.png" Type="http://schemas.openxmlformats.org/officeDocument/2006/relationships/image"/><Relationship Id="rId6" Target="https://backtrack-learning.vercel.app/demo" TargetMode="External" Type="http://schemas.openxmlformats.org/officeDocument/2006/relationships/hyperlink"/><Relationship Id="rId7" Target="https://backtrack-learning.vercel.app/demo" TargetMode="External" Type="http://schemas.openxmlformats.org/officeDocument/2006/relationships/hyperlink"/><Relationship Id="rId8" Target="https://backtrack-learning.vercel.app/demo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https://doi.org/10.1038/s44159-022-00089-1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selfdeterminationtheory.org/topics/application-education/" TargetMode="External" Type="http://schemas.openxmlformats.org/officeDocument/2006/relationships/hyperlink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Relationship Id="rId4" Target="https://support.khanacademy.org/hc/en-us/articles/360031129891-What-reporting-options-are-available-on-Khan-Academy-for-teachers-to-track-student-performance" TargetMode="External" Type="http://schemas.openxmlformats.org/officeDocument/2006/relationships/hyperlink"/><Relationship Id="rId5" Target="https://www.mheducation.com/unitas/school/explore/sites/aleks/customizing-custom-objectives.pdf" TargetMode="External" Type="http://schemas.openxmlformats.org/officeDocument/2006/relationships/hyperlink"/><Relationship Id="rId6" Target="https://blog.google/innovation-and-ai/products/gemini-app/gemini-study-notebooks/" TargetMode="External" Type="http://schemas.openxmlformats.org/officeDocument/2006/relationships/hyperlink"/><Relationship Id="rId7" Target="https://ies.ed.gov/ncee/wwc/practiceguide/1" TargetMode="External" Type="http://schemas.openxmlformats.org/officeDocument/2006/relationships/hyperlink"/><Relationship Id="rId8" Target="https://doi.org/10.1038/s44159-022-00089-1" TargetMode="External" Type="http://schemas.openxmlformats.org/officeDocument/2006/relationships/hyperlink"/><Relationship Id="rId9" Target="https://doi.org/10.1007/s10763-021-10207-9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524000" y="4095750"/>
            <a:ext cx="9715500" cy="1428750"/>
          </a:xfrm>
          <a:custGeom>
            <a:avLst/>
            <a:gdLst/>
            <a:ahLst/>
            <a:cxnLst/>
            <a:rect r="r" b="b" t="t" l="l"/>
            <a:pathLst>
              <a:path h="1428750" w="9715500">
                <a:moveTo>
                  <a:pt x="0" y="0"/>
                </a:moveTo>
                <a:lnTo>
                  <a:pt x="9715500" y="0"/>
                </a:lnTo>
                <a:lnTo>
                  <a:pt x="9715500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5581650" y="5295900"/>
            <a:ext cx="266700" cy="266700"/>
            <a:chOff x="0" y="0"/>
            <a:chExt cx="105363" cy="10536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10572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1" sz="44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Find the missing skill.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17430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1" sz="44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Get back to today’s lesson.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733675"/>
            <a:ext cx="10972800" cy="65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 PROBLEM</a:t>
            </a:r>
          </a:p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student gets stuck, but doesn’t know which earlier skill to review.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6448425"/>
            <a:ext cx="9525000" cy="2155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8"/>
              </a:lnSpc>
            </a:pPr>
            <a:r>
              <a:rPr lang="en-US" sz="14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85750" y="3790950"/>
            <a:ext cx="2857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1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Check today’s</a:t>
            </a:r>
          </a:p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task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619500" y="5610225"/>
            <a:ext cx="41910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1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the missing skill</a:t>
            </a:r>
          </a:p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with Khan Academy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286750" y="3467100"/>
            <a:ext cx="3238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Return to today’s lesson</a:t>
            </a:r>
          </a:p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with a fresh check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581150" y="4438650"/>
            <a:ext cx="266700" cy="266700"/>
            <a:chOff x="0" y="0"/>
            <a:chExt cx="105363" cy="10536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772650" y="4152900"/>
            <a:ext cx="266700" cy="266700"/>
            <a:chOff x="0" y="0"/>
            <a:chExt cx="105363" cy="10536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90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6"/>
              </a:lnSpc>
            </a:pPr>
            <a:r>
              <a:rPr lang="en-US" b="1" sz="38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The search can become the study session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1" sz="157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01  WHAT THEY NEED TO FINISH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609600" y="2714625"/>
            <a:ext cx="4648200" cy="21907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Solve this equation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609975"/>
            <a:ext cx="4191000" cy="487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3"/>
              </a:lnSpc>
            </a:pPr>
            <a:r>
              <a:rPr lang="en-US" b="1" sz="31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x² + 7x + 12 = 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38200" y="4371975"/>
            <a:ext cx="41910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They search “quadratics”.</a:t>
            </a:r>
          </a:p>
        </p:txBody>
      </p:sp>
      <p:sp>
        <p:nvSpPr>
          <p:cNvPr name="AutoShape 12" id="12"/>
          <p:cNvSpPr/>
          <p:nvPr/>
        </p:nvSpPr>
        <p:spPr>
          <a:xfrm rot="0">
            <a:off x="5562600" y="3800475"/>
            <a:ext cx="876300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3" id="13"/>
          <p:cNvGrpSpPr/>
          <p:nvPr/>
        </p:nvGrpSpPr>
        <p:grpSpPr>
          <a:xfrm rot="1840140">
            <a:off x="6381083" y="37648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8959860">
            <a:off x="6372987" y="3850576"/>
            <a:ext cx="171450" cy="28575"/>
            <a:chOff x="0" y="0"/>
            <a:chExt cx="228600" cy="381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342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1" sz="15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02  WHAT MAY BE BLOCKING IT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6934200" y="2714625"/>
            <a:ext cx="4648200" cy="21907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71628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Find the factor pair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62800" y="35528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Multiply to 12. Add to 7.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55435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1" sz="24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 checks the gap before choosing the repair.</a:t>
            </a:r>
          </a:p>
        </p:txBody>
      </p:sp>
      <p:sp>
        <p:nvSpPr>
          <p:cNvPr name="AutoShape 22" id="2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How BACKTRACK gets a learner unstuck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6375" y="287655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5621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today’s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task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4193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237833" y="309810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229737" y="318382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4371975" y="287655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44577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5052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Check earlier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skills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53149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6133433" y="3098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6125337" y="318382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267575" y="287655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3533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4008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Practice with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Khan Academy</a:t>
            </a:r>
          </a:p>
        </p:txBody>
      </p:sp>
      <p:sp>
        <p:nvSpPr>
          <p:cNvPr name="AutoShape 29" id="29"/>
          <p:cNvSpPr/>
          <p:nvPr/>
        </p:nvSpPr>
        <p:spPr>
          <a:xfrm rot="0">
            <a:off x="82105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30" id="30"/>
          <p:cNvGrpSpPr/>
          <p:nvPr/>
        </p:nvGrpSpPr>
        <p:grpSpPr>
          <a:xfrm rot="1840140">
            <a:off x="9029033" y="3098102"/>
            <a:ext cx="171450" cy="28575"/>
            <a:chOff x="0" y="0"/>
            <a:chExt cx="228600" cy="381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2" id="32"/>
          <p:cNvGrpSpPr/>
          <p:nvPr/>
        </p:nvGrpSpPr>
        <p:grpSpPr>
          <a:xfrm rot="8959860">
            <a:off x="9020937" y="3183826"/>
            <a:ext cx="171450" cy="28575"/>
            <a:chOff x="0" y="0"/>
            <a:chExt cx="228600" cy="381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0163175" y="2876550"/>
            <a:ext cx="552450" cy="552450"/>
            <a:chOff x="0" y="0"/>
            <a:chExt cx="736600" cy="7366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02489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2964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it again with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fresh numbers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09600" y="54483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Answers choose the next step. Fresh problems check the return.</a:t>
            </a:r>
          </a:p>
        </p:txBody>
      </p:sp>
      <p:sp>
        <p:nvSpPr>
          <p:cNvPr name="AutoShape 39" id="3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609600" y="4762500"/>
            <a:ext cx="10972800" cy="895350"/>
          </a:xfrm>
          <a:custGeom>
            <a:avLst/>
            <a:gdLst/>
            <a:ahLst/>
            <a:cxnLst/>
            <a:rect r="r" b="b" t="t" l="l"/>
            <a:pathLst>
              <a:path h="895350" w="10972800">
                <a:moveTo>
                  <a:pt x="0" y="0"/>
                </a:moveTo>
                <a:lnTo>
                  <a:pt x="10972800" y="0"/>
                </a:lnTo>
                <a:lnTo>
                  <a:pt x="10972800" y="895350"/>
                </a:lnTo>
                <a:lnTo>
                  <a:pt x="0" y="8953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609600" y="2571750"/>
            <a:ext cx="5029200" cy="2190750"/>
            <a:chOff x="0" y="0"/>
            <a:chExt cx="1986844" cy="86548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86844" cy="865481"/>
            </a:xfrm>
            <a:custGeom>
              <a:avLst/>
              <a:gdLst/>
              <a:ahLst/>
              <a:cxnLst/>
              <a:rect r="r" b="b" t="t" l="l"/>
              <a:pathLst>
                <a:path h="865481" w="1986844">
                  <a:moveTo>
                    <a:pt x="18473" y="0"/>
                  </a:moveTo>
                  <a:lnTo>
                    <a:pt x="1968372" y="0"/>
                  </a:lnTo>
                  <a:cubicBezTo>
                    <a:pt x="1973271" y="0"/>
                    <a:pt x="1977970" y="1946"/>
                    <a:pt x="1981434" y="5411"/>
                  </a:cubicBezTo>
                  <a:cubicBezTo>
                    <a:pt x="1984898" y="8875"/>
                    <a:pt x="1986844" y="13573"/>
                    <a:pt x="1986844" y="18473"/>
                  </a:cubicBezTo>
                  <a:lnTo>
                    <a:pt x="1986844" y="847009"/>
                  </a:lnTo>
                  <a:cubicBezTo>
                    <a:pt x="1986844" y="851908"/>
                    <a:pt x="1984898" y="856607"/>
                    <a:pt x="1981434" y="860071"/>
                  </a:cubicBezTo>
                  <a:cubicBezTo>
                    <a:pt x="1977970" y="863535"/>
                    <a:pt x="1973271" y="865481"/>
                    <a:pt x="1968372" y="865481"/>
                  </a:cubicBezTo>
                  <a:lnTo>
                    <a:pt x="18473" y="865481"/>
                  </a:lnTo>
                  <a:cubicBezTo>
                    <a:pt x="13573" y="865481"/>
                    <a:pt x="8875" y="863535"/>
                    <a:pt x="5411" y="860071"/>
                  </a:cubicBezTo>
                  <a:cubicBezTo>
                    <a:pt x="1946" y="856607"/>
                    <a:pt x="0" y="851908"/>
                    <a:pt x="0" y="847009"/>
                  </a:cubicBezTo>
                  <a:lnTo>
                    <a:pt x="0" y="18473"/>
                  </a:lnTo>
                  <a:cubicBezTo>
                    <a:pt x="0" y="13573"/>
                    <a:pt x="1946" y="8875"/>
                    <a:pt x="5411" y="5411"/>
                  </a:cubicBezTo>
                  <a:cubicBezTo>
                    <a:pt x="8875" y="1946"/>
                    <a:pt x="13573" y="0"/>
                    <a:pt x="18473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986844" cy="8654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553200" y="2571750"/>
            <a:ext cx="5029200" cy="2190750"/>
            <a:chOff x="0" y="0"/>
            <a:chExt cx="1986844" cy="86548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86844" cy="865481"/>
            </a:xfrm>
            <a:custGeom>
              <a:avLst/>
              <a:gdLst/>
              <a:ahLst/>
              <a:cxnLst/>
              <a:rect r="r" b="b" t="t" l="l"/>
              <a:pathLst>
                <a:path h="865481" w="1986844">
                  <a:moveTo>
                    <a:pt x="18473" y="0"/>
                  </a:moveTo>
                  <a:lnTo>
                    <a:pt x="1968372" y="0"/>
                  </a:lnTo>
                  <a:cubicBezTo>
                    <a:pt x="1973271" y="0"/>
                    <a:pt x="1977970" y="1946"/>
                    <a:pt x="1981434" y="5411"/>
                  </a:cubicBezTo>
                  <a:cubicBezTo>
                    <a:pt x="1984898" y="8875"/>
                    <a:pt x="1986844" y="13573"/>
                    <a:pt x="1986844" y="18473"/>
                  </a:cubicBezTo>
                  <a:lnTo>
                    <a:pt x="1986844" y="847009"/>
                  </a:lnTo>
                  <a:cubicBezTo>
                    <a:pt x="1986844" y="851908"/>
                    <a:pt x="1984898" y="856607"/>
                    <a:pt x="1981434" y="860071"/>
                  </a:cubicBezTo>
                  <a:cubicBezTo>
                    <a:pt x="1977970" y="863535"/>
                    <a:pt x="1973271" y="865481"/>
                    <a:pt x="1968372" y="865481"/>
                  </a:cubicBezTo>
                  <a:lnTo>
                    <a:pt x="18473" y="865481"/>
                  </a:lnTo>
                  <a:cubicBezTo>
                    <a:pt x="13573" y="865481"/>
                    <a:pt x="8875" y="863535"/>
                    <a:pt x="5411" y="860071"/>
                  </a:cubicBezTo>
                  <a:cubicBezTo>
                    <a:pt x="1946" y="856607"/>
                    <a:pt x="0" y="851908"/>
                    <a:pt x="0" y="847009"/>
                  </a:cubicBezTo>
                  <a:lnTo>
                    <a:pt x="0" y="18473"/>
                  </a:lnTo>
                  <a:cubicBezTo>
                    <a:pt x="0" y="13573"/>
                    <a:pt x="1946" y="8875"/>
                    <a:pt x="5411" y="5411"/>
                  </a:cubicBezTo>
                  <a:cubicBezTo>
                    <a:pt x="8875" y="1946"/>
                    <a:pt x="13573" y="0"/>
                    <a:pt x="18473" y="0"/>
                  </a:cubicBezTo>
                  <a:close/>
                </a:path>
              </a:pathLst>
            </a:custGeom>
            <a:solidFill>
              <a:srgbClr val="F8EAD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986844" cy="8654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429000" y="5619750"/>
            <a:ext cx="5334000" cy="809625"/>
            <a:chOff x="0" y="0"/>
            <a:chExt cx="2107259" cy="31985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07259" cy="319852"/>
            </a:xfrm>
            <a:custGeom>
              <a:avLst/>
              <a:gdLst/>
              <a:ahLst/>
              <a:cxnLst/>
              <a:rect r="r" b="b" t="t" l="l"/>
              <a:pathLst>
                <a:path h="319852" w="2107259">
                  <a:moveTo>
                    <a:pt x="17417" y="0"/>
                  </a:moveTo>
                  <a:lnTo>
                    <a:pt x="2089842" y="0"/>
                  </a:lnTo>
                  <a:cubicBezTo>
                    <a:pt x="2094461" y="0"/>
                    <a:pt x="2098891" y="1835"/>
                    <a:pt x="2102158" y="5101"/>
                  </a:cubicBezTo>
                  <a:cubicBezTo>
                    <a:pt x="2105424" y="8368"/>
                    <a:pt x="2107259" y="12798"/>
                    <a:pt x="2107259" y="17417"/>
                  </a:cubicBezTo>
                  <a:lnTo>
                    <a:pt x="2107259" y="302435"/>
                  </a:lnTo>
                  <a:cubicBezTo>
                    <a:pt x="2107259" y="307054"/>
                    <a:pt x="2105424" y="311484"/>
                    <a:pt x="2102158" y="314750"/>
                  </a:cubicBezTo>
                  <a:cubicBezTo>
                    <a:pt x="2098891" y="318017"/>
                    <a:pt x="2094461" y="319852"/>
                    <a:pt x="2089842" y="319852"/>
                  </a:cubicBezTo>
                  <a:lnTo>
                    <a:pt x="17417" y="319852"/>
                  </a:lnTo>
                  <a:cubicBezTo>
                    <a:pt x="12798" y="319852"/>
                    <a:pt x="8368" y="318017"/>
                    <a:pt x="5101" y="314750"/>
                  </a:cubicBezTo>
                  <a:cubicBezTo>
                    <a:pt x="1835" y="311484"/>
                    <a:pt x="0" y="307054"/>
                    <a:pt x="0" y="302435"/>
                  </a:cubicBezTo>
                  <a:lnTo>
                    <a:pt x="0" y="17417"/>
                  </a:lnTo>
                  <a:cubicBezTo>
                    <a:pt x="0" y="12798"/>
                    <a:pt x="1835" y="8368"/>
                    <a:pt x="5101" y="5101"/>
                  </a:cubicBezTo>
                  <a:cubicBezTo>
                    <a:pt x="8368" y="1835"/>
                    <a:pt x="12798" y="0"/>
                    <a:pt x="17417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107259" cy="3198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Two wrong answers. Different help.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9600" y="1609725"/>
            <a:ext cx="1097280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0"/>
              </a:lnSpc>
            </a:pPr>
            <a:r>
              <a:rPr lang="en-US" b="1" sz="30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For x² + 7x + 12 = 0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38200" y="2857500"/>
            <a:ext cx="4572000" cy="506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4"/>
              </a:lnSpc>
              <a:spcBef>
                <a:spcPct val="0"/>
              </a:spcBef>
            </a:pPr>
            <a:r>
              <a:rPr lang="en-US" b="1" sz="32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 = 3, 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38200" y="3762375"/>
            <a:ext cx="4572000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Right pair, wrong signs.</a:t>
            </a:r>
          </a:p>
          <a:p>
            <a:pPr algn="ctr">
              <a:lnSpc>
                <a:spcPts val="2196"/>
              </a:lnSpc>
              <a:spcBef>
                <a:spcPct val="0"/>
              </a:spcBef>
            </a:pPr>
            <a:r>
              <a:rPr lang="en-US" b="1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Check signs and solutions.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781800" y="2857500"/>
            <a:ext cx="4572000" cy="506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4"/>
              </a:lnSpc>
              <a:spcBef>
                <a:spcPct val="0"/>
              </a:spcBef>
            </a:pPr>
            <a:r>
              <a:rPr lang="en-US" b="1" sz="32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 = 2, 6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781800" y="3762375"/>
            <a:ext cx="4572000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Wrong factor pair.</a:t>
            </a:r>
          </a:p>
          <a:p>
            <a:pPr algn="ctr">
              <a:lnSpc>
                <a:spcPts val="2196"/>
              </a:lnSpc>
              <a:spcBef>
                <a:spcPct val="0"/>
              </a:spcBef>
            </a:pPr>
            <a:r>
              <a:rPr lang="en-US" b="1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Check product and sum.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619500" y="5800725"/>
            <a:ext cx="4953000" cy="374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28"/>
              </a:lnSpc>
              <a:spcBef>
                <a:spcPct val="0"/>
              </a:spcBef>
            </a:pPr>
            <a:r>
              <a:rPr lang="en-US" b="1" sz="24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Return with fresh numbers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9"/>
              </a:lnSpc>
            </a:pPr>
            <a:r>
              <a:rPr lang="en-US" b="1" sz="34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Khan material, focused on the missing step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429125" y="1562100"/>
            <a:ext cx="3333750" cy="533400"/>
            <a:chOff x="0" y="0"/>
            <a:chExt cx="4445000" cy="7112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45000" cy="711200"/>
            </a:xfrm>
            <a:custGeom>
              <a:avLst/>
              <a:gdLst/>
              <a:ahLst/>
              <a:cxnLst/>
              <a:rect r="r" b="b" t="t" l="l"/>
              <a:pathLst>
                <a:path h="7112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711200"/>
                  </a:lnTo>
                  <a:lnTo>
                    <a:pt x="0" y="711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283" r="0" b="283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 rot="0">
            <a:off x="6096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8572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572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Watch the key part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72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1:34 focused segment</a:t>
            </a:r>
          </a:p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Match sum and product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39909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4" id="14"/>
          <p:cNvGrpSpPr/>
          <p:nvPr/>
        </p:nvGrpSpPr>
        <p:grpSpPr>
          <a:xfrm rot="1840140">
            <a:off x="4171283" y="3802952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8959860">
            <a:off x="4163187" y="3888676"/>
            <a:ext cx="171450" cy="28575"/>
            <a:chOff x="0" y="0"/>
            <a:chExt cx="2286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18" id="18"/>
          <p:cNvSpPr/>
          <p:nvPr/>
        </p:nvSpPr>
        <p:spPr>
          <a:xfrm rot="0">
            <a:off x="4495800" y="2676525"/>
            <a:ext cx="3200400" cy="23812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47434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434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the step here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434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Use the idea with different numbers</a:t>
            </a:r>
          </a:p>
        </p:txBody>
      </p:sp>
      <p:sp>
        <p:nvSpPr>
          <p:cNvPr name="AutoShape 22" id="22"/>
          <p:cNvSpPr/>
          <p:nvPr/>
        </p:nvSpPr>
        <p:spPr>
          <a:xfrm rot="0">
            <a:off x="78771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3" id="23"/>
          <p:cNvGrpSpPr/>
          <p:nvPr/>
        </p:nvGrpSpPr>
        <p:grpSpPr>
          <a:xfrm rot="1840140">
            <a:off x="8057483" y="3802952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8959860">
            <a:off x="8049387" y="3888676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27" id="27"/>
          <p:cNvSpPr/>
          <p:nvPr/>
        </p:nvSpPr>
        <p:spPr>
          <a:xfrm rot="0">
            <a:off x="83820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28" id="28"/>
          <p:cNvSpPr txBox="true"/>
          <p:nvPr/>
        </p:nvSpPr>
        <p:spPr>
          <a:xfrm rot="0">
            <a:off x="86296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6296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Return to the goal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6296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Solve a fresh quadratic equation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5629275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Short enough to use now. More Khan practice when they need it.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5" tooltip="https://www.khanacademy.org/math/algebra/x2f8bb11595b61c86:quadratics-multiplying-factoring/x2f8bb11595b61c86:factor-quadratics-intro/v/factoring-simple-quadratic-expression"/>
              </a:rPr>
              <a:t>Khan Academy: factoring quadratics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Back to the skill that stopped them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86000"/>
            <a:ext cx="10972800" cy="234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0"/>
              </a:lnSpc>
            </a:pPr>
            <a:r>
              <a:rPr lang="en-US" b="1" sz="15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FRESH CURRENT-LEVEL TASK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10972800" cy="890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7"/>
              </a:lnSpc>
            </a:pPr>
            <a:r>
              <a:rPr lang="en-US" b="1" sz="58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x² + 11x + 28 = 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219575"/>
            <a:ext cx="10972800" cy="646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2"/>
              </a:lnSpc>
            </a:pPr>
            <a:r>
              <a:rPr lang="en-US" b="1" sz="41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x = -4 or x = -7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150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New numbers. The same skill they came to recover.</a:t>
            </a:r>
          </a:p>
        </p:txBody>
      </p:sp>
      <p:sp>
        <p:nvSpPr>
          <p:cNvPr name="AutoShape 11" id="1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609600" y="3648075"/>
            <a:ext cx="7029450" cy="1066800"/>
            <a:chOff x="0" y="0"/>
            <a:chExt cx="9372600" cy="1422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726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9372600">
                  <a:moveTo>
                    <a:pt x="127000" y="0"/>
                  </a:moveTo>
                  <a:lnTo>
                    <a:pt x="9245600" y="0"/>
                  </a:lnTo>
                  <a:cubicBezTo>
                    <a:pt x="9315704" y="0"/>
                    <a:pt x="9372600" y="56896"/>
                    <a:pt x="9372600" y="127000"/>
                  </a:cubicBezTo>
                  <a:lnTo>
                    <a:pt x="9372600" y="1295400"/>
                  </a:lnTo>
                  <a:cubicBezTo>
                    <a:pt x="9372600" y="1365504"/>
                    <a:pt x="9315704" y="1422400"/>
                    <a:pt x="9245600" y="1422400"/>
                  </a:cubicBezTo>
                  <a:lnTo>
                    <a:pt x="127000" y="1422400"/>
                  </a:lnTo>
                  <a:cubicBezTo>
                    <a:pt x="56896" y="1422400"/>
                    <a:pt x="0" y="1365504"/>
                    <a:pt x="0" y="1295400"/>
                  </a:cubicBezTo>
                  <a:lnTo>
                    <a:pt x="0" y="127000"/>
                  </a:lnTo>
                  <a:cubicBezTo>
                    <a:pt x="0" y="56896"/>
                    <a:pt x="56896" y="0"/>
                    <a:pt x="1270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039225" y="2990850"/>
            <a:ext cx="2238375" cy="2238375"/>
            <a:chOff x="0" y="0"/>
            <a:chExt cx="2984500" cy="29845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84500" cy="2984500"/>
            </a:xfrm>
            <a:custGeom>
              <a:avLst/>
              <a:gdLst/>
              <a:ahLst/>
              <a:cxnLst/>
              <a:rect r="r" b="b" t="t" l="l"/>
              <a:pathLst>
                <a:path h="2984500" w="2984500">
                  <a:moveTo>
                    <a:pt x="0" y="0"/>
                  </a:moveTo>
                  <a:lnTo>
                    <a:pt x="2984500" y="0"/>
                  </a:lnTo>
                  <a:lnTo>
                    <a:pt x="2984500" y="2984500"/>
                  </a:lnTo>
                  <a:lnTo>
                    <a:pt x="0" y="298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78303" t="0" r="-78303" b="0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>
            <a:hlinkClick r:id="rId6" tooltip="https://backtrack-learning.vercel.app/demo"/>
          </p:cNvPr>
          <p:cNvSpPr/>
          <p:nvPr/>
        </p:nvSpPr>
        <p:spPr>
          <a:xfrm flipH="false" flipV="false" rot="0">
            <a:off x="9039225" y="2990850"/>
            <a:ext cx="2238375" cy="2238375"/>
          </a:xfrm>
          <a:custGeom>
            <a:avLst/>
            <a:gdLst/>
            <a:ahLst/>
            <a:cxnLst/>
            <a:rect r="r" b="b" t="t" l="l"/>
            <a:pathLst>
              <a:path h="2238375" w="2238375">
                <a:moveTo>
                  <a:pt x="0" y="0"/>
                </a:moveTo>
                <a:lnTo>
                  <a:pt x="2238375" y="0"/>
                </a:lnTo>
                <a:lnTo>
                  <a:pt x="2238375" y="2238375"/>
                </a:lnTo>
                <a:lnTo>
                  <a:pt x="0" y="22383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07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the demo. Watch the route change.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257425"/>
            <a:ext cx="7219950" cy="85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Compare two wrong answers.</a:t>
            </a:r>
          </a:p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See why they get different repairs.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9150" y="3857625"/>
            <a:ext cx="661035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9"/>
              </a:lnSpc>
            </a:pPr>
            <a:r>
              <a:rPr lang="en-US" b="1" sz="34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  <a:hlinkClick r:id="rId7" tooltip="https://backtrack-learning.vercel.app/demo"/>
              </a:rPr>
              <a:t>Try BACKTRACK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048250"/>
            <a:ext cx="70294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 u="sng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backtrack-learning.vercel.app/demo"/>
              </a:rPr>
              <a:t>backtrack-learning.vercel.app/demo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743950" y="5429250"/>
            <a:ext cx="2828925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3"/>
              </a:lnSpc>
            </a:pPr>
            <a:r>
              <a:rPr lang="en-US" b="1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Scan to start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5848350"/>
            <a:ext cx="7429500" cy="462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few sample routes to help you picture BACKTRACK. The full product is still in development.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4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4"/>
              </a:lnSpc>
            </a:pPr>
            <a:r>
              <a:rPr lang="en-US" b="1" sz="42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Can they still do it next week?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19250" y="270510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7049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Stuck before the route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8384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618833" y="292665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610737" y="301237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5505450" y="270510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55911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4958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Pass a fresh task after practice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67246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7505033" y="292665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7496937" y="301237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391650" y="270510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94773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3820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Pass again 7-14 days later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324475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Retained reentry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587692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Count everyone who started unable to do the task.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4" tooltip="https://doi.org/10.1038/s44159-022-00089-1"/>
              </a:rPr>
              <a:t>Spacing and retrieval · 2022</a:t>
            </a:r>
          </a:p>
        </p:txBody>
      </p:sp>
      <p:sp>
        <p:nvSpPr>
          <p:cNvPr name="AutoShape 32" id="3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1" sz="42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A five-month school pilot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4954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sz="23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80-120 learners across 2-3 cohorts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1409700" y="3209925"/>
            <a:ext cx="917257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9" id="9"/>
          <p:cNvGrpSpPr/>
          <p:nvPr/>
        </p:nvGrpSpPr>
        <p:grpSpPr>
          <a:xfrm rot="0">
            <a:off x="1066800" y="2828925"/>
            <a:ext cx="800100" cy="800100"/>
            <a:chOff x="0" y="0"/>
            <a:chExt cx="1066800" cy="1066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62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NOV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Review maps + baseline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3352800" y="2828925"/>
            <a:ext cx="800100" cy="800100"/>
            <a:chOff x="0" y="0"/>
            <a:chExt cx="1066800" cy="1066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3248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DEC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895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First school cycle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5638800" y="2828925"/>
            <a:ext cx="800100" cy="800100"/>
            <a:chOff x="0" y="0"/>
            <a:chExt cx="1066800" cy="1066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5534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JAN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181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Compare + improve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924800" y="2828925"/>
            <a:ext cx="800100" cy="800100"/>
            <a:chOff x="0" y="0"/>
            <a:chExt cx="1066800" cy="1066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7820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FEB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467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New educator + repeat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210800" y="2828925"/>
            <a:ext cx="800100" cy="800100"/>
            <a:chOff x="0" y="0"/>
            <a:chExt cx="1066800" cy="1066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0106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MAR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53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Follow-up + handover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610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November 2026-March 2027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6105525"/>
            <a:ext cx="10382250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3"/>
              </a:lnSpc>
            </a:pPr>
            <a:r>
              <a:rPr lang="en-US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Pilot targets, fitted to each school’s access and timetable.</a:t>
            </a:r>
          </a:p>
        </p:txBody>
      </p:sp>
      <p:sp>
        <p:nvSpPr>
          <p:cNvPr name="AutoShape 31" id="3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1" sz="42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Does the route add value?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457450"/>
            <a:ext cx="5172075" cy="144780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AutoShape 8" id="8"/>
          <p:cNvSpPr/>
          <p:nvPr/>
        </p:nvSpPr>
        <p:spPr>
          <a:xfrm rot="0">
            <a:off x="6153150" y="2457450"/>
            <a:ext cx="5429250" cy="144780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686050"/>
            <a:ext cx="4714875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1" sz="27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Khan practice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362325"/>
            <a:ext cx="4714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Selected by the teacher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381750" y="2686050"/>
            <a:ext cx="4972050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1" sz="277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Khan + BACKTRACK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381750" y="3362325"/>
            <a:ext cx="49720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tied to the recovery route</a:t>
            </a:r>
          </a:p>
        </p:txBody>
      </p:sp>
      <p:grpSp>
        <p:nvGrpSpPr>
          <p:cNvPr name="Group 13" id="13"/>
          <p:cNvGrpSpPr/>
          <p:nvPr/>
        </p:nvGrpSpPr>
        <p:grpSpPr>
          <a:xfrm rot="5400000">
            <a:off x="2876550" y="4200525"/>
            <a:ext cx="628650" cy="38100"/>
            <a:chOff x="0" y="0"/>
            <a:chExt cx="838200" cy="50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190875" y="4505325"/>
            <a:ext cx="2914650" cy="38100"/>
            <a:chOff x="0" y="0"/>
            <a:chExt cx="3886200" cy="50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86200" cy="50800"/>
            </a:xfrm>
            <a:custGeom>
              <a:avLst/>
              <a:gdLst/>
              <a:ahLst/>
              <a:cxnLst/>
              <a:rect r="r" b="b" t="t" l="l"/>
              <a:pathLst>
                <a:path h="50800" w="3886200">
                  <a:moveTo>
                    <a:pt x="25400" y="0"/>
                  </a:moveTo>
                  <a:lnTo>
                    <a:pt x="3860800" y="0"/>
                  </a:lnTo>
                  <a:cubicBezTo>
                    <a:pt x="3874770" y="0"/>
                    <a:pt x="3886200" y="11430"/>
                    <a:pt x="3886200" y="25400"/>
                  </a:cubicBezTo>
                  <a:cubicBezTo>
                    <a:pt x="3886200" y="39370"/>
                    <a:pt x="3874770" y="50800"/>
                    <a:pt x="3860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5400000">
            <a:off x="5872162" y="4729162"/>
            <a:ext cx="447675" cy="38100"/>
            <a:chOff x="0" y="0"/>
            <a:chExt cx="596900" cy="50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96900" cy="50800"/>
            </a:xfrm>
            <a:custGeom>
              <a:avLst/>
              <a:gdLst/>
              <a:ahLst/>
              <a:cxnLst/>
              <a:rect r="r" b="b" t="t" l="l"/>
              <a:pathLst>
                <a:path h="50800" w="596900">
                  <a:moveTo>
                    <a:pt x="25400" y="0"/>
                  </a:moveTo>
                  <a:lnTo>
                    <a:pt x="571500" y="0"/>
                  </a:lnTo>
                  <a:cubicBezTo>
                    <a:pt x="585470" y="0"/>
                    <a:pt x="596900" y="11430"/>
                    <a:pt x="596900" y="25400"/>
                  </a:cubicBezTo>
                  <a:cubicBezTo>
                    <a:pt x="596900" y="39370"/>
                    <a:pt x="585470" y="50800"/>
                    <a:pt x="5715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5400000">
            <a:off x="8543925" y="4200525"/>
            <a:ext cx="628650" cy="38100"/>
            <a:chOff x="0" y="0"/>
            <a:chExt cx="838200" cy="50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1" id="21"/>
          <p:cNvGrpSpPr/>
          <p:nvPr/>
        </p:nvGrpSpPr>
        <p:grpSpPr>
          <a:xfrm rot="-10800000">
            <a:off x="6086475" y="4505325"/>
            <a:ext cx="2771775" cy="38100"/>
            <a:chOff x="0" y="0"/>
            <a:chExt cx="3695700" cy="50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95700" cy="50800"/>
            </a:xfrm>
            <a:custGeom>
              <a:avLst/>
              <a:gdLst/>
              <a:ahLst/>
              <a:cxnLst/>
              <a:rect r="r" b="b" t="t" l="l"/>
              <a:pathLst>
                <a:path h="50800" w="3695700">
                  <a:moveTo>
                    <a:pt x="25400" y="0"/>
                  </a:moveTo>
                  <a:lnTo>
                    <a:pt x="3670300" y="0"/>
                  </a:lnTo>
                  <a:cubicBezTo>
                    <a:pt x="3684270" y="0"/>
                    <a:pt x="3695700" y="11430"/>
                    <a:pt x="3695700" y="25400"/>
                  </a:cubicBezTo>
                  <a:cubicBezTo>
                    <a:pt x="3695700" y="39370"/>
                    <a:pt x="3684270" y="50800"/>
                    <a:pt x="36703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AutoShape 23" id="23"/>
          <p:cNvSpPr/>
          <p:nvPr/>
        </p:nvSpPr>
        <p:spPr>
          <a:xfrm rot="0">
            <a:off x="1809750" y="4962525"/>
            <a:ext cx="8572500" cy="819150"/>
          </a:xfrm>
          <a:prstGeom prst="rect">
            <a:avLst/>
          </a:prstGeom>
          <a:solidFill>
            <a:srgbClr val="087E70"/>
          </a:solidFill>
        </p:spPr>
      </p:sp>
      <p:sp>
        <p:nvSpPr>
          <p:cNvPr name="TextBox 24" id="24"/>
          <p:cNvSpPr txBox="true"/>
          <p:nvPr/>
        </p:nvSpPr>
        <p:spPr>
          <a:xfrm rot="0">
            <a:off x="2028825" y="5153025"/>
            <a:ext cx="8134350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1" sz="28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The same fresh assessments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9600" y="612457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After practice, then 7-14 days later. Similar time and support.</a:t>
            </a:r>
          </a:p>
        </p:txBody>
      </p:sp>
      <p:sp>
        <p:nvSpPr>
          <p:cNvPr name="AutoShape 26" id="2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721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b="1" sz="47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Skip the review you don’t need.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114550"/>
            <a:ext cx="409575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1" sz="15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What the learner does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10350" y="2114550"/>
            <a:ext cx="49530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1" sz="15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What changes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28860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Know the step</a:t>
            </a:r>
          </a:p>
        </p:txBody>
      </p:sp>
      <p:sp>
        <p:nvSpPr>
          <p:cNvPr name="AutoShape 10" id="10"/>
          <p:cNvSpPr/>
          <p:nvPr/>
        </p:nvSpPr>
        <p:spPr>
          <a:xfrm rot="0">
            <a:off x="4981575" y="3105150"/>
            <a:ext cx="981075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11" id="11"/>
          <p:cNvGrpSpPr/>
          <p:nvPr/>
        </p:nvGrpSpPr>
        <p:grpSpPr>
          <a:xfrm rot="1840140">
            <a:off x="5904833" y="3069526"/>
            <a:ext cx="171450" cy="28575"/>
            <a:chOff x="0" y="0"/>
            <a:chExt cx="228600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8959860">
            <a:off x="5896737" y="31552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10350" y="28860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Skip its review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609600" y="368617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17" id="17"/>
          <p:cNvSpPr txBox="true"/>
          <p:nvPr/>
        </p:nvSpPr>
        <p:spPr>
          <a:xfrm rot="0">
            <a:off x="609600" y="39719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C96331"/>
                </a:solidFill>
                <a:latin typeface="DM Sans"/>
                <a:ea typeface="DM Sans"/>
                <a:cs typeface="DM Sans"/>
                <a:sym typeface="DM Sans"/>
              </a:rPr>
              <a:t>Repair a gap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4981575" y="4191000"/>
            <a:ext cx="9810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9" id="19"/>
          <p:cNvGrpSpPr/>
          <p:nvPr/>
        </p:nvGrpSpPr>
        <p:grpSpPr>
          <a:xfrm rot="1840140">
            <a:off x="5904833" y="41553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1" id="21"/>
          <p:cNvGrpSpPr/>
          <p:nvPr/>
        </p:nvGrpSpPr>
        <p:grpSpPr>
          <a:xfrm rot="8959860">
            <a:off x="5896737" y="4241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610350" y="397192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Move closer to the goal</a:t>
            </a:r>
          </a:p>
        </p:txBody>
      </p:sp>
      <p:sp>
        <p:nvSpPr>
          <p:cNvPr name="AutoShape 24" id="24"/>
          <p:cNvSpPr/>
          <p:nvPr/>
        </p:nvSpPr>
        <p:spPr>
          <a:xfrm rot="0">
            <a:off x="609600" y="477202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25" id="25"/>
          <p:cNvSpPr txBox="true"/>
          <p:nvPr/>
        </p:nvSpPr>
        <p:spPr>
          <a:xfrm rot="0">
            <a:off x="609600" y="50577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Come back later</a:t>
            </a:r>
          </a:p>
        </p:txBody>
      </p:sp>
      <p:sp>
        <p:nvSpPr>
          <p:cNvPr name="AutoShape 26" id="26"/>
          <p:cNvSpPr/>
          <p:nvPr/>
        </p:nvSpPr>
        <p:spPr>
          <a:xfrm rot="0">
            <a:off x="4981575" y="5276850"/>
            <a:ext cx="981075" cy="38100"/>
          </a:xfrm>
          <a:prstGeom prst="rect">
            <a:avLst/>
          </a:prstGeom>
          <a:solidFill>
            <a:srgbClr val="5753FA"/>
          </a:solidFill>
        </p:spPr>
      </p:sp>
      <p:grpSp>
        <p:nvGrpSpPr>
          <p:cNvPr name="Group 27" id="27"/>
          <p:cNvGrpSpPr/>
          <p:nvPr/>
        </p:nvGrpSpPr>
        <p:grpSpPr>
          <a:xfrm rot="1840140">
            <a:off x="5904833" y="5241226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9" id="29"/>
          <p:cNvGrpSpPr/>
          <p:nvPr/>
        </p:nvGrpSpPr>
        <p:grpSpPr>
          <a:xfrm rot="8959860">
            <a:off x="5896737" y="5326952"/>
            <a:ext cx="171450" cy="28575"/>
            <a:chOff x="0" y="0"/>
            <a:chExt cx="228600" cy="381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6610350" y="50577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Keep earlier progress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200775"/>
            <a:ext cx="105727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Progress changes what you need to do next.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0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49"/>
              </a:lnSpc>
            </a:pPr>
            <a:r>
              <a:rPr lang="en-US" b="1" sz="39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One routine. Many learning goals.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8" id="8"/>
          <p:cNvSpPr txBox="true"/>
          <p:nvPr/>
        </p:nvSpPr>
        <p:spPr>
          <a:xfrm rot="0">
            <a:off x="7620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Fractions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4495800" y="2333625"/>
            <a:ext cx="3200400" cy="885825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46482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Algebra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83820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2" id="12"/>
          <p:cNvSpPr txBox="true"/>
          <p:nvPr/>
        </p:nvSpPr>
        <p:spPr>
          <a:xfrm rot="0">
            <a:off x="85344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Graphs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37528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1" sz="24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Every new destination uses a reusable kit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4381500"/>
            <a:ext cx="10972800" cy="328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reviewed map + fresh checks + matched Khan material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372100"/>
            <a:ext cx="109728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Another educator can run the same recovery routine.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600" y="597217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For classes, self-study, and the next topic a learner needs.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1" sz="40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A budget built around learners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076450"/>
            <a:ext cx="5429250" cy="54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2"/>
              </a:lnSpc>
            </a:pPr>
            <a:r>
              <a:rPr lang="en-US" b="1" sz="36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PHP 100,000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5334000" cy="1339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4"/>
              </a:lnSpc>
            </a:pPr>
            <a:r>
              <a:rPr lang="en-US" b="1" sz="87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60%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448175"/>
            <a:ext cx="5105400" cy="698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for learning review, access and evaluation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24525"/>
            <a:ext cx="55245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Learner access stays free.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338888" y="2043112"/>
            <a:ext cx="3581400" cy="436588"/>
            <a:chOff x="0" y="0"/>
            <a:chExt cx="4775200" cy="58211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47752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1" sz="13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Allocation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920288" y="2043112"/>
            <a:ext cx="1600200" cy="436588"/>
            <a:chOff x="0" y="0"/>
            <a:chExt cx="2133600" cy="5821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21336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1" sz="13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PHP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338888" y="2443162"/>
            <a:ext cx="3581400" cy="440474"/>
            <a:chOff x="0" y="0"/>
            <a:chExt cx="4775200" cy="58729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Learning review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920288" y="2443162"/>
            <a:ext cx="1600200" cy="440474"/>
            <a:chOff x="0" y="0"/>
            <a:chExt cx="2133600" cy="58729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24,000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338888" y="2843212"/>
            <a:ext cx="3581400" cy="440474"/>
            <a:chOff x="0" y="0"/>
            <a:chExt cx="4775200" cy="58729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Access support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920288" y="2843212"/>
            <a:ext cx="1600200" cy="440474"/>
            <a:chOff x="0" y="0"/>
            <a:chExt cx="2133600" cy="58729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18,000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338888" y="3243262"/>
            <a:ext cx="3581400" cy="440474"/>
            <a:chOff x="0" y="0"/>
            <a:chExt cx="4775200" cy="58729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Evaluation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920288" y="3243262"/>
            <a:ext cx="1600200" cy="440474"/>
            <a:chOff x="0" y="0"/>
            <a:chExt cx="2133600" cy="58729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18,000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6338888" y="3643312"/>
            <a:ext cx="3581400" cy="440474"/>
            <a:chOff x="0" y="0"/>
            <a:chExt cx="4775200" cy="58729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Deployment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920288" y="3643312"/>
            <a:ext cx="1600200" cy="440474"/>
            <a:chOff x="0" y="0"/>
            <a:chExt cx="2133600" cy="58729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16,000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338888" y="4043362"/>
            <a:ext cx="3581400" cy="440474"/>
            <a:chOff x="0" y="0"/>
            <a:chExt cx="4775200" cy="587299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Product operations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920288" y="4043362"/>
            <a:ext cx="1600200" cy="440474"/>
            <a:chOff x="0" y="0"/>
            <a:chExt cx="2133600" cy="58729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8,000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338888" y="4443412"/>
            <a:ext cx="3581400" cy="440474"/>
            <a:chOff x="0" y="0"/>
            <a:chExt cx="4775200" cy="58729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Teacher onboarding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9920288" y="4443412"/>
            <a:ext cx="1600200" cy="440474"/>
            <a:chOff x="0" y="0"/>
            <a:chExt cx="2133600" cy="58729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8,000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338888" y="4843462"/>
            <a:ext cx="3581400" cy="440474"/>
            <a:chOff x="0" y="0"/>
            <a:chExt cx="4775200" cy="58729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Recruitment content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9920288" y="4843462"/>
            <a:ext cx="1600200" cy="440474"/>
            <a:chOff x="0" y="0"/>
            <a:chExt cx="2133600" cy="58729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3,000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6338888" y="5243512"/>
            <a:ext cx="3581400" cy="440474"/>
            <a:chOff x="0" y="0"/>
            <a:chExt cx="4775200" cy="587299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Contingency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9920288" y="5243512"/>
            <a:ext cx="1600200" cy="440474"/>
            <a:chOff x="0" y="0"/>
            <a:chExt cx="2133600" cy="587299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5,000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6338888" y="5643562"/>
            <a:ext cx="3581400" cy="440474"/>
            <a:chOff x="0" y="0"/>
            <a:chExt cx="4775200" cy="58729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5753FA"/>
                  </a:solidFill>
                  <a:latin typeface="DM Sans"/>
                  <a:ea typeface="DM Sans"/>
                  <a:cs typeface="DM Sans"/>
                  <a:sym typeface="DM Sans"/>
                </a:rPr>
                <a:t>Total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9920288" y="5643562"/>
            <a:ext cx="1600200" cy="440474"/>
            <a:chOff x="0" y="0"/>
            <a:chExt cx="2133600" cy="587299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90" id="9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5753FA"/>
                  </a:solidFill>
                  <a:latin typeface="DM Sans"/>
                  <a:ea typeface="DM Sans"/>
                  <a:cs typeface="DM Sans"/>
                  <a:sym typeface="DM Sans"/>
                </a:rPr>
                <a:t>100,000</a:t>
              </a:r>
            </a:p>
          </p:txBody>
        </p:sp>
      </p:grpSp>
      <p:sp>
        <p:nvSpPr>
          <p:cNvPr name="TextBox 91" id="9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Planning allocation</a:t>
            </a:r>
          </a:p>
        </p:txBody>
      </p:sp>
      <p:sp>
        <p:nvSpPr>
          <p:cNvPr name="AutoShape 92" id="9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619250" y="3238500"/>
            <a:ext cx="9525000" cy="1400735"/>
          </a:xfrm>
          <a:custGeom>
            <a:avLst/>
            <a:gdLst/>
            <a:ahLst/>
            <a:cxnLst/>
            <a:rect r="r" b="b" t="t" l="l"/>
            <a:pathLst>
              <a:path h="1400735" w="9525000">
                <a:moveTo>
                  <a:pt x="0" y="0"/>
                </a:moveTo>
                <a:lnTo>
                  <a:pt x="9525000" y="0"/>
                </a:lnTo>
                <a:lnTo>
                  <a:pt x="9525000" y="1400735"/>
                </a:lnTo>
                <a:lnTo>
                  <a:pt x="0" y="14007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1276350"/>
            <a:ext cx="10972800" cy="1898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3"/>
              </a:lnSpc>
            </a:pPr>
            <a:r>
              <a:rPr lang="en-US" sz="6150" b="1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A route back to</a:t>
            </a:r>
          </a:p>
          <a:p>
            <a:pPr algn="l">
              <a:lnSpc>
                <a:spcPts val="7503"/>
              </a:lnSpc>
            </a:pPr>
            <a:r>
              <a:rPr lang="en-US" b="1" sz="61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today’s lesson.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848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448300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Matthew Labrador, Paul Recio, Harry Gomez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599122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Coach: Justin Mesias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1" sz="40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Research behind the approach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4" tooltip="https://support.khanacademy.org/hc/en-us/articles/360031129891-What-reporting-options-are-available-on-Khan-Academy-for-teachers-to-track-student-performance"/>
              </a:rPr>
              <a:t>Khan Academy teacher reports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5" tooltip="https://www.mheducation.com/unitas/school/explore/sites/aleks/customizing-custom-objectives.pdf"/>
              </a:rPr>
              <a:t>ALEKS custom objectives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6" tooltip="https://blog.google/innovation-and-ai/products/gemini-app/gemini-study-notebooks/"/>
              </a:rPr>
              <a:t>Gemini study notebooks · 2026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1054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7" tooltip="https://ies.ed.gov/ncee/wwc/practiceguide/1"/>
              </a:rPr>
              <a:t>IES learning practice guide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86525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doi.org/10.1038/s44159-022-00089-1"/>
              </a:rPr>
              <a:t>Spacing and retrieval · 2022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486525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9" tooltip="https://doi.org/10.1007/s10763-021-10207-9"/>
              </a:rPr>
              <a:t>Confidence assessment · Foster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486525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0" tooltip="https://selfdeterminationtheory.org/topics/application-education/"/>
              </a:rPr>
              <a:t>Self-Determination Theory in education</a:t>
            </a:r>
          </a:p>
        </p:txBody>
      </p:sp>
      <p:sp>
        <p:nvSpPr>
          <p:cNvPr name="AutoShape 14" id="14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ns0:coreProperties xmlns:dc="http://purl.org/dc/elements/1.1/" xmlns:ns0="http://schemas.openxmlformats.org/package/2006/metadata/core-properties" xmlns:ns1="http://purl.org/dc/terms/" xmlns:xsi="http://www.w3.org/2001/XMLSchema-instance">
  <ns1:created xsi:type="dcterms:W3CDTF">2006-08-16T00:00:00Z</ns1:created>
  <ns1:modified xsi:type="dcterms:W3CDTF">2011-08-01T06:04:30Z</ns1:modified>
  <ns0:revision>1</ns0:revision>
  <dc:title>BACKTRACK - Competition pitch</dc:title>
</ns0:coreProperties>
</file>