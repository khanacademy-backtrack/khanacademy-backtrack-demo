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15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 embedTrueTypeFonts="1">
  <p:sldMasterIdLst>
    <p:sldMasterId id="2147483648" r:id="rId1"/>
  </p:sldMasterIdLst>
  <p:notesMasterIdLst>
    <p:notesMasterId r:id="rId21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2192000" cy="6858000"/>
  <p:notesSz cx="6858000" cy="9144000"/>
  <p:embeddedFontLst>
    <p:embeddedFont>
      <p:font typeface="DM Sans" pitchFamily="34" charset="0"/>
      <p:regular r:id="rIdBacktrackFont1"/>
      <p:bold r:id="rIdBacktrackFont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notesMasters/notesMaster1.xml" Type="http://schemas.openxmlformats.org/officeDocument/2006/relationships/notesMaster"/><Relationship Id="rId22" Target="theme/theme2.xml" Type="http://schemas.openxmlformats.org/officeDocument/2006/relationships/theme"/><Relationship Id="rId23" Target="notesSlides/notesSlide1.xml" Type="http://schemas.openxmlformats.org/officeDocument/2006/relationships/notesSlide"/><Relationship Id="rId26" Target="notesSlides/notesSlide2.xml" Type="http://schemas.openxmlformats.org/officeDocument/2006/relationships/notesSlide"/><Relationship Id="rId27" Target="notesSlides/notesSlide3.xml" Type="http://schemas.openxmlformats.org/officeDocument/2006/relationships/notesSlide"/><Relationship Id="rId28" Target="notesSlides/notesSlide4.xml" Type="http://schemas.openxmlformats.org/officeDocument/2006/relationships/notesSlide"/><Relationship Id="rId29" Target="notesSlides/notesSlide5.xml" Type="http://schemas.openxmlformats.org/officeDocument/2006/relationships/notesSlide"/><Relationship Id="rId3" Target="viewProps.xml" Type="http://schemas.openxmlformats.org/officeDocument/2006/relationships/viewProps"/><Relationship Id="rId30" Target="notesSlides/notesSlide6.xml" Type="http://schemas.openxmlformats.org/officeDocument/2006/relationships/notesSlide"/><Relationship Id="rId31" Target="notesSlides/notesSlide7.xml" Type="http://schemas.openxmlformats.org/officeDocument/2006/relationships/notesSlide"/><Relationship Id="rId32" Target="notesSlides/notesSlide8.xml" Type="http://schemas.openxmlformats.org/officeDocument/2006/relationships/notesSlide"/><Relationship Id="rId33" Target="notesSlides/notesSlide9.xml" Type="http://schemas.openxmlformats.org/officeDocument/2006/relationships/notesSlide"/><Relationship Id="rId34" Target="notesSlides/notesSlide10.xml" Type="http://schemas.openxmlformats.org/officeDocument/2006/relationships/notesSlide"/><Relationship Id="rId35" Target="notesSlides/notesSlide11.xml" Type="http://schemas.openxmlformats.org/officeDocument/2006/relationships/notesSlide"/><Relationship Id="rId36" Target="notesSlides/notesSlide12.xml" Type="http://schemas.openxmlformats.org/officeDocument/2006/relationships/notesSlide"/><Relationship Id="rId37" Target="notesSlides/notesSlide13.xml" Type="http://schemas.openxmlformats.org/officeDocument/2006/relationships/notesSlide"/><Relationship Id="rId38" Target="notesSlides/notesSlide14.xml" Type="http://schemas.openxmlformats.org/officeDocument/2006/relationships/notesSlide"/><Relationship Id="rId39" Target="notesSlides/notesSlide15.xml" Type="http://schemas.openxmlformats.org/officeDocument/2006/relationships/notesSlide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Relationship Id="rIdBacktrackFont1" Type="http://schemas.openxmlformats.org/officeDocument/2006/relationships/font" Target="fonts/font1.fntdata"/><Relationship Id="rIdBacktrackFont2" Type="http://schemas.openxmlformats.org/officeDocument/2006/relationships/font" Target="fonts/font2.fntdata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1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_rels/notesSlide1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_rels/notesSlide1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5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Stuck on today’s lesson. Unsure what to review.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Today’s task can hide an earlier gap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Four steps back to the lesson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Your answers change the route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Khan material, focused on the missing step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Back to the skill that stopped them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Try BACKTRACK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Can they still do it next week?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A five-month school pilot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Does the route add value?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The route is the reward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One routine. Many learning goals.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A budget built around learners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A route back to today’s lesson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Research behind the approach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https://www.khanacademy.org/math/algebra/x2f8bb11595b61c86:quadratics-multiplying-factoring/x2f8bb11595b61c86:factor-quadratics-intro/v/factoring-simple-quadratic-expression" TargetMode="External" Type="http://schemas.openxmlformats.org/officeDocument/2006/relationships/hyperlink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1.jpeg" Type="http://schemas.openxmlformats.org/officeDocument/2006/relationships/image"/><Relationship Id="rId4" Target="../media/image3.jpeg" Type="http://schemas.openxmlformats.org/officeDocument/2006/relationships/image"/><Relationship Id="rId5" Target="../media/image4.png" Type="http://schemas.openxmlformats.org/officeDocument/2006/relationships/image"/><Relationship Id="rId6" Target="https://backtrack-learning.vercel.app/demo" TargetMode="External" Type="http://schemas.openxmlformats.org/officeDocument/2006/relationships/hyperlink"/><Relationship Id="rId7" Target="https://backtrack-learning.vercel.app/demo" TargetMode="External" Type="http://schemas.openxmlformats.org/officeDocument/2006/relationships/hyperlink"/><Relationship Id="rId8" Target="https://backtrack-learning.vercel.app/demo" TargetMode="External" Type="http://schemas.openxmlformats.org/officeDocument/2006/relationships/hyperlink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1.jpeg" Type="http://schemas.openxmlformats.org/officeDocument/2006/relationships/image"/><Relationship Id="rId4" Target="https://doi.org/10.1038/s44159-022-00089-1" TargetMode="External" Type="http://schemas.openxmlformats.org/officeDocument/2006/relationships/hyperlink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1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2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3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4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https://selfdeterminationtheory.org/topics/application-education/" TargetMode="External" Type="http://schemas.openxmlformats.org/officeDocument/2006/relationships/hyperlink"/><Relationship Id="rId2" Target="../notesSlides/notesSlide15.xml" Type="http://schemas.openxmlformats.org/officeDocument/2006/relationships/notesSlide"/><Relationship Id="rId3" Target="../media/image1.jpeg" Type="http://schemas.openxmlformats.org/officeDocument/2006/relationships/image"/><Relationship Id="rId4" Target="https://support.khanacademy.org/hc/en-us/articles/360031129891-What-reporting-options-are-available-on-Khan-Academy-for-teachers-to-track-student-performance" TargetMode="External" Type="http://schemas.openxmlformats.org/officeDocument/2006/relationships/hyperlink"/><Relationship Id="rId5" Target="https://www.mheducation.com/unitas/school/explore/sites/aleks/customizing-custom-objectives.pdf" TargetMode="External" Type="http://schemas.openxmlformats.org/officeDocument/2006/relationships/hyperlink"/><Relationship Id="rId6" Target="https://blog.google/innovation-and-ai/products/gemini-app/gemini-study-notebooks/" TargetMode="External" Type="http://schemas.openxmlformats.org/officeDocument/2006/relationships/hyperlink"/><Relationship Id="rId7" Target="https://ies.ed.gov/ncee/wwc/practiceguide/1" TargetMode="External" Type="http://schemas.openxmlformats.org/officeDocument/2006/relationships/hyperlink"/><Relationship Id="rId8" Target="https://doi.org/10.1038/s44159-022-00089-1" TargetMode="External" Type="http://schemas.openxmlformats.org/officeDocument/2006/relationships/hyperlink"/><Relationship Id="rId9" Target="https://doi.org/10.1007/s10763-021-10207-9" TargetMode="External" Type="http://schemas.openxmlformats.org/officeDocument/2006/relationships/hyperlink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Freeform 5" id="5"/>
          <p:cNvSpPr/>
          <p:nvPr/>
        </p:nvSpPr>
        <p:spPr>
          <a:xfrm>
            <a:off x="1714500" y="4476750"/>
            <a:ext cx="8763000" cy="914864"/>
          </a:xfrm>
          <a:custGeom>
            <a:avLst/>
            <a:gdLst/>
            <a:ahLst/>
            <a:cxnLst/>
            <a:rect r="r" b="b" t="t" l="l"/>
            <a:pathLst>
              <a:path h="914864" w="8763000">
                <a:moveTo>
                  <a:pt x="0" y="0"/>
                </a:moveTo>
                <a:quadBezTo>
                  <a:pt x="4381500" y="1829728"/>
                  <a:pt x="8763000" y="0"/>
                </a:quadBezTo>
              </a:path>
            </a:pathLst>
          </a:custGeom>
          <a:ln cap="rnd" w="66675">
            <a:solidFill>
              <a:srgbClr val="C96331"/>
            </a:solidFill>
            <a:prstDash val="solid"/>
            <a:headEnd type="oval" len="lg" w="lg"/>
            <a:tailEnd type="arrow" len="sm" w="med"/>
          </a:ln>
        </p:spPr>
      </p:sp>
      <p:grpSp>
        <p:nvGrpSpPr>
          <p:cNvPr name="Group 6" id="6"/>
          <p:cNvGrpSpPr/>
          <p:nvPr/>
        </p:nvGrpSpPr>
        <p:grpSpPr>
          <a:xfrm rot="0">
            <a:off x="5962650" y="5248275"/>
            <a:ext cx="266700" cy="266700"/>
            <a:chOff x="0" y="0"/>
            <a:chExt cx="105363" cy="10536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5363" cy="105363"/>
            </a:xfrm>
            <a:custGeom>
              <a:avLst/>
              <a:gdLst/>
              <a:ahLst/>
              <a:cxnLst/>
              <a:rect r="r" b="b" t="t" l="l"/>
              <a:pathLst>
                <a:path h="105363" w="105363">
                  <a:moveTo>
                    <a:pt x="52681" y="0"/>
                  </a:moveTo>
                  <a:cubicBezTo>
                    <a:pt x="23586" y="0"/>
                    <a:pt x="0" y="23586"/>
                    <a:pt x="0" y="52681"/>
                  </a:cubicBezTo>
                  <a:cubicBezTo>
                    <a:pt x="0" y="81777"/>
                    <a:pt x="23586" y="105363"/>
                    <a:pt x="52681" y="105363"/>
                  </a:cubicBezTo>
                  <a:cubicBezTo>
                    <a:pt x="81777" y="105363"/>
                    <a:pt x="105363" y="81777"/>
                    <a:pt x="105363" y="52681"/>
                  </a:cubicBezTo>
                  <a:cubicBezTo>
                    <a:pt x="105363" y="23586"/>
                    <a:pt x="81777" y="0"/>
                    <a:pt x="52681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9878" y="9878"/>
              <a:ext cx="85607" cy="856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372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01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533400"/>
            <a:ext cx="57150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02"/>
              </a:lnSpc>
            </a:pPr>
            <a:r>
              <a:rPr lang="en-US" b="1" sz="262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backtrack.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09600" y="1057275"/>
            <a:ext cx="10972800" cy="674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68"/>
              </a:lnSpc>
            </a:pPr>
            <a:r>
              <a:rPr lang="en-US" b="1" sz="440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Find the missing skill.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09600" y="1743075"/>
            <a:ext cx="10972800" cy="674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68"/>
              </a:lnSpc>
            </a:pPr>
            <a:r>
              <a:rPr lang="en-US" b="1" sz="44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Get back to today’s lesson.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09600" y="2733675"/>
            <a:ext cx="10972800" cy="6518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21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THE PROBLEM</a:t>
            </a:r>
          </a:p>
          <a:p>
            <a:pPr algn="l">
              <a:lnSpc>
                <a:spcPts val="2562"/>
              </a:lnSpc>
            </a:pPr>
            <a:r>
              <a:rPr lang="en-US" sz="21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A student gets stuck, but doesn’t know which earlier skill to review.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09600" y="6448425"/>
            <a:ext cx="9525000" cy="2155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8"/>
              </a:lnSpc>
            </a:pPr>
            <a:r>
              <a:rPr lang="en-US" sz="14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University of the Philippines Manila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85750" y="3695700"/>
            <a:ext cx="2857500" cy="614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40"/>
              </a:lnSpc>
            </a:pPr>
            <a:r>
              <a:rPr lang="en-US" sz="2000" b="1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Check today’s</a:t>
            </a:r>
          </a:p>
          <a:p>
            <a:pPr algn="ctr">
              <a:lnSpc>
                <a:spcPts val="2440"/>
              </a:lnSpc>
            </a:pPr>
            <a:r>
              <a:rPr lang="en-US" b="1" sz="20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task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000500" y="5562600"/>
            <a:ext cx="4191000" cy="614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40"/>
              </a:lnSpc>
            </a:pPr>
            <a:r>
              <a:rPr lang="en-US" sz="2000" b="1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Practice the missing skill</a:t>
            </a:r>
          </a:p>
          <a:p>
            <a:pPr algn="ctr">
              <a:lnSpc>
                <a:spcPts val="2440"/>
              </a:lnSpc>
            </a:pPr>
            <a:r>
              <a:rPr lang="en-US" b="1" sz="20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with Khan Academy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8858250" y="3695700"/>
            <a:ext cx="3238500" cy="614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40"/>
              </a:lnSpc>
            </a:pPr>
            <a:r>
              <a:rPr lang="en-US" b="1" sz="200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Return to today’s lesson</a:t>
            </a:r>
          </a:p>
          <a:p>
            <a:pPr algn="ctr">
              <a:lnSpc>
                <a:spcPts val="2440"/>
              </a:lnSpc>
            </a:pPr>
            <a:r>
              <a:rPr lang="en-US" b="1" sz="200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with a fresh check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02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5903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66"/>
              </a:lnSpc>
            </a:pPr>
            <a:r>
              <a:rPr lang="en-US" b="1" sz="382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The search can become the study session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9600" y="2219325"/>
            <a:ext cx="4648200" cy="2436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21"/>
              </a:lnSpc>
            </a:pPr>
            <a:r>
              <a:rPr lang="en-US" b="1" sz="1575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01  WHAT THEY NEED TO FINISH</a:t>
            </a:r>
          </a:p>
        </p:txBody>
      </p:sp>
      <p:sp>
        <p:nvSpPr>
          <p:cNvPr name="AutoShape 8" id="8"/>
          <p:cNvSpPr/>
          <p:nvPr/>
        </p:nvSpPr>
        <p:spPr>
          <a:xfrm rot="0">
            <a:off x="609600" y="2714625"/>
            <a:ext cx="4648200" cy="2190750"/>
          </a:xfrm>
          <a:prstGeom prst="rect">
            <a:avLst/>
          </a:prstGeom>
          <a:solidFill>
            <a:srgbClr val="F0EFFF"/>
          </a:solidFill>
        </p:spPr>
      </p:sp>
      <p:sp>
        <p:nvSpPr>
          <p:cNvPr name="TextBox 9" id="9"/>
          <p:cNvSpPr txBox="true"/>
          <p:nvPr/>
        </p:nvSpPr>
        <p:spPr>
          <a:xfrm rot="0">
            <a:off x="838200" y="2971800"/>
            <a:ext cx="4191000" cy="337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1" sz="21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Solve this equation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38200" y="3609975"/>
            <a:ext cx="4191000" cy="4872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43"/>
              </a:lnSpc>
            </a:pPr>
            <a:r>
              <a:rPr lang="en-US" b="1" sz="315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x² + 7x + 12 = 0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38200" y="4371975"/>
            <a:ext cx="419100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sz="18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They search “quadratics”.</a:t>
            </a:r>
          </a:p>
        </p:txBody>
      </p:sp>
      <p:sp>
        <p:nvSpPr>
          <p:cNvPr name="AutoShape 12" id="12"/>
          <p:cNvSpPr/>
          <p:nvPr/>
        </p:nvSpPr>
        <p:spPr>
          <a:xfrm rot="0">
            <a:off x="5562600" y="3800475"/>
            <a:ext cx="876300" cy="38100"/>
          </a:xfrm>
          <a:prstGeom prst="rect">
            <a:avLst/>
          </a:prstGeom>
          <a:solidFill>
            <a:srgbClr val="C96331"/>
          </a:solidFill>
        </p:spPr>
      </p:sp>
      <p:grpSp>
        <p:nvGrpSpPr>
          <p:cNvPr name="Group 13" id="13"/>
          <p:cNvGrpSpPr/>
          <p:nvPr/>
        </p:nvGrpSpPr>
        <p:grpSpPr>
          <a:xfrm rot="1840140">
            <a:off x="6381083" y="3764852"/>
            <a:ext cx="171450" cy="28575"/>
            <a:chOff x="0" y="0"/>
            <a:chExt cx="228600" cy="381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grpSp>
        <p:nvGrpSpPr>
          <p:cNvPr name="Group 15" id="15"/>
          <p:cNvGrpSpPr/>
          <p:nvPr/>
        </p:nvGrpSpPr>
        <p:grpSpPr>
          <a:xfrm rot="8959860">
            <a:off x="6372987" y="3850576"/>
            <a:ext cx="171450" cy="28575"/>
            <a:chOff x="0" y="0"/>
            <a:chExt cx="228600" cy="381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6934200" y="2219325"/>
            <a:ext cx="4648200" cy="2436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21"/>
              </a:lnSpc>
            </a:pPr>
            <a:r>
              <a:rPr lang="en-US" b="1" sz="157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02  WHAT MAY BE BLOCKING IT</a:t>
            </a:r>
          </a:p>
        </p:txBody>
      </p:sp>
      <p:sp>
        <p:nvSpPr>
          <p:cNvPr name="AutoShape 18" id="18"/>
          <p:cNvSpPr/>
          <p:nvPr/>
        </p:nvSpPr>
        <p:spPr>
          <a:xfrm rot="0">
            <a:off x="6934200" y="2714625"/>
            <a:ext cx="4648200" cy="2190750"/>
          </a:xfrm>
          <a:prstGeom prst="rect">
            <a:avLst/>
          </a:prstGeom>
          <a:solidFill>
            <a:srgbClr val="D9F2EA"/>
          </a:solidFill>
        </p:spPr>
      </p:sp>
      <p:sp>
        <p:nvSpPr>
          <p:cNvPr name="TextBox 19" id="19"/>
          <p:cNvSpPr txBox="true"/>
          <p:nvPr/>
        </p:nvSpPr>
        <p:spPr>
          <a:xfrm rot="0">
            <a:off x="7162800" y="2971800"/>
            <a:ext cx="4191000" cy="337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1" sz="21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Find the factor pair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7162800" y="3552825"/>
            <a:ext cx="41910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11"/>
              </a:lnSpc>
            </a:pPr>
            <a:r>
              <a:rPr lang="en-US" b="1" sz="255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Multiply to 12. Add to 7.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09600" y="5543550"/>
            <a:ext cx="10972800" cy="3842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19"/>
              </a:lnSpc>
            </a:pPr>
            <a:r>
              <a:rPr lang="en-US" b="1" sz="247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BACKTRACK checks the gap before choosing the repair.</a:t>
            </a:r>
          </a:p>
        </p:txBody>
      </p:sp>
      <p:sp>
        <p:nvSpPr>
          <p:cNvPr name="AutoShape 22" id="22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03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9600"/>
            <a:ext cx="10972800" cy="590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8"/>
              </a:lnSpc>
            </a:pPr>
            <a:r>
              <a:rPr lang="en-US" b="1" sz="390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How BACKTRACK gets a learner unstuck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476375" y="2876550"/>
            <a:ext cx="552450" cy="552450"/>
            <a:chOff x="0" y="0"/>
            <a:chExt cx="736600" cy="7366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1562100" y="295275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1" sz="22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1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3629025"/>
            <a:ext cx="2286000" cy="337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1" sz="21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Try today’s task</a:t>
            </a:r>
          </a:p>
        </p:txBody>
      </p:sp>
      <p:sp>
        <p:nvSpPr>
          <p:cNvPr name="AutoShape 11" id="11"/>
          <p:cNvSpPr/>
          <p:nvPr/>
        </p:nvSpPr>
        <p:spPr>
          <a:xfrm rot="0">
            <a:off x="2419350" y="3133725"/>
            <a:ext cx="876300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12" id="12"/>
          <p:cNvGrpSpPr/>
          <p:nvPr/>
        </p:nvGrpSpPr>
        <p:grpSpPr>
          <a:xfrm rot="1840140">
            <a:off x="3237833" y="3098102"/>
            <a:ext cx="171450" cy="28575"/>
            <a:chOff x="0" y="0"/>
            <a:chExt cx="228600" cy="381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14" id="14"/>
          <p:cNvGrpSpPr/>
          <p:nvPr/>
        </p:nvGrpSpPr>
        <p:grpSpPr>
          <a:xfrm rot="8959860">
            <a:off x="3229737" y="3183826"/>
            <a:ext cx="171450" cy="28575"/>
            <a:chOff x="0" y="0"/>
            <a:chExt cx="228600" cy="381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4371975" y="2876550"/>
            <a:ext cx="552450" cy="552450"/>
            <a:chOff x="0" y="0"/>
            <a:chExt cx="736600" cy="7366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4457700" y="295275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1" sz="22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2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3505200" y="3629025"/>
            <a:ext cx="228600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sz="2175" b="1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Check earlier</a:t>
            </a:r>
          </a:p>
          <a:p>
            <a:pPr algn="ctr">
              <a:lnSpc>
                <a:spcPts val="2653"/>
              </a:lnSpc>
            </a:pPr>
            <a:r>
              <a:rPr lang="en-US" b="1" sz="21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skills</a:t>
            </a:r>
          </a:p>
        </p:txBody>
      </p:sp>
      <p:sp>
        <p:nvSpPr>
          <p:cNvPr name="AutoShape 20" id="20"/>
          <p:cNvSpPr/>
          <p:nvPr/>
        </p:nvSpPr>
        <p:spPr>
          <a:xfrm rot="0">
            <a:off x="5314950" y="3133725"/>
            <a:ext cx="876300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21" id="21"/>
          <p:cNvGrpSpPr/>
          <p:nvPr/>
        </p:nvGrpSpPr>
        <p:grpSpPr>
          <a:xfrm rot="1840140">
            <a:off x="6133433" y="3098102"/>
            <a:ext cx="171450" cy="28575"/>
            <a:chOff x="0" y="0"/>
            <a:chExt cx="228600" cy="381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3" id="23"/>
          <p:cNvGrpSpPr/>
          <p:nvPr/>
        </p:nvGrpSpPr>
        <p:grpSpPr>
          <a:xfrm rot="8959860">
            <a:off x="6125337" y="3183826"/>
            <a:ext cx="171450" cy="28575"/>
            <a:chOff x="0" y="0"/>
            <a:chExt cx="228600" cy="381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7267575" y="2876550"/>
            <a:ext cx="552450" cy="552450"/>
            <a:chOff x="0" y="0"/>
            <a:chExt cx="736600" cy="7366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7353300" y="295275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1" sz="22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3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6400800" y="3629025"/>
            <a:ext cx="2286000" cy="1004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sz="2175" b="1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Practice the step</a:t>
            </a:r>
          </a:p>
          <a:p>
            <a:pPr algn="ctr">
              <a:lnSpc>
                <a:spcPts val="2653"/>
              </a:lnSpc>
            </a:pPr>
            <a:r>
              <a:rPr lang="en-US" b="1" sz="21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with Khan</a:t>
            </a:r>
          </a:p>
        </p:txBody>
      </p:sp>
      <p:sp>
        <p:nvSpPr>
          <p:cNvPr name="AutoShape 29" id="29"/>
          <p:cNvSpPr/>
          <p:nvPr/>
        </p:nvSpPr>
        <p:spPr>
          <a:xfrm rot="0">
            <a:off x="8210550" y="3133725"/>
            <a:ext cx="876300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30" id="30"/>
          <p:cNvGrpSpPr/>
          <p:nvPr/>
        </p:nvGrpSpPr>
        <p:grpSpPr>
          <a:xfrm rot="1840140">
            <a:off x="9029033" y="3098102"/>
            <a:ext cx="171450" cy="28575"/>
            <a:chOff x="0" y="0"/>
            <a:chExt cx="228600" cy="381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32" id="32"/>
          <p:cNvGrpSpPr/>
          <p:nvPr/>
        </p:nvGrpSpPr>
        <p:grpSpPr>
          <a:xfrm rot="8959860">
            <a:off x="9020937" y="3183826"/>
            <a:ext cx="171450" cy="28575"/>
            <a:chOff x="0" y="0"/>
            <a:chExt cx="228600" cy="381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10163175" y="2876550"/>
            <a:ext cx="552450" cy="552450"/>
            <a:chOff x="0" y="0"/>
            <a:chExt cx="736600" cy="7366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sp>
        <p:nvSpPr>
          <p:cNvPr name="TextBox 36" id="36"/>
          <p:cNvSpPr txBox="true"/>
          <p:nvPr/>
        </p:nvSpPr>
        <p:spPr>
          <a:xfrm rot="0">
            <a:off x="10248900" y="295275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1" sz="22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4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9296400" y="3629025"/>
            <a:ext cx="228600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sz="2175" b="1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Try it again with</a:t>
            </a:r>
          </a:p>
          <a:p>
            <a:pPr algn="ctr">
              <a:lnSpc>
                <a:spcPts val="2653"/>
              </a:lnSpc>
            </a:pPr>
            <a:r>
              <a:rPr lang="en-US" b="1" sz="21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fresh numbers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609600" y="5448300"/>
            <a:ext cx="10972800" cy="337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sz="21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Answers choose the next step. Fresh problems check the return.</a:t>
            </a:r>
          </a:p>
        </p:txBody>
      </p:sp>
      <p:sp>
        <p:nvSpPr>
          <p:cNvPr name="AutoShape 39" id="39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04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9600"/>
            <a:ext cx="10972800" cy="590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8"/>
              </a:lnSpc>
            </a:pPr>
            <a:r>
              <a:rPr lang="en-US" b="1" sz="390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Two wrong answers. Different help.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9600" y="2505075"/>
            <a:ext cx="3190875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1" sz="255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Tried x = 3, 4</a:t>
            </a:r>
          </a:p>
        </p:txBody>
      </p:sp>
      <p:sp>
        <p:nvSpPr>
          <p:cNvPr name="AutoShape 8" id="8"/>
          <p:cNvSpPr/>
          <p:nvPr/>
        </p:nvSpPr>
        <p:spPr>
          <a:xfrm rot="0">
            <a:off x="3762375" y="2724150"/>
            <a:ext cx="1428750" cy="38100"/>
          </a:xfrm>
          <a:prstGeom prst="rect">
            <a:avLst/>
          </a:prstGeom>
          <a:solidFill>
            <a:srgbClr val="087E70"/>
          </a:solidFill>
        </p:spPr>
      </p:sp>
      <p:grpSp>
        <p:nvGrpSpPr>
          <p:cNvPr name="Group 9" id="9"/>
          <p:cNvGrpSpPr/>
          <p:nvPr/>
        </p:nvGrpSpPr>
        <p:grpSpPr>
          <a:xfrm rot="1840140">
            <a:off x="5133308" y="2688526"/>
            <a:ext cx="171450" cy="28575"/>
            <a:chOff x="0" y="0"/>
            <a:chExt cx="228600" cy="381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grpSp>
        <p:nvGrpSpPr>
          <p:cNvPr name="Group 11" id="11"/>
          <p:cNvGrpSpPr/>
          <p:nvPr/>
        </p:nvGrpSpPr>
        <p:grpSpPr>
          <a:xfrm rot="8959860">
            <a:off x="5125212" y="2774252"/>
            <a:ext cx="171450" cy="28575"/>
            <a:chOff x="0" y="0"/>
            <a:chExt cx="228600" cy="381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sp>
        <p:nvSpPr>
          <p:cNvPr name="AutoShape 13" id="13"/>
          <p:cNvSpPr/>
          <p:nvPr/>
        </p:nvSpPr>
        <p:spPr>
          <a:xfrm rot="0">
            <a:off x="5610225" y="2286000"/>
            <a:ext cx="5972175" cy="942975"/>
          </a:xfrm>
          <a:prstGeom prst="rect">
            <a:avLst/>
          </a:prstGeom>
          <a:solidFill>
            <a:srgbClr val="D9F2EA"/>
          </a:solidFill>
        </p:spPr>
      </p:sp>
      <p:sp>
        <p:nvSpPr>
          <p:cNvPr name="TextBox 14" id="14"/>
          <p:cNvSpPr txBox="true"/>
          <p:nvPr/>
        </p:nvSpPr>
        <p:spPr>
          <a:xfrm rot="0">
            <a:off x="5810250" y="2495550"/>
            <a:ext cx="5572125" cy="4309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76"/>
              </a:lnSpc>
            </a:pPr>
            <a:r>
              <a:rPr lang="en-US" b="1" sz="285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Check signs → fresh goal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09600" y="4162425"/>
            <a:ext cx="28575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1" sz="2550">
                <a:solidFill>
                  <a:srgbClr val="C96331"/>
                </a:solidFill>
                <a:latin typeface="DM Sans"/>
                <a:ea typeface="DM Sans"/>
                <a:cs typeface="DM Sans"/>
                <a:sym typeface="DM Sans"/>
              </a:rPr>
              <a:t>Tried x = 2, 6</a:t>
            </a:r>
          </a:p>
        </p:txBody>
      </p:sp>
      <p:sp>
        <p:nvSpPr>
          <p:cNvPr name="AutoShape 16" id="16"/>
          <p:cNvSpPr/>
          <p:nvPr/>
        </p:nvSpPr>
        <p:spPr>
          <a:xfrm rot="0">
            <a:off x="3495675" y="4410075"/>
            <a:ext cx="1019175" cy="38100"/>
          </a:xfrm>
          <a:prstGeom prst="rect">
            <a:avLst/>
          </a:prstGeom>
          <a:solidFill>
            <a:srgbClr val="C96331"/>
          </a:solidFill>
        </p:spPr>
      </p:sp>
      <p:grpSp>
        <p:nvGrpSpPr>
          <p:cNvPr name="Group 17" id="17"/>
          <p:cNvGrpSpPr/>
          <p:nvPr/>
        </p:nvGrpSpPr>
        <p:grpSpPr>
          <a:xfrm rot="1840140">
            <a:off x="4457033" y="4374452"/>
            <a:ext cx="171450" cy="28575"/>
            <a:chOff x="0" y="0"/>
            <a:chExt cx="228600" cy="381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grpSp>
        <p:nvGrpSpPr>
          <p:cNvPr name="Group 19" id="19"/>
          <p:cNvGrpSpPr/>
          <p:nvPr/>
        </p:nvGrpSpPr>
        <p:grpSpPr>
          <a:xfrm rot="8959860">
            <a:off x="4448937" y="4460176"/>
            <a:ext cx="171450" cy="28575"/>
            <a:chOff x="0" y="0"/>
            <a:chExt cx="228600" cy="381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sp>
        <p:nvSpPr>
          <p:cNvPr name="AutoShape 21" id="21"/>
          <p:cNvSpPr/>
          <p:nvPr/>
        </p:nvSpPr>
        <p:spPr>
          <a:xfrm rot="0">
            <a:off x="4857750" y="3952875"/>
            <a:ext cx="2914650" cy="971550"/>
          </a:xfrm>
          <a:prstGeom prst="rect">
            <a:avLst/>
          </a:prstGeom>
          <a:solidFill>
            <a:srgbClr val="F8EADF"/>
          </a:solidFill>
        </p:spPr>
      </p:sp>
      <p:sp>
        <p:nvSpPr>
          <p:cNvPr name="TextBox 22" id="22"/>
          <p:cNvSpPr txBox="true"/>
          <p:nvPr/>
        </p:nvSpPr>
        <p:spPr>
          <a:xfrm rot="0">
            <a:off x="5010150" y="4229100"/>
            <a:ext cx="2609850" cy="346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36"/>
              </a:lnSpc>
            </a:pPr>
            <a:r>
              <a:rPr lang="en-US" b="1" sz="2325">
                <a:solidFill>
                  <a:srgbClr val="C96331"/>
                </a:solidFill>
                <a:latin typeface="DM Sans"/>
                <a:ea typeface="DM Sans"/>
                <a:cs typeface="DM Sans"/>
                <a:sym typeface="DM Sans"/>
              </a:rPr>
              <a:t>Check factors</a:t>
            </a:r>
          </a:p>
        </p:txBody>
      </p:sp>
      <p:sp>
        <p:nvSpPr>
          <p:cNvPr name="AutoShape 23" id="23"/>
          <p:cNvSpPr/>
          <p:nvPr/>
        </p:nvSpPr>
        <p:spPr>
          <a:xfrm rot="0">
            <a:off x="8029575" y="4410075"/>
            <a:ext cx="771525" cy="38100"/>
          </a:xfrm>
          <a:prstGeom prst="rect">
            <a:avLst/>
          </a:prstGeom>
          <a:solidFill>
            <a:srgbClr val="C96331"/>
          </a:solidFill>
        </p:spPr>
      </p:sp>
      <p:grpSp>
        <p:nvGrpSpPr>
          <p:cNvPr name="Group 24" id="24"/>
          <p:cNvGrpSpPr/>
          <p:nvPr/>
        </p:nvGrpSpPr>
        <p:grpSpPr>
          <a:xfrm rot="1840140">
            <a:off x="8743283" y="4374452"/>
            <a:ext cx="171450" cy="28575"/>
            <a:chOff x="0" y="0"/>
            <a:chExt cx="228600" cy="381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grpSp>
        <p:nvGrpSpPr>
          <p:cNvPr name="Group 26" id="26"/>
          <p:cNvGrpSpPr/>
          <p:nvPr/>
        </p:nvGrpSpPr>
        <p:grpSpPr>
          <a:xfrm rot="8959860">
            <a:off x="8735187" y="4460176"/>
            <a:ext cx="171450" cy="28575"/>
            <a:chOff x="0" y="0"/>
            <a:chExt cx="228600" cy="381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sp>
        <p:nvSpPr>
          <p:cNvPr name="AutoShape 28" id="28"/>
          <p:cNvSpPr/>
          <p:nvPr/>
        </p:nvSpPr>
        <p:spPr>
          <a:xfrm rot="0">
            <a:off x="9144000" y="3952875"/>
            <a:ext cx="2438400" cy="971550"/>
          </a:xfrm>
          <a:prstGeom prst="rect">
            <a:avLst/>
          </a:prstGeom>
          <a:solidFill>
            <a:srgbClr val="F0EFFF"/>
          </a:solidFill>
        </p:spPr>
      </p:sp>
      <p:sp>
        <p:nvSpPr>
          <p:cNvPr name="TextBox 29" id="29"/>
          <p:cNvSpPr txBox="true"/>
          <p:nvPr/>
        </p:nvSpPr>
        <p:spPr>
          <a:xfrm rot="0">
            <a:off x="9220200" y="4219575"/>
            <a:ext cx="2286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1" sz="225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Fresh goal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609600" y="5791200"/>
            <a:ext cx="109728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2"/>
              </a:lnSpc>
            </a:pPr>
            <a:r>
              <a:rPr lang="en-US" b="1" sz="262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The mistake points to the starting check.</a:t>
            </a:r>
          </a:p>
        </p:txBody>
      </p:sp>
      <p:sp>
        <p:nvSpPr>
          <p:cNvPr name="AutoShape 31" id="31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05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5341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9"/>
              </a:lnSpc>
            </a:pPr>
            <a:r>
              <a:rPr lang="en-US" b="1" sz="345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Khan material, focused on the missing step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4429125" y="1562100"/>
            <a:ext cx="3333750" cy="533400"/>
            <a:chOff x="0" y="0"/>
            <a:chExt cx="4445000" cy="7112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445000" cy="711200"/>
            </a:xfrm>
            <a:custGeom>
              <a:avLst/>
              <a:gdLst/>
              <a:ahLst/>
              <a:cxnLst/>
              <a:rect r="r" b="b" t="t" l="l"/>
              <a:pathLst>
                <a:path h="711200" w="4445000">
                  <a:moveTo>
                    <a:pt x="0" y="0"/>
                  </a:moveTo>
                  <a:lnTo>
                    <a:pt x="4445000" y="0"/>
                  </a:lnTo>
                  <a:lnTo>
                    <a:pt x="4445000" y="711200"/>
                  </a:lnTo>
                  <a:lnTo>
                    <a:pt x="0" y="711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283" r="0" b="283"/>
              </a:stretch>
            </a:blipFill>
          </p:spPr>
        </p:sp>
      </p:grpSp>
      <p:sp>
        <p:nvSpPr>
          <p:cNvPr name="AutoShape 9" id="9"/>
          <p:cNvSpPr/>
          <p:nvPr/>
        </p:nvSpPr>
        <p:spPr>
          <a:xfrm rot="0">
            <a:off x="609600" y="2676525"/>
            <a:ext cx="3200400" cy="2381250"/>
          </a:xfrm>
          <a:prstGeom prst="rect">
            <a:avLst/>
          </a:prstGeom>
          <a:solidFill>
            <a:srgbClr val="F0EFFF"/>
          </a:solidFill>
        </p:spPr>
      </p:sp>
      <p:sp>
        <p:nvSpPr>
          <p:cNvPr name="TextBox 10" id="10"/>
          <p:cNvSpPr txBox="true"/>
          <p:nvPr/>
        </p:nvSpPr>
        <p:spPr>
          <a:xfrm rot="0">
            <a:off x="857250" y="2867025"/>
            <a:ext cx="5715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1" sz="255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1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57250" y="3495675"/>
            <a:ext cx="2752725" cy="299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0"/>
              </a:lnSpc>
            </a:pPr>
            <a:r>
              <a:rPr lang="en-US" b="1" sz="202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Watch the key part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857250" y="4105275"/>
            <a:ext cx="2752725" cy="5478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1:34 focused segment</a:t>
            </a:r>
          </a:p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Match sum and product</a:t>
            </a:r>
          </a:p>
        </p:txBody>
      </p:sp>
      <p:sp>
        <p:nvSpPr>
          <p:cNvPr name="AutoShape 13" id="13"/>
          <p:cNvSpPr/>
          <p:nvPr/>
        </p:nvSpPr>
        <p:spPr>
          <a:xfrm rot="0">
            <a:off x="3990975" y="3838575"/>
            <a:ext cx="238125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14" id="14"/>
          <p:cNvGrpSpPr/>
          <p:nvPr/>
        </p:nvGrpSpPr>
        <p:grpSpPr>
          <a:xfrm rot="1840140">
            <a:off x="4171283" y="3802952"/>
            <a:ext cx="171450" cy="28575"/>
            <a:chOff x="0" y="0"/>
            <a:chExt cx="228600" cy="381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16" id="16"/>
          <p:cNvGrpSpPr/>
          <p:nvPr/>
        </p:nvGrpSpPr>
        <p:grpSpPr>
          <a:xfrm rot="8959860">
            <a:off x="4163187" y="3888676"/>
            <a:ext cx="171450" cy="28575"/>
            <a:chOff x="0" y="0"/>
            <a:chExt cx="228600" cy="381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sp>
        <p:nvSpPr>
          <p:cNvPr name="AutoShape 18" id="18"/>
          <p:cNvSpPr/>
          <p:nvPr/>
        </p:nvSpPr>
        <p:spPr>
          <a:xfrm rot="0">
            <a:off x="4495800" y="2676525"/>
            <a:ext cx="3200400" cy="2381250"/>
          </a:xfrm>
          <a:prstGeom prst="rect">
            <a:avLst/>
          </a:prstGeom>
          <a:solidFill>
            <a:srgbClr val="D9F2EA"/>
          </a:solidFill>
        </p:spPr>
      </p:sp>
      <p:sp>
        <p:nvSpPr>
          <p:cNvPr name="TextBox 19" id="19"/>
          <p:cNvSpPr txBox="true"/>
          <p:nvPr/>
        </p:nvSpPr>
        <p:spPr>
          <a:xfrm rot="0">
            <a:off x="4743450" y="2867025"/>
            <a:ext cx="5715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1" sz="255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2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4743450" y="3495675"/>
            <a:ext cx="2752725" cy="299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0"/>
              </a:lnSpc>
            </a:pPr>
            <a:r>
              <a:rPr lang="en-US" b="1" sz="202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Try the step here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4743450" y="4105275"/>
            <a:ext cx="2752725" cy="5478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Use the idea with different numbers</a:t>
            </a:r>
          </a:p>
        </p:txBody>
      </p:sp>
      <p:sp>
        <p:nvSpPr>
          <p:cNvPr name="AutoShape 22" id="22"/>
          <p:cNvSpPr/>
          <p:nvPr/>
        </p:nvSpPr>
        <p:spPr>
          <a:xfrm rot="0">
            <a:off x="7877175" y="3838575"/>
            <a:ext cx="238125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23" id="23"/>
          <p:cNvGrpSpPr/>
          <p:nvPr/>
        </p:nvGrpSpPr>
        <p:grpSpPr>
          <a:xfrm rot="1840140">
            <a:off x="8057483" y="3802952"/>
            <a:ext cx="171450" cy="28575"/>
            <a:chOff x="0" y="0"/>
            <a:chExt cx="228600" cy="381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5" id="25"/>
          <p:cNvGrpSpPr/>
          <p:nvPr/>
        </p:nvGrpSpPr>
        <p:grpSpPr>
          <a:xfrm rot="8959860">
            <a:off x="8049387" y="3888676"/>
            <a:ext cx="171450" cy="28575"/>
            <a:chOff x="0" y="0"/>
            <a:chExt cx="228600" cy="381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sp>
        <p:nvSpPr>
          <p:cNvPr name="AutoShape 27" id="27"/>
          <p:cNvSpPr/>
          <p:nvPr/>
        </p:nvSpPr>
        <p:spPr>
          <a:xfrm rot="0">
            <a:off x="8382000" y="2676525"/>
            <a:ext cx="3200400" cy="2381250"/>
          </a:xfrm>
          <a:prstGeom prst="rect">
            <a:avLst/>
          </a:prstGeom>
          <a:solidFill>
            <a:srgbClr val="F0EFFF"/>
          </a:solidFill>
        </p:spPr>
      </p:sp>
      <p:sp>
        <p:nvSpPr>
          <p:cNvPr name="TextBox 28" id="28"/>
          <p:cNvSpPr txBox="true"/>
          <p:nvPr/>
        </p:nvSpPr>
        <p:spPr>
          <a:xfrm rot="0">
            <a:off x="8629650" y="2867025"/>
            <a:ext cx="5715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1" sz="255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3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8629650" y="3495675"/>
            <a:ext cx="2752725" cy="299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0"/>
              </a:lnSpc>
            </a:pPr>
            <a:r>
              <a:rPr lang="en-US" b="1" sz="202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Return to the goal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8629650" y="4105275"/>
            <a:ext cx="2752725" cy="5478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Solve a fresh quadratic equation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609600" y="5629275"/>
            <a:ext cx="10972800" cy="299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70"/>
              </a:lnSpc>
            </a:pPr>
            <a:r>
              <a:rPr lang="en-US" sz="20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Short enough to use now. More Khan practice when they need it.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609600" y="6410325"/>
            <a:ext cx="4667250" cy="1308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9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  <a:hlinkClick r:id="rId5" tooltip="https://www.khanacademy.org/math/algebra/x2f8bb11595b61c86:quadratics-multiplying-factoring/x2f8bb11595b61c86:factor-quadratics-intro/v/factoring-simple-quadratic-expression"/>
              </a:rPr>
              <a:t>Khan Academy: factoring quadratics</a:t>
            </a:r>
          </a:p>
        </p:txBody>
      </p:sp>
      <p:sp>
        <p:nvSpPr>
          <p:cNvPr name="AutoShape 33" id="33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06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9600"/>
            <a:ext cx="10972800" cy="590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8"/>
              </a:lnSpc>
            </a:pPr>
            <a:r>
              <a:rPr lang="en-US" b="1" sz="390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Back to the skill that stopped them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9600" y="2286000"/>
            <a:ext cx="10972800" cy="2343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30"/>
              </a:lnSpc>
            </a:pPr>
            <a:r>
              <a:rPr lang="en-US" b="1" sz="150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FRESH CURRENT-LEVEL TASK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09600" y="2933700"/>
            <a:ext cx="10972800" cy="8900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37"/>
              </a:lnSpc>
            </a:pPr>
            <a:r>
              <a:rPr lang="en-US" b="1" sz="585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x² + 11x + 28 = 0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09600" y="4219575"/>
            <a:ext cx="10972800" cy="6467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2"/>
              </a:lnSpc>
            </a:pPr>
            <a:r>
              <a:rPr lang="en-US" b="1" sz="412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x = -4 or x = -7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5715000"/>
            <a:ext cx="10972800" cy="337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sz="21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New numbers. The same skill they came to recover.</a:t>
            </a:r>
          </a:p>
        </p:txBody>
      </p:sp>
      <p:sp>
        <p:nvSpPr>
          <p:cNvPr name="AutoShape 11" id="11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609600" y="3648075"/>
            <a:ext cx="7029450" cy="1066800"/>
            <a:chOff x="0" y="0"/>
            <a:chExt cx="9372600" cy="14224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372600" cy="1422400"/>
            </a:xfrm>
            <a:custGeom>
              <a:avLst/>
              <a:gdLst/>
              <a:ahLst/>
              <a:cxnLst/>
              <a:rect r="r" b="b" t="t" l="l"/>
              <a:pathLst>
                <a:path h="1422400" w="9372600">
                  <a:moveTo>
                    <a:pt x="127000" y="0"/>
                  </a:moveTo>
                  <a:lnTo>
                    <a:pt x="9245600" y="0"/>
                  </a:lnTo>
                  <a:cubicBezTo>
                    <a:pt x="9315704" y="0"/>
                    <a:pt x="9372600" y="56896"/>
                    <a:pt x="9372600" y="127000"/>
                  </a:cubicBezTo>
                  <a:lnTo>
                    <a:pt x="9372600" y="1295400"/>
                  </a:lnTo>
                  <a:cubicBezTo>
                    <a:pt x="9372600" y="1365504"/>
                    <a:pt x="9315704" y="1422400"/>
                    <a:pt x="9245600" y="1422400"/>
                  </a:cubicBezTo>
                  <a:lnTo>
                    <a:pt x="127000" y="1422400"/>
                  </a:lnTo>
                  <a:cubicBezTo>
                    <a:pt x="56896" y="1422400"/>
                    <a:pt x="0" y="1365504"/>
                    <a:pt x="0" y="1295400"/>
                  </a:cubicBezTo>
                  <a:lnTo>
                    <a:pt x="0" y="127000"/>
                  </a:lnTo>
                  <a:cubicBezTo>
                    <a:pt x="0" y="56896"/>
                    <a:pt x="56896" y="0"/>
                    <a:pt x="12700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9039225" y="2990850"/>
            <a:ext cx="2238375" cy="2238375"/>
            <a:chOff x="0" y="0"/>
            <a:chExt cx="2984500" cy="29845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984500" cy="2984500"/>
            </a:xfrm>
            <a:custGeom>
              <a:avLst/>
              <a:gdLst/>
              <a:ahLst/>
              <a:cxnLst/>
              <a:rect r="r" b="b" t="t" l="l"/>
              <a:pathLst>
                <a:path h="2984500" w="2984500">
                  <a:moveTo>
                    <a:pt x="0" y="0"/>
                  </a:moveTo>
                  <a:lnTo>
                    <a:pt x="2984500" y="0"/>
                  </a:lnTo>
                  <a:lnTo>
                    <a:pt x="2984500" y="2984500"/>
                  </a:lnTo>
                  <a:lnTo>
                    <a:pt x="0" y="2984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78303" t="0" r="-78303" b="0"/>
              </a:stretch>
            </a:blipFill>
          </p:spPr>
        </p:sp>
      </p:grpSp>
      <p:sp>
        <p:nvSpPr>
          <p:cNvPr name="AutoShape 9" id="9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0" id="10">
            <a:hlinkClick r:id="rId6" tooltip="https://backtrack-learning.vercel.app/demo"/>
          </p:cNvPr>
          <p:cNvSpPr/>
          <p:nvPr/>
        </p:nvSpPr>
        <p:spPr>
          <a:xfrm flipH="false" flipV="false" rot="0">
            <a:off x="9039225" y="2990850"/>
            <a:ext cx="2238375" cy="2238375"/>
          </a:xfrm>
          <a:custGeom>
            <a:avLst/>
            <a:gdLst/>
            <a:ahLst/>
            <a:cxnLst/>
            <a:rect r="r" b="b" t="t" l="l"/>
            <a:pathLst>
              <a:path h="2238375" w="2238375">
                <a:moveTo>
                  <a:pt x="0" y="0"/>
                </a:moveTo>
                <a:lnTo>
                  <a:pt x="2238375" y="0"/>
                </a:lnTo>
                <a:lnTo>
                  <a:pt x="2238375" y="2238375"/>
                </a:lnTo>
                <a:lnTo>
                  <a:pt x="0" y="223837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07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09600" y="609600"/>
            <a:ext cx="10972800" cy="590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8"/>
              </a:lnSpc>
            </a:pPr>
            <a:r>
              <a:rPr lang="en-US" b="1" sz="390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Try the demo. Watch the route change.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09600" y="2257425"/>
            <a:ext cx="7219950" cy="8502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85"/>
              </a:lnSpc>
            </a:pPr>
            <a:r>
              <a:rPr lang="en-US" sz="27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Compare two wrong answers.</a:t>
            </a:r>
          </a:p>
          <a:p>
            <a:pPr algn="l">
              <a:lnSpc>
                <a:spcPts val="3385"/>
              </a:lnSpc>
            </a:pPr>
            <a:r>
              <a:rPr lang="en-US" sz="27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See why they get different repairs.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19150" y="3857625"/>
            <a:ext cx="6610350" cy="5341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9"/>
              </a:lnSpc>
            </a:pPr>
            <a:r>
              <a:rPr lang="en-US" b="1" sz="34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  <a:hlinkClick r:id="rId7" tooltip="https://backtrack-learning.vercel.app/demo"/>
              </a:rPr>
              <a:t>Try BACKTRACK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09600" y="5048250"/>
            <a:ext cx="702945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sz="1875" u="sng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8" tooltip="https://backtrack-learning.vercel.app/demo"/>
              </a:rPr>
              <a:t>backtrack-learning.vercel.app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8743950" y="5429250"/>
            <a:ext cx="2828925" cy="2434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13"/>
              </a:lnSpc>
            </a:pPr>
            <a:r>
              <a:rPr lang="en-US" b="1" sz="165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Scan to start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09600" y="5848350"/>
            <a:ext cx="7429500" cy="462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lang="en-US" sz="15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A few sample routes to help you picture BACKTRACK. The full product is still in development.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08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646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24"/>
              </a:lnSpc>
            </a:pPr>
            <a:r>
              <a:rPr lang="en-US" b="1" sz="420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Can they still do it next week?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619250" y="2705100"/>
            <a:ext cx="552450" cy="552450"/>
            <a:chOff x="0" y="0"/>
            <a:chExt cx="736600" cy="7366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1704975" y="278130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1" sz="22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1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3457575"/>
            <a:ext cx="257175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1" sz="21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Stuck before the route</a:t>
            </a:r>
          </a:p>
        </p:txBody>
      </p:sp>
      <p:sp>
        <p:nvSpPr>
          <p:cNvPr name="AutoShape 11" id="11"/>
          <p:cNvSpPr/>
          <p:nvPr/>
        </p:nvSpPr>
        <p:spPr>
          <a:xfrm rot="0">
            <a:off x="2838450" y="2962275"/>
            <a:ext cx="838200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12" id="12"/>
          <p:cNvGrpSpPr/>
          <p:nvPr/>
        </p:nvGrpSpPr>
        <p:grpSpPr>
          <a:xfrm rot="1840140">
            <a:off x="3618833" y="2926652"/>
            <a:ext cx="171450" cy="28575"/>
            <a:chOff x="0" y="0"/>
            <a:chExt cx="228600" cy="381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14" id="14"/>
          <p:cNvGrpSpPr/>
          <p:nvPr/>
        </p:nvGrpSpPr>
        <p:grpSpPr>
          <a:xfrm rot="8959860">
            <a:off x="3610737" y="3012376"/>
            <a:ext cx="171450" cy="28575"/>
            <a:chOff x="0" y="0"/>
            <a:chExt cx="228600" cy="381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5505450" y="2705100"/>
            <a:ext cx="552450" cy="552450"/>
            <a:chOff x="0" y="0"/>
            <a:chExt cx="736600" cy="7366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5591175" y="278130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1" sz="22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2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4495800" y="3457575"/>
            <a:ext cx="257175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1" sz="21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Pass a fresh task after practice</a:t>
            </a:r>
          </a:p>
        </p:txBody>
      </p:sp>
      <p:sp>
        <p:nvSpPr>
          <p:cNvPr name="AutoShape 20" id="20"/>
          <p:cNvSpPr/>
          <p:nvPr/>
        </p:nvSpPr>
        <p:spPr>
          <a:xfrm rot="0">
            <a:off x="6724650" y="2962275"/>
            <a:ext cx="838200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21" id="21"/>
          <p:cNvGrpSpPr/>
          <p:nvPr/>
        </p:nvGrpSpPr>
        <p:grpSpPr>
          <a:xfrm rot="1840140">
            <a:off x="7505033" y="2926652"/>
            <a:ext cx="171450" cy="28575"/>
            <a:chOff x="0" y="0"/>
            <a:chExt cx="228600" cy="381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3" id="23"/>
          <p:cNvGrpSpPr/>
          <p:nvPr/>
        </p:nvGrpSpPr>
        <p:grpSpPr>
          <a:xfrm rot="8959860">
            <a:off x="7496937" y="3012376"/>
            <a:ext cx="171450" cy="28575"/>
            <a:chOff x="0" y="0"/>
            <a:chExt cx="228600" cy="381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9391650" y="2705100"/>
            <a:ext cx="552450" cy="552450"/>
            <a:chOff x="0" y="0"/>
            <a:chExt cx="736600" cy="7366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9477375" y="278130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1" sz="22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3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8382000" y="3457575"/>
            <a:ext cx="257175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1" sz="21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Pass again 7-14 days later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09600" y="5324475"/>
            <a:ext cx="109728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2"/>
              </a:lnSpc>
            </a:pPr>
            <a:r>
              <a:rPr lang="en-US" b="1" sz="262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Retained reentry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609600" y="5876925"/>
            <a:ext cx="1097280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sz="18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Count everyone who started unable to do the task.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609600" y="6410325"/>
            <a:ext cx="4667250" cy="1308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9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  <a:hlinkClick r:id="rId4" tooltip="https://doi.org/10.1038/s44159-022-00089-1"/>
              </a:rPr>
              <a:t>Spacing and retrieval · 2022</a:t>
            </a:r>
          </a:p>
        </p:txBody>
      </p:sp>
      <p:sp>
        <p:nvSpPr>
          <p:cNvPr name="AutoShape 32" id="32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09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6558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15"/>
              </a:lnSpc>
            </a:pPr>
            <a:r>
              <a:rPr lang="en-US" b="1" sz="42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A five-month school pilot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9600" y="1495425"/>
            <a:ext cx="10972800" cy="346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6"/>
              </a:lnSpc>
            </a:pPr>
            <a:r>
              <a:rPr lang="en-US" sz="232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80-120 learners across 2-3 cohorts</a:t>
            </a:r>
          </a:p>
        </p:txBody>
      </p:sp>
      <p:sp>
        <p:nvSpPr>
          <p:cNvPr name="AutoShape 8" id="8"/>
          <p:cNvSpPr/>
          <p:nvPr/>
        </p:nvSpPr>
        <p:spPr>
          <a:xfrm rot="0">
            <a:off x="1409700" y="3209925"/>
            <a:ext cx="9172575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9" id="9"/>
          <p:cNvGrpSpPr/>
          <p:nvPr/>
        </p:nvGrpSpPr>
        <p:grpSpPr>
          <a:xfrm rot="0">
            <a:off x="1066800" y="2828925"/>
            <a:ext cx="800100" cy="800100"/>
            <a:chOff x="0" y="0"/>
            <a:chExt cx="1066800" cy="1066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66800" cy="1066800"/>
            </a:xfrm>
            <a:custGeom>
              <a:avLst/>
              <a:gdLst/>
              <a:ahLst/>
              <a:cxnLst/>
              <a:rect r="r" b="b" t="t" l="l"/>
              <a:pathLst>
                <a:path h="1066800" w="1066800">
                  <a:moveTo>
                    <a:pt x="533400" y="0"/>
                  </a:moveTo>
                  <a:cubicBezTo>
                    <a:pt x="828040" y="0"/>
                    <a:pt x="1066800" y="238760"/>
                    <a:pt x="1066800" y="533400"/>
                  </a:cubicBezTo>
                  <a:cubicBezTo>
                    <a:pt x="1066800" y="828040"/>
                    <a:pt x="828040" y="1066800"/>
                    <a:pt x="533400" y="1066800"/>
                  </a:cubicBezTo>
                  <a:cubicBezTo>
                    <a:pt x="238760" y="1066800"/>
                    <a:pt x="0" y="828040"/>
                    <a:pt x="0" y="533400"/>
                  </a:cubicBezTo>
                  <a:cubicBezTo>
                    <a:pt x="0" y="238760"/>
                    <a:pt x="238760" y="0"/>
                    <a:pt x="533400" y="0"/>
                  </a:cubicBezTo>
                  <a:close/>
                </a:path>
              </a:pathLst>
            </a:custGeom>
            <a:solidFill>
              <a:srgbClr val="D9F2EA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962025" y="3067050"/>
            <a:ext cx="10096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1" sz="180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NOV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09600" y="4067175"/>
            <a:ext cx="2000250" cy="566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b="1" sz="18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Review maps + baseline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3352800" y="2828925"/>
            <a:ext cx="800100" cy="800100"/>
            <a:chOff x="0" y="0"/>
            <a:chExt cx="1066800" cy="10668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66800" cy="1066800"/>
            </a:xfrm>
            <a:custGeom>
              <a:avLst/>
              <a:gdLst/>
              <a:ahLst/>
              <a:cxnLst/>
              <a:rect r="r" b="b" t="t" l="l"/>
              <a:pathLst>
                <a:path h="1066800" w="1066800">
                  <a:moveTo>
                    <a:pt x="533400" y="0"/>
                  </a:moveTo>
                  <a:cubicBezTo>
                    <a:pt x="828040" y="0"/>
                    <a:pt x="1066800" y="238760"/>
                    <a:pt x="1066800" y="533400"/>
                  </a:cubicBezTo>
                  <a:cubicBezTo>
                    <a:pt x="1066800" y="828040"/>
                    <a:pt x="828040" y="1066800"/>
                    <a:pt x="533400" y="1066800"/>
                  </a:cubicBezTo>
                  <a:cubicBezTo>
                    <a:pt x="238760" y="1066800"/>
                    <a:pt x="0" y="828040"/>
                    <a:pt x="0" y="533400"/>
                  </a:cubicBezTo>
                  <a:cubicBezTo>
                    <a:pt x="0" y="238760"/>
                    <a:pt x="238760" y="0"/>
                    <a:pt x="533400" y="0"/>
                  </a:cubicBezTo>
                  <a:close/>
                </a:path>
              </a:pathLst>
            </a:custGeom>
            <a:solidFill>
              <a:srgbClr val="F0EFFF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3248025" y="3067050"/>
            <a:ext cx="10096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1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DEC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2895600" y="4067175"/>
            <a:ext cx="2000250" cy="566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b="1" sz="18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First school cycle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5638800" y="2828925"/>
            <a:ext cx="800100" cy="800100"/>
            <a:chOff x="0" y="0"/>
            <a:chExt cx="1066800" cy="1066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066800" cy="1066800"/>
            </a:xfrm>
            <a:custGeom>
              <a:avLst/>
              <a:gdLst/>
              <a:ahLst/>
              <a:cxnLst/>
              <a:rect r="r" b="b" t="t" l="l"/>
              <a:pathLst>
                <a:path h="1066800" w="1066800">
                  <a:moveTo>
                    <a:pt x="533400" y="0"/>
                  </a:moveTo>
                  <a:cubicBezTo>
                    <a:pt x="828040" y="0"/>
                    <a:pt x="1066800" y="238760"/>
                    <a:pt x="1066800" y="533400"/>
                  </a:cubicBezTo>
                  <a:cubicBezTo>
                    <a:pt x="1066800" y="828040"/>
                    <a:pt x="828040" y="1066800"/>
                    <a:pt x="533400" y="1066800"/>
                  </a:cubicBezTo>
                  <a:cubicBezTo>
                    <a:pt x="238760" y="1066800"/>
                    <a:pt x="0" y="828040"/>
                    <a:pt x="0" y="533400"/>
                  </a:cubicBezTo>
                  <a:cubicBezTo>
                    <a:pt x="0" y="238760"/>
                    <a:pt x="238760" y="0"/>
                    <a:pt x="533400" y="0"/>
                  </a:cubicBezTo>
                  <a:close/>
                </a:path>
              </a:pathLst>
            </a:custGeom>
            <a:solidFill>
              <a:srgbClr val="D9F2EA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5534025" y="3067050"/>
            <a:ext cx="10096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1" sz="180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JAN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5181600" y="4067175"/>
            <a:ext cx="2000250" cy="566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b="1" sz="18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Compare + improve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7924800" y="2828925"/>
            <a:ext cx="800100" cy="800100"/>
            <a:chOff x="0" y="0"/>
            <a:chExt cx="1066800" cy="1066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66800" cy="1066800"/>
            </a:xfrm>
            <a:custGeom>
              <a:avLst/>
              <a:gdLst/>
              <a:ahLst/>
              <a:cxnLst/>
              <a:rect r="r" b="b" t="t" l="l"/>
              <a:pathLst>
                <a:path h="1066800" w="1066800">
                  <a:moveTo>
                    <a:pt x="533400" y="0"/>
                  </a:moveTo>
                  <a:cubicBezTo>
                    <a:pt x="828040" y="0"/>
                    <a:pt x="1066800" y="238760"/>
                    <a:pt x="1066800" y="533400"/>
                  </a:cubicBezTo>
                  <a:cubicBezTo>
                    <a:pt x="1066800" y="828040"/>
                    <a:pt x="828040" y="1066800"/>
                    <a:pt x="533400" y="1066800"/>
                  </a:cubicBezTo>
                  <a:cubicBezTo>
                    <a:pt x="238760" y="1066800"/>
                    <a:pt x="0" y="828040"/>
                    <a:pt x="0" y="533400"/>
                  </a:cubicBezTo>
                  <a:cubicBezTo>
                    <a:pt x="0" y="238760"/>
                    <a:pt x="238760" y="0"/>
                    <a:pt x="533400" y="0"/>
                  </a:cubicBezTo>
                  <a:close/>
                </a:path>
              </a:pathLst>
            </a:custGeom>
            <a:solidFill>
              <a:srgbClr val="F0EFFF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7820025" y="3067050"/>
            <a:ext cx="10096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1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FEB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7467600" y="4067175"/>
            <a:ext cx="2000250" cy="566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b="1" sz="18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New educator + repeat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0210800" y="2828925"/>
            <a:ext cx="800100" cy="800100"/>
            <a:chOff x="0" y="0"/>
            <a:chExt cx="1066800" cy="10668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66800" cy="1066800"/>
            </a:xfrm>
            <a:custGeom>
              <a:avLst/>
              <a:gdLst/>
              <a:ahLst/>
              <a:cxnLst/>
              <a:rect r="r" b="b" t="t" l="l"/>
              <a:pathLst>
                <a:path h="1066800" w="1066800">
                  <a:moveTo>
                    <a:pt x="533400" y="0"/>
                  </a:moveTo>
                  <a:cubicBezTo>
                    <a:pt x="828040" y="0"/>
                    <a:pt x="1066800" y="238760"/>
                    <a:pt x="1066800" y="533400"/>
                  </a:cubicBezTo>
                  <a:cubicBezTo>
                    <a:pt x="1066800" y="828040"/>
                    <a:pt x="828040" y="1066800"/>
                    <a:pt x="533400" y="1066800"/>
                  </a:cubicBezTo>
                  <a:cubicBezTo>
                    <a:pt x="238760" y="1066800"/>
                    <a:pt x="0" y="828040"/>
                    <a:pt x="0" y="533400"/>
                  </a:cubicBezTo>
                  <a:cubicBezTo>
                    <a:pt x="0" y="238760"/>
                    <a:pt x="238760" y="0"/>
                    <a:pt x="533400" y="0"/>
                  </a:cubicBezTo>
                  <a:close/>
                </a:path>
              </a:pathLst>
            </a:custGeom>
            <a:solidFill>
              <a:srgbClr val="D9F2EA"/>
            </a:solid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10106025" y="3067050"/>
            <a:ext cx="10096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1" sz="180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MAR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9753600" y="4067175"/>
            <a:ext cx="2000250" cy="566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b="1" sz="18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Follow-up + handover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09600" y="5610225"/>
            <a:ext cx="10972800" cy="346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6"/>
              </a:lnSpc>
            </a:pPr>
            <a:r>
              <a:rPr lang="en-US" b="1" sz="232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November 2026-March 2027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609600" y="6105525"/>
            <a:ext cx="10382250" cy="2434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3"/>
              </a:lnSpc>
            </a:pPr>
            <a:r>
              <a:rPr lang="en-US" sz="165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Pilot targets, fitted to each school’s access and timetable.</a:t>
            </a:r>
          </a:p>
        </p:txBody>
      </p:sp>
      <p:sp>
        <p:nvSpPr>
          <p:cNvPr name="AutoShape 31" id="31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10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6558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15"/>
              </a:lnSpc>
            </a:pPr>
            <a:r>
              <a:rPr lang="en-US" b="1" sz="42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Does the route add value?</a:t>
            </a:r>
          </a:p>
        </p:txBody>
      </p:sp>
      <p:sp>
        <p:nvSpPr>
          <p:cNvPr name="AutoShape 7" id="7"/>
          <p:cNvSpPr/>
          <p:nvPr/>
        </p:nvSpPr>
        <p:spPr>
          <a:xfrm rot="0">
            <a:off x="609600" y="2457450"/>
            <a:ext cx="5172075" cy="1447800"/>
          </a:xfrm>
          <a:prstGeom prst="rect">
            <a:avLst/>
          </a:prstGeom>
          <a:solidFill>
            <a:srgbClr val="D9F2EA"/>
          </a:solidFill>
        </p:spPr>
      </p:sp>
      <p:sp>
        <p:nvSpPr>
          <p:cNvPr name="AutoShape 8" id="8"/>
          <p:cNvSpPr/>
          <p:nvPr/>
        </p:nvSpPr>
        <p:spPr>
          <a:xfrm rot="0">
            <a:off x="6153150" y="2457450"/>
            <a:ext cx="5429250" cy="1447800"/>
          </a:xfrm>
          <a:prstGeom prst="rect">
            <a:avLst/>
          </a:prstGeom>
          <a:solidFill>
            <a:srgbClr val="F0EFFF"/>
          </a:solidFill>
        </p:spPr>
      </p:sp>
      <p:sp>
        <p:nvSpPr>
          <p:cNvPr name="TextBox 9" id="9"/>
          <p:cNvSpPr txBox="true"/>
          <p:nvPr/>
        </p:nvSpPr>
        <p:spPr>
          <a:xfrm rot="0">
            <a:off x="838200" y="2686050"/>
            <a:ext cx="4714875" cy="4215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85"/>
              </a:lnSpc>
            </a:pPr>
            <a:r>
              <a:rPr lang="en-US" b="1" sz="277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Khan practice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38200" y="3362325"/>
            <a:ext cx="4714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Selected by the teacher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381750" y="2686050"/>
            <a:ext cx="4972050" cy="4215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85"/>
              </a:lnSpc>
            </a:pPr>
            <a:r>
              <a:rPr lang="en-US" b="1" sz="2775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Khan + BACKTRACK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381750" y="3362325"/>
            <a:ext cx="49720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Practice tied to the recovery route</a:t>
            </a:r>
          </a:p>
        </p:txBody>
      </p:sp>
      <p:grpSp>
        <p:nvGrpSpPr>
          <p:cNvPr name="Group 13" id="13"/>
          <p:cNvGrpSpPr/>
          <p:nvPr/>
        </p:nvGrpSpPr>
        <p:grpSpPr>
          <a:xfrm rot="5400000">
            <a:off x="2876550" y="4200525"/>
            <a:ext cx="628650" cy="38100"/>
            <a:chOff x="0" y="0"/>
            <a:chExt cx="838200" cy="508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38200" cy="50800"/>
            </a:xfrm>
            <a:custGeom>
              <a:avLst/>
              <a:gdLst/>
              <a:ahLst/>
              <a:cxnLst/>
              <a:rect r="r" b="b" t="t" l="l"/>
              <a:pathLst>
                <a:path h="50800" w="838200">
                  <a:moveTo>
                    <a:pt x="25400" y="0"/>
                  </a:moveTo>
                  <a:lnTo>
                    <a:pt x="812800" y="0"/>
                  </a:lnTo>
                  <a:cubicBezTo>
                    <a:pt x="826770" y="0"/>
                    <a:pt x="838200" y="11430"/>
                    <a:pt x="838200" y="25400"/>
                  </a:cubicBezTo>
                  <a:cubicBezTo>
                    <a:pt x="838200" y="39370"/>
                    <a:pt x="826770" y="50800"/>
                    <a:pt x="812800" y="50800"/>
                  </a:cubicBezTo>
                  <a:lnTo>
                    <a:pt x="25400" y="50800"/>
                  </a:lnTo>
                  <a:cubicBezTo>
                    <a:pt x="11430" y="50800"/>
                    <a:pt x="0" y="39370"/>
                    <a:pt x="0" y="25400"/>
                  </a:cubicBezTo>
                  <a:cubicBezTo>
                    <a:pt x="0" y="11430"/>
                    <a:pt x="11430" y="0"/>
                    <a:pt x="254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3190875" y="4505325"/>
            <a:ext cx="2914650" cy="38100"/>
            <a:chOff x="0" y="0"/>
            <a:chExt cx="3886200" cy="50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86200" cy="50800"/>
            </a:xfrm>
            <a:custGeom>
              <a:avLst/>
              <a:gdLst/>
              <a:ahLst/>
              <a:cxnLst/>
              <a:rect r="r" b="b" t="t" l="l"/>
              <a:pathLst>
                <a:path h="50800" w="3886200">
                  <a:moveTo>
                    <a:pt x="25400" y="0"/>
                  </a:moveTo>
                  <a:lnTo>
                    <a:pt x="3860800" y="0"/>
                  </a:lnTo>
                  <a:cubicBezTo>
                    <a:pt x="3874770" y="0"/>
                    <a:pt x="3886200" y="11430"/>
                    <a:pt x="3886200" y="25400"/>
                  </a:cubicBezTo>
                  <a:cubicBezTo>
                    <a:pt x="3886200" y="39370"/>
                    <a:pt x="3874770" y="50800"/>
                    <a:pt x="3860800" y="50800"/>
                  </a:cubicBezTo>
                  <a:lnTo>
                    <a:pt x="25400" y="50800"/>
                  </a:lnTo>
                  <a:cubicBezTo>
                    <a:pt x="11430" y="50800"/>
                    <a:pt x="0" y="39370"/>
                    <a:pt x="0" y="25400"/>
                  </a:cubicBezTo>
                  <a:cubicBezTo>
                    <a:pt x="0" y="11430"/>
                    <a:pt x="11430" y="0"/>
                    <a:pt x="254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grpSp>
        <p:nvGrpSpPr>
          <p:cNvPr name="Group 17" id="17"/>
          <p:cNvGrpSpPr/>
          <p:nvPr/>
        </p:nvGrpSpPr>
        <p:grpSpPr>
          <a:xfrm rot="5400000">
            <a:off x="5872162" y="4729162"/>
            <a:ext cx="447675" cy="38100"/>
            <a:chOff x="0" y="0"/>
            <a:chExt cx="596900" cy="50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96900" cy="50800"/>
            </a:xfrm>
            <a:custGeom>
              <a:avLst/>
              <a:gdLst/>
              <a:ahLst/>
              <a:cxnLst/>
              <a:rect r="r" b="b" t="t" l="l"/>
              <a:pathLst>
                <a:path h="50800" w="596900">
                  <a:moveTo>
                    <a:pt x="25400" y="0"/>
                  </a:moveTo>
                  <a:lnTo>
                    <a:pt x="571500" y="0"/>
                  </a:lnTo>
                  <a:cubicBezTo>
                    <a:pt x="585470" y="0"/>
                    <a:pt x="596900" y="11430"/>
                    <a:pt x="596900" y="25400"/>
                  </a:cubicBezTo>
                  <a:cubicBezTo>
                    <a:pt x="596900" y="39370"/>
                    <a:pt x="585470" y="50800"/>
                    <a:pt x="571500" y="50800"/>
                  </a:cubicBezTo>
                  <a:lnTo>
                    <a:pt x="25400" y="50800"/>
                  </a:lnTo>
                  <a:cubicBezTo>
                    <a:pt x="11430" y="50800"/>
                    <a:pt x="0" y="39370"/>
                    <a:pt x="0" y="25400"/>
                  </a:cubicBezTo>
                  <a:cubicBezTo>
                    <a:pt x="0" y="11430"/>
                    <a:pt x="11430" y="0"/>
                    <a:pt x="254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grpSp>
        <p:nvGrpSpPr>
          <p:cNvPr name="Group 19" id="19"/>
          <p:cNvGrpSpPr/>
          <p:nvPr/>
        </p:nvGrpSpPr>
        <p:grpSpPr>
          <a:xfrm rot="5400000">
            <a:off x="8543925" y="4200525"/>
            <a:ext cx="628650" cy="38100"/>
            <a:chOff x="0" y="0"/>
            <a:chExt cx="838200" cy="508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38200" cy="50800"/>
            </a:xfrm>
            <a:custGeom>
              <a:avLst/>
              <a:gdLst/>
              <a:ahLst/>
              <a:cxnLst/>
              <a:rect r="r" b="b" t="t" l="l"/>
              <a:pathLst>
                <a:path h="50800" w="838200">
                  <a:moveTo>
                    <a:pt x="25400" y="0"/>
                  </a:moveTo>
                  <a:lnTo>
                    <a:pt x="812800" y="0"/>
                  </a:lnTo>
                  <a:cubicBezTo>
                    <a:pt x="826770" y="0"/>
                    <a:pt x="838200" y="11430"/>
                    <a:pt x="838200" y="25400"/>
                  </a:cubicBezTo>
                  <a:cubicBezTo>
                    <a:pt x="838200" y="39370"/>
                    <a:pt x="826770" y="50800"/>
                    <a:pt x="812800" y="50800"/>
                  </a:cubicBezTo>
                  <a:lnTo>
                    <a:pt x="25400" y="50800"/>
                  </a:lnTo>
                  <a:cubicBezTo>
                    <a:pt x="11430" y="50800"/>
                    <a:pt x="0" y="39370"/>
                    <a:pt x="0" y="25400"/>
                  </a:cubicBezTo>
                  <a:cubicBezTo>
                    <a:pt x="0" y="11430"/>
                    <a:pt x="11430" y="0"/>
                    <a:pt x="2540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grpSp>
        <p:nvGrpSpPr>
          <p:cNvPr name="Group 21" id="21"/>
          <p:cNvGrpSpPr/>
          <p:nvPr/>
        </p:nvGrpSpPr>
        <p:grpSpPr>
          <a:xfrm rot="-10800000">
            <a:off x="6086475" y="4505325"/>
            <a:ext cx="2771775" cy="38100"/>
            <a:chOff x="0" y="0"/>
            <a:chExt cx="3695700" cy="50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695700" cy="50800"/>
            </a:xfrm>
            <a:custGeom>
              <a:avLst/>
              <a:gdLst/>
              <a:ahLst/>
              <a:cxnLst/>
              <a:rect r="r" b="b" t="t" l="l"/>
              <a:pathLst>
                <a:path h="50800" w="3695700">
                  <a:moveTo>
                    <a:pt x="25400" y="0"/>
                  </a:moveTo>
                  <a:lnTo>
                    <a:pt x="3670300" y="0"/>
                  </a:lnTo>
                  <a:cubicBezTo>
                    <a:pt x="3684270" y="0"/>
                    <a:pt x="3695700" y="11430"/>
                    <a:pt x="3695700" y="25400"/>
                  </a:cubicBezTo>
                  <a:cubicBezTo>
                    <a:pt x="3695700" y="39370"/>
                    <a:pt x="3684270" y="50800"/>
                    <a:pt x="3670300" y="50800"/>
                  </a:cubicBezTo>
                  <a:lnTo>
                    <a:pt x="25400" y="50800"/>
                  </a:lnTo>
                  <a:cubicBezTo>
                    <a:pt x="11430" y="50800"/>
                    <a:pt x="0" y="39370"/>
                    <a:pt x="0" y="25400"/>
                  </a:cubicBezTo>
                  <a:cubicBezTo>
                    <a:pt x="0" y="11430"/>
                    <a:pt x="11430" y="0"/>
                    <a:pt x="2540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sp>
        <p:nvSpPr>
          <p:cNvPr name="AutoShape 23" id="23"/>
          <p:cNvSpPr/>
          <p:nvPr/>
        </p:nvSpPr>
        <p:spPr>
          <a:xfrm rot="0">
            <a:off x="1809750" y="4962525"/>
            <a:ext cx="8572500" cy="819150"/>
          </a:xfrm>
          <a:prstGeom prst="rect">
            <a:avLst/>
          </a:prstGeom>
          <a:solidFill>
            <a:srgbClr val="087E70"/>
          </a:solidFill>
        </p:spPr>
      </p:sp>
      <p:sp>
        <p:nvSpPr>
          <p:cNvPr name="TextBox 24" id="24"/>
          <p:cNvSpPr txBox="true"/>
          <p:nvPr/>
        </p:nvSpPr>
        <p:spPr>
          <a:xfrm rot="0">
            <a:off x="2028825" y="5153025"/>
            <a:ext cx="8134350" cy="4309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76"/>
              </a:lnSpc>
            </a:pPr>
            <a:r>
              <a:rPr lang="en-US" b="1" sz="28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The same fresh assessments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09600" y="6124575"/>
            <a:ext cx="1097280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After practice, then 7-14 days later. Similar time and support.</a:t>
            </a:r>
          </a:p>
        </p:txBody>
      </p:sp>
      <p:sp>
        <p:nvSpPr>
          <p:cNvPr name="AutoShape 26" id="26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11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721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b="1" sz="472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Skip the review you don’t need.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9600" y="2114550"/>
            <a:ext cx="4095750" cy="2436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1"/>
              </a:lnSpc>
            </a:pPr>
            <a:r>
              <a:rPr lang="en-US" b="1" sz="15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What the learner does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610350" y="2114550"/>
            <a:ext cx="4953000" cy="2436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1"/>
              </a:lnSpc>
            </a:pPr>
            <a:r>
              <a:rPr lang="en-US" b="1" sz="15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What changes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09600" y="2886075"/>
            <a:ext cx="41910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1" sz="255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Know the step</a:t>
            </a:r>
          </a:p>
        </p:txBody>
      </p:sp>
      <p:sp>
        <p:nvSpPr>
          <p:cNvPr name="AutoShape 10" id="10"/>
          <p:cNvSpPr/>
          <p:nvPr/>
        </p:nvSpPr>
        <p:spPr>
          <a:xfrm rot="0">
            <a:off x="4981575" y="3105150"/>
            <a:ext cx="981075" cy="38100"/>
          </a:xfrm>
          <a:prstGeom prst="rect">
            <a:avLst/>
          </a:prstGeom>
          <a:solidFill>
            <a:srgbClr val="087E70"/>
          </a:solidFill>
        </p:spPr>
      </p:sp>
      <p:grpSp>
        <p:nvGrpSpPr>
          <p:cNvPr name="Group 11" id="11"/>
          <p:cNvGrpSpPr/>
          <p:nvPr/>
        </p:nvGrpSpPr>
        <p:grpSpPr>
          <a:xfrm rot="1840140">
            <a:off x="5904833" y="3069526"/>
            <a:ext cx="171450" cy="28575"/>
            <a:chOff x="0" y="0"/>
            <a:chExt cx="228600" cy="381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grpSp>
        <p:nvGrpSpPr>
          <p:cNvPr name="Group 13" id="13"/>
          <p:cNvGrpSpPr/>
          <p:nvPr/>
        </p:nvGrpSpPr>
        <p:grpSpPr>
          <a:xfrm rot="8959860">
            <a:off x="5896737" y="3155252"/>
            <a:ext cx="171450" cy="28575"/>
            <a:chOff x="0" y="0"/>
            <a:chExt cx="228600" cy="381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6610350" y="2886075"/>
            <a:ext cx="497205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1" sz="255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Skip its review</a:t>
            </a:r>
          </a:p>
        </p:txBody>
      </p:sp>
      <p:sp>
        <p:nvSpPr>
          <p:cNvPr name="AutoShape 16" id="16"/>
          <p:cNvSpPr/>
          <p:nvPr/>
        </p:nvSpPr>
        <p:spPr>
          <a:xfrm rot="0">
            <a:off x="609600" y="3686175"/>
            <a:ext cx="10972800" cy="9525"/>
          </a:xfrm>
          <a:prstGeom prst="rect">
            <a:avLst/>
          </a:prstGeom>
          <a:solidFill>
            <a:srgbClr val="CCD7E4"/>
          </a:solidFill>
        </p:spPr>
      </p:sp>
      <p:sp>
        <p:nvSpPr>
          <p:cNvPr name="TextBox 17" id="17"/>
          <p:cNvSpPr txBox="true"/>
          <p:nvPr/>
        </p:nvSpPr>
        <p:spPr>
          <a:xfrm rot="0">
            <a:off x="609600" y="3971925"/>
            <a:ext cx="41910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1" sz="2550">
                <a:solidFill>
                  <a:srgbClr val="C96331"/>
                </a:solidFill>
                <a:latin typeface="DM Sans"/>
                <a:ea typeface="DM Sans"/>
                <a:cs typeface="DM Sans"/>
                <a:sym typeface="DM Sans"/>
              </a:rPr>
              <a:t>Repair a gap</a:t>
            </a:r>
          </a:p>
        </p:txBody>
      </p:sp>
      <p:sp>
        <p:nvSpPr>
          <p:cNvPr name="AutoShape 18" id="18"/>
          <p:cNvSpPr/>
          <p:nvPr/>
        </p:nvSpPr>
        <p:spPr>
          <a:xfrm rot="0">
            <a:off x="4981575" y="4191000"/>
            <a:ext cx="981075" cy="38100"/>
          </a:xfrm>
          <a:prstGeom prst="rect">
            <a:avLst/>
          </a:prstGeom>
          <a:solidFill>
            <a:srgbClr val="C96331"/>
          </a:solidFill>
        </p:spPr>
      </p:sp>
      <p:grpSp>
        <p:nvGrpSpPr>
          <p:cNvPr name="Group 19" id="19"/>
          <p:cNvGrpSpPr/>
          <p:nvPr/>
        </p:nvGrpSpPr>
        <p:grpSpPr>
          <a:xfrm rot="1840140">
            <a:off x="5904833" y="4155376"/>
            <a:ext cx="171450" cy="28575"/>
            <a:chOff x="0" y="0"/>
            <a:chExt cx="228600" cy="381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grpSp>
        <p:nvGrpSpPr>
          <p:cNvPr name="Group 21" id="21"/>
          <p:cNvGrpSpPr/>
          <p:nvPr/>
        </p:nvGrpSpPr>
        <p:grpSpPr>
          <a:xfrm rot="8959860">
            <a:off x="5896737" y="4241102"/>
            <a:ext cx="171450" cy="28575"/>
            <a:chOff x="0" y="0"/>
            <a:chExt cx="228600" cy="381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6610350" y="3971925"/>
            <a:ext cx="497205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1" sz="255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Move closer to the goal</a:t>
            </a:r>
          </a:p>
        </p:txBody>
      </p:sp>
      <p:sp>
        <p:nvSpPr>
          <p:cNvPr name="AutoShape 24" id="24"/>
          <p:cNvSpPr/>
          <p:nvPr/>
        </p:nvSpPr>
        <p:spPr>
          <a:xfrm rot="0">
            <a:off x="609600" y="4772025"/>
            <a:ext cx="10972800" cy="9525"/>
          </a:xfrm>
          <a:prstGeom prst="rect">
            <a:avLst/>
          </a:prstGeom>
          <a:solidFill>
            <a:srgbClr val="CCD7E4"/>
          </a:solidFill>
        </p:spPr>
      </p:sp>
      <p:sp>
        <p:nvSpPr>
          <p:cNvPr name="TextBox 25" id="25"/>
          <p:cNvSpPr txBox="true"/>
          <p:nvPr/>
        </p:nvSpPr>
        <p:spPr>
          <a:xfrm rot="0">
            <a:off x="609600" y="5057775"/>
            <a:ext cx="41910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1" sz="255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Come back later</a:t>
            </a:r>
          </a:p>
        </p:txBody>
      </p:sp>
      <p:sp>
        <p:nvSpPr>
          <p:cNvPr name="AutoShape 26" id="26"/>
          <p:cNvSpPr/>
          <p:nvPr/>
        </p:nvSpPr>
        <p:spPr>
          <a:xfrm rot="0">
            <a:off x="4981575" y="5276850"/>
            <a:ext cx="981075" cy="38100"/>
          </a:xfrm>
          <a:prstGeom prst="rect">
            <a:avLst/>
          </a:prstGeom>
          <a:solidFill>
            <a:srgbClr val="5753FA"/>
          </a:solidFill>
        </p:spPr>
      </p:sp>
      <p:grpSp>
        <p:nvGrpSpPr>
          <p:cNvPr name="Group 27" id="27"/>
          <p:cNvGrpSpPr/>
          <p:nvPr/>
        </p:nvGrpSpPr>
        <p:grpSpPr>
          <a:xfrm rot="1840140">
            <a:off x="5904833" y="5241226"/>
            <a:ext cx="171450" cy="28575"/>
            <a:chOff x="0" y="0"/>
            <a:chExt cx="228600" cy="381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grpSp>
        <p:nvGrpSpPr>
          <p:cNvPr name="Group 29" id="29"/>
          <p:cNvGrpSpPr/>
          <p:nvPr/>
        </p:nvGrpSpPr>
        <p:grpSpPr>
          <a:xfrm rot="8959860">
            <a:off x="5896737" y="5326952"/>
            <a:ext cx="171450" cy="28575"/>
            <a:chOff x="0" y="0"/>
            <a:chExt cx="228600" cy="381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sp>
        <p:nvSpPr>
          <p:cNvPr name="TextBox 31" id="31"/>
          <p:cNvSpPr txBox="true"/>
          <p:nvPr/>
        </p:nvSpPr>
        <p:spPr>
          <a:xfrm rot="0">
            <a:off x="6610350" y="5057775"/>
            <a:ext cx="497205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1" sz="255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Keep earlier progress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609600" y="6200775"/>
            <a:ext cx="1057275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87"/>
              </a:lnSpc>
            </a:pPr>
            <a:r>
              <a:rPr lang="en-US" sz="18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Progress changes what you need to do next.</a:t>
            </a:r>
          </a:p>
        </p:txBody>
      </p:sp>
      <p:sp>
        <p:nvSpPr>
          <p:cNvPr name="AutoShape 33" id="33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12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6090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49"/>
              </a:lnSpc>
            </a:pPr>
            <a:r>
              <a:rPr lang="en-US" b="1" sz="39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One routine. Many learning goals.</a:t>
            </a:r>
          </a:p>
        </p:txBody>
      </p:sp>
      <p:sp>
        <p:nvSpPr>
          <p:cNvPr name="AutoShape 7" id="7"/>
          <p:cNvSpPr/>
          <p:nvPr/>
        </p:nvSpPr>
        <p:spPr>
          <a:xfrm rot="0">
            <a:off x="609600" y="2333625"/>
            <a:ext cx="3200400" cy="885825"/>
          </a:xfrm>
          <a:prstGeom prst="rect">
            <a:avLst/>
          </a:prstGeom>
          <a:solidFill>
            <a:srgbClr val="D9F2EA"/>
          </a:solidFill>
        </p:spPr>
      </p:sp>
      <p:sp>
        <p:nvSpPr>
          <p:cNvPr name="TextBox 8" id="8"/>
          <p:cNvSpPr txBox="true"/>
          <p:nvPr/>
        </p:nvSpPr>
        <p:spPr>
          <a:xfrm rot="0">
            <a:off x="762000" y="2543175"/>
            <a:ext cx="28956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2"/>
              </a:lnSpc>
            </a:pPr>
            <a:r>
              <a:rPr lang="en-US" b="1" sz="262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Fractions</a:t>
            </a:r>
          </a:p>
        </p:txBody>
      </p:sp>
      <p:sp>
        <p:nvSpPr>
          <p:cNvPr name="AutoShape 9" id="9"/>
          <p:cNvSpPr/>
          <p:nvPr/>
        </p:nvSpPr>
        <p:spPr>
          <a:xfrm rot="0">
            <a:off x="4495800" y="2333625"/>
            <a:ext cx="3200400" cy="885825"/>
          </a:xfrm>
          <a:prstGeom prst="rect">
            <a:avLst/>
          </a:prstGeom>
          <a:solidFill>
            <a:srgbClr val="F0EFFF"/>
          </a:solidFill>
        </p:spPr>
      </p:sp>
      <p:sp>
        <p:nvSpPr>
          <p:cNvPr name="TextBox 10" id="10"/>
          <p:cNvSpPr txBox="true"/>
          <p:nvPr/>
        </p:nvSpPr>
        <p:spPr>
          <a:xfrm rot="0">
            <a:off x="4648200" y="2543175"/>
            <a:ext cx="28956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2"/>
              </a:lnSpc>
            </a:pPr>
            <a:r>
              <a:rPr lang="en-US" b="1" sz="2625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Algebra</a:t>
            </a:r>
          </a:p>
        </p:txBody>
      </p:sp>
      <p:sp>
        <p:nvSpPr>
          <p:cNvPr name="AutoShape 11" id="11"/>
          <p:cNvSpPr/>
          <p:nvPr/>
        </p:nvSpPr>
        <p:spPr>
          <a:xfrm rot="0">
            <a:off x="8382000" y="2333625"/>
            <a:ext cx="3200400" cy="885825"/>
          </a:xfrm>
          <a:prstGeom prst="rect">
            <a:avLst/>
          </a:prstGeom>
          <a:solidFill>
            <a:srgbClr val="D9F2EA"/>
          </a:solidFill>
        </p:spPr>
      </p:sp>
      <p:sp>
        <p:nvSpPr>
          <p:cNvPr name="TextBox 12" id="12"/>
          <p:cNvSpPr txBox="true"/>
          <p:nvPr/>
        </p:nvSpPr>
        <p:spPr>
          <a:xfrm rot="0">
            <a:off x="8534400" y="2543175"/>
            <a:ext cx="28956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2"/>
              </a:lnSpc>
            </a:pPr>
            <a:r>
              <a:rPr lang="en-US" b="1" sz="262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Graphs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09600" y="3752850"/>
            <a:ext cx="10972800" cy="3842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19"/>
              </a:lnSpc>
            </a:pPr>
            <a:r>
              <a:rPr lang="en-US" b="1" sz="24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Every new destination uses a reusable kit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09600" y="4381500"/>
            <a:ext cx="10972800" cy="3280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62"/>
              </a:lnSpc>
            </a:pPr>
            <a:r>
              <a:rPr lang="en-US" sz="21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A reviewed map + fresh checks + matched Khan material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09600" y="5372100"/>
            <a:ext cx="109728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1" sz="225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Another educator can run the same recovery routine.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09600" y="5972175"/>
            <a:ext cx="1097280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sz="18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For classes, self-study, and the next topic a learner needs.</a:t>
            </a:r>
          </a:p>
        </p:txBody>
      </p:sp>
      <p:sp>
        <p:nvSpPr>
          <p:cNvPr name="AutoShape 17" id="17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13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6183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41"/>
              </a:lnSpc>
            </a:pPr>
            <a:r>
              <a:rPr lang="en-US" b="1" sz="405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A budget built around learners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9600" y="2076450"/>
            <a:ext cx="5429250" cy="5433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92"/>
              </a:lnSpc>
            </a:pPr>
            <a:r>
              <a:rPr lang="en-US" b="1" sz="360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PHP 100,000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09600" y="2933700"/>
            <a:ext cx="5334000" cy="13399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614"/>
              </a:lnSpc>
            </a:pPr>
            <a:r>
              <a:rPr lang="en-US" b="1" sz="870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60%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09600" y="4448175"/>
            <a:ext cx="5105400" cy="698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6"/>
              </a:lnSpc>
            </a:pPr>
            <a:r>
              <a:rPr lang="en-US" b="1" sz="232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for learning review, access and evaluation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5724525"/>
            <a:ext cx="552450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87"/>
              </a:lnSpc>
            </a:pPr>
            <a:r>
              <a:rPr lang="en-US" sz="18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Learner access stays free.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338888" y="2043112"/>
            <a:ext cx="3581400" cy="436588"/>
            <a:chOff x="0" y="0"/>
            <a:chExt cx="4775200" cy="58211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775200" cy="582117"/>
            </a:xfrm>
            <a:custGeom>
              <a:avLst/>
              <a:gdLst/>
              <a:ahLst/>
              <a:cxnLst/>
              <a:rect r="r" b="b" t="t" l="l"/>
              <a:pathLst>
                <a:path h="582117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2117"/>
                  </a:lnTo>
                  <a:lnTo>
                    <a:pt x="0" y="5821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EFFF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775200" cy="582117"/>
            </a:xfrm>
            <a:custGeom>
              <a:avLst/>
              <a:gdLst/>
              <a:ahLst/>
              <a:cxnLst/>
              <a:rect r="r" b="b" t="t" l="l"/>
              <a:pathLst>
                <a:path h="582117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2117"/>
                  </a:lnTo>
                  <a:lnTo>
                    <a:pt x="0" y="5821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19050"/>
              <a:ext cx="4775200" cy="601167"/>
            </a:xfrm>
            <a:prstGeom prst="rect">
              <a:avLst/>
            </a:prstGeom>
          </p:spPr>
          <p:txBody>
            <a:bodyPr anchor="ctr" rtlCol="false" tIns="107950" lIns="107950" bIns="107950" rIns="107950"/>
            <a:lstStyle/>
            <a:p>
              <a:pPr algn="l">
                <a:lnSpc>
                  <a:spcPts val="1889"/>
                </a:lnSpc>
              </a:pPr>
              <a:r>
                <a:rPr lang="en-US" b="1" sz="13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Allocation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9920288" y="2043112"/>
            <a:ext cx="1600200" cy="436588"/>
            <a:chOff x="0" y="0"/>
            <a:chExt cx="2133600" cy="582117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33600" cy="582117"/>
            </a:xfrm>
            <a:custGeom>
              <a:avLst/>
              <a:gdLst/>
              <a:ahLst/>
              <a:cxnLst/>
              <a:rect r="r" b="b" t="t" l="l"/>
              <a:pathLst>
                <a:path h="582117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2117"/>
                  </a:lnTo>
                  <a:lnTo>
                    <a:pt x="0" y="5821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EFFF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33600" cy="582117"/>
            </a:xfrm>
            <a:custGeom>
              <a:avLst/>
              <a:gdLst/>
              <a:ahLst/>
              <a:cxnLst/>
              <a:rect r="r" b="b" t="t" l="l"/>
              <a:pathLst>
                <a:path h="582117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2117"/>
                  </a:lnTo>
                  <a:lnTo>
                    <a:pt x="0" y="5821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19050"/>
              <a:ext cx="2133600" cy="601167"/>
            </a:xfrm>
            <a:prstGeom prst="rect">
              <a:avLst/>
            </a:prstGeom>
          </p:spPr>
          <p:txBody>
            <a:bodyPr anchor="ctr" rtlCol="false" tIns="107950" lIns="107950" bIns="107950" rIns="107950"/>
            <a:lstStyle/>
            <a:p>
              <a:pPr algn="l">
                <a:lnSpc>
                  <a:spcPts val="1889"/>
                </a:lnSpc>
              </a:pPr>
              <a:r>
                <a:rPr lang="en-US" b="1" sz="13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PHP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6338888" y="2443162"/>
            <a:ext cx="3581400" cy="440474"/>
            <a:chOff x="0" y="0"/>
            <a:chExt cx="4775200" cy="587299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Learning review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9920288" y="2443162"/>
            <a:ext cx="1600200" cy="440474"/>
            <a:chOff x="0" y="0"/>
            <a:chExt cx="2133600" cy="587299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1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24,000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6338888" y="2843212"/>
            <a:ext cx="3581400" cy="440474"/>
            <a:chOff x="0" y="0"/>
            <a:chExt cx="4775200" cy="587299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Access support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9920288" y="2843212"/>
            <a:ext cx="1600200" cy="440474"/>
            <a:chOff x="0" y="0"/>
            <a:chExt cx="2133600" cy="587299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1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18,000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6338888" y="3243262"/>
            <a:ext cx="3581400" cy="440474"/>
            <a:chOff x="0" y="0"/>
            <a:chExt cx="4775200" cy="587299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38" id="38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Evaluation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9920288" y="3243262"/>
            <a:ext cx="1600200" cy="440474"/>
            <a:chOff x="0" y="0"/>
            <a:chExt cx="2133600" cy="587299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42" id="42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1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18,000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6338888" y="3643312"/>
            <a:ext cx="3581400" cy="440474"/>
            <a:chOff x="0" y="0"/>
            <a:chExt cx="4775200" cy="587299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46" id="46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Deployment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9920288" y="3643312"/>
            <a:ext cx="1600200" cy="440474"/>
            <a:chOff x="0" y="0"/>
            <a:chExt cx="2133600" cy="587299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50" id="50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1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16,000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6338888" y="4043362"/>
            <a:ext cx="3581400" cy="440474"/>
            <a:chOff x="0" y="0"/>
            <a:chExt cx="4775200" cy="587299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54" id="54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Product operations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9920288" y="4043362"/>
            <a:ext cx="1600200" cy="440474"/>
            <a:chOff x="0" y="0"/>
            <a:chExt cx="2133600" cy="587299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58" id="58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1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8,000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6338888" y="4443412"/>
            <a:ext cx="3581400" cy="440474"/>
            <a:chOff x="0" y="0"/>
            <a:chExt cx="4775200" cy="587299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62" id="62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Teacher onboarding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9920288" y="4443412"/>
            <a:ext cx="1600200" cy="440474"/>
            <a:chOff x="0" y="0"/>
            <a:chExt cx="2133600" cy="587299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66" id="66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1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8,000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6338888" y="4843462"/>
            <a:ext cx="3581400" cy="440474"/>
            <a:chOff x="0" y="0"/>
            <a:chExt cx="4775200" cy="587299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70" id="70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Recruitment content</a:t>
              </a: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9920288" y="4843462"/>
            <a:ext cx="1600200" cy="440474"/>
            <a:chOff x="0" y="0"/>
            <a:chExt cx="2133600" cy="587299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74" id="74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1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3,000</a:t>
              </a:r>
            </a:p>
          </p:txBody>
        </p:sp>
      </p:grpSp>
      <p:grpSp>
        <p:nvGrpSpPr>
          <p:cNvPr name="Group 75" id="75"/>
          <p:cNvGrpSpPr/>
          <p:nvPr/>
        </p:nvGrpSpPr>
        <p:grpSpPr>
          <a:xfrm rot="0">
            <a:off x="6338888" y="5243512"/>
            <a:ext cx="3581400" cy="440474"/>
            <a:chOff x="0" y="0"/>
            <a:chExt cx="4775200" cy="587299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78" id="78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Contingency</a:t>
              </a:r>
            </a:p>
          </p:txBody>
        </p:sp>
      </p:grpSp>
      <p:grpSp>
        <p:nvGrpSpPr>
          <p:cNvPr name="Group 79" id="79"/>
          <p:cNvGrpSpPr/>
          <p:nvPr/>
        </p:nvGrpSpPr>
        <p:grpSpPr>
          <a:xfrm rot="0">
            <a:off x="9920288" y="5243512"/>
            <a:ext cx="1600200" cy="440474"/>
            <a:chOff x="0" y="0"/>
            <a:chExt cx="2133600" cy="587299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82" id="82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1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5,000</a:t>
              </a:r>
            </a:p>
          </p:txBody>
        </p:sp>
      </p:grpSp>
      <p:grpSp>
        <p:nvGrpSpPr>
          <p:cNvPr name="Group 83" id="83"/>
          <p:cNvGrpSpPr/>
          <p:nvPr/>
        </p:nvGrpSpPr>
        <p:grpSpPr>
          <a:xfrm rot="0">
            <a:off x="6338888" y="5643562"/>
            <a:ext cx="3581400" cy="440474"/>
            <a:chOff x="0" y="0"/>
            <a:chExt cx="4775200" cy="587299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EFFF"/>
            </a:solidFill>
          </p:spPr>
        </p:sp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86" id="86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1" sz="1650">
                  <a:solidFill>
                    <a:srgbClr val="5753FA"/>
                  </a:solidFill>
                  <a:latin typeface="DM Sans"/>
                  <a:ea typeface="DM Sans"/>
                  <a:cs typeface="DM Sans"/>
                  <a:sym typeface="DM Sans"/>
                </a:rPr>
                <a:t>Total</a:t>
              </a:r>
            </a:p>
          </p:txBody>
        </p:sp>
      </p:grpSp>
      <p:grpSp>
        <p:nvGrpSpPr>
          <p:cNvPr name="Group 87" id="87"/>
          <p:cNvGrpSpPr/>
          <p:nvPr/>
        </p:nvGrpSpPr>
        <p:grpSpPr>
          <a:xfrm rot="0">
            <a:off x="9920288" y="5643562"/>
            <a:ext cx="1600200" cy="440474"/>
            <a:chOff x="0" y="0"/>
            <a:chExt cx="2133600" cy="587299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EFFF"/>
            </a:solidFill>
          </p:spPr>
        </p:sp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90" id="90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1" sz="1650">
                  <a:solidFill>
                    <a:srgbClr val="5753FA"/>
                  </a:solidFill>
                  <a:latin typeface="DM Sans"/>
                  <a:ea typeface="DM Sans"/>
                  <a:cs typeface="DM Sans"/>
                  <a:sym typeface="DM Sans"/>
                </a:rPr>
                <a:t>100,000</a:t>
              </a:r>
            </a:p>
          </p:txBody>
        </p:sp>
      </p:grpSp>
      <p:sp>
        <p:nvSpPr>
          <p:cNvPr name="TextBox 91" id="91"/>
          <p:cNvSpPr txBox="true"/>
          <p:nvPr/>
        </p:nvSpPr>
        <p:spPr>
          <a:xfrm rot="0">
            <a:off x="609600" y="6410325"/>
            <a:ext cx="4667250" cy="1308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9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Planning allocation</a:t>
            </a:r>
          </a:p>
        </p:txBody>
      </p:sp>
      <p:sp>
        <p:nvSpPr>
          <p:cNvPr name="AutoShape 92" id="92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14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533400"/>
            <a:ext cx="57150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02"/>
              </a:lnSpc>
            </a:pPr>
            <a:r>
              <a:rPr lang="en-US" b="1" sz="262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backtrack.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9600" y="1276350"/>
            <a:ext cx="10972800" cy="18989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03"/>
              </a:lnSpc>
            </a:pPr>
            <a:r>
              <a:rPr lang="en-US" b="1" sz="615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A route back to today’s lesson.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09600" y="4848225"/>
            <a:ext cx="10972800" cy="346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6"/>
              </a:lnSpc>
            </a:pPr>
            <a:r>
              <a:rPr lang="en-US" b="1" sz="232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University of the Philippines Manila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09600" y="5448300"/>
            <a:ext cx="10972800" cy="299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0"/>
              </a:lnSpc>
            </a:pPr>
            <a:r>
              <a:rPr lang="en-US" sz="20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Matthew Labrador, Paul Recio, Harry Gomez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5991225"/>
            <a:ext cx="1097280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Coach: Justin Mesias</a:t>
            </a:r>
          </a:p>
        </p:txBody>
      </p:sp>
      <p:sp>
        <p:nvSpPr>
          <p:cNvPr name="Freeform 11" id="11"/>
          <p:cNvSpPr/>
          <p:nvPr/>
        </p:nvSpPr>
        <p:spPr>
          <a:xfrm>
            <a:off x="1714500" y="3714750"/>
            <a:ext cx="8763000" cy="914864"/>
          </a:xfrm>
          <a:custGeom>
            <a:avLst/>
            <a:gdLst/>
            <a:ahLst/>
            <a:cxnLst/>
            <a:rect r="r" b="b" t="t" l="l"/>
            <a:pathLst>
              <a:path h="914864" w="8763000">
                <a:moveTo>
                  <a:pt x="0" y="0"/>
                </a:moveTo>
                <a:quadBezTo>
                  <a:pt x="4381500" y="1829728"/>
                  <a:pt x="8763000" y="0"/>
                </a:quadBezTo>
              </a:path>
            </a:pathLst>
          </a:custGeom>
          <a:ln cap="rnd" w="66675">
            <a:solidFill>
              <a:srgbClr val="C96331"/>
            </a:solidFill>
            <a:prstDash val="solid"/>
            <a:headEnd type="oval" len="lg" w="lg"/>
            <a:tailEnd type="arrow" len="sm" w="med"/>
          </a:ln>
        </p:spPr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15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6183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41"/>
              </a:lnSpc>
            </a:pPr>
            <a:r>
              <a:rPr lang="en-US" b="1" sz="405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Research behind the approach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9600" y="230505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4" tooltip="https://support.khanacademy.org/hc/en-us/articles/360031129891-What-reporting-options-are-available-on-Khan-Academy-for-teachers-to-track-student-performance"/>
              </a:rPr>
              <a:t>Khan Academy teacher reports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09600" y="323850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5" tooltip="https://www.mheducation.com/unitas/school/explore/sites/aleks/customizing-custom-objectives.pdf"/>
              </a:rPr>
              <a:t>ALEKS custom objectives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09600" y="417195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6" tooltip="https://blog.google/innovation-and-ai/products/gemini-app/gemini-study-notebooks/"/>
              </a:rPr>
              <a:t>Gemini study notebooks · 2026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510540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7" tooltip="https://ies.ed.gov/ncee/wwc/practiceguide/1"/>
              </a:rPr>
              <a:t>IES learning practice guide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486525" y="230505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8" tooltip="https://doi.org/10.1038/s44159-022-00089-1"/>
              </a:rPr>
              <a:t>Spacing and retrieval · 2022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486525" y="323850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9" tooltip="https://doi.org/10.1007/s10763-021-10207-9"/>
              </a:rPr>
              <a:t>Confidence assessment · Foster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486525" y="417195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10" tooltip="https://selfdeterminationtheory.org/topics/application-education/"/>
              </a:rPr>
              <a:t>Self-Determination Theory in education</a:t>
            </a:r>
          </a:p>
        </p:txBody>
      </p:sp>
      <p:sp>
        <p:nvSpPr>
          <p:cNvPr name="AutoShape 14" id="14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DAHUwYwVdj0</dc:identifier>
  <dcterms:modified xsi:type="dcterms:W3CDTF">2011-08-01T06:04:30Z</dcterms:modified>
  <cp:revision>1</cp:revision>
  <dc:title>BACKTRACK - Competition pitch</dc:title>
</cp:coreProperties>
</file>