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185dc1a3544b8" /><Relationship Type="http://schemas.openxmlformats.org/officeDocument/2006/relationships/extended-properties" Target="/docProps/app.xml" Id="R9966bb931cfa490f" /><Relationship Type="http://schemas.openxmlformats.org/officeDocument/2006/relationships/officeDocument" Target="/ppt/presentation.xml" Id="Rae120d7336f3437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907bd7682ad442e"/>
  </p:sldMasterIdLst>
  <p:notesMasterIdLst>
    <p:notesMasterId xmlns:r="http://schemas.openxmlformats.org/officeDocument/2006/relationships" r:id="Rc2c8c43a9e984904"/>
  </p:notesMasterIdLst>
  <p:sldIdLst>
    <p:sldId xmlns:r="http://schemas.openxmlformats.org/officeDocument/2006/relationships" id="256" r:id="R810318d691774dc0"/>
    <p:sldId xmlns:r="http://schemas.openxmlformats.org/officeDocument/2006/relationships" id="257" r:id="R12dcc39527304ad6"/>
    <p:sldId xmlns:r="http://schemas.openxmlformats.org/officeDocument/2006/relationships" id="258" r:id="R0ded4e1b6d964e21"/>
    <p:sldId xmlns:r="http://schemas.openxmlformats.org/officeDocument/2006/relationships" id="259" r:id="R1357817b22a94327"/>
    <p:sldId xmlns:r="http://schemas.openxmlformats.org/officeDocument/2006/relationships" id="260" r:id="R7ca2f3ce17ae4f97"/>
    <p:sldId xmlns:r="http://schemas.openxmlformats.org/officeDocument/2006/relationships" id="261" r:id="Re35c15342f984fae"/>
    <p:sldId xmlns:r="http://schemas.openxmlformats.org/officeDocument/2006/relationships" id="262" r:id="R0d0689ef8ba34251"/>
    <p:sldId xmlns:r="http://schemas.openxmlformats.org/officeDocument/2006/relationships" id="263" r:id="R4cbea053f43f47c2"/>
    <p:sldId xmlns:r="http://schemas.openxmlformats.org/officeDocument/2006/relationships" id="264" r:id="R34a1a7d6c8fb44d7"/>
    <p:sldId xmlns:r="http://schemas.openxmlformats.org/officeDocument/2006/relationships" id="265" r:id="R1d30a182bf4e4d9c"/>
    <p:sldId xmlns:r="http://schemas.openxmlformats.org/officeDocument/2006/relationships" id="266" r:id="Rfa209527586c46b7"/>
    <p:sldId xmlns:r="http://schemas.openxmlformats.org/officeDocument/2006/relationships" id="267" r:id="R3a659bf54ad34ed4"/>
    <p:sldId xmlns:r="http://schemas.openxmlformats.org/officeDocument/2006/relationships" id="268" r:id="Rc221f40e342d4c62"/>
    <p:sldId xmlns:r="http://schemas.openxmlformats.org/officeDocument/2006/relationships" id="269" r:id="R8a97351933cc4c32"/>
    <p:sldId xmlns:r="http://schemas.openxmlformats.org/officeDocument/2006/relationships" id="270" r:id="Rdc1b9fa06f9c4210"/>
  </p:sldIdLst>
  <p:sldSz cx="12192000" cy="6858000"/>
  <p:notesSz cx="6858000" cy="9144000"/>
  <p:embeddedFontLst>
    <p:embeddedFont>
      <p:font typeface="Plus Jakarta Sans" pitchFamily="34" charset="0"/>
      <p:regular xmlns:ns1="http://schemas.openxmlformats.org/officeDocument/2006/relationships" ns1:id="rIdBacktrackFont1"/>
      <p:bold xmlns:ns2="http://schemas.openxmlformats.org/officeDocument/2006/relationships" ns2:id="rIdBacktrackFont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0a288d6ef154211"/><Relationship Type="http://schemas.openxmlformats.org/officeDocument/2006/relationships/slideMaster" Target="/ppt/slideMasters/slideMaster1.xml" Id="R3907bd7682ad442e"/><Relationship Type="http://schemas.openxmlformats.org/officeDocument/2006/relationships/notesMaster" Target="/ppt/notesMasters/notesMaster1.xml" Id="Rc2c8c43a9e984904"/><Relationship Type="http://schemas.openxmlformats.org/officeDocument/2006/relationships/presProps" Target="/ppt/presProps.xml" Id="Rf394dad9b0164492"/><Relationship Type="http://schemas.openxmlformats.org/officeDocument/2006/relationships/tableStyles" Target="/ppt/tableStyles.xml" Id="R7271d9e8c9714607"/><Relationship Type="http://schemas.openxmlformats.org/officeDocument/2006/relationships/slide" Target="/ppt/slides/slide1.xml" Id="R810318d691774dc0"/><Relationship Type="http://schemas.openxmlformats.org/officeDocument/2006/relationships/slide" Target="/ppt/slides/slide2.xml" Id="R12dcc39527304ad6"/><Relationship Type="http://schemas.openxmlformats.org/officeDocument/2006/relationships/slide" Target="/ppt/slides/slide3.xml" Id="R0ded4e1b6d964e21"/><Relationship Type="http://schemas.openxmlformats.org/officeDocument/2006/relationships/slide" Target="/ppt/slides/slide4.xml" Id="R1357817b22a94327"/><Relationship Type="http://schemas.openxmlformats.org/officeDocument/2006/relationships/slide" Target="/ppt/slides/slide5.xml" Id="R7ca2f3ce17ae4f97"/><Relationship Type="http://schemas.openxmlformats.org/officeDocument/2006/relationships/slide" Target="/ppt/slides/slide6.xml" Id="Re35c15342f984fae"/><Relationship Type="http://schemas.openxmlformats.org/officeDocument/2006/relationships/slide" Target="/ppt/slides/slide7.xml" Id="R0d0689ef8ba34251"/><Relationship Type="http://schemas.openxmlformats.org/officeDocument/2006/relationships/slide" Target="/ppt/slides/slide8.xml" Id="R4cbea053f43f47c2"/><Relationship Type="http://schemas.openxmlformats.org/officeDocument/2006/relationships/slide" Target="/ppt/slides/slide9.xml" Id="R34a1a7d6c8fb44d7"/><Relationship Type="http://schemas.openxmlformats.org/officeDocument/2006/relationships/slide" Target="/ppt/slides/slide10.xml" Id="R1d30a182bf4e4d9c"/><Relationship Type="http://schemas.openxmlformats.org/officeDocument/2006/relationships/slide" Target="/ppt/slides/slide11.xml" Id="Rfa209527586c46b7"/><Relationship Type="http://schemas.openxmlformats.org/officeDocument/2006/relationships/slide" Target="/ppt/slides/slide12.xml" Id="R3a659bf54ad34ed4"/><Relationship Type="http://schemas.openxmlformats.org/officeDocument/2006/relationships/slide" Target="/ppt/slides/slide13.xml" Id="Rc221f40e342d4c62"/><Relationship Type="http://schemas.openxmlformats.org/officeDocument/2006/relationships/slide" Target="/ppt/slides/slide14.xml" Id="R8a97351933cc4c32"/><Relationship Type="http://schemas.openxmlformats.org/officeDocument/2006/relationships/slide" Target="/ppt/slides/slide15.xml" Id="Rdc1b9fa06f9c4210"/><Relationship Id="rIdBacktrackFont1" Type="http://schemas.openxmlformats.org/officeDocument/2006/relationships/font" Target="fonts/font1.fntdata"/><Relationship Id="rIdBacktrackFont2" Type="http://schemas.openxmlformats.org/officeDocument/2006/relationships/font" Target="fonts/font2.fntdata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0b3dbb60dc45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03cdfd1b04f91" /><Relationship Type="http://schemas.openxmlformats.org/officeDocument/2006/relationships/notesMaster" Target="/ppt/notesMasters/notesMaster1.xml" Id="R098cc81e72ca4f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84a28e7f8496e" /><Relationship Type="http://schemas.openxmlformats.org/officeDocument/2006/relationships/notesMaster" Target="/ppt/notesMasters/notesMaster1.xml" Id="R7e26ab6dd35d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ac372970764afe" /><Relationship Type="http://schemas.openxmlformats.org/officeDocument/2006/relationships/notesMaster" Target="/ppt/notesMasters/notesMaster1.xml" Id="R74e2ca01f50c4a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adb7b14b2e49a9" /><Relationship Type="http://schemas.openxmlformats.org/officeDocument/2006/relationships/notesMaster" Target="/ppt/notesMasters/notesMaster1.xml" Id="Rf48b591f6302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b4848fbfa4b6a" /><Relationship Type="http://schemas.openxmlformats.org/officeDocument/2006/relationships/notesMaster" Target="/ppt/notesMasters/notesMaster1.xml" Id="R60eab0ea1e0640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6fc63840d84cdd" /><Relationship Type="http://schemas.openxmlformats.org/officeDocument/2006/relationships/notesMaster" Target="/ppt/notesMasters/notesMaster1.xml" Id="R5de76058a7bd47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761cabe2f046fa" /><Relationship Type="http://schemas.openxmlformats.org/officeDocument/2006/relationships/notesMaster" Target="/ppt/notesMasters/notesMaster1.xml" Id="Ra239fd07187b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e005ab48754b0b" /><Relationship Type="http://schemas.openxmlformats.org/officeDocument/2006/relationships/notesMaster" Target="/ppt/notesMasters/notesMaster1.xml" Id="R0a3f2503912346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bb42c535a74d29" /><Relationship Type="http://schemas.openxmlformats.org/officeDocument/2006/relationships/notesMaster" Target="/ppt/notesMasters/notesMaster1.xml" Id="R9d78d0ffeae7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214aa3173c45db" /><Relationship Type="http://schemas.openxmlformats.org/officeDocument/2006/relationships/notesMaster" Target="/ppt/notesMasters/notesMaster1.xml" Id="Rd8eb2ef6eb1a46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49280efea54731" /><Relationship Type="http://schemas.openxmlformats.org/officeDocument/2006/relationships/notesMaster" Target="/ppt/notesMasters/notesMaster1.xml" Id="R9ce4499070074f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d3828f92d4208" /><Relationship Type="http://schemas.openxmlformats.org/officeDocument/2006/relationships/notesMaster" Target="/ppt/notesMasters/notesMaster1.xml" Id="R20ec5b628af94e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045a4001554d8c" /><Relationship Type="http://schemas.openxmlformats.org/officeDocument/2006/relationships/notesMaster" Target="/ppt/notesMasters/notesMaster1.xml" Id="Rf0781850d71e4e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87b05d47554278" /><Relationship Type="http://schemas.openxmlformats.org/officeDocument/2006/relationships/notesMaster" Target="/ppt/notesMasters/notesMaster1.xml" Id="R06e6400c8c334a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a8780f8b2f4f08" /><Relationship Type="http://schemas.openxmlformats.org/officeDocument/2006/relationships/notesMaster" Target="/ppt/notesMasters/notesMaster1.xml" Id="R74691508f56e4c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BACKTRACK</a:t>
            </a:r>
          </a:p>
          <a:p xmlns:a="http://schemas.openxmlformats.org/drawingml/2006/main">
            <a:r>
              <a:t>A new route to the lesson you need now.</a:t>
            </a:r>
          </a:p>
          <a:p xmlns:a="http://schemas.openxmlformats.org/drawingml/2006/main">
            <a:r>
              <a:t>University of the Philippines Manila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TODAY’S CLASS</a:t>
            </a:r>
          </a:p>
          <a:p xmlns:a="http://schemas.openxmlformats.org/drawingml/2006/main">
            <a:r>
              <a:t>x² + 7x + 12 = 0</a:t>
            </a:r>
          </a:p>
          <a:p xmlns:a="http://schemas.openxmlformats.org/drawingml/2006/main">
            <a:r>
              <a:t>A learner can be stuck here because of a step underneath.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goal</a:t>
            </a:r>
          </a:p>
          <a:p xmlns:a="http://schemas.openxmlformats.org/drawingml/2006/main">
            <a:r>
              <a:t>Check a prerequisite</a:t>
            </a:r>
          </a:p>
          <a:p xmlns:a="http://schemas.openxmlformats.org/drawingml/2006/main">
            <a:r>
              <a:t>Find useful practice</a:t>
            </a:r>
          </a:p>
          <a:p xmlns:a="http://schemas.openxmlformats.org/drawingml/2006/main">
            <a:r>
              <a:t>Fresh return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fresh checks</a:t>
            </a:r>
          </a:p>
          <a:p xmlns:a="http://schemas.openxmlformats.org/drawingml/2006/main">
            <a:r>
              <a:t>One review removed</a:t>
            </a:r>
          </a:p>
          <a:p xmlns:a="http://schemas.openxmlformats.org/drawingml/2006/main">
            <a:r>
              <a:t>Your earlier progress stays.</a:t>
            </a:r>
          </a:p>
          <a:p xmlns:a="http://schemas.openxmlformats.org/drawingml/2006/main">
            <a:r>
              <a:t>Try BACKTRACK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WATCH HERE</a:t>
            </a:r>
          </a:p>
          <a:p xmlns:a="http://schemas.openxmlformats.org/drawingml/2006/main">
            <a:r>
              <a:t>Official Khan lessons inside the route.</a:t>
            </a:r>
          </a:p>
          <a:p xmlns:a="http://schemas.openxmlformats.org/drawingml/2006/main">
            <a:r>
              <a:t>PRACTICE ON KHAN</a:t>
            </a:r>
          </a:p>
          <a:p xmlns:a="http://schemas.openxmlformats.org/drawingml/2006/main">
            <a:r>
              <a:t>Matched exercises in an existing learning environment.</a:t>
            </a:r>
          </a:p>
          <a:p xmlns:a="http://schemas.openxmlformats.org/drawingml/2006/main">
            <a:r>
              <a:t>RETURN HERE</a:t>
            </a:r>
          </a:p>
          <a:p xmlns:a="http://schemas.openxmlformats.org/drawingml/2006/main">
            <a:r>
              <a:t>Fresh checks reconnect the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DESTINATION TASK</a:t>
            </a:r>
          </a:p>
          <a:p xmlns:a="http://schemas.openxmlformats.org/drawingml/2006/main">
            <a:r>
              <a:t>x² + 11x + 28 = 0</a:t>
            </a:r>
          </a:p>
          <a:p xmlns:a="http://schemas.openxmlformats.org/drawingml/2006/main">
            <a:r>
              <a:t>x = −4 or x = −7</a:t>
            </a:r>
          </a:p>
          <a:p xmlns:a="http://schemas.openxmlformats.org/drawingml/2006/main">
            <a:r>
              <a:t>The route ends with something the learner can demonstrate.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RETAINED REENTRY</a:t>
            </a:r>
          </a:p>
          <a:p xmlns:a="http://schemas.openxmlformats.org/drawingml/2006/main">
            <a:r>
              <a:t>Pass a fresh destination task after the route</a:t>
            </a:r>
          </a:p>
          <a:p xmlns:a="http://schemas.openxmlformats.org/drawingml/2006/main">
            <a:r>
              <a:t>Pass again 7–14 days later</a:t>
            </a:r>
          </a:p>
          <a:p xmlns:a="http://schemas.openxmlformats.org/drawingml/2006/main">
            <a:r>
              <a:t>Report against every enrolled baseline-blocked learner.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80–120 learners</a:t>
            </a:r>
          </a:p>
          <a:p xmlns:a="http://schemas.openxmlformats.org/drawingml/2006/main">
            <a:r>
              <a:t>2–3 cohorts</a:t>
            </a:r>
          </a:p>
          <a:p xmlns:a="http://schemas.openxmlformats.org/drawingml/2006/main">
            <a:r>
              <a:t>Planning targets, subject to school agreements, permissions and access.</a:t>
            </a:r>
          </a:p>
          <a:p xmlns:a="http://schemas.openxmlformats.org/drawingml/2006/main">
            <a:r>
              <a:t>NOV · Review + baseline</a:t>
            </a:r>
          </a:p>
          <a:p xmlns:a="http://schemas.openxmlformats.org/drawingml/2006/main">
            <a:r>
              <a:t>DEC–JAN · First cycle + comparison</a:t>
            </a:r>
          </a:p>
          <a:p xmlns:a="http://schemas.openxmlformats.org/drawingml/2006/main">
            <a:r>
              <a:t>FEB · Second educator + replication</a:t>
            </a:r>
          </a:p>
          <a:p xmlns:a="http://schemas.openxmlformats.org/drawingml/2006/main">
            <a:r>
              <a:t>MAR · Follow-up + handover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Teacher-selected Khan practice</a:t>
            </a:r>
          </a:p>
          <a:p xmlns:a="http://schemas.openxmlformats.org/drawingml/2006/main">
            <a:r>
              <a:t>BACKTRACK-supported Khan practice</a:t>
            </a:r>
          </a:p>
          <a:p xmlns:a="http://schemas.openxmlformats.org/drawingml/2006/main">
            <a:r>
              <a:t>Comparable access time and adult support.</a:t>
            </a:r>
          </a:p>
          <a:p xmlns:a="http://schemas.openxmlformats.org/drawingml/2006/main">
            <a:r>
              <a:t>Fresh post and delayed tasks in both groups.</a:t>
            </a:r>
          </a:p>
          <a:p xmlns:a="http://schemas.openxmlformats.org/drawingml/2006/main">
            <a:r>
              <a:t>Randomized delayed start where feasible. Otherwise report feasibility, not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ALEKS · Objectives and prerequisites</a:t>
            </a:r>
          </a:p>
          <a:p xmlns:a="http://schemas.openxmlformats.org/drawingml/2006/main">
            <a:r>
              <a:t>Gemini · Goal-based diagnosis and study plans</a:t>
            </a:r>
          </a:p>
          <a:p xmlns:a="http://schemas.openxmlformats.org/drawingml/2006/main">
            <a:r>
              <a:t>Khan · Personalization and learning infrastructure</a:t>
            </a:r>
          </a:p>
          <a:p xmlns:a="http://schemas.openxmlformats.org/drawingml/2006/main">
            <a:r>
              <a:t>Our opportunity: a repeatable Khan recovery routine that schools can inspect and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confirms the destination.</a:t>
            </a:r>
          </a:p>
          <a:p xmlns:a="http://schemas.openxmlformats.org/drawingml/2006/main">
            <a:r>
              <a:t>Learners follow different routes.</a:t>
            </a:r>
          </a:p>
          <a:p xmlns:a="http://schemas.openxmlformats.org/drawingml/2006/main">
            <a:r>
              <a:t>Khan assignments provide practice.</a:t>
            </a:r>
          </a:p>
          <a:p xmlns:a="http://schemas.openxmlformats.org/drawingml/2006/main">
            <a:r>
              <a:t>Separate supervised tasks check the return.</a:t>
            </a:r>
          </a:p>
          <a:p xmlns:a="http://schemas.openxmlformats.org/drawingml/2006/main">
            <a:r>
              <a:t>Measure teacher minutes, not just learner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reviewed destination map</a:t>
            </a:r>
          </a:p>
          <a:p xmlns:a="http://schemas.openxmlformats.org/drawingml/2006/main">
            <a:r>
              <a:t>Checks and answer rationales</a:t>
            </a:r>
          </a:p>
          <a:p xmlns:a="http://schemas.openxmlformats.org/drawingml/2006/main">
            <a:r>
              <a:t>Matched Khan material</a:t>
            </a:r>
          </a:p>
          <a:p xmlns:a="http://schemas.openxmlformats.org/drawingml/2006/main">
            <a:r>
              <a:t>Parallel return assessments</a:t>
            </a:r>
          </a:p>
          <a:p xmlns:a="http://schemas.openxmlformats.org/drawingml/2006/main">
            <a:r>
              <a:t>Facilitator and reporting guide</a:t>
            </a:r>
          </a:p>
          <a:p xmlns:a="http://schemas.openxmlformats.org/drawingml/2006/main">
            <a:r>
              <a:t>Topic links for schools, Reels and self-study.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review · 24,000</a:t>
            </a:r>
          </a:p>
          <a:p xmlns:a="http://schemas.openxmlformats.org/drawingml/2006/main">
            <a:r>
              <a:t>Access support · 18,000</a:t>
            </a:r>
          </a:p>
          <a:p xmlns:a="http://schemas.openxmlformats.org/drawingml/2006/main">
            <a:r>
              <a:t>Deployment · 16,000</a:t>
            </a:r>
          </a:p>
          <a:p xmlns:a="http://schemas.openxmlformats.org/drawingml/2006/main">
            <a:r>
              <a:t>Evaluation · 18,000</a:t>
            </a:r>
          </a:p>
          <a:p xmlns:a="http://schemas.openxmlformats.org/drawingml/2006/main">
            <a:r>
              <a:t>Product operations · 8,000</a:t>
            </a:r>
          </a:p>
          <a:p xmlns:a="http://schemas.openxmlformats.org/drawingml/2006/main">
            <a:r>
              <a:t>Teacher onboarding · 8,000</a:t>
            </a:r>
          </a:p>
          <a:p xmlns:a="http://schemas.openxmlformats.org/drawingml/2006/main">
            <a:r>
              <a:t>Recruitment content · 3,000</a:t>
            </a:r>
          </a:p>
          <a:p xmlns:a="http://schemas.openxmlformats.org/drawingml/2006/main">
            <a:r>
              <a:t>Contingency · 5,000</a:t>
            </a:r>
          </a:p>
          <a:p xmlns:a="http://schemas.openxmlformats.org/drawingml/2006/main">
            <a:r>
              <a:t>Planning allocation. Not quotes or secured funds. Learner access stays free.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BACKTRACK · University of the Philippines Manila</a:t>
            </a:r>
          </a:p>
          <a:p xmlns:a="http://schemas.openxmlformats.org/drawingml/2006/main">
            <a:r>
              <a:t>Matthew Labrador · Paul Recio · Harry Gomez</a:t>
            </a:r>
          </a:p>
          <a:p xmlns:a="http://schemas.openxmlformats.org/drawingml/2006/main">
            <a:r>
              <a:t>Coach: Justin Mesias</a:t>
            </a:r>
          </a:p>
          <a:p xmlns:a="http://schemas.openxmlformats.org/drawingml/2006/main">
            <a:r>
              <a:t>A new route to today’s lesson. A clear way to measure the return.</a:t>
            </a:r>
          </a:p>
          <a:p xmlns:a="http://schemas.openxmlformats.org/drawingml/2006/main">
            <a:r>
              <a:t>Try BACKTRACK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Khan Academy teacher reporting</a:t>
            </a:r>
          </a:p>
          <a:p xmlns:a="http://schemas.openxmlformats.org/drawingml/2006/main">
            <a:r>
              <a:t>ALEKS custom objectives</a:t>
            </a:r>
          </a:p>
          <a:p xmlns:a="http://schemas.openxmlformats.org/drawingml/2006/main">
            <a:r>
              <a:t>Google Gemini study notebooks · June 25, 2026</a:t>
            </a:r>
          </a:p>
          <a:p xmlns:a="http://schemas.openxmlformats.org/drawingml/2006/main">
            <a:r>
              <a:t>IES learning practice guide</a:t>
            </a:r>
          </a:p>
          <a:p xmlns:a="http://schemas.openxmlformats.org/drawingml/2006/main">
            <a:r>
              <a:t>Carpenter, Pan &amp; Butler · Spacing and retrieval</a:t>
            </a:r>
          </a:p>
          <a:p xmlns:a="http://schemas.openxmlformats.org/drawingml/2006/main">
            <a:r>
              <a:t>Foster · Confidence assessment</a:t>
            </a:r>
          </a:p>
          <a:p xmlns:a="http://schemas.openxmlformats.org/drawingml/2006/main">
            <a:r>
              <a:t>Self-Determination Theory in 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Product: https://backtrack-learning.vercel.app/start/quadratics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Supporting research:</a:t>
            </a:r>
          </a:p>
          <a:p xmlns:a="http://schemas.openxmlformats.org/drawingml/2006/main">
            <a:r>
              <a:t>Khan teacher reports: https://support.khanacademy.org/hc/en-us/articles/360031129891-What-reporting-options-are-available-on-Khan-Academy-for-teachers-to-track-student-performance</a:t>
            </a:r>
          </a:p>
          <a:p xmlns:a="http://schemas.openxmlformats.org/drawingml/2006/main">
            <a:r>
              <a:t>ALEKS custom objectives: https://www.mheducation.com/unitas/school/explore/sites/aleks/customizing-custom-objectives.pdf</a:t>
            </a:r>
          </a:p>
          <a:p xmlns:a="http://schemas.openxmlformats.org/drawingml/2006/main">
            <a:r>
              <a:t>Gemini study notebooks (June 2026): https://blog.google/innovation-and-ai/products/gemini-app/gemini-study-notebooks/</a:t>
            </a:r>
          </a:p>
          <a:p xmlns:a="http://schemas.openxmlformats.org/drawingml/2006/main">
            <a:r>
              <a:t>IES learning practice guide: https://ies.ed.gov/ncee/wwc/practiceguide/1</a:t>
            </a:r>
          </a:p>
          <a:p xmlns:a="http://schemas.openxmlformats.org/drawingml/2006/main">
            <a:r>
              <a:t>Spacing and retrieval (2022): https://doi.org/10.1038/s44159-022-00089-1</a:t>
            </a:r>
          </a:p>
          <a:p xmlns:a="http://schemas.openxmlformats.org/drawingml/2006/main">
            <a:r>
              <a:t>Confidence assessment (Foster): https://doi.org/10.1007/s10763-021-10207-9</a:t>
            </a:r>
          </a:p>
          <a:p xmlns:a="http://schemas.openxmlformats.org/drawingml/2006/main">
            <a:r>
              <a:t>Self-Determination Theory in education: https://selfdeterminationtheory.org/topics/application-education/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fbe3919d4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f63f565e0402e" /><Relationship Type="http://schemas.openxmlformats.org/officeDocument/2006/relationships/slideLayout" Target="/ppt/slideLayouts/slideLayout1.xml" Id="Rf06ea29bd0ef40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ea29bd0ef40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1efa1e464652" /><Relationship Type="http://schemas.openxmlformats.org/officeDocument/2006/relationships/hyperlink" Target="https://backtrack-learning.vercel.app/start/quadratics" TargetMode="External" Id="R897f29edb10944e3" /><Relationship Type="http://schemas.openxmlformats.org/officeDocument/2006/relationships/hyperlink" Target="https://backtrack-learning.vercel.app" TargetMode="External" Id="Rb21c4b23d1514a88" /><Relationship Type="http://schemas.openxmlformats.org/officeDocument/2006/relationships/notesSlide" Target="/ppt/notesSlides/notesSlide1.xml" Id="R51f12bfad2f3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450d159d24c65" /><Relationship Type="http://schemas.openxmlformats.org/officeDocument/2006/relationships/notesSlide" Target="/ppt/notesSlides/notesSlide2.xml" Id="R08d5f4e9f51f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e95ff60334889" /><Relationship Type="http://schemas.openxmlformats.org/officeDocument/2006/relationships/notesSlide" Target="/ppt/notesSlides/notesSlide3.xml" Id="Rf2c45829a3e147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b0a7d0bd54b80" /><Relationship Type="http://schemas.openxmlformats.org/officeDocument/2006/relationships/hyperlink" Target="https://backtrack-learning.vercel.app/start/quadratics" TargetMode="External" Id="R570274a2fe62465a" /><Relationship Type="http://schemas.openxmlformats.org/officeDocument/2006/relationships/notesSlide" Target="/ppt/notesSlides/notesSlide4.xml" Id="R8587c7e62995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199923084b2a" /><Relationship Type="http://schemas.openxmlformats.org/officeDocument/2006/relationships/image" Target="/ppt/media/image.png" Id="Rd91c5bdf3101474f" /><Relationship Type="http://schemas.openxmlformats.org/officeDocument/2006/relationships/hyperlink" Target="https://support.khanacademy.org/hc/en-us/articles/360031129891-What-reporting-options-are-available-on-Khan-Academy-for-teachers-to-track-student-performance" TargetMode="External" Id="R8ce1df312aad429d" /><Relationship Type="http://schemas.openxmlformats.org/officeDocument/2006/relationships/notesSlide" Target="/ppt/notesSlides/notesSlide5.xml" Id="Re4227e1547c6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ac4f2b118467b" /><Relationship Type="http://schemas.openxmlformats.org/officeDocument/2006/relationships/notesSlide" Target="/ppt/notesSlides/notesSlide6.xml" Id="R3787e53259744a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1db08c25246ab" /><Relationship Type="http://schemas.openxmlformats.org/officeDocument/2006/relationships/hyperlink" Target="https://ies.ed.gov/ncee/wwc/practiceguide/1" TargetMode="External" Id="Rc1b326a48a504241" /><Relationship Type="http://schemas.openxmlformats.org/officeDocument/2006/relationships/hyperlink" Target="https://doi.org/10.1038/s44159-022-00089-1" TargetMode="External" Id="Rb60c84bb838245ad" /><Relationship Type="http://schemas.openxmlformats.org/officeDocument/2006/relationships/notesSlide" Target="/ppt/notesSlides/notesSlide7.xml" Id="Rda28524c25d14c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5e7b6bd8b4791" /><Relationship Type="http://schemas.openxmlformats.org/officeDocument/2006/relationships/notesSlide" Target="/ppt/notesSlides/notesSlide8.xml" Id="Rd61439197ff741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186dda41436b" /><Relationship Type="http://schemas.openxmlformats.org/officeDocument/2006/relationships/notesSlide" Target="/ppt/notesSlides/notesSlide9.xml" Id="Rfededb8e7a9b45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0a1a4bf644d30" /><Relationship Type="http://schemas.openxmlformats.org/officeDocument/2006/relationships/hyperlink" Target="https://www.mheducation.com/unitas/school/explore/sites/aleks/customizing-custom-objectives.pdf" TargetMode="External" Id="Rde2b8c7ab6b24161" /><Relationship Type="http://schemas.openxmlformats.org/officeDocument/2006/relationships/hyperlink" Target="https://blog.google/innovation-and-ai/products/gemini-app/gemini-study-notebooks/" TargetMode="External" Id="Rda53a88fd5d041f1" /><Relationship Type="http://schemas.openxmlformats.org/officeDocument/2006/relationships/notesSlide" Target="/ppt/notesSlides/notesSlide10.xml" Id="Rf58d1e9750ed47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5a680fc024b80" /><Relationship Type="http://schemas.openxmlformats.org/officeDocument/2006/relationships/notesSlide" Target="/ppt/notesSlides/notesSlide11.xml" Id="R27054462623145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7ed653b94311" /><Relationship Type="http://schemas.openxmlformats.org/officeDocument/2006/relationships/notesSlide" Target="/ppt/notesSlides/notesSlide12.xml" Id="R261e4f13235e4b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18b42211f4f12" /><Relationship Type="http://schemas.openxmlformats.org/officeDocument/2006/relationships/notesSlide" Target="/ppt/notesSlides/notesSlide13.xml" Id="R052266a2164b4b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a30367b4e483c" /><Relationship Type="http://schemas.openxmlformats.org/officeDocument/2006/relationships/hyperlink" Target="https://backtrack-learning.vercel.app/start/quadratics" TargetMode="External" Id="Rae52919ad9c84e47" /><Relationship Type="http://schemas.openxmlformats.org/officeDocument/2006/relationships/hyperlink" Target="https://backtrack-learning.vercel.app" TargetMode="External" Id="R56a0fa328fff4bbf" /><Relationship Type="http://schemas.openxmlformats.org/officeDocument/2006/relationships/notesSlide" Target="/ppt/notesSlides/notesSlide14.xml" Id="R42a1338b63f14f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b699d36ca4d99" /><Relationship Type="http://schemas.openxmlformats.org/officeDocument/2006/relationships/hyperlink" Target="https://support.khanacademy.org/hc/en-us/articles/360031129891-What-reporting-options-are-available-on-Khan-Academy-for-teachers-to-track-student-performance" TargetMode="External" Id="Rb818f096e25242e3" /><Relationship Type="http://schemas.openxmlformats.org/officeDocument/2006/relationships/hyperlink" Target="https://www.mheducation.com/unitas/school/explore/sites/aleks/customizing-custom-objectives.pdf" TargetMode="External" Id="R4345b34aa07b471e" /><Relationship Type="http://schemas.openxmlformats.org/officeDocument/2006/relationships/hyperlink" Target="https://blog.google/innovation-and-ai/products/gemini-app/gemini-study-notebooks/" TargetMode="External" Id="R826459ece4b64a55" /><Relationship Type="http://schemas.openxmlformats.org/officeDocument/2006/relationships/hyperlink" Target="https://ies.ed.gov/ncee/wwc/practiceguide/1" TargetMode="External" Id="Rd5ac0c07246e4273" /><Relationship Type="http://schemas.openxmlformats.org/officeDocument/2006/relationships/hyperlink" Target="https://doi.org/10.1038/s44159-022-00089-1" TargetMode="External" Id="R3f3584e152b34f36" /><Relationship Type="http://schemas.openxmlformats.org/officeDocument/2006/relationships/hyperlink" Target="https://doi.org/10.1007/s10763-021-10207-9" TargetMode="External" Id="Rdac086ea3552419a" /><Relationship Type="http://schemas.openxmlformats.org/officeDocument/2006/relationships/hyperlink" Target="https://selfdeterminationtheory.org/topics/application-education/" TargetMode="External" Id="Rda5feaaba9ff48b1" /><Relationship Type="http://schemas.openxmlformats.org/officeDocument/2006/relationships/notesSlide" Target="/ppt/notesSlides/notesSlide15.xml" Id="R888ff1c3ce6049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17A5B-F82D-43F6-ACD8-64DF86D1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5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backtrack.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13DBC-3888-4AC0-BA79-57ACC8B4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49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Your GPS recalculates.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2EC09-227D-427E-82EE-893F2A0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49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Why doesn’t learning?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E0C30-A3DF-434B-855E-328848C2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A new route to the lesson you need now.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AB334-6266-4DEC-914D-31F9811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3143250" cy="619125"/>
          </a:xfrm>
          <a:custGeom xmlns:a="http://schemas.openxmlformats.org/drawingml/2006/main">
            <a:pathLst>
              <a:path w="3143250" h="619125">
                <a:moveTo>
                  <a:pt x="0" y="0"/>
                </a:moveTo>
                <a:lnTo>
                  <a:pt x="105376" y="4489"/>
                </a:lnTo>
                <a:lnTo>
                  <a:pt x="200787" y="17336"/>
                </a:lnTo>
                <a:lnTo>
                  <a:pt x="287339" y="37612"/>
                </a:lnTo>
                <a:lnTo>
                  <a:pt x="366141" y="64389"/>
                </a:lnTo>
                <a:lnTo>
                  <a:pt x="438299" y="96738"/>
                </a:lnTo>
                <a:lnTo>
                  <a:pt x="504920" y="133731"/>
                </a:lnTo>
                <a:lnTo>
                  <a:pt x="567113" y="174438"/>
                </a:lnTo>
                <a:lnTo>
                  <a:pt x="625983" y="217932"/>
                </a:lnTo>
                <a:lnTo>
                  <a:pt x="682639" y="263283"/>
                </a:lnTo>
                <a:lnTo>
                  <a:pt x="738188" y="309563"/>
                </a:lnTo>
                <a:lnTo>
                  <a:pt x="793736" y="355842"/>
                </a:lnTo>
                <a:lnTo>
                  <a:pt x="850392" y="401193"/>
                </a:lnTo>
                <a:lnTo>
                  <a:pt x="909262" y="444687"/>
                </a:lnTo>
                <a:lnTo>
                  <a:pt x="971455" y="485394"/>
                </a:lnTo>
                <a:lnTo>
                  <a:pt x="1038076" y="522387"/>
                </a:lnTo>
                <a:lnTo>
                  <a:pt x="1110234" y="554736"/>
                </a:lnTo>
                <a:lnTo>
                  <a:pt x="1189036" y="581513"/>
                </a:lnTo>
                <a:lnTo>
                  <a:pt x="1275588" y="601790"/>
                </a:lnTo>
                <a:lnTo>
                  <a:pt x="1370999" y="614636"/>
                </a:lnTo>
                <a:lnTo>
                  <a:pt x="1476375" y="619125"/>
                </a:lnTo>
                <a:lnTo>
                  <a:pt x="1476375" y="619125"/>
                </a:lnTo>
                <a:lnTo>
                  <a:pt x="1595348" y="614636"/>
                </a:lnTo>
                <a:lnTo>
                  <a:pt x="1703070" y="601790"/>
                </a:lnTo>
                <a:lnTo>
                  <a:pt x="1800791" y="581513"/>
                </a:lnTo>
                <a:lnTo>
                  <a:pt x="1889760" y="554736"/>
                </a:lnTo>
                <a:lnTo>
                  <a:pt x="1971229" y="522387"/>
                </a:lnTo>
                <a:lnTo>
                  <a:pt x="2046446" y="485394"/>
                </a:lnTo>
                <a:lnTo>
                  <a:pt x="2116663" y="444687"/>
                </a:lnTo>
                <a:lnTo>
                  <a:pt x="2183130" y="401193"/>
                </a:lnTo>
                <a:lnTo>
                  <a:pt x="2247096" y="355842"/>
                </a:lnTo>
                <a:lnTo>
                  <a:pt x="2309813" y="309563"/>
                </a:lnTo>
                <a:lnTo>
                  <a:pt x="2372529" y="263283"/>
                </a:lnTo>
                <a:lnTo>
                  <a:pt x="2436495" y="217932"/>
                </a:lnTo>
                <a:lnTo>
                  <a:pt x="2502962" y="174438"/>
                </a:lnTo>
                <a:lnTo>
                  <a:pt x="2573179" y="133731"/>
                </a:lnTo>
                <a:lnTo>
                  <a:pt x="2648396" y="96738"/>
                </a:lnTo>
                <a:lnTo>
                  <a:pt x="2729865" y="64389"/>
                </a:lnTo>
                <a:lnTo>
                  <a:pt x="2818834" y="37612"/>
                </a:lnTo>
                <a:lnTo>
                  <a:pt x="2916555" y="17336"/>
                </a:lnTo>
                <a:lnTo>
                  <a:pt x="3024277" y="4489"/>
                </a:ln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7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F4C9A-0E86-4793-AD50-DAB5E33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81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8DF8F-CEB4-43FF-9143-E22C6CA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572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645CB-7E2A-47F4-B9DA-32B30010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7970B-679E-4A60-B3BE-34B8E317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897f29edb10944e3"/>
              </a:rPr>
              <a:t>Try BACKTRACK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1E515-2EB9-4B97-8C85-0CC3A81A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b21c4b23d1514a88"/>
              </a:rPr>
              <a:t>backtrack-learning.vercel.app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E3E3F-7464-4325-970E-C7CB36DE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University of the Philippines Manila</a:t>
            </a:r>
          </a:p>
        </p:txBody>
      </p:sp>
    </p:spTree>
    <p:extLst>
      <p:ext uri="{BB962C8B-B14F-4D97-AF65-F5344CB8AC3E}">
        <p14:creationId xmlns:p14="http://schemas.microsoft.com/office/powerpoint/2010/main" val="830709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ADCE8-0ECD-408F-8C14-C2268AB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“Review.”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Review what?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26EC2-0A62-4791-BC43-DDA11027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AEBA7-F930-44DC-AB3E-96A0245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TODAY’S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69B39-1114-41F8-A3B2-224D384B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525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x² + 7x + 12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CA38B-A722-444C-8160-52544F0C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A learner can be stuck here because of a step</a:t>
            </a:r>
          </a:p>
          <a:p xmlns:a="http://schemas.openxmlformats.org/drawingml/2006/main">
            <a:pPr>
              <a:def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2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underneath.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86198-205A-49A6-8F2B-6C38902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6429375" cy="190500"/>
          </a:xfrm>
          <a:custGeom xmlns:a="http://schemas.openxmlformats.org/drawingml/2006/main">
            <a:pathLst>
              <a:path w="6429375" h="190500">
                <a:moveTo>
                  <a:pt x="0" y="0"/>
                </a:moveTo>
                <a:lnTo>
                  <a:pt x="224349" y="1381"/>
                </a:lnTo>
                <a:lnTo>
                  <a:pt x="427482" y="5334"/>
                </a:lnTo>
                <a:lnTo>
                  <a:pt x="611755" y="11573"/>
                </a:lnTo>
                <a:lnTo>
                  <a:pt x="779526" y="19812"/>
                </a:lnTo>
                <a:lnTo>
                  <a:pt x="933152" y="29766"/>
                </a:lnTo>
                <a:lnTo>
                  <a:pt x="1074991" y="41148"/>
                </a:lnTo>
                <a:lnTo>
                  <a:pt x="1207401" y="53673"/>
                </a:lnTo>
                <a:lnTo>
                  <a:pt x="1332738" y="67056"/>
                </a:lnTo>
                <a:lnTo>
                  <a:pt x="1453360" y="81010"/>
                </a:lnTo>
                <a:lnTo>
                  <a:pt x="1571625" y="95250"/>
                </a:lnTo>
                <a:lnTo>
                  <a:pt x="1689890" y="109490"/>
                </a:lnTo>
                <a:lnTo>
                  <a:pt x="1810512" y="123444"/>
                </a:lnTo>
                <a:lnTo>
                  <a:pt x="1935849" y="136827"/>
                </a:lnTo>
                <a:lnTo>
                  <a:pt x="2068258" y="149352"/>
                </a:lnTo>
                <a:lnTo>
                  <a:pt x="2210098" y="160734"/>
                </a:lnTo>
                <a:lnTo>
                  <a:pt x="2363724" y="170688"/>
                </a:lnTo>
                <a:lnTo>
                  <a:pt x="2531495" y="178927"/>
                </a:lnTo>
                <a:lnTo>
                  <a:pt x="2715768" y="185166"/>
                </a:lnTo>
                <a:lnTo>
                  <a:pt x="2918901" y="189119"/>
                </a:lnTo>
                <a:lnTo>
                  <a:pt x="3143250" y="190500"/>
                </a:lnTo>
                <a:lnTo>
                  <a:pt x="3143250" y="190500"/>
                </a:lnTo>
                <a:lnTo>
                  <a:pt x="3377797" y="189119"/>
                </a:lnTo>
                <a:lnTo>
                  <a:pt x="3590163" y="185166"/>
                </a:lnTo>
                <a:lnTo>
                  <a:pt x="3782812" y="178927"/>
                </a:lnTo>
                <a:lnTo>
                  <a:pt x="3958209" y="170688"/>
                </a:lnTo>
                <a:lnTo>
                  <a:pt x="4118818" y="160734"/>
                </a:lnTo>
                <a:lnTo>
                  <a:pt x="4267105" y="149352"/>
                </a:lnTo>
                <a:lnTo>
                  <a:pt x="4405533" y="136827"/>
                </a:lnTo>
                <a:lnTo>
                  <a:pt x="4536567" y="123444"/>
                </a:lnTo>
                <a:lnTo>
                  <a:pt x="4662672" y="109490"/>
                </a:lnTo>
                <a:lnTo>
                  <a:pt x="4786313" y="95250"/>
                </a:lnTo>
                <a:lnTo>
                  <a:pt x="4909953" y="81010"/>
                </a:lnTo>
                <a:lnTo>
                  <a:pt x="5036058" y="67056"/>
                </a:lnTo>
                <a:lnTo>
                  <a:pt x="5167092" y="53673"/>
                </a:lnTo>
                <a:lnTo>
                  <a:pt x="5305520" y="41148"/>
                </a:lnTo>
                <a:lnTo>
                  <a:pt x="5453807" y="29766"/>
                </a:lnTo>
                <a:lnTo>
                  <a:pt x="5614416" y="19812"/>
                </a:lnTo>
                <a:lnTo>
                  <a:pt x="5789813" y="11573"/>
                </a:lnTo>
                <a:lnTo>
                  <a:pt x="5982462" y="5334"/>
                </a:lnTo>
                <a:lnTo>
                  <a:pt x="6194828" y="1381"/>
                </a:lnTo>
                <a:lnTo>
                  <a:pt x="6429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070A4-B2C8-4CC1-85EB-7F13C670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1D472-B475-40AD-8975-D22563A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81FF-8124-4249-B333-B88C920C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0B868-0BBC-4A3F-BBDC-C2248D87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Multiplying brackets?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5BBA5-F62C-491F-9EA7-01E02C23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5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Finding factors?</a:t>
            </a:r>
          </a:p>
        </p:txBody>
      </p:sp>
    </p:spTree>
    <p:extLst>
      <p:ext uri="{BB962C8B-B14F-4D97-AF65-F5344CB8AC3E}">
        <p14:creationId xmlns:p14="http://schemas.microsoft.com/office/powerpoint/2010/main" val="213005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A6370-A5B4-42DC-8B02-EE867DC3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The destination stays.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The route changes.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EC278-ACDD-451E-980C-0F7BF55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62331-D6D2-452A-A089-072593DB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1476375"/>
          </a:xfrm>
          <a:custGeom xmlns:a="http://schemas.openxmlformats.org/drawingml/2006/main">
            <a:pathLst>
              <a:path w="9620250" h="1476375">
                <a:moveTo>
                  <a:pt x="0" y="0"/>
                </a:moveTo>
                <a:lnTo>
                  <a:pt x="200555" y="10704"/>
                </a:lnTo>
                <a:lnTo>
                  <a:pt x="382143" y="41339"/>
                </a:lnTo>
                <a:lnTo>
                  <a:pt x="546872" y="89690"/>
                </a:lnTo>
                <a:lnTo>
                  <a:pt x="696849" y="153543"/>
                </a:lnTo>
                <a:lnTo>
                  <a:pt x="834182" y="230684"/>
                </a:lnTo>
                <a:lnTo>
                  <a:pt x="960977" y="318897"/>
                </a:lnTo>
                <a:lnTo>
                  <a:pt x="1079343" y="415969"/>
                </a:lnTo>
                <a:lnTo>
                  <a:pt x="1191387" y="519684"/>
                </a:lnTo>
                <a:lnTo>
                  <a:pt x="1299216" y="627828"/>
                </a:lnTo>
                <a:lnTo>
                  <a:pt x="1404938" y="738188"/>
                </a:lnTo>
                <a:lnTo>
                  <a:pt x="1510659" y="848547"/>
                </a:lnTo>
                <a:lnTo>
                  <a:pt x="1618488" y="956691"/>
                </a:lnTo>
                <a:lnTo>
                  <a:pt x="1730532" y="1060406"/>
                </a:lnTo>
                <a:lnTo>
                  <a:pt x="1848898" y="1157478"/>
                </a:lnTo>
                <a:lnTo>
                  <a:pt x="1975693" y="1245691"/>
                </a:lnTo>
                <a:lnTo>
                  <a:pt x="2113026" y="1322832"/>
                </a:lnTo>
                <a:lnTo>
                  <a:pt x="2263003" y="1386685"/>
                </a:lnTo>
                <a:lnTo>
                  <a:pt x="2427732" y="1435037"/>
                </a:lnTo>
                <a:lnTo>
                  <a:pt x="2609320" y="1465671"/>
                </a:lnTo>
                <a:lnTo>
                  <a:pt x="2809875" y="1476375"/>
                </a:lnTo>
                <a:lnTo>
                  <a:pt x="2809875" y="1476375"/>
                </a:lnTo>
                <a:lnTo>
                  <a:pt x="3027426" y="1470851"/>
                </a:lnTo>
                <a:lnTo>
                  <a:pt x="3224403" y="1455039"/>
                </a:lnTo>
                <a:lnTo>
                  <a:pt x="3403092" y="1430083"/>
                </a:lnTo>
                <a:lnTo>
                  <a:pt x="3565779" y="1397127"/>
                </a:lnTo>
                <a:lnTo>
                  <a:pt x="3714750" y="1357313"/>
                </a:lnTo>
                <a:lnTo>
                  <a:pt x="3852291" y="1311783"/>
                </a:lnTo>
                <a:lnTo>
                  <a:pt x="3980688" y="1261682"/>
                </a:lnTo>
                <a:lnTo>
                  <a:pt x="4102227" y="1208151"/>
                </a:lnTo>
                <a:lnTo>
                  <a:pt x="4219194" y="1152335"/>
                </a:lnTo>
                <a:lnTo>
                  <a:pt x="4333875" y="1095375"/>
                </a:lnTo>
                <a:lnTo>
                  <a:pt x="4448556" y="1038415"/>
                </a:lnTo>
                <a:lnTo>
                  <a:pt x="4565523" y="982599"/>
                </a:lnTo>
                <a:lnTo>
                  <a:pt x="4687062" y="929069"/>
                </a:lnTo>
                <a:lnTo>
                  <a:pt x="4815459" y="878967"/>
                </a:lnTo>
                <a:lnTo>
                  <a:pt x="4953000" y="833438"/>
                </a:lnTo>
                <a:lnTo>
                  <a:pt x="5101971" y="793623"/>
                </a:lnTo>
                <a:lnTo>
                  <a:pt x="5264658" y="760667"/>
                </a:lnTo>
                <a:lnTo>
                  <a:pt x="5443347" y="735711"/>
                </a:lnTo>
                <a:lnTo>
                  <a:pt x="5640324" y="719899"/>
                </a:lnTo>
                <a:lnTo>
                  <a:pt x="5857875" y="714375"/>
                </a:lnTo>
                <a:lnTo>
                  <a:pt x="5857875" y="714375"/>
                </a:lnTo>
                <a:lnTo>
                  <a:pt x="6126415" y="709196"/>
                </a:lnTo>
                <a:lnTo>
                  <a:pt x="6369558" y="694373"/>
                </a:lnTo>
                <a:lnTo>
                  <a:pt x="6590127" y="670977"/>
                </a:lnTo>
                <a:lnTo>
                  <a:pt x="6790944" y="640080"/>
                </a:lnTo>
                <a:lnTo>
                  <a:pt x="6974830" y="602754"/>
                </a:lnTo>
                <a:lnTo>
                  <a:pt x="7144607" y="560070"/>
                </a:lnTo>
                <a:lnTo>
                  <a:pt x="7303097" y="513100"/>
                </a:lnTo>
                <a:lnTo>
                  <a:pt x="7453122" y="462915"/>
                </a:lnTo>
                <a:lnTo>
                  <a:pt x="7597503" y="410587"/>
                </a:lnTo>
                <a:lnTo>
                  <a:pt x="7739063" y="357188"/>
                </a:lnTo>
                <a:lnTo>
                  <a:pt x="7880622" y="303788"/>
                </a:lnTo>
                <a:lnTo>
                  <a:pt x="8025003" y="251460"/>
                </a:lnTo>
                <a:lnTo>
                  <a:pt x="8175028" y="201275"/>
                </a:lnTo>
                <a:lnTo>
                  <a:pt x="8333518" y="154305"/>
                </a:lnTo>
                <a:lnTo>
                  <a:pt x="8503295" y="111621"/>
                </a:lnTo>
                <a:lnTo>
                  <a:pt x="8687181" y="74295"/>
                </a:lnTo>
                <a:lnTo>
                  <a:pt x="8887998" y="43398"/>
                </a:lnTo>
                <a:lnTo>
                  <a:pt x="9108567" y="20003"/>
                </a:lnTo>
                <a:lnTo>
                  <a:pt x="9351710" y="5179"/>
                </a:lnTo>
                <a:lnTo>
                  <a:pt x="962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7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C75E6-474F-4C17-90FA-6FF1CCC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CDDD8-28BC-4872-AA7E-E240A62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23976-3E22-4E42-801A-3ADAB55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2DCF6-6375-49BD-85F2-A346184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46A71-FDCC-4F61-A921-8F01FEAC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Current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66896-C69B-4131-942F-9DB6AFB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F18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1">
                <a:solidFill>
                  <a:srgbClr val="B94F18"/>
                </a:solidFill>
                <a:latin typeface="Plus Jakarta Sans"/>
                <a:ea typeface="Plus Jakarta Sans"/>
                <a:cs typeface="Plus Jakarta Sans"/>
              </a:rPr>
              <a:t>Check a prerequisite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BAE74-3AFD-426B-AFAB-55947EF1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86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Find useful 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3CD94-9D7E-4C75-AD88-A74F681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Fresh return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1F421-1B16-47FA-BBED-F09875DE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A wrong answer opens an investigation. It is not a permanent label.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C545B-A54A-42F0-A200-AFCBC773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Example route</a:t>
            </a:r>
          </a:p>
        </p:txBody>
      </p:sp>
    </p:spTree>
    <p:extLst>
      <p:ext uri="{BB962C8B-B14F-4D97-AF65-F5344CB8AC3E}">
        <p14:creationId xmlns:p14="http://schemas.microsoft.com/office/powerpoint/2010/main" val="666676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1E1C5-444F-44E4-BD5A-60E67AFC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The reward is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less review.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9E2DF-321C-4A98-9A72-93B83AD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E0FEA-2987-4C7E-B2CA-F68929F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BEFORE THE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A8B71-5241-4336-9DDC-899F8302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5934075" cy="952500"/>
          </a:xfrm>
          <a:custGeom xmlns:a="http://schemas.openxmlformats.org/drawingml/2006/main">
            <a:pathLst>
              <a:path w="5934075" h="952500">
                <a:moveTo>
                  <a:pt x="0" y="0"/>
                </a:moveTo>
                <a:lnTo>
                  <a:pt x="202594" y="6906"/>
                </a:lnTo>
                <a:lnTo>
                  <a:pt x="386029" y="26670"/>
                </a:lnTo>
                <a:lnTo>
                  <a:pt x="552433" y="57864"/>
                </a:lnTo>
                <a:lnTo>
                  <a:pt x="703936" y="99060"/>
                </a:lnTo>
                <a:lnTo>
                  <a:pt x="842665" y="148828"/>
                </a:lnTo>
                <a:lnTo>
                  <a:pt x="970750" y="205740"/>
                </a:lnTo>
                <a:lnTo>
                  <a:pt x="1090320" y="268367"/>
                </a:lnTo>
                <a:lnTo>
                  <a:pt x="1203503" y="335280"/>
                </a:lnTo>
                <a:lnTo>
                  <a:pt x="1312428" y="405051"/>
                </a:lnTo>
                <a:lnTo>
                  <a:pt x="1419225" y="476250"/>
                </a:lnTo>
                <a:lnTo>
                  <a:pt x="1526022" y="547449"/>
                </a:lnTo>
                <a:lnTo>
                  <a:pt x="1634947" y="617220"/>
                </a:lnTo>
                <a:lnTo>
                  <a:pt x="1748130" y="684133"/>
                </a:lnTo>
                <a:lnTo>
                  <a:pt x="1867700" y="746760"/>
                </a:lnTo>
                <a:lnTo>
                  <a:pt x="1995785" y="803672"/>
                </a:lnTo>
                <a:lnTo>
                  <a:pt x="2134514" y="853440"/>
                </a:lnTo>
                <a:lnTo>
                  <a:pt x="2286017" y="894636"/>
                </a:lnTo>
                <a:lnTo>
                  <a:pt x="2452421" y="925830"/>
                </a:lnTo>
                <a:lnTo>
                  <a:pt x="2635856" y="945594"/>
                </a:lnTo>
                <a:lnTo>
                  <a:pt x="2838450" y="952500"/>
                </a:lnTo>
                <a:lnTo>
                  <a:pt x="2838450" y="952500"/>
                </a:lnTo>
                <a:lnTo>
                  <a:pt x="3059400" y="945594"/>
                </a:lnTo>
                <a:lnTo>
                  <a:pt x="3259455" y="925830"/>
                </a:lnTo>
                <a:lnTo>
                  <a:pt x="3440936" y="894636"/>
                </a:lnTo>
                <a:lnTo>
                  <a:pt x="3606165" y="853440"/>
                </a:lnTo>
                <a:lnTo>
                  <a:pt x="3757464" y="803672"/>
                </a:lnTo>
                <a:lnTo>
                  <a:pt x="3897154" y="746760"/>
                </a:lnTo>
                <a:lnTo>
                  <a:pt x="4027557" y="684133"/>
                </a:lnTo>
                <a:lnTo>
                  <a:pt x="4150995" y="617220"/>
                </a:lnTo>
                <a:lnTo>
                  <a:pt x="4269790" y="547449"/>
                </a:lnTo>
                <a:lnTo>
                  <a:pt x="4386263" y="476250"/>
                </a:lnTo>
                <a:lnTo>
                  <a:pt x="4502735" y="405051"/>
                </a:lnTo>
                <a:lnTo>
                  <a:pt x="4621530" y="335280"/>
                </a:lnTo>
                <a:lnTo>
                  <a:pt x="4744968" y="268367"/>
                </a:lnTo>
                <a:lnTo>
                  <a:pt x="4875371" y="205740"/>
                </a:lnTo>
                <a:lnTo>
                  <a:pt x="5015061" y="148828"/>
                </a:lnTo>
                <a:lnTo>
                  <a:pt x="5166360" y="99060"/>
                </a:lnTo>
                <a:lnTo>
                  <a:pt x="5331589" y="57864"/>
                </a:lnTo>
                <a:lnTo>
                  <a:pt x="5513070" y="26670"/>
                </a:lnTo>
                <a:lnTo>
                  <a:pt x="5713125" y="6906"/>
                </a:lnTo>
                <a:lnTo>
                  <a:pt x="5934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87E7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EC61D-5E06-43B2-9E38-B19BBE7E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F813F-B6D2-467C-81C7-56574FC9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104CF-3B48-42AA-BF83-E4319B2A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B6445-4DD6-4238-AAD5-C2DD285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38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Possible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8F177-026B-486B-B357-61E3459B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AFTER TWO FRESH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32003-B5F2-4B27-9887-B4FAD54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5934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1C7E5-81F2-4CD0-9D93-F849D154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0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A4BB6-3BEE-4C90-B6CD-6DDF2BF6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72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7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7249-20FB-4610-9DFE-D8964B5D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One review</a:t>
            </a:r>
          </a:p>
          <a:p xmlns:a="http://schemas.openxmlformats.org/drawingml/2006/main">
            <a:pPr>
              <a:defRPr sz="30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0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removed.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AE4A1-8A01-4E60-A1FC-5BE991A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86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Earlier progress stays.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1477B-CB59-41BA-A282-FF46AED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570274a2fe62465a"/>
              </a:rPr>
              <a:t>Try BACKTRACK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BFA8B-3A7E-41BE-9E0C-9242F67E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Example route</a:t>
            </a:r>
          </a:p>
        </p:txBody>
      </p:sp>
    </p:spTree>
    <p:extLst>
      <p:ext uri="{BB962C8B-B14F-4D97-AF65-F5344CB8AC3E}">
        <p14:creationId xmlns:p14="http://schemas.microsoft.com/office/powerpoint/2010/main" val="2144508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8FAD9-473E-466F-A006-9A59026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Khan is the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learning engine.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4573F-FEC8-4340-9CFE-5FB08A5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05 / 15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c5bdf3101474f"/>
          <a:stretch xmlns:a="http://schemas.openxmlformats.org/drawingml/2006/main"/>
        </p:blipFill>
        <p:spPr>
          <a:xfrm xmlns:a="http://schemas.openxmlformats.org/drawingml/2006/main">
            <a:off x="685800" y="2181225"/>
            <a:ext cx="3352800" cy="5334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E9CA1-B9C2-4D40-8C9F-4B07E72A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5C39D-6BE0-431D-A3FF-EFE25EDA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Watch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2DACC-112D-401B-8E19-A0F589B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Official Khan lessons inside</a:t>
            </a:r>
          </a:p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the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C468B-3919-45D4-A5D1-B6242DA3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90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9220F-0735-48C9-854A-117F25EB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Practice on Khan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40800-E22E-4DD8-8EE9-D7DF0419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00575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Matched exercises in an</a:t>
            </a:r>
          </a:p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existing learning</a:t>
            </a:r>
          </a:p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32382-76DA-49AD-B403-86D7527A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3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1E3BC-BF17-40E2-B3CB-B22A45DF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Return 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8C475-769A-4455-9BA8-23CC4081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Fresh checks reconnect the</a:t>
            </a:r>
          </a:p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CDB9E-EAF6-4890-AC9A-0AE5CED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8ce1df312aad429d"/>
              </a:rPr>
              <a:t>Khan teacher reports</a:t>
            </a:r>
          </a:p>
        </p:txBody>
      </p:sp>
    </p:spTree>
    <p:extLst>
      <p:ext uri="{BB962C8B-B14F-4D97-AF65-F5344CB8AC3E}">
        <p14:creationId xmlns:p14="http://schemas.microsoft.com/office/powerpoint/2010/main" val="2134570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53EB6-7A6D-4899-A559-841E943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Back to today’s lesson.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6AAEC-FC25-40F7-8609-5969B3A3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21E0-FD51-43F3-9B9B-A880FE46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3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FRESH DESTINATION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78AD8-74EA-4B86-BC1D-FFC8432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48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x² + 11x + 28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448D8-C919-430D-AC8D-ECB0CDC1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6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x = -4 or x = -7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1A7DE-38DD-4C51-AE51-C0F8E5A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The route ends with something the learner can demonstrate.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8FEC6-C140-4D54-86DE-97E612B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628718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253EB-F449-449E-8492-5DD6685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Did the return last?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8906E-7B7C-42CE-B6E8-C63C123C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ED8DC-7B5B-40FD-BAD0-4EDA32B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Retained reentry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2605E-C047-4A5B-A3ED-EFFC4FB9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Pass after the route.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4CA8-3EC2-4DC0-81CD-17FAD078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Pass again 7-14 days later.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09FC1-94B7-410A-B207-EB5E5BFA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258DE-37FE-4E78-A23E-754DBF8E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Report against every enrolled baseline-blocked learner.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4605B-D78A-4BB3-9082-24053D0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c1b326a48a504241"/>
              </a:rPr>
              <a:t>IES learning practice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9D443-A695-4033-B48C-8953672A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4365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b60c84bb838245ad"/>
              </a:rPr>
              <a:t>Spacing and retrieval (2022)</a:t>
            </a:r>
          </a:p>
        </p:txBody>
      </p:sp>
    </p:spTree>
    <p:extLst>
      <p:ext uri="{BB962C8B-B14F-4D97-AF65-F5344CB8AC3E}">
        <p14:creationId xmlns:p14="http://schemas.microsoft.com/office/powerpoint/2010/main" val="1416371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CB5B3-C93B-403A-A8C5-61F8EBF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Five months to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earn the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9C46-8B23-441A-971F-B59DEC0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1895F-0A0E-4E77-BDAA-F4AEAE3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55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80-120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6790B-119F-4132-A382-B177EBF5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learners across 2-3 cohorts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D85C5-F13B-4A18-A024-1492CA2F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Planning targets, subject to agreements, permissions and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4DA42-22AA-4382-833D-1DA4AF0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NOV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FFF93-E17E-4F6B-8813-6FD24356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Review +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6D1B2-A146-467E-A490-01A91D81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91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DEC-JAN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0826C-C1D1-4BCD-8EB8-A1D44FA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483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First cycle +</a:t>
            </a:r>
          </a:p>
          <a:p xmlns:a="http://schemas.openxmlformats.org/drawingml/2006/main">
            <a:pPr>
              <a:def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0B7BE-12ED-49FA-B698-E93424F3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91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FEB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E9E69-5BC0-4B0C-80BC-C820182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483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Second educator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B72E-F224-48B4-8746-E2D73BB3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91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65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5616E-96EA-4E24-A07F-A0880896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4483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Follow-up + handover</a:t>
            </a:r>
          </a:p>
        </p:txBody>
      </p:sp>
    </p:spTree>
    <p:extLst>
      <p:ext uri="{BB962C8B-B14F-4D97-AF65-F5344CB8AC3E}">
        <p14:creationId xmlns:p14="http://schemas.microsoft.com/office/powerpoint/2010/main" val="11564483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717A2-397A-4728-BA94-2A586CA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 fair comparison.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71D85-3303-4C58-8F20-48B1899F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09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A7367-7ACF-47A0-8C3E-49CBC25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Teacher-selected</a:t>
            </a:r>
          </a:p>
          <a:p xmlns:a="http://schemas.openxmlformats.org/drawingml/2006/main">
            <a:pPr>
              <a:defRPr sz="27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Khan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629B5-6782-4DA3-A953-62E5702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BACKTRACK-supported</a:t>
            </a:r>
          </a:p>
          <a:p xmlns:a="http://schemas.openxmlformats.org/drawingml/2006/main">
            <a:pPr>
              <a:defRPr sz="27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7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Khan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4D1FA-4765-4FA3-AE93-5E96EF67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57425"/>
            <a:ext cx="190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7800D-96E3-4D29-9E19-9633E05B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Comparable access time and adult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04033-5D35-45B1-B903-3E4BC3AB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Fresh post and delayed tasks in both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C3BF6-4128-4A36-9578-913358EB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Randomized delayed start where feasible. Otherwise report feasibility,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10701535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A175C-E780-466C-91A5-20D1839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Adaptive learning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already exists.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5AEA-6536-479A-A054-0A31B3F1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E45E9-BBB4-4C55-A7CF-CD70308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ALEKS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4931E-87CF-4B4F-8CF6-E24BF78E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125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Objectives and prerequisites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4FA90-6F9F-4D30-9FF1-4E3BA74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Gemini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D0DFC-1190-4791-9B00-26A9C26C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Goal-based diagnosis and study plans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AEF01-BBAC-4F61-BAA4-C252F7A0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3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Khan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98245-9361-42C1-8B3D-B4D4171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Personalization and learning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72157-BC28-4B7F-AB4E-AF09AC28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2713A-840D-427A-96CB-E3696EC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Our opportunity: a repeatable Khan recovery routine that schools can inspect and</a:t>
            </a:r>
          </a:p>
          <a:p xmlns:a="http://schemas.openxmlformats.org/drawingml/2006/main">
            <a:pPr>
              <a:defRPr sz="21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747BA-FC96-4F23-AF75-43CE1084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de2b8c7ab6b24161"/>
              </a:rPr>
              <a:t>ALEKS custom objectives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BD673-B2DC-4E64-9B8B-65F9C65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43650"/>
            <a:ext cx="395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0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da53a88fd5d041f1"/>
              </a:rPr>
              <a:t>Gemini study notebooks (June 2026)</a:t>
            </a:r>
          </a:p>
        </p:txBody>
      </p:sp>
    </p:spTree>
    <p:extLst>
      <p:ext uri="{BB962C8B-B14F-4D97-AF65-F5344CB8AC3E}">
        <p14:creationId xmlns:p14="http://schemas.microsoft.com/office/powerpoint/2010/main" val="354508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F358A-EF26-47AC-AE76-76C648F2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One goal.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 manageable routine.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5776E-84C9-481B-98DA-FC69E64C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2EC58-B80C-43C0-9F00-D57839B1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FDC0B-2C9D-4163-83CB-D9C7E7D3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86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Teacher confirms the destination.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25C06-DF75-465C-A6CE-82ECE07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EBF49-F3BA-4A6A-89E1-6B64F11E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Learners follow different routes.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913E-5C07-4489-AF7A-7D7890E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9666B-3AB4-457C-BBCE-F4BC505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671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Khan assignments provide practice.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32FB2-4C35-4831-9F59-6B63B98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83401-9310-43C6-8751-EA04C22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577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Separate supervised tasks check the return.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F131D-ACB6-4FDF-8E97-40F74FC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rPr>
              <a:t>Measure teacher minutes, not just learner clicks.</a:t>
            </a:r>
          </a:p>
        </p:txBody>
      </p:sp>
    </p:spTree>
    <p:extLst>
      <p:ext uri="{BB962C8B-B14F-4D97-AF65-F5344CB8AC3E}">
        <p14:creationId xmlns:p14="http://schemas.microsoft.com/office/powerpoint/2010/main" val="1979479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EEDBB-B35A-4AB5-A096-4DA3948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 kit another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educator can use.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CE933-7F93-4DB2-A760-53D77E0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0C08D-030B-40DC-A175-9B769C09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66C08-3719-40E3-8360-6435CC1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336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A reviewed destination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283AC-6E0B-43AE-A366-EF1AFEC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CB074-5D26-4E30-988F-272F64DA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337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Checks and answer rationales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FEAF2-DF35-4B3C-AA36-AE599A2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740F-D341-4E6A-9747-FBC3DA4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338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Matched Khan 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7764B-CD78-4795-B3ED-CA1EADF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336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F4C63-CED4-4871-BBAF-73F2CAA3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Parallel return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BFD9F-65F1-459D-A183-9BE08CA8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3375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1">
                <a:solidFill>
                  <a:srgbClr val="087E70"/>
                </a:solidFill>
                <a:latin typeface="Plus Jakarta Sans"/>
                <a:ea typeface="Plus Jakarta Sans"/>
                <a:cs typeface="Plus Jakarta San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AF680-3479-46C9-87B3-6D7B9C1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Facilitator and reporting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C46B4-9F56-4810-A586-848667B3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Topic links for schools, Reels and self-study.</a:t>
            </a:r>
          </a:p>
        </p:txBody>
      </p:sp>
    </p:spTree>
    <p:extLst>
      <p:ext uri="{BB962C8B-B14F-4D97-AF65-F5344CB8AC3E}">
        <p14:creationId xmlns:p14="http://schemas.microsoft.com/office/powerpoint/2010/main" val="900914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8041C-C9CB-4519-9580-2BD0A137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PHP 100,000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implementation scenario.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B55E-598B-4C1E-B6F6-6FAB2824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28FD-3786-4CB0-AD9B-D12FCB5A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Learning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B655F-D9B8-46CE-9CD6-DF46B1BA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3241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24,000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33B31-5ADB-4BB0-A516-9C64CCF3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Access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779D5-2A62-4C66-A3F9-01824CFA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765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18,000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95DBD-B930-4964-B9AE-B14B56E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0EFC1-D125-4F86-A61F-72B99E6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290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16,000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1A3B9-2690-4318-8B68-B33506A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486A3-E9CF-45F3-9B31-90C0A24E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815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18,000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EA14E-77F2-4F85-A8D7-63342474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24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Product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FF917-A662-4726-9731-3EF1D2B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241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8,000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9F580-A2A4-4A48-A956-859C658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765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Teacher onboarding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C8C58-E3F7-416C-A635-7E0278D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765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8,000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C9118-EB7C-4368-96E3-34BE0A0F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290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Recruitment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758EB-5D43-4579-8C14-A2607F73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3,000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DD61A-13C2-4333-9685-9031064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Contingency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823EE-245B-4BBA-8ECB-70C3363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815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5,000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71939-928D-40C3-AEEA-53D937C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Planning allocation. Not quotes or secured funds. Learner access stays free.</a:t>
            </a:r>
          </a:p>
        </p:txBody>
      </p:sp>
    </p:spTree>
    <p:extLst>
      <p:ext uri="{BB962C8B-B14F-4D97-AF65-F5344CB8AC3E}">
        <p14:creationId xmlns:p14="http://schemas.microsoft.com/office/powerpoint/2010/main" val="19496248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66C6E-6CB3-48B0-B488-07F1708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Keep the goal.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Change the route.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ADA5-8C47-46F6-8634-594E77BF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CEE25-186C-4F3A-91DE-FF75C2C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225" b="1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ae52919ad9c84e47"/>
              </a:rPr>
              <a:t>Try BACKTRACK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39739-43E6-478F-AD5A-202825C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95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56a0fa328fff4bbf"/>
              </a:rPr>
              <a:t>backtrack-learning.vercel.app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19092-EC02-4B15-B23A-729C6CFC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175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University of the Philippines Manila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24010-E5F5-4AC8-BA3F-A6C30560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75" b="0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Matthew Labrador · Paul Recio · Harry Gomez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1337B-B8AF-4C2B-A067-171BC89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800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Coach: Justin Mesias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94096-BBD0-4A04-AA32-887D61F2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57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A new route to today’s lesson. A clear way to measure the return.</a:t>
            </a:r>
          </a:p>
        </p:txBody>
      </p:sp>
    </p:spTree>
    <p:extLst>
      <p:ext uri="{BB962C8B-B14F-4D97-AF65-F5344CB8AC3E}">
        <p14:creationId xmlns:p14="http://schemas.microsoft.com/office/powerpoint/2010/main" val="15529588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E01E-B4D6-4423-BFC6-2D46F481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57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Research behind</a:t>
            </a:r>
          </a:p>
          <a:p xmlns:a="http://schemas.openxmlformats.org/drawingml/2006/main">
            <a:pPr>
              <a:def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3900" b="1">
                <a:solidFill>
                  <a:srgbClr val="151521"/>
                </a:solidFill>
                <a:latin typeface="Plus Jakarta Sans"/>
                <a:ea typeface="Plus Jakarta Sans"/>
                <a:cs typeface="Plus Jakarta Sans"/>
              </a:rPr>
              <a:t>the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9B618-0976-4FD5-9BAF-C8780BD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125" b="0">
                <a:solidFill>
                  <a:srgbClr val="505A6B"/>
                </a:solidFill>
                <a:latin typeface="Plus Jakarta Sans"/>
                <a:ea typeface="Plus Jakarta Sans"/>
                <a:cs typeface="Plus Jakarta Sans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3C071-3494-427A-901C-72D8C79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b818f096e25242e3"/>
              </a:rPr>
              <a:t>Khan teacher 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A5CB3-9F38-4669-B1FC-55D8143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4345b34aa07b471e"/>
              </a:rPr>
              <a:t>ALEKS custom objectives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FF399-A503-4895-9179-90D8A265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826459ece4b64a55"/>
              </a:rPr>
              <a:t>Gemini study notebooks (June 2026)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19725-70E1-402E-8DD8-EE035F1C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d5ac0c07246e4273"/>
              </a:rPr>
              <a:t>IES learning practice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E3FDA-9E25-4FF0-A0B8-16B1D53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3f3584e152b34f36"/>
              </a:rPr>
              <a:t>Spacing and retrieval (2022)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6680-2BBD-4587-9D97-73063D5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dac086ea3552419a"/>
              </a:rPr>
              <a:t>Confidence assessment (Foster)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6D079-091B-4C0D-A9A8-D9FDE7FC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490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725" b="0">
                <a:solidFill>
                  <a:srgbClr val="5753FA"/>
                </a:solidFill>
                <a:latin typeface="Plus Jakarta Sans"/>
                <a:ea typeface="Plus Jakarta Sans"/>
                <a:cs typeface="Plus Jakarta Sans"/>
                <a:hlinkClick xmlns:r="http://schemas.openxmlformats.org/officeDocument/2006/relationships" r:id="Rda5feaaba9ff48b1"/>
              </a:rPr>
              <a:t>Self-Determination Theory in education</a:t>
            </a:r>
          </a:p>
        </p:txBody>
      </p:sp>
    </p:spTree>
    <p:extLst>
      <p:ext uri="{BB962C8B-B14F-4D97-AF65-F5344CB8AC3E}">
        <p14:creationId xmlns:p14="http://schemas.microsoft.com/office/powerpoint/2010/main" val="202434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2026-09-09T23:03:27.8460000Z</dcterms:created>
  <dcterms:modified xsi:type="dcterms:W3CDTF">2026-09-09T23:03:27.8460000Z</dcterms:modified>
</coreProperties>
</file>